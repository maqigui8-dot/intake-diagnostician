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3b538a4a8e4868" /><Relationship Type="http://schemas.openxmlformats.org/officeDocument/2006/relationships/extended-properties" Target="/docProps/app.xml" Id="Rab93d428e0c34da5" /><Relationship Type="http://schemas.openxmlformats.org/officeDocument/2006/relationships/officeDocument" Target="/ppt/presentation.xml" Id="Rc7d504dab31a4a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b55123cea14e18"/>
  </p:sldMasterIdLst>
  <p:notesMasterIdLst>
    <p:notesMasterId xmlns:r="http://schemas.openxmlformats.org/officeDocument/2006/relationships" r:id="Rf03567049cd7495b"/>
  </p:notesMasterIdLst>
  <p:sldIdLst>
    <p:sldId xmlns:r="http://schemas.openxmlformats.org/officeDocument/2006/relationships" id="256" r:id="R041933b8145840ea"/>
    <p:sldId xmlns:r="http://schemas.openxmlformats.org/officeDocument/2006/relationships" id="257" r:id="Rf1cac30f39c644ff"/>
    <p:sldId xmlns:r="http://schemas.openxmlformats.org/officeDocument/2006/relationships" id="258" r:id="R874d52779025414f"/>
    <p:sldId xmlns:r="http://schemas.openxmlformats.org/officeDocument/2006/relationships" id="259" r:id="R49cdf25ab55544a0"/>
    <p:sldId xmlns:r="http://schemas.openxmlformats.org/officeDocument/2006/relationships" id="260" r:id="R68a8434917e94aa4"/>
    <p:sldId xmlns:r="http://schemas.openxmlformats.org/officeDocument/2006/relationships" id="261" r:id="Ra3d3bceadb594d58"/>
    <p:sldId xmlns:r="http://schemas.openxmlformats.org/officeDocument/2006/relationships" id="262" r:id="Rd20a9b186e134ea6"/>
    <p:sldId xmlns:r="http://schemas.openxmlformats.org/officeDocument/2006/relationships" id="263" r:id="R723a59971abf4f19"/>
    <p:sldId xmlns:r="http://schemas.openxmlformats.org/officeDocument/2006/relationships" id="264" r:id="Rcf6855f50c464974"/>
    <p:sldId xmlns:r="http://schemas.openxmlformats.org/officeDocument/2006/relationships" id="265" r:id="Re309421a8fbf4253"/>
    <p:sldId xmlns:r="http://schemas.openxmlformats.org/officeDocument/2006/relationships" id="266" r:id="Rc363aa564aa04ae4"/>
    <p:sldId xmlns:r="http://schemas.openxmlformats.org/officeDocument/2006/relationships" id="267" r:id="R68e8419579fa4d26"/>
    <p:sldId xmlns:r="http://schemas.openxmlformats.org/officeDocument/2006/relationships" id="268" r:id="R6aa2e891b96345e5"/>
    <p:sldId xmlns:r="http://schemas.openxmlformats.org/officeDocument/2006/relationships" id="269" r:id="R2090cbd36e6b48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1f98c34b92466c" /><Relationship Type="http://schemas.openxmlformats.org/officeDocument/2006/relationships/slideMaster" Target="/ppt/slideMasters/slideMaster1.xml" Id="Rc3b55123cea14e18" /><Relationship Type="http://schemas.openxmlformats.org/officeDocument/2006/relationships/notesMaster" Target="/ppt/notesMasters/notesMaster1.xml" Id="Rf03567049cd7495b" /><Relationship Type="http://schemas.openxmlformats.org/officeDocument/2006/relationships/presProps" Target="/ppt/presProps.xml" Id="R8911c8e2e0954aa6" /><Relationship Type="http://schemas.openxmlformats.org/officeDocument/2006/relationships/tableStyles" Target="/ppt/tableStyles.xml" Id="R1b328fd1a72946a6" /><Relationship Type="http://schemas.openxmlformats.org/officeDocument/2006/relationships/slide" Target="/ppt/slides/slide1.xml" Id="R041933b8145840ea" /><Relationship Type="http://schemas.openxmlformats.org/officeDocument/2006/relationships/slide" Target="/ppt/slides/slide2.xml" Id="Rf1cac30f39c644ff" /><Relationship Type="http://schemas.openxmlformats.org/officeDocument/2006/relationships/slide" Target="/ppt/slides/slide3.xml" Id="R874d52779025414f" /><Relationship Type="http://schemas.openxmlformats.org/officeDocument/2006/relationships/slide" Target="/ppt/slides/slide4.xml" Id="R49cdf25ab55544a0" /><Relationship Type="http://schemas.openxmlformats.org/officeDocument/2006/relationships/slide" Target="/ppt/slides/slide5.xml" Id="R68a8434917e94aa4" /><Relationship Type="http://schemas.openxmlformats.org/officeDocument/2006/relationships/slide" Target="/ppt/slides/slide6.xml" Id="Ra3d3bceadb594d58" /><Relationship Type="http://schemas.openxmlformats.org/officeDocument/2006/relationships/slide" Target="/ppt/slides/slide7.xml" Id="Rd20a9b186e134ea6" /><Relationship Type="http://schemas.openxmlformats.org/officeDocument/2006/relationships/slide" Target="/ppt/slides/slide8.xml" Id="R723a59971abf4f19" /><Relationship Type="http://schemas.openxmlformats.org/officeDocument/2006/relationships/slide" Target="/ppt/slides/slide9.xml" Id="Rcf6855f50c464974" /><Relationship Type="http://schemas.openxmlformats.org/officeDocument/2006/relationships/slide" Target="/ppt/slides/slide10.xml" Id="Re309421a8fbf4253" /><Relationship Type="http://schemas.openxmlformats.org/officeDocument/2006/relationships/slide" Target="/ppt/slides/slide11.xml" Id="Rc363aa564aa04ae4" /><Relationship Type="http://schemas.openxmlformats.org/officeDocument/2006/relationships/slide" Target="/ppt/slides/slide12.xml" Id="R68e8419579fa4d26" /><Relationship Type="http://schemas.openxmlformats.org/officeDocument/2006/relationships/slide" Target="/ppt/slides/slide13.xml" Id="R6aa2e891b96345e5" /><Relationship Type="http://schemas.openxmlformats.org/officeDocument/2006/relationships/slide" Target="/ppt/slides/slide14.xml" Id="R2090cbd36e6b48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70d42d17ed48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265dca30184093" /><Relationship Type="http://schemas.openxmlformats.org/officeDocument/2006/relationships/notesMaster" Target="/ppt/notesMasters/notesMaster1.xml" Id="Rd527397c34b543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8d10a978c24e92" /><Relationship Type="http://schemas.openxmlformats.org/officeDocument/2006/relationships/notesMaster" Target="/ppt/notesMasters/notesMaster1.xml" Id="Re556a002fe8643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3f3af1fdc44235" /><Relationship Type="http://schemas.openxmlformats.org/officeDocument/2006/relationships/notesMaster" Target="/ppt/notesMasters/notesMaster1.xml" Id="R30286107481546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581497ba6d421c" /><Relationship Type="http://schemas.openxmlformats.org/officeDocument/2006/relationships/notesMaster" Target="/ppt/notesMasters/notesMaster1.xml" Id="R6542d2f87c614f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3b2af2d0e74d54" /><Relationship Type="http://schemas.openxmlformats.org/officeDocument/2006/relationships/notesMaster" Target="/ppt/notesMasters/notesMaster1.xml" Id="R9a53063207a741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fe53bbf5814b91" /><Relationship Type="http://schemas.openxmlformats.org/officeDocument/2006/relationships/notesMaster" Target="/ppt/notesMasters/notesMaster1.xml" Id="R378fb4006a5d4f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eb55c0f9cf44f9" /><Relationship Type="http://schemas.openxmlformats.org/officeDocument/2006/relationships/notesMaster" Target="/ppt/notesMasters/notesMaster1.xml" Id="R63adfa69ed2741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986f1849794a42" /><Relationship Type="http://schemas.openxmlformats.org/officeDocument/2006/relationships/notesMaster" Target="/ppt/notesMasters/notesMaster1.xml" Id="Rb324b8f8ff1a46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ca4425ad96497d" /><Relationship Type="http://schemas.openxmlformats.org/officeDocument/2006/relationships/notesMaster" Target="/ppt/notesMasters/notesMaster1.xml" Id="R717ec49191ce47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4ed9b3a8c94e7f" /><Relationship Type="http://schemas.openxmlformats.org/officeDocument/2006/relationships/notesMaster" Target="/ppt/notesMasters/notesMaster1.xml" Id="R1f3f24fcc76a40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c66414908b49aa" /><Relationship Type="http://schemas.openxmlformats.org/officeDocument/2006/relationships/notesMaster" Target="/ppt/notesMasters/notesMaster1.xml" Id="Ra3dd155e7c584e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431c6fbd354b61" /><Relationship Type="http://schemas.openxmlformats.org/officeDocument/2006/relationships/notesMaster" Target="/ppt/notesMasters/notesMaster1.xml" Id="Rea199f7273844f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1a2db2cab846d0" /><Relationship Type="http://schemas.openxmlformats.org/officeDocument/2006/relationships/notesMaster" Target="/ppt/notesMasters/notesMaster1.xml" Id="R075eb15697f043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7d9af81d3d492f" /><Relationship Type="http://schemas.openxmlformats.org/officeDocument/2006/relationships/notesMaster" Target="/ppt/notesMasters/notesMaster1.xml" Id="R4030c82554d045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各位老师好，我汇报的项目是中医诊前信息采集与整理系统。项目关注诊前资料采集与整理，不承担自动诊断。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患者自然表达往往零散，医生仍要重新确认；普通聊天式问诊还会重复追问，停止条件和决策原因也不清楚。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项目目标包括自然语言结构化、有限追问、停止判断和结果可追溯。系统不自动诊断、不输出患病概率、不自动开方。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系统分为交互、接口、决策和数据四层。Agent负责理解和表达，确定性规则负责完整度、下一问和停止判断。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患者端提供信息，医生端查看和理解信息。所有会话和档案绑定patient_id，医生端当前保持只读。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每次回答后，系统都会重新完成信息提取、字段更新、完整度判断和下一问选择，因此不依赖固定轮数。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每个问题来自字段定义。Agent提取值、原文证据和来源，规则更新字段状态并选择下一目标。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完整度由核心字段、安全缺口和冲突共同决定，不要求所有可选字段全部填写。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追问优先处理危险信号和核心字段。规则决定问什么，Agent负责把目标字段表达成自然问题。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系统根据核心完整度和在线可采集性决定继续、正常结束或保护性结束。保护性结束不代表资料完整。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当前版本已经实现核心字段驱动停止、规则约束Agent、尝试次数控制和多患者数据隔离。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此页展示身份选择、基础资料和侧栏历史记录。后续可直接用真实截图替换占位框。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此页按开放描述、逐项追问和诊前档案三个阶段展示完整操作过程。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医生工作台集中展示患者列表、问诊详情和决策解释，使问诊结果更容易理解和追溯。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0f84ed96747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a803e743f74fa7" /><Relationship Type="http://schemas.openxmlformats.org/officeDocument/2006/relationships/slideLayout" Target="/ppt/slideLayouts/slideLayout1.xml" Id="R1252bc3e9df844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52bc3e9df8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8bd27e79d49ce" /><Relationship Type="http://schemas.openxmlformats.org/officeDocument/2006/relationships/notesSlide" Target="/ppt/notesSlides/notesSlide1.xml" Id="R45eed6375a004d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f5c4a37e04d88" /><Relationship Type="http://schemas.openxmlformats.org/officeDocument/2006/relationships/notesSlide" Target="/ppt/notesSlides/notesSlide2.xml" Id="Rbff62503445442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95f0ed1a34123" /><Relationship Type="http://schemas.openxmlformats.org/officeDocument/2006/relationships/notesSlide" Target="/ppt/notesSlides/notesSlide3.xml" Id="R1f41e76730aa48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956f67cae4ea9" /><Relationship Type="http://schemas.openxmlformats.org/officeDocument/2006/relationships/notesSlide" Target="/ppt/notesSlides/notesSlide4.xml" Id="Ra8fc217683fa46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40f62469a4338" /><Relationship Type="http://schemas.openxmlformats.org/officeDocument/2006/relationships/notesSlide" Target="/ppt/notesSlides/notesSlide5.xml" Id="Re854fd5ce6ef41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0912cd8714ada" /><Relationship Type="http://schemas.openxmlformats.org/officeDocument/2006/relationships/notesSlide" Target="/ppt/notesSlides/notesSlide6.xml" Id="Rdee05be6fd1e49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e807d97be40f6" /><Relationship Type="http://schemas.openxmlformats.org/officeDocument/2006/relationships/notesSlide" Target="/ppt/notesSlides/notesSlide7.xml" Id="Re3f6b6c7ed6647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97f628ced4178" /><Relationship Type="http://schemas.openxmlformats.org/officeDocument/2006/relationships/notesSlide" Target="/ppt/notesSlides/notesSlide8.xml" Id="Ra70347fc69ed43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1626802ef458f" /><Relationship Type="http://schemas.openxmlformats.org/officeDocument/2006/relationships/notesSlide" Target="/ppt/notesSlides/notesSlide9.xml" Id="R8b1a01c5261e4f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88a64ac644d9b" /><Relationship Type="http://schemas.openxmlformats.org/officeDocument/2006/relationships/notesSlide" Target="/ppt/notesSlides/notesSlide10.xml" Id="R4678c6efdaf44e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a6f24dc284edd" /><Relationship Type="http://schemas.openxmlformats.org/officeDocument/2006/relationships/notesSlide" Target="/ppt/notesSlides/notesSlide11.xml" Id="Rf699d5a3f04345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59b0d04d3443a" /><Relationship Type="http://schemas.openxmlformats.org/officeDocument/2006/relationships/notesSlide" Target="/ppt/notesSlides/notesSlide12.xml" Id="R807ea64af74942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20e96b59943b8" /><Relationship Type="http://schemas.openxmlformats.org/officeDocument/2006/relationships/notesSlide" Target="/ppt/notesSlides/notesSlide13.xml" Id="R75326fc9bbfb41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571dfac994df6" /><Relationship Type="http://schemas.openxmlformats.org/officeDocument/2006/relationships/notesSlide" Target="/ppt/notesSlides/notesSlide14.xml" Id="Rc3cf093a27334a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E7E42-DBE8-447B-B5CF-31D3768D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中医诊前信息采集与整理系统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FB2D8-1338-4254-8551-BBEC3BA9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3AC43-60DD-4805-9338-74BBF73A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67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项目汇报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9827F-4056-4F06-9B91-F230CB35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B8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783"/>
                </a:solidFill>
                <a:latin typeface="Microsoft YaHei"/>
                <a:ea typeface="Microsoft YaHei"/>
                <a:cs typeface="Microsoft YaHei"/>
              </a:rPr>
              <a:t>汇报人：________　　日期：________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CEA79-01ED-4653-AB9B-B34F13DE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10250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E37FE-BF39-4168-AE1E-C304A290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7052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72CEFC-F096-47B5-96A7-4A5CC59C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项目背景与问题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4BF75-DAC0-4D87-8615-888BFF81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2F051-81F6-4B76-8A1F-DD54C08C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057275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303C6-BD08-4FC9-9A43-B9838DE6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CD57F-8FCE-4FE4-ADA2-67D3F193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C838C-8E54-40FE-B9A7-564F0258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诊前信息采集的现实问题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09370-471F-4D83-A424-7FBB7592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患者通常按照自己的感受自然表达，信息真实但零散。医生需要重新确认病程、安全信息和生活方式，才能形成可使用的诊前资料。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26C38-A2FE-4162-907E-2F9FA9DD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66EF8-B7BA-4469-8A36-3B0948F0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24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4E94A-758F-4913-BCC5-2BBD7B0E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04950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描述零散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856B4-936B-413F-A2AC-3331A87F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478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时间、程度和关联因素分散在多轮回答中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4103E-BCE6-44FB-9D85-362B4883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47900"/>
            <a:ext cx="4819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EE82B-8B96-450E-8B87-239417A9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6CE0B-7265-4D4F-A957-48E4B542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38400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重复询问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E4DEE-70AD-4221-85BD-340E51D0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缺少字段状态时，同一信息可能反复确认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DDAEE-38C3-47FC-8659-EB867307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81350"/>
            <a:ext cx="4819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A95F0-EEF9-4516-A89A-E4D01EB6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6496A-9668-45DF-8F33-9E5712D2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71850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停止条件不清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8F3C97-ADF6-4F9E-B576-1C00C008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147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可选细节持续阻塞结束，问诊轮数过多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0C6CC-6034-4F40-B1FA-E81D8729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14800"/>
            <a:ext cx="4819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04162-BE77-4BB7-914F-DDDAB575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243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1CA5E-9C60-42AA-84CD-2668197F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05300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决策难以解释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8EB12-C766-4B86-85B3-4EA72229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482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医生看不到问题来源和停止原因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3E488A-43C6-40CC-8478-11857D05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1040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AF6654-8239-4092-8617-19E98211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994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项目需求：结构化采集、有限追问、及时停止、过程可解释</a:t>
            </a:r>
          </a:p>
        </p:txBody>
      </p:sp>
    </p:spTree>
    <p:extLst>
      <p:ext uri="{BB962C8B-B14F-4D97-AF65-F5344CB8AC3E}">
        <p14:creationId xmlns:p14="http://schemas.microsoft.com/office/powerpoint/2010/main" val="3978083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3BBE94-9965-4B36-A502-BBB41FD5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项目目标与定位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6CCF3-92D8-4673-A2EF-6CBE57C8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E9349-FF0C-4210-9AF3-9D97744A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057275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188C9-2BD9-4489-AC5E-D61A501A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1DF1E-512D-4668-93C8-52A2A2F6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E1AA2-8CB2-4AFC-BBAD-9B6A0AB5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系统定位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A23E6-4B29-4752-A5E4-CEBBC6EC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40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面向成人肥胖诊前场景，帮助患者把情况说完整，帮助医生更快理解资料。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56678-033A-4148-BAD0-BFA6081D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28CDA-36BB-479F-B298-67BCC53C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信息结构化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74574-8F76-4092-9A73-4E23F599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把患者的自然描述整理为症状、时间、生活方式和安全信息等明确字段。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77625-A2D4-4A8F-BFBE-6D177BCB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D20C3-517D-4B3C-AA82-0D0BD374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有目的追问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2E632-E3F0-4457-99E5-9C5C3E80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908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根据仍然缺失的核心信息选择下一项问题，减少无关提问和重复确认。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11BD1-1378-42D3-BBA4-74DF37BF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2734F-45AF-42B2-9602-A4ADC120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及时停止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85868-92E2-42E0-9F6E-DAD2A202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624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核心资料已经可用时正常结束；无法继续采集或出现风险时保护性结束。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C593C-006A-49B1-9F77-2BC634F3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23AAC-DC7A-43F3-A21E-613129F9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43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结果可追溯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4A22B-9160-46BC-8A4D-7845394D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624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保存患者原始回答、字段来源、判断依据和最终诊前档案，供医生查看。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7A8EA-C82F-4D4D-951B-7A5C7743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401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FAB90-8583-447A-B637-38379E7B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0225"/>
            <a:ext cx="994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能力边界：系统不自动诊断、不输出患病概率、不自动开方，最终判断仍由医生完成。</a:t>
            </a:r>
          </a:p>
        </p:txBody>
      </p:sp>
    </p:spTree>
    <p:extLst>
      <p:ext uri="{BB962C8B-B14F-4D97-AF65-F5344CB8AC3E}">
        <p14:creationId xmlns:p14="http://schemas.microsoft.com/office/powerpoint/2010/main" val="2076336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78D8D9-1247-4C81-9B84-1E30A74A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系统整体架构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CA50F-16A4-4D7B-94C0-8A896AE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93D1D-691D-41EB-A0F7-3FCCC27E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057275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7D3C3-E466-4BEC-B47B-2EFE4D31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10CBD-A384-4039-9853-2CF7F110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4D2E7-7EDD-42EA-9575-D8961211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8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B8783"/>
                </a:solidFill>
                <a:latin typeface="Microsoft YaHei"/>
                <a:ea typeface="Microsoft YaHei"/>
                <a:cs typeface="Microsoft YaHei"/>
              </a:rPr>
              <a:t>01  交互层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846FB-A144-40C1-9BB9-535000DA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09700"/>
            <a:ext cx="904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20680-4985-415F-841D-C9D617A5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525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Vue 3 患者端　｜　独立医生工作台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47022-559E-415D-9F2F-FBDD454E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5737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身份选择、问诊交互、历史档案与多患者查看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43C26-AAA3-49F5-BC9D-31E41922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8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B8783"/>
                </a:solidFill>
                <a:latin typeface="Microsoft YaHei"/>
                <a:ea typeface="Microsoft YaHei"/>
                <a:cs typeface="Microsoft YaHei"/>
              </a:rPr>
              <a:t>02  接口层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1E30B-3DB8-4AB7-B7E6-11A665FA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62200"/>
            <a:ext cx="904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C1590-BFF4-4D13-A898-4B832876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050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FastAPI 服务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599AA-2E12-4470-9FBB-021936ED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0987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患者隔离接口、会话接口、医生查询接口与资源归属校验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6D565-8463-4E5B-AA17-9A69C8DF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03  决策层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045FC-D0C5-462F-800A-3396764B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14700"/>
            <a:ext cx="9048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29319-F442-4FE1-889B-AD86DDE2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575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Agent 信息抽取　｜　确定性规则引擎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B9E2A-5A90-4C80-8C64-32FAE95E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6237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Agent负责理解与表达；规则负责字段状态、完整度、下一问和停止判断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45C2F-E026-4EAE-B847-54698365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8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B8783"/>
                </a:solidFill>
                <a:latin typeface="Microsoft YaHei"/>
                <a:ea typeface="Microsoft YaHei"/>
                <a:cs typeface="Microsoft YaHei"/>
              </a:rPr>
              <a:t>04  数据层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081A1-4C13-4A84-A4D4-ED5AABC8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95800"/>
            <a:ext cx="904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5C1A8-F727-4479-8CC4-3D6D5EBA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386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MySQL 完整持久化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2078CC-688D-45B9-8365-FD9CBA8B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4347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患者、会话、字段、问答、档案、归档状态与审计记录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49E4FD-B50E-4AF4-A2C7-EC3B1C32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关键设计：模型负责“理解”，规则负责“决定”。</a:t>
            </a:r>
          </a:p>
        </p:txBody>
      </p:sp>
    </p:spTree>
    <p:extLst>
      <p:ext uri="{BB962C8B-B14F-4D97-AF65-F5344CB8AC3E}">
        <p14:creationId xmlns:p14="http://schemas.microsoft.com/office/powerpoint/2010/main" val="18074235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F53448-6264-4908-A8F8-24EDAA21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系统角色与主要功能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76DF0-CB38-40D7-8588-A6955DEE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8A451-DCC8-45E5-91C2-8A857C95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057275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1989F-E5B0-41CE-93AB-E87720EE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875A2-171C-4879-A256-AEB96646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8EE17-FBAD-4ED5-898B-CE74852D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048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03109-5F52-489F-8529-D10F60E5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5048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F4151-3666-454C-8025-06D53ADF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患者端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8424E-1480-4819-8D54-344018B1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提供信息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60F0E-83B8-4FFE-BA1B-D71B5402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FED75-F243-4B29-9C98-C00F3068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57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身份选择与患者切换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A4F98-9806-4FDE-9659-1F240324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037CA-7CB4-49C1-8647-2E99AC92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基础资料与开放描述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0053A-86C2-428E-9CD3-C0122335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2A387-796B-464B-A915-E0F02B84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71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逐项追问与回答确认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7A47F-A9D7-4469-ACEB-385FBE7B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1873CB-70DC-4448-B9C0-EB1641D7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29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未完成问诊恢复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22970-33BF-4899-9AEA-7473B50C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F27908-7FEC-4C45-A7EF-0A7F65B8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查看个人历史档案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02D19-0C4A-4291-B757-B04D2B24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7640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医生端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67C06-A605-405B-8590-860824AA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5740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查看与理解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AFECC-A467-462A-80BA-CFC52477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FA184F-010F-4B2E-A9B7-8B0609D5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患者列表与历史问诊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E79000-91BC-443C-8119-2C35358F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337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49F396-EA96-4E14-A24D-DBA44568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14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基础资料与问答详情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154328-C237-4119-B077-C31F2EDD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B68914-1952-4181-831F-BAA6B136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71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完整度和关键缺口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B5C247-3586-4A4A-BF4F-9E3ED5A8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48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D049F3-6B1C-4A89-910E-34619CF9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29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追问来源与停止原因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75CC26-4BB4-437D-BD05-756A6E3F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4B1208-0EEA-484A-8A33-02D2D716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86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只读查看诊前档案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75C955-499A-453E-814A-E14DFADE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40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EA8CA5-00A0-4D19-936E-D62D21BE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994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数据边界：会话与档案绑定 patient_id；跨患者访问返回 404；医生端当前保持只读。</a:t>
            </a:r>
          </a:p>
        </p:txBody>
      </p:sp>
    </p:spTree>
    <p:extLst>
      <p:ext uri="{BB962C8B-B14F-4D97-AF65-F5344CB8AC3E}">
        <p14:creationId xmlns:p14="http://schemas.microsoft.com/office/powerpoint/2010/main" val="12196479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BF2218-FCAE-4F37-8D28-C85F7607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完整问诊流程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161D6-5179-411C-ABD6-29437BD4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C42D3-7255-40C5-A260-C9CFE169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057275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2CD4C-8D81-4648-94B6-69B0130B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8334A-4DA9-4FF4-8843-3436237D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F5012-308F-4ACE-9DC2-76EE0348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一次回答会触发一次新的判断，流程并不依赖固定追问轮数。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AF5EF-9DF3-4BD9-A727-E8738B99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AA024-8A63-4511-A016-5138644E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7A660-23E3-41F1-8874-5BC35AD8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患者表达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47651-9122-49FC-A4CE-44C05B40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选择患者并补充基础资料</a:t>
            </a:r>
          </a:p>
          <a:p xmlns:a="http://schemas.openxmlformats.org/drawingml/2006/main">
            <a:pPr algn="l">
              <a:def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用自己的语言描述最关心的问题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95553-057B-473C-8D5C-C9FED23F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03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40872-3D53-4262-8584-EB553EB9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71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6D286-19FE-4678-B5D2-5BDBA438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955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8DA4F-7A5C-4058-9D00-E32F646C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336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信息提取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11A56-ADBF-4546-A2DA-C58D78AD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717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Agent提取字段值与原文证据</a:t>
            </a:r>
          </a:p>
          <a:p xmlns:a="http://schemas.openxmlformats.org/drawingml/2006/main">
            <a:pPr algn="l">
              <a:def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规则更新字段状态和信息来源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899FD-D183-4B6F-9B27-B8444313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03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D9A1CC-2EDD-4179-BFD6-C3D40E3A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B304C-6911-44F1-8968-94DB47F7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955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59BD1-BE05-4991-99A2-348E8E8C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336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完整度判断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0ACF3B-14E0-4E08-945D-9FCFEC23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检查核心字段、安全缺口与冲突</a:t>
            </a:r>
          </a:p>
          <a:p xmlns:a="http://schemas.openxmlformats.org/drawingml/2006/main">
            <a:pPr algn="l">
              <a:def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判断是否仍适合在线追问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38CD5-AD3C-4909-9C85-CB79141F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215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12551-0841-4D08-8FF9-8322A620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431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继续追问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648D55-82C0-43DA-8711-6390868E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03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选择下一项有价值的问题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DA0F56-D8E9-4EA0-8FC4-EBF5EF0E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957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19050">
            <a:solidFill>
              <a:srgbClr val="C86A3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25D449-1AD2-4524-B1AC-7BEC2EC8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671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生成诊前档案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F96616-A5BA-452E-82BE-BFDC784D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339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正常结束或保护性结束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5D1BDE-67FE-42A4-A0BC-E684DF6A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261925-0BD0-4E8A-8371-61693EE6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85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FC4101-7D71-47D6-BAC4-A71518BA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386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D120F8-BDCB-440C-AF80-B7D8D5A3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574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仍需补充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0E9A9D-1896-46A0-B2CA-07524B2D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005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可以结束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ACFFE9-E4D1-42C8-9F5B-5CBCF189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40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839889-67C4-4E4F-BB36-6FDCD973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循环关系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FA39D8-E065-4A6C-9AD3-3C927B3E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72100"/>
            <a:ext cx="878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继续追问后，患者的新回答再次进入“信息提取—完整度判断”；满足结束条件后才生成档案。</a:t>
            </a:r>
          </a:p>
        </p:txBody>
      </p:sp>
    </p:spTree>
    <p:extLst>
      <p:ext uri="{BB962C8B-B14F-4D97-AF65-F5344CB8AC3E}">
        <p14:creationId xmlns:p14="http://schemas.microsoft.com/office/powerpoint/2010/main" val="219006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9A1878-17DE-4BEF-94D6-9862F5D5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结构化字段与信息来源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245F9-BCD3-4CC6-89C1-CD6CFEE6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CB61A-8F9D-46DA-A6C5-58CD3D20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057275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293C2-6467-4D49-AFA0-75B4D246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0018A-160E-4026-8E81-AD0A1408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D4CA9-EA1C-4038-9D94-D440EB46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4762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BC60A-FF43-4D0B-9303-A09EFA9A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结构化字段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08EF1-41C2-447D-AFB3-323AA510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9B81E-C7A4-48E6-AC4B-4742FB5C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71700"/>
            <a:ext cx="3733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基础测量：年龄、身高、体重、腰围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0909D-D6E2-43AC-B92A-5879C360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A8AC1-D4D8-44BF-8236-6CF2C290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2250"/>
            <a:ext cx="3733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病程信息：变化经过、相关因素、管理经历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54515-B5D8-4815-821C-494F1490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BC1A9-6E9B-4BB9-B373-5A12399E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3733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中医症状：食欲口渴、二便、睡眠情绪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858F8-CA62-4201-903C-4878108C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337BB-DB34-4B94-8372-4926406A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43350"/>
            <a:ext cx="3733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生活方式：饮食、运动、作息、压力进食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50333-74A8-4CE8-B969-44AD7B74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7539C-14DF-4C54-B2BF-F230680F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33900"/>
            <a:ext cx="3733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安全信息：过敏、用药、病史、危险信号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D0C3A-B611-4A36-AF02-3B45662F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FEE97-621A-4305-9F0A-50C4734F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76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问题来源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5F861F-4265-4533-A730-51464ED2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526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C3C27-2CA3-4BFF-8775-9564F604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28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字段预先定义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631926-749B-4340-B70E-8A833FDA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标准问题、优先级、核心属性、尝试次数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5BF824-5BB9-4740-8EA3-5DE3D39B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956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060CEF-62A2-4973-BFD6-106CCB24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Agent 提取证据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E56CA0-B2C4-48FF-A788-7D2985B0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004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字段值、患者原文、信息来源、回答质量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B1911A-94BF-418C-A5FA-B06319F8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385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3C1496-1135-4CAD-8823-ECD6377A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规则更新状态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3C180B-8316-4CC6-A8FF-A132CF9D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433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确认、部分获取、无法提供、不适用或冲突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D35ED2-9C08-4F41-AE18-4DC758DA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26B967-3C1D-43C2-86C4-D32FC093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577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规则选择目标字段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0AA524-DF69-4D16-AE23-B76A83CC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863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Agent只负责把目标字段表达成自然问题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18E1B1-F9D1-4671-BC72-3DB480D7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问题顺序可以变化，但目标和来源始终可追踪。</a:t>
            </a:r>
          </a:p>
        </p:txBody>
      </p:sp>
    </p:spTree>
    <p:extLst>
      <p:ext uri="{BB962C8B-B14F-4D97-AF65-F5344CB8AC3E}">
        <p14:creationId xmlns:p14="http://schemas.microsoft.com/office/powerpoint/2010/main" val="6346812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E8EA10-4533-4C33-8AA2-39555E07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资料完整度如何判断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30BDD-5ECE-4C10-8904-386FEB43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80D29-6448-4C24-B6DB-C28DA732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057275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148E1-7710-480B-A808-10614240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5CA8F-8448-4496-A4EF-EE73444E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7B2B0-D1F8-4A5E-A811-23E87237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32004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3903A-C83E-4D1B-A283-3853D4A7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28750"/>
            <a:ext cx="32004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51051-84F4-48B5-8C19-4FF9BB46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32004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5C820-1FCB-4C44-B409-5772C1D6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字段状态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885F2-CFE9-4E8E-9A64-75514834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01　尚未询问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A1444-6AB1-4C26-AF2A-5389B5A2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02　部分获取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39484-E7DF-4273-A2EB-B47E444B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03　已经确认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2B032-92D4-4D3A-B975-A4C1252F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04　无法提供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35CC6-127D-4C27-A762-7BB6615E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05　不适用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9E8A6-89F7-45AB-8A8D-134BED50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764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判断条件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A9310-4FAF-458E-982C-DFA06F4B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• 基础测量是否完成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DA2A0-8B2B-4EE8-91BB-9169FE8D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• 核心字段是否缺失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7CCBD-5C32-435F-B5BB-24284C13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8135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• 安全信息是否确认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3F83D-7772-4F5E-A105-96EC7D52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7665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• 冲突是否已经解决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1A605-98B9-48F8-A0FE-3A2444FE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7195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• 剩余信息是否适合在线采集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85C97A-2AAF-41AE-940F-4ADA9768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判断结果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900183-04D9-4861-8E19-CD77C7FE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71700"/>
            <a:ext cx="2743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77C7B-30DE-43CC-880E-9D0AC6BB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继续追问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C3A32C-8ADB-4488-A413-183D1D17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关键缺口仍可采集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6F225D-437C-47D0-B9B3-3791E878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2743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F42298-97C9-47AC-A3C3-2A06E883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004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正常结束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51362D-2151-4011-B6A2-8D44CFE7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核心信息可用且无阻塞项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11EF92-B59D-474F-A204-E58CA1A9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00500"/>
            <a:ext cx="2743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19050">
            <a:solidFill>
              <a:srgbClr val="C86A3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033834-D2E7-421A-A421-B880CB5C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保护性结束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9020B4-1471-47C0-BB31-B0D27920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在线采集失效，交由医生补充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5822E0-3271-4579-A820-6172ABC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401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EC48E5-E903-4118-AC17-2B52003C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994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完整不等于所有字段填满，而是核心信息可用、安全缺口已处理、没有阻塞性冲突。</a:t>
            </a:r>
          </a:p>
        </p:txBody>
      </p:sp>
    </p:spTree>
    <p:extLst>
      <p:ext uri="{BB962C8B-B14F-4D97-AF65-F5344CB8AC3E}">
        <p14:creationId xmlns:p14="http://schemas.microsoft.com/office/powerpoint/2010/main" val="11709511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B42EB8-2B9E-4E23-9775-E0C3E7FD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追问优先级与决策机制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63E87-EBA2-40F3-AC8B-1A417D63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84E26-FA25-486D-9510-56B45C30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057275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7987D-96BF-48E6-B329-A816FAAC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80220-5F0C-45E2-84A6-AC3ADBA5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DAA81-603E-485C-8AA3-67270D6E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优先级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7BB25-B628-474D-BA7A-D08B5207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409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目标字段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4D40C-EC76-4246-8B05-AF68A485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097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选择依据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1B27D-7D72-449D-9E7A-FFD10FE3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040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AFCEC-0E81-480D-AC8E-FCFF8B85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4594D-CD6E-4BFD-A553-2D7BDEA7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907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危险信号与安全字段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A6C24-EAE4-4E32-BBD1-20792BC6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9072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优先处理安全边界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B97AA-01AC-48A8-9A40-637ADF74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040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DB6AA-1D96-463C-8BD2-98335A18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14BE2-67DA-45E7-AE24-6A9948CB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193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尚未完成的核心字段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6F8B0-1ED9-40D0-A571-E39E02E2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决定档案基本使用价值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9FDDC5-CB9F-487E-9B64-6D93114F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1040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0CA45-599E-4ABA-8BE2-7E43BEEA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9578A-F610-4CDC-9BB4-163151EB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480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存在冲突的字段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1198FE-CB6A-4EDC-99D6-AB3442CF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4802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先澄清前后不一致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EEDB3-0C4A-41D7-B2AF-D311158D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40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7718CF-078D-4F5B-9D10-F1AC6C54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506E7B-8AB8-4895-910D-87E1D0BD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766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高优先级普通字段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835DA-C8A6-4279-A4ED-0E8BBA6E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7667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补充医生常用信息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05D435-1048-4E9F-A73D-43600CDA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040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A093BD-51AB-4B46-A0FF-AB220E8B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6CD0BA-D10E-40A1-A322-6372FB12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053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可选补充信息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2CF37-1980-46CF-93EA-88E96C38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0532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轮数允许时继续采集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B319AE-40B0-4A99-BE51-CBF62C4B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401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66289-F011-4580-8598-A810950B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994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示例：用药信息与运动情况同时缺失时，规则先选择安全相关的“用药信息”；Agent再生成自然问题。</a:t>
            </a:r>
          </a:p>
        </p:txBody>
      </p:sp>
    </p:spTree>
    <p:extLst>
      <p:ext uri="{BB962C8B-B14F-4D97-AF65-F5344CB8AC3E}">
        <p14:creationId xmlns:p14="http://schemas.microsoft.com/office/powerpoint/2010/main" val="9087141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DBB46C-69C6-4797-B2EE-21ED3855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何时停止追问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93A39-0B05-4518-B766-E8A72702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F7C2E-6E11-4307-BF34-3820EF38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057275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2FBE1-C026-4F3C-B32A-FAE9DE44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D23B9-0884-477F-8693-27F942B1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9FCDD-F203-40F8-9E0C-26A10EDF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28750"/>
            <a:ext cx="548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71C9D-B709-4563-B078-3F537E4D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19250"/>
            <a:ext cx="502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当前信息是否仍需要并适合在线追问？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F8D65-8CE8-47A4-9322-9381A44E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EE8AF-5C9C-46C4-85F3-9B524ACB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95550"/>
            <a:ext cx="7658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EB5E0-CCB4-4BEA-BF46-0C4475C2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95550"/>
            <a:ext cx="952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A3998-24CA-40EA-8769-D85291FE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2705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95A31-539F-45BB-BCDF-B56555F4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继续追问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67AD1-473A-45A1-81F3-E0F5BEE6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• 核心字段仍缺失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E1F27-7154-43BF-92E0-498D0CC2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• 安全信息尚未确认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799CD-27AA-4FA5-9AA6-7C006B8E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• 冲突仍可在线澄清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C240C8-ADA4-4EC7-AB07-16CBCA6A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952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AF482-A417-4668-BEAC-F62268D9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2705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A5A9C-B665-4651-A220-1C610F75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正常结束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4F0F3-B3FE-4856-8628-BD7681C5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385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• 核心字段已经完整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E8C9E-3C96-4445-B994-754714F2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195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• 无关键安全缺口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34D281-077A-488B-8D26-7993B2B0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005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• 无未解决冲突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F91590-CA65-42AC-AB2D-614F562D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95550"/>
            <a:ext cx="952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6A3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313C5-6BFD-4697-B095-7DC0D44F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2705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19050">
            <a:solidFill>
              <a:srgbClr val="C86A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5D2C2-F883-4EE8-8608-A739C279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051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保护性结束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D29859-8920-40CC-B962-380CEDE0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• 多次无法回答或问题重复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05EBF9-F68A-4C28-942B-BA406F27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• 剩余内容不宜在线采集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CFE0A4-67B0-406F-A547-0387E023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005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• AI暂不可用或出现风险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4CA217-45DD-44AD-B7C7-A2F38655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2440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停止追问不代表资料完整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44881B-1116-494D-B98B-D13A9EB2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系统依据核心完整度和在线可采集性决定结束时机，不使用固定追问轮数。</a:t>
            </a:r>
          </a:p>
        </p:txBody>
      </p:sp>
    </p:spTree>
    <p:extLst>
      <p:ext uri="{BB962C8B-B14F-4D97-AF65-F5344CB8AC3E}">
        <p14:creationId xmlns:p14="http://schemas.microsoft.com/office/powerpoint/2010/main" val="6813892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01F99E-2266-4B6D-9CCC-9DD98EC3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项目实现中的关键难点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D559F-554F-40F3-B7E9-1A78EC4F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255B7-8387-449E-A436-A17D1A82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057275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C664D-D4F9-4777-97E9-CE027086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0DF9A-8EA4-45D4-8A49-C9B73D0D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45201-2600-45AB-B329-B7729D2A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关键难点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C2CE8-B13A-49E4-9814-5C691BD2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09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解决方式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68451-379D-439F-8795-5AAC7F26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09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9E831-B1CF-465F-96F9-9037FC4A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401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DB0DE-626B-4682-83BA-42318FB6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追问轮数过多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E0039-D6CD-46AF-8142-E4C9004A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核心字段驱动停止，可选字段不无限阻塞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39F84-76BF-43C6-925B-B6318E10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03941-C130-46A6-A17E-968A47A6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0401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8FA9C-3AEC-4E40-8328-BCFB2949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Agent输出不稳定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781BD-46CB-4D1E-89F8-41B8E2EE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Agent提供证据，确定性规则统一决策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39CAF0-835A-4BC1-AD8C-6AD57ABC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7658D-C6B1-4B1A-AA44-DC48B525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10401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415EC-2926-41B4-85AF-DCC14617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“不知道”导致重复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C8D54-0EDC-4087-B30E-C8725426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814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记录尝试次数与回答质量，达到上限后转医生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A3F92-E174-4CB0-A7D1-7451C9C9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04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9BD5F1-428D-4AB0-8783-93B83768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10401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1B939-2088-4E96-AD2F-6828EFCA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多患者数据隔离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0228A-5883-4CD1-B864-37FC8E27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显式patient_id与资源归属校验，跨患者返回404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DAB098-A46D-40FD-8E6E-FE625EB9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005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97151-2692-4731-92CC-274C6042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10401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28C3A-F816-4288-8949-F5B53E14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当前边界：演示身份不等于正式鉴权；真实临床效果、规则覆盖范围和权限体系仍需进一步验证。</a:t>
            </a:r>
          </a:p>
        </p:txBody>
      </p:sp>
    </p:spTree>
    <p:extLst>
      <p:ext uri="{BB962C8B-B14F-4D97-AF65-F5344CB8AC3E}">
        <p14:creationId xmlns:p14="http://schemas.microsoft.com/office/powerpoint/2010/main" val="16142763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CACF6-0658-417C-B749-7F340446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项目操作展示：身份选择与患者端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179F8-D4F2-43AC-8CA7-73DF5A00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2D0B8-4ACA-4560-ABEB-424D65A8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057275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B9A4A-AD18-49E2-B3E9-3B4BE6F7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F1B23-0987-44D1-8769-FDAF4B8C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2CC8C-9AEB-4160-82A6-7CC93993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6572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19050">
            <a:solidFill>
              <a:srgbClr val="15534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D4703-0CBA-40B3-B875-357E5BDA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01  身份选择首页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C4FA7-6348-495C-9768-F763463D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337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放置主截图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05BA6-8179-466D-A722-160EA652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3524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848A2-ACF5-4552-B782-B6213BE2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00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02  基础资料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54D10-79C0-4A0E-A6C6-3C3089A0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放置截图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8F73B-EC3C-464D-90DD-62F59464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3524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77E88-AB5B-430B-AC16-70BCCA8B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62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03  侧栏与历史记录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A135B-A587-49B6-9A50-C00922FB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005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放置截图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52575-519E-4345-BFC4-CD994254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演示重点：多患者入口、数据隔离、侧栏折叠、未完成问诊恢复、独立历史记录。</a:t>
            </a:r>
          </a:p>
        </p:txBody>
      </p:sp>
    </p:spTree>
    <p:extLst>
      <p:ext uri="{BB962C8B-B14F-4D97-AF65-F5344CB8AC3E}">
        <p14:creationId xmlns:p14="http://schemas.microsoft.com/office/powerpoint/2010/main" val="8316459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A2A0C-EF7F-4563-B763-8C3F5FE5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项目操作展示：问诊过程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C76B2-6123-41DD-B59A-B3AB209A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916B7-8ED3-4491-9D38-33B58DF5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057275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42DC7-EC4D-4322-9882-3FA4C9C1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C8087-5593-4D50-B4F3-87F0B1B6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49DEE-7D27-400A-A855-0DFA6CC5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D04D8-585E-4804-BFCE-D251F3A1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01  开放描述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42054-E1BD-496E-8CBC-B2D52DEC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放置截图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C7535-C076-48B7-8EC4-F353BFA9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66850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19050">
            <a:solidFill>
              <a:srgbClr val="15534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854B3-3354-4C50-835F-5323DB67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02  逐项补充追问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A1196-62AB-4F4F-9BAF-CB362442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放置截图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2E2D4-BC9E-4490-8310-2CA9E690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20981-181D-4099-B9B9-6CBF22DA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03  完成后的诊前档案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96BBE-3ECB-4E5C-8897-778FD7B4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放置截图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3EB75-4D95-4F4C-9363-51B753BF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401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596AF-F176-4483-9EC8-6D3997A7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40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自由描述　→　信息抽取　→　单项追问　→　完整度更新　→　生成档案</a:t>
            </a:r>
          </a:p>
        </p:txBody>
      </p:sp>
    </p:spTree>
    <p:extLst>
      <p:ext uri="{BB962C8B-B14F-4D97-AF65-F5344CB8AC3E}">
        <p14:creationId xmlns:p14="http://schemas.microsoft.com/office/powerpoint/2010/main" val="4023614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52D8A-4F8D-4803-AE4D-3E6CF425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项目操作展示：医生工作台与总结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F3890-BACC-4483-8F61-5ECA5138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4043C-A506-430A-B0C0-1E246735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057275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410F5-A55B-4C3C-AB79-D3531B75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2AC07-B0D6-4C9E-8B6E-38792ED0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C5D6F-D08E-4A1B-B7C2-B0D38E71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4013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19050">
            <a:solidFill>
              <a:srgbClr val="15534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AF4FB-C4D3-423E-832E-1AAD8F72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医生三栏工作台 / 放置完整截图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07EEE-32DC-4CF3-825D-828FEEE0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患者列表　｜　问诊详情　｜　决策解释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09B9A-698D-4CB3-84D9-0A8B48CC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8B0CD-175C-46CC-A727-E5EAEE00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患者列表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DACCB-5FAD-45CE-87A6-73527C67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档案数量与快速切换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ADF37-B075-4BED-A01E-181D788C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10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1BCDA-B6AA-4B67-BAC7-B6630160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91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问诊详情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62B71-BF58-41A0-975F-985CB32C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14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基础资料、描述和逐轮问答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2359B-6C18-42AA-811A-7B88CE25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6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8FACE-BFBC-46DF-8D17-1F5984F0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91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决策解释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41CB2-D638-4C18-BF7B-765F9458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14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完整度、缺口、来源和停止原因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0D1CB-9064-4EA9-A035-EB4943CA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1040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项目通过规则约束 Agent，完成安全、可追踪、可解释的诊前信息整理。</a:t>
            </a:r>
          </a:p>
        </p:txBody>
      </p:sp>
    </p:spTree>
    <p:extLst>
      <p:ext uri="{BB962C8B-B14F-4D97-AF65-F5344CB8AC3E}">
        <p14:creationId xmlns:p14="http://schemas.microsoft.com/office/powerpoint/2010/main" val="1552062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2026-09-18T08:34:10.1810000Z</dcterms:created>
  <dcterms:modified xsi:type="dcterms:W3CDTF">2026-09-18T08:34:10.1820000Z</dcterms:modified>
</coreProperties>
</file>