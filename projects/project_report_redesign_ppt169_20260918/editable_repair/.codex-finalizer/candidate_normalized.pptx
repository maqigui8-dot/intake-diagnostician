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8d851d16af402c" /><Relationship Type="http://schemas.openxmlformats.org/officeDocument/2006/relationships/extended-properties" Target="/docProps/app.xml" Id="Rab850c23b8f34930" /><Relationship Type="http://schemas.openxmlformats.org/officeDocument/2006/relationships/officeDocument" Target="/ppt/presentation.xml" Id="Rb98da81d10fd4a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b56c0b0db8466e"/>
  </p:sldMasterIdLst>
  <p:notesMasterIdLst>
    <p:notesMasterId xmlns:r="http://schemas.openxmlformats.org/officeDocument/2006/relationships" r:id="R53b010704d9746f8"/>
  </p:notesMasterIdLst>
  <p:sldIdLst>
    <p:sldId xmlns:r="http://schemas.openxmlformats.org/officeDocument/2006/relationships" id="256" r:id="R33eb2e525b52487e"/>
    <p:sldId xmlns:r="http://schemas.openxmlformats.org/officeDocument/2006/relationships" id="257" r:id="R504c8048f0ec45c6"/>
    <p:sldId xmlns:r="http://schemas.openxmlformats.org/officeDocument/2006/relationships" id="258" r:id="R211cac1905b14f26"/>
    <p:sldId xmlns:r="http://schemas.openxmlformats.org/officeDocument/2006/relationships" id="259" r:id="R9e935fa6bb0d4686"/>
    <p:sldId xmlns:r="http://schemas.openxmlformats.org/officeDocument/2006/relationships" id="260" r:id="Rdfa016826fb947c9"/>
    <p:sldId xmlns:r="http://schemas.openxmlformats.org/officeDocument/2006/relationships" id="261" r:id="Rfdc7716ad2a14341"/>
    <p:sldId xmlns:r="http://schemas.openxmlformats.org/officeDocument/2006/relationships" id="262" r:id="Ra6c064b6bac44e47"/>
    <p:sldId xmlns:r="http://schemas.openxmlformats.org/officeDocument/2006/relationships" id="263" r:id="Re47fb8132ee94259"/>
    <p:sldId xmlns:r="http://schemas.openxmlformats.org/officeDocument/2006/relationships" id="264" r:id="R40ec8a1b89d94a74"/>
    <p:sldId xmlns:r="http://schemas.openxmlformats.org/officeDocument/2006/relationships" id="265" r:id="R50ac6e393d7c44c9"/>
    <p:sldId xmlns:r="http://schemas.openxmlformats.org/officeDocument/2006/relationships" id="266" r:id="R05f2507184f544b4"/>
    <p:sldId xmlns:r="http://schemas.openxmlformats.org/officeDocument/2006/relationships" id="267" r:id="R906f98c0578547c9"/>
    <p:sldId xmlns:r="http://schemas.openxmlformats.org/officeDocument/2006/relationships" id="268" r:id="R52981b310d1e445c"/>
    <p:sldId xmlns:r="http://schemas.openxmlformats.org/officeDocument/2006/relationships" id="269" r:id="Re52f4ca979ad43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aac5b735be46b1" /><Relationship Type="http://schemas.openxmlformats.org/officeDocument/2006/relationships/slideMaster" Target="/ppt/slideMasters/slideMaster1.xml" Id="R11b56c0b0db8466e" /><Relationship Type="http://schemas.openxmlformats.org/officeDocument/2006/relationships/notesMaster" Target="/ppt/notesMasters/notesMaster1.xml" Id="R53b010704d9746f8" /><Relationship Type="http://schemas.openxmlformats.org/officeDocument/2006/relationships/presProps" Target="/ppt/presProps.xml" Id="R702c682026334b6e" /><Relationship Type="http://schemas.openxmlformats.org/officeDocument/2006/relationships/viewProps" Target="/ppt/viewProps.xml" Id="Ra069be245c384add" /><Relationship Type="http://schemas.openxmlformats.org/officeDocument/2006/relationships/tableStyles" Target="/ppt/tableStyles.xml" Id="Ra1cd8ea2f0ce46fa" /><Relationship Type="http://schemas.openxmlformats.org/officeDocument/2006/relationships/slide" Target="/ppt/slides/slide1.xml" Id="R33eb2e525b52487e" /><Relationship Type="http://schemas.openxmlformats.org/officeDocument/2006/relationships/slide" Target="/ppt/slides/slide2.xml" Id="R504c8048f0ec45c6" /><Relationship Type="http://schemas.openxmlformats.org/officeDocument/2006/relationships/slide" Target="/ppt/slides/slide3.xml" Id="R211cac1905b14f26" /><Relationship Type="http://schemas.openxmlformats.org/officeDocument/2006/relationships/slide" Target="/ppt/slides/slide4.xml" Id="R9e935fa6bb0d4686" /><Relationship Type="http://schemas.openxmlformats.org/officeDocument/2006/relationships/slide" Target="/ppt/slides/slide5.xml" Id="Rdfa016826fb947c9" /><Relationship Type="http://schemas.openxmlformats.org/officeDocument/2006/relationships/slide" Target="/ppt/slides/slide6.xml" Id="Rfdc7716ad2a14341" /><Relationship Type="http://schemas.openxmlformats.org/officeDocument/2006/relationships/slide" Target="/ppt/slides/slide7.xml" Id="Ra6c064b6bac44e47" /><Relationship Type="http://schemas.openxmlformats.org/officeDocument/2006/relationships/slide" Target="/ppt/slides/slide8.xml" Id="Re47fb8132ee94259" /><Relationship Type="http://schemas.openxmlformats.org/officeDocument/2006/relationships/slide" Target="/ppt/slides/slide9.xml" Id="R40ec8a1b89d94a74" /><Relationship Type="http://schemas.openxmlformats.org/officeDocument/2006/relationships/slide" Target="/ppt/slides/slide10.xml" Id="R50ac6e393d7c44c9" /><Relationship Type="http://schemas.openxmlformats.org/officeDocument/2006/relationships/slide" Target="/ppt/slides/slide11.xml" Id="R05f2507184f544b4" /><Relationship Type="http://schemas.openxmlformats.org/officeDocument/2006/relationships/slide" Target="/ppt/slides/slide12.xml" Id="R906f98c0578547c9" /><Relationship Type="http://schemas.openxmlformats.org/officeDocument/2006/relationships/slide" Target="/ppt/slides/slide13.xml" Id="R52981b310d1e445c" /><Relationship Type="http://schemas.openxmlformats.org/officeDocument/2006/relationships/slide" Target="/ppt/slides/slide14.xml" Id="Re52f4ca979ad43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60e61109174e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85bec4ed53411c" /><Relationship Type="http://schemas.openxmlformats.org/officeDocument/2006/relationships/notesMaster" Target="/ppt/notesMasters/notesMaster1.xml" Id="R783b3569703e40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86cafd8a0c41b5" /><Relationship Type="http://schemas.openxmlformats.org/officeDocument/2006/relationships/notesMaster" Target="/ppt/notesMasters/notesMaster1.xml" Id="R27950a4fa00147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eeffbd1de3420f" /><Relationship Type="http://schemas.openxmlformats.org/officeDocument/2006/relationships/notesMaster" Target="/ppt/notesMasters/notesMaster1.xml" Id="R399c34a615f540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ab05cede5b42f3" /><Relationship Type="http://schemas.openxmlformats.org/officeDocument/2006/relationships/notesMaster" Target="/ppt/notesMasters/notesMaster1.xml" Id="R8b7b3ba240de41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399c9152164954" /><Relationship Type="http://schemas.openxmlformats.org/officeDocument/2006/relationships/notesMaster" Target="/ppt/notesMasters/notesMaster1.xml" Id="Radf3ad2009744c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a292c978fc4baa" /><Relationship Type="http://schemas.openxmlformats.org/officeDocument/2006/relationships/notesMaster" Target="/ppt/notesMasters/notesMaster1.xml" Id="R194bec29170e4f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c29bb822194077" /><Relationship Type="http://schemas.openxmlformats.org/officeDocument/2006/relationships/notesMaster" Target="/ppt/notesMasters/notesMaster1.xml" Id="Rc85fead1963c45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736c7748554416" /><Relationship Type="http://schemas.openxmlformats.org/officeDocument/2006/relationships/notesMaster" Target="/ppt/notesMasters/notesMaster1.xml" Id="Rd39ad75b09ed4f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7e95e95ad2401a" /><Relationship Type="http://schemas.openxmlformats.org/officeDocument/2006/relationships/notesMaster" Target="/ppt/notesMasters/notesMaster1.xml" Id="R06b48dac302943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69a429716a4d15" /><Relationship Type="http://schemas.openxmlformats.org/officeDocument/2006/relationships/notesMaster" Target="/ppt/notesMasters/notesMaster1.xml" Id="Rd655e910951f47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55943fe83d4779" /><Relationship Type="http://schemas.openxmlformats.org/officeDocument/2006/relationships/notesMaster" Target="/ppt/notesMasters/notesMaster1.xml" Id="R9533c6b7140547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8eb9b7391d480f" /><Relationship Type="http://schemas.openxmlformats.org/officeDocument/2006/relationships/notesMaster" Target="/ppt/notesMasters/notesMaster1.xml" Id="Rf4abfbb908bc4a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9509943b734464" /><Relationship Type="http://schemas.openxmlformats.org/officeDocument/2006/relationships/notesMaster" Target="/ppt/notesMasters/notesMaster1.xml" Id="R1d46d7a7f4344d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4c66ac81514be9" /><Relationship Type="http://schemas.openxmlformats.org/officeDocument/2006/relationships/notesMaster" Target="/ppt/notesMasters/notesMaster1.xml" Id="R46a6756074454e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各位老师好，我汇报的项目是中医诊前信息采集与整理系统。项目关注患者见到医生之前，如何把零散描述整理成医生能够快速查看的结构化资料。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患者已经表达了很多，但医生往往仍需重新确认。原因包括描述零散、同一信息重复询问、结束条件不清，以及医生看不到系统为什么问和为什么停。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项目希望实现自然语言结构化、有限追问、停止判断和结果可追溯。系统只负责诊前资料整理，不承担自动诊断、患病概率预测或自动开方。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系统分为交互、接口、决策和数据四层。Vue 3 提供患者端与医生工作台，FastAPI 提供接口，MySQL 完整保存业务数据。决策层中，Agent 负责理解与表达，规则负责确定性决策。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患者端负责提供信息，系统负责整理，医生端负责查看与理解。所有会话和档案绑定 patient_id，跨患者读取会被拒绝。医生端当前保持只读。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患者依次完成身份选择、基础资料和开放描述。Agent 提取信息后更新字段，系统重新计算完整度，再选择下一问或生成档案。每次回答都会重新触发判断。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系统采集基础测量、病程、中医症状、生活方式和安全信息。每个问题来自字段定义；Agent 提取值和证据，规则更新状态并选择目标字段，所以问题来源可追踪。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完整度不是简单统计填写数量。系统结合字段状态、核心缺口、安全信息和冲突进行判断，输出继续追问、正常结束或保护性结束。可选字段不会无限阻塞。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追问按危险信号、核心字段、冲突、高优先普通字段和可选信息排序。规则决定问什么，Agent 负责把目标字段组织成自然问题。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系统不使用固定轮数。核心信息可用且无安全缺口和冲突时正常结束；多次无法回答、问题重复或内容不宜在线采集时保护性结束。保护性结束不代表资料完整。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当前版本已经实现核心字段驱动停止、规则约束 Agent、尝试次数防止重复和 patient_id 数据隔离。演示身份还不等于正式鉴权，临床效果和规则覆盖范围仍需验证。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这一页放身份选择、基础资料和侧栏记录截图。演示时说明三位患者数据相互隔离，侧栏可以折叠，未完成问诊可以恢复。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按开放描述、逐项追问和生成档案三个阶段展示。建议选一个具体字段，说明回答如何改变字段状态、下一问和完整度。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医生工作台集中展示患者列表、问诊详情和决策解释。医生不仅能查看结果，也能看到关键缺口、问题来源和停止原因。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afffac3264d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56130a7a247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09f790ca542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d0720d5d147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c158798e141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3368925ab4fc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488b7b3124f1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1c89da9f740a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0feb50e7f49a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c7355b42c45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9e2172a4c48e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06DAC9-3420-4818-A7A8-94BAFCE5DD6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33C1D8C-AFB0-44B7-AFFB-CBDA7696FB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E166E7-3816-4F12-BA55-2015017165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4F50D7-0C7E-462C-A774-B66CFC2028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99EC6A-FD78-455B-A20B-73A6F4200E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95AB56-1206-450A-9818-5D33E571D3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82F23B8-4061-4F1E-8259-6949563748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45BDD0-DF2A-4FBE-BA7A-0A57BF826C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A6C735-6799-4361-8F0F-38120D7258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FDC06C-D9AA-4132-9CB5-4B4BCCDCC6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48E72E-30F7-49DA-973F-D1CAD6793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777260-0C3F-4572-8B7B-626D6F8D33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6BC8C8-C254-4DF8-A761-27499DE584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612D8F-38E1-4023-B885-C40B3A6AF9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0179C6-F76B-4B03-B6EF-A4BF5C0B99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E79448-4FAF-4BD5-BCDC-0E9000057E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819DE7-7443-4D0A-95E4-51E7E55C82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F8526B1-99BE-4080-A6BF-53A73979245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8F9188C-D631-49B2-8B32-93732DACDE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3283186-6CFF-4F54-88FD-40C08A2BF5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2652F85-0429-43F0-8C32-9A4EDF567E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358B23-5603-437F-AB25-74CB231526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3DA668-62D5-448A-8A64-D418434CBA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1DD9923-6775-4228-B284-892A8C4EE2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0E1C999-AB8D-483E-98CD-A0D3194FB1E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8AC1102-74CD-4B44-8B43-0CE3EF4BB5A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45125E8-77E7-4128-9E5F-4ABDB6728E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3FC5452-07DD-4832-93A8-5DEC7A8C70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D10380C-EC81-449C-90F6-B7B9CD1ACE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07F0DD-F406-42EF-AFA1-8725905DD1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653473C-DFCB-4C3D-8557-D43C6ED11D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EA1954C-7129-49B5-A3C7-1D7FBDFA04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1F0CD7D-685A-4D18-AD58-780EE4DE7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72EF19F-1B1F-4182-9B9E-BE492226D8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EDC379B-96E9-4C25-A07C-A5567C4BB1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1AA4DB4-FF40-4AEC-A9B1-F57AB6EBC9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BF1C31-22F5-4CC3-B8D1-6861C7CE68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67F8701-5AF2-41EF-8E4F-DDC7B3C87E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5FF861E-9071-4F9C-BE0F-251926A384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4ECB2EA-E43D-40C1-B88D-A5B5338F6D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1B4E33D-C310-4025-9F9D-B2F612D91D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61FBD40-E320-48E6-9478-C815B4F645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2F490E-2687-42A2-97FE-D399B435FA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A0979EB-8E09-4D0A-BE56-C7E8ABB8F1D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66ECE05-4301-4DA8-A097-256BBF11D3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DC78473-E663-4EA2-8BC7-29D686B603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8BF5970-C01B-4D57-837E-D0964307C0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AB7E05C-710A-4702-9AB5-75600D4174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5050B7-4090-42DF-A6D4-DA874CB2C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5F9FA-0A19-418B-B965-3003D12AF8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D8A715-CB84-46FE-8E63-BDFF2CD697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46FDAB-2254-441F-B888-74B1DB57E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27A44D-3DC2-46E6-AE6E-EBC2CFFDFC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5F912DB-9C35-46B4-8F33-1F376058D6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5FB3C9-B116-492A-BB34-4CECFAEE47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67A218-059D-4CD2-90CF-CA4F0F8E90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9BEC38-BF30-451F-AC65-C89192F8FC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487904-6107-4ED2-9361-62EB316803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f4ab8d115e44a5" /><Relationship Type="http://schemas.openxmlformats.org/officeDocument/2006/relationships/slideLayout" Target="/ppt/slideLayouts/slideLayout1.xml" Id="R52b8bd7c1d224cc4" /><Relationship Type="http://schemas.openxmlformats.org/officeDocument/2006/relationships/slideLayout" Target="/ppt/slideLayouts/slideLayout2.xml" Id="R68c8973e0c5b431e" /><Relationship Type="http://schemas.openxmlformats.org/officeDocument/2006/relationships/slideLayout" Target="/ppt/slideLayouts/slideLayout3.xml" Id="Rfaf6b5eeb5454c98" /><Relationship Type="http://schemas.openxmlformats.org/officeDocument/2006/relationships/slideLayout" Target="/ppt/slideLayouts/slideLayout4.xml" Id="R0cc9be5fae51424a" /><Relationship Type="http://schemas.openxmlformats.org/officeDocument/2006/relationships/slideLayout" Target="/ppt/slideLayouts/slideLayout5.xml" Id="Rf6fddf855b1541ad" /><Relationship Type="http://schemas.openxmlformats.org/officeDocument/2006/relationships/slideLayout" Target="/ppt/slideLayouts/slideLayout6.xml" Id="Rd884dd36378b4aed" /><Relationship Type="http://schemas.openxmlformats.org/officeDocument/2006/relationships/slideLayout" Target="/ppt/slideLayouts/slideLayout7.xml" Id="Rea457b83b8284605" /><Relationship Type="http://schemas.openxmlformats.org/officeDocument/2006/relationships/slideLayout" Target="/ppt/slideLayouts/slideLayout8.xml" Id="R0c9d529ae4c240fa" /><Relationship Type="http://schemas.openxmlformats.org/officeDocument/2006/relationships/slideLayout" Target="/ppt/slideLayouts/slideLayout9.xml" Id="R7ed6974648c544b3" /><Relationship Type="http://schemas.openxmlformats.org/officeDocument/2006/relationships/slideLayout" Target="/ppt/slideLayouts/slideLayout10.xml" Id="R2d3419bfdf6f49c5" /><Relationship Type="http://schemas.openxmlformats.org/officeDocument/2006/relationships/slideLayout" Target="/ppt/slideLayouts/slideLayout11.xml" Id="Rff2d3c556a1a4e2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93F6F43-B855-4DE6-8298-ED1DEFD9CC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7B1AF4-AF31-42BA-97B1-D2728E3147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053D15-9D43-4E02-B55C-A463CED786D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DDB4DF-840B-4FFB-B683-DD0EE5030A4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C468AD-8610-4706-8E68-CFC0FD5CCCD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b8bd7c1d224cc4"/>
    <p:sldLayoutId xmlns:r="http://schemas.openxmlformats.org/officeDocument/2006/relationships" id="2147483650" r:id="R68c8973e0c5b431e"/>
    <p:sldLayoutId xmlns:r="http://schemas.openxmlformats.org/officeDocument/2006/relationships" id="2147483651" r:id="Rfaf6b5eeb5454c98"/>
    <p:sldLayoutId xmlns:r="http://schemas.openxmlformats.org/officeDocument/2006/relationships" id="2147483652" r:id="R0cc9be5fae51424a"/>
    <p:sldLayoutId xmlns:r="http://schemas.openxmlformats.org/officeDocument/2006/relationships" id="2147483653" r:id="Rf6fddf855b1541ad"/>
    <p:sldLayoutId xmlns:r="http://schemas.openxmlformats.org/officeDocument/2006/relationships" id="2147483654" r:id="Rd884dd36378b4aed"/>
    <p:sldLayoutId xmlns:r="http://schemas.openxmlformats.org/officeDocument/2006/relationships" id="2147483655" r:id="Rea457b83b8284605"/>
    <p:sldLayoutId xmlns:r="http://schemas.openxmlformats.org/officeDocument/2006/relationships" id="2147483656" r:id="R0c9d529ae4c240fa"/>
    <p:sldLayoutId xmlns:r="http://schemas.openxmlformats.org/officeDocument/2006/relationships" id="2147483657" r:id="R7ed6974648c544b3"/>
    <p:sldLayoutId xmlns:r="http://schemas.openxmlformats.org/officeDocument/2006/relationships" id="2147483658" r:id="R2d3419bfdf6f49c5"/>
    <p:sldLayoutId xmlns:r="http://schemas.openxmlformats.org/officeDocument/2006/relationships" id="2147483659" r:id="Rff2d3c556a1a4e2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9bd8da7594393" /><Relationship Type="http://schemas.openxmlformats.org/officeDocument/2006/relationships/notesSlide" Target="/ppt/notesSlides/notesSlide1.xml" Id="R84ecf96b64104a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fad98d2ef4dc8" /><Relationship Type="http://schemas.openxmlformats.org/officeDocument/2006/relationships/notesSlide" Target="/ppt/notesSlides/notesSlide2.xml" Id="Rab928316bad34f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2b00cc0634952" /><Relationship Type="http://schemas.openxmlformats.org/officeDocument/2006/relationships/notesSlide" Target="/ppt/notesSlides/notesSlide3.xml" Id="R0e561aa4a39449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4a7ef6ade4537" /><Relationship Type="http://schemas.openxmlformats.org/officeDocument/2006/relationships/notesSlide" Target="/ppt/notesSlides/notesSlide4.xml" Id="R52c1de1e302740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4a9f8c52442c2" /><Relationship Type="http://schemas.openxmlformats.org/officeDocument/2006/relationships/notesSlide" Target="/ppt/notesSlides/notesSlide5.xml" Id="R53d8a1a94ea84c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b3a8e90bd4542" /><Relationship Type="http://schemas.openxmlformats.org/officeDocument/2006/relationships/notesSlide" Target="/ppt/notesSlides/notesSlide6.xml" Id="R5cd3d2a49c4944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8f856bb294660" /><Relationship Type="http://schemas.openxmlformats.org/officeDocument/2006/relationships/notesSlide" Target="/ppt/notesSlides/notesSlide7.xml" Id="R3c1584c7f9db40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0cf881459424b" /><Relationship Type="http://schemas.openxmlformats.org/officeDocument/2006/relationships/notesSlide" Target="/ppt/notesSlides/notesSlide8.xml" Id="Rcb2a074c7eab4a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c69a5e1e346de" /><Relationship Type="http://schemas.openxmlformats.org/officeDocument/2006/relationships/notesSlide" Target="/ppt/notesSlides/notesSlide9.xml" Id="R521e547e944a4b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a8c83ac4e4bfa" /><Relationship Type="http://schemas.openxmlformats.org/officeDocument/2006/relationships/notesSlide" Target="/ppt/notesSlides/notesSlide10.xml" Id="R529b05755a7748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e5aa411ce4d3c" /><Relationship Type="http://schemas.openxmlformats.org/officeDocument/2006/relationships/notesSlide" Target="/ppt/notesSlides/notesSlide11.xml" Id="R0d276be2cb0641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d5e9ee7cb4397" /><Relationship Type="http://schemas.openxmlformats.org/officeDocument/2006/relationships/notesSlide" Target="/ppt/notesSlides/notesSlide12.xml" Id="R9e3211db8fff45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c572afc9b477e" /><Relationship Type="http://schemas.openxmlformats.org/officeDocument/2006/relationships/notesSlide" Target="/ppt/notesSlides/notesSlide13.xml" Id="R417358a768e346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e6c6907b74655" /><Relationship Type="http://schemas.openxmlformats.org/officeDocument/2006/relationships/notesSlide" Target="/ppt/notesSlides/notesSlide14.xml" Id="R254bb041246044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1EF5212-2C38-45DA-BA2F-3B05C7C0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2451BE4-CD95-4DA8-AEE5-0AAD3AA0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1760" y="2254568"/>
            <a:ext cx="8028480" cy="88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中医诊前信息采集与整理系统</a:t>
            </a:r>
          </a:p>
        </p:txBody>
      </p:sp>
      <p:sp>
        <p:nvSpPr>
          <p:cNvPr id="4" name="Line 4">
            <a:extLst xmlns:a="http://schemas.openxmlformats.org/drawingml/2006/main">
              <a:ext uri="{FF2B5EF4-FFF2-40B4-BE49-F238E27FC236}">
                <a16:creationId xmlns:a16="http://schemas.microsoft.com/office/drawing/2014/main" id="{0274D651-AE2C-4D9C-A336-F1580C4F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3105150"/>
            <a:ext cx="3162300" cy="9525"/>
          </a:xfrm>
          <a:custGeom xmlns:a="http://schemas.openxmlformats.org/drawingml/2006/main"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C86A3A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60ADE7F-08BC-4E9D-B08B-2C75F71E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76900" y="36195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63D38"/>
                </a:solidFill>
                <a:latin typeface="Arial"/>
                <a:ea typeface="Arial"/>
                <a:cs typeface="Arial"/>
              </a:rPr>
              <a:t>项目汇报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F1CCD01-3F7E-47C0-97BC-0DEDC55B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4062" y="4145756"/>
            <a:ext cx="244387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>
                <a:solidFill>
                  <a:srgbClr val="7B8783"/>
                </a:solidFill>
                <a:latin typeface="Arial"/>
                <a:ea typeface="Arial"/>
                <a:cs typeface="Arial"/>
              </a:rPr>
              <a:t>汇报人：________ 日期：________</a:t>
            </a:r>
          </a:p>
        </p:txBody>
      </p:sp>
      <p:sp>
        <p:nvSpPr>
          <p:cNvPr id="8" name="Line 8">
            <a:extLst xmlns:a="http://schemas.openxmlformats.org/drawingml/2006/main">
              <a:ext uri="{FF2B5EF4-FFF2-40B4-BE49-F238E27FC236}">
                <a16:creationId xmlns:a16="http://schemas.microsoft.com/office/drawing/2014/main" id="{BC789EB3-9280-4268-9B81-A2FD480C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8300" y="5810250"/>
            <a:ext cx="8915400" cy="9525"/>
          </a:xfrm>
          <a:custGeom xmlns:a="http://schemas.openxmlformats.org/drawingml/2006/main">
            <a:rect l="l" t="t" r="r" b="b"/>
            <a:pathLst>
              <a:path w="8915400" h="9525">
                <a:moveTo>
                  <a:pt x="0" y="0"/>
                </a:moveTo>
                <a:lnTo>
                  <a:pt x="8915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6F60040-021D-4BEA-BEE3-BC247A4F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61011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6AF78D1-7A91-4738-A968-3D494ABE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F708A35-EDFA-42C9-92BE-6B42C8D0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315" y="467678"/>
            <a:ext cx="2564082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项目背景与问题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7D2F821-C631-438E-905E-D8930088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57178" y="602456"/>
            <a:ext cx="30611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25">
                <a:solidFill>
                  <a:srgbClr val="7B8783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0FA4EBE-B79D-4B26-A865-7F8900AC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315" y="1724978"/>
            <a:ext cx="3805238" cy="1013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3900"/>
              </a:lnSpc>
              <a:buNone/>
            </a:pPr>
            <a:r>
              <a:rPr sz="25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患者已经说了很多，</a:t>
            </a:r>
            <a:r>
              <a:rPr sz="25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为什么医生仍要重新问？</a:t>
            </a:r>
          </a:p>
        </p:txBody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65E564FF-67D5-4DF2-AC34-3DF075C4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3219450"/>
            <a:ext cx="3086100" cy="9525"/>
          </a:xfrm>
          <a:custGeom xmlns:a="http://schemas.openxmlformats.org/drawingml/2006/main"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C86A3A"/>
            </a:solidFill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30A87A4-0CD8-4E0E-914A-85198EBA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555" y="3569018"/>
            <a:ext cx="2606040" cy="56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2250"/>
              </a:lnSpc>
              <a:buNone/>
            </a:pPr>
            <a:r>
              <a:rPr sz="1350">
                <a:solidFill>
                  <a:srgbClr val="566762"/>
                </a:solidFill>
                <a:latin typeface="Arial"/>
                <a:ea typeface="Arial"/>
                <a:cs typeface="Arial"/>
              </a:rPr>
              <a:t>自然表达适合交流，却不天然等于</a:t>
            </a:r>
            <a:r>
              <a:rPr sz="1350">
                <a:solidFill>
                  <a:srgbClr val="566762"/>
                </a:solidFill>
                <a:latin typeface="Arial"/>
                <a:ea typeface="Arial"/>
                <a:cs typeface="Arial"/>
              </a:rPr>
              <a:t>可直接使用的诊前资料。</a:t>
            </a:r>
          </a:p>
        </p:txBody>
      </p:sp>
      <p:sp>
        <p:nvSpPr>
          <p:cNvPr id="10" name="Line 10">
            <a:extLst xmlns:a="http://schemas.openxmlformats.org/drawingml/2006/main">
              <a:ext uri="{FF2B5EF4-FFF2-40B4-BE49-F238E27FC236}">
                <a16:creationId xmlns:a16="http://schemas.microsoft.com/office/drawing/2014/main" id="{7C25170B-A747-49C0-8A42-C77ACE4D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1428750"/>
            <a:ext cx="9525" cy="3857625"/>
          </a:xfrm>
          <a:custGeom xmlns:a="http://schemas.openxmlformats.org/drawingml/2006/main">
            <a:rect l="l" t="t" r="r" b="b"/>
            <a:pathLst>
              <a:path w="9525" h="3857625">
                <a:moveTo>
                  <a:pt x="0" y="0"/>
                </a:moveTo>
                <a:lnTo>
                  <a:pt x="0" y="3857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68E1DC00-2648-4A3D-93E2-C075673C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5050" y="1733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>
            <a:noFill/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44DED5B-1E71-4ED2-AEC5-58525806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1295" y="1574482"/>
            <a:ext cx="96602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描述零散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E6D8AA1-99DF-44F2-B724-5AA1FC5D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7010" y="1899285"/>
            <a:ext cx="29108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时间、程度和关联因素分散在多轮回答中</a:t>
            </a:r>
          </a:p>
        </p:txBody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216CBDAE-88CC-432B-BE19-F58269E8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5050" y="2781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9D4B9038-D1BA-4FE4-BCBB-4837933E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1295" y="2622232"/>
            <a:ext cx="96602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重复询问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61383D9-C53F-410C-824E-8E48698E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7010" y="2947035"/>
            <a:ext cx="30708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缺少字段状态时，同一信息可能被反复确认</a:t>
            </a:r>
          </a:p>
        </p:txBody>
      </p:sp>
      <p:sp>
        <p:nvSpPr>
          <p:cNvPr id="17" name="Ellipse 17">
            <a:extLst xmlns:a="http://schemas.openxmlformats.org/drawingml/2006/main">
              <a:ext uri="{FF2B5EF4-FFF2-40B4-BE49-F238E27FC236}">
                <a16:creationId xmlns:a16="http://schemas.microsoft.com/office/drawing/2014/main" id="{78DBAEF0-514E-4D04-86D6-41589D40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5050" y="3829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E6FD81C-EA9F-4A64-861C-5970808F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1295" y="3669982"/>
            <a:ext cx="1428083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停止条件不清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D49B7ED-EBBE-4EE0-B4CB-8AFC7D28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7010" y="3994785"/>
            <a:ext cx="30708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可选细节持续阻塞结束，问诊轮数不断增加</a:t>
            </a:r>
          </a:p>
        </p:txBody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F8ADCA3A-B9E3-4449-A679-966D9D2A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5050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5AFE738-881F-451F-9A91-275F4A01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1295" y="4717732"/>
            <a:ext cx="1428083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决策难以解释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BEC4EDD-9FAA-4EA1-A6B6-F84CE942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7010" y="5042535"/>
            <a:ext cx="25908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医生看不到当前问题来源和停止原因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8EFAB80-F701-4227-B026-6D1CC3C6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555" y="5797868"/>
            <a:ext cx="68391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项目需要解决：如何把自由描述转化为有限、可追踪、能及时结束的诊前采集过程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E4A4B65-269E-41BB-9A45-A0BD23BA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64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9B9284-88F0-46A1-9CC5-AE92F8C0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4202E65-0F2A-4DA7-9C73-CB53AF53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467678"/>
            <a:ext cx="2564082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项目目标与定位</a:t>
            </a:r>
          </a:p>
        </p:txBody>
      </p:sp>
      <p:sp>
        <p:nvSpPr>
          <p:cNvPr id="4" name="Ellipse 4">
            <a:extLst xmlns:a="http://schemas.openxmlformats.org/drawingml/2006/main">
              <a:ext uri="{FF2B5EF4-FFF2-40B4-BE49-F238E27FC236}">
                <a16:creationId xmlns:a16="http://schemas.microsoft.com/office/drawing/2014/main" id="{0238E5DB-10E4-43D4-88AE-AFAC877E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0" y="1981200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B60E018-78F6-4F31-AD70-D6A44C4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122" y="2731294"/>
            <a:ext cx="1097756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诊前资料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A932CEC-705B-4F89-A35A-AF75EEF3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9655" y="3074194"/>
            <a:ext cx="57269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整理</a:t>
            </a:r>
          </a:p>
        </p:txBody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5927D0A2-8692-4595-B2BC-64ACD057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8550" y="2047875"/>
            <a:ext cx="1390650" cy="523875"/>
          </a:xfrm>
          <a:custGeom xmlns:a="http://schemas.openxmlformats.org/drawingml/2006/main">
            <a:rect l="l" t="t" r="r" b="b"/>
            <a:pathLst>
              <a:path w="1390650" h="523875">
                <a:moveTo>
                  <a:pt x="139065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8" name="Line 8">
            <a:extLst xmlns:a="http://schemas.openxmlformats.org/drawingml/2006/main">
              <a:ext uri="{FF2B5EF4-FFF2-40B4-BE49-F238E27FC236}">
                <a16:creationId xmlns:a16="http://schemas.microsoft.com/office/drawing/2014/main" id="{885F4A30-7866-4801-BE79-539F0CBC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2800" y="2047875"/>
            <a:ext cx="1390650" cy="523875"/>
          </a:xfrm>
          <a:custGeom xmlns:a="http://schemas.openxmlformats.org/drawingml/2006/main">
            <a:rect l="l" t="t" r="r" b="b"/>
            <a:pathLst>
              <a:path w="1390650" h="523875">
                <a:moveTo>
                  <a:pt x="0" y="523875"/>
                </a:moveTo>
                <a:lnTo>
                  <a:pt x="1390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9" name="Line 9">
            <a:extLst xmlns:a="http://schemas.openxmlformats.org/drawingml/2006/main">
              <a:ext uri="{FF2B5EF4-FFF2-40B4-BE49-F238E27FC236}">
                <a16:creationId xmlns:a16="http://schemas.microsoft.com/office/drawing/2014/main" id="{6AC1CF8A-5460-490C-9F7D-F62C48F6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8550" y="3524250"/>
            <a:ext cx="1390650" cy="523875"/>
          </a:xfrm>
          <a:custGeom xmlns:a="http://schemas.openxmlformats.org/drawingml/2006/main">
            <a:rect l="l" t="t" r="r" b="b"/>
            <a:pathLst>
              <a:path w="1390650" h="523875">
                <a:moveTo>
                  <a:pt x="139065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10" name="Line 10">
            <a:extLst xmlns:a="http://schemas.openxmlformats.org/drawingml/2006/main">
              <a:ext uri="{FF2B5EF4-FFF2-40B4-BE49-F238E27FC236}">
                <a16:creationId xmlns:a16="http://schemas.microsoft.com/office/drawing/2014/main" id="{A5F12D0A-6544-4050-A72B-F08E7307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62800" y="3524250"/>
            <a:ext cx="1390650" cy="523875"/>
          </a:xfrm>
          <a:custGeom xmlns:a="http://schemas.openxmlformats.org/drawingml/2006/main">
            <a:rect l="l" t="t" r="r" b="b"/>
            <a:pathLst>
              <a:path w="1390650" h="523875">
                <a:moveTo>
                  <a:pt x="0" y="0"/>
                </a:moveTo>
                <a:lnTo>
                  <a:pt x="139065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6AF429AF-AA26-4553-B2BF-9090A3F6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" y="168830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F5DF19F-3DF9-4742-B16B-A80530B6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7295" y="1631632"/>
            <a:ext cx="1659112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自然语言结构化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061BE48-6530-4CE1-B26E-F701F26D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3010" y="1965960"/>
            <a:ext cx="195072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把患者表达映射到明确字段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476FFCD-D793-457A-BD1B-35028C02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48712" y="168830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3F577E1-EB5D-46D8-B262-F9223EB9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23045" y="1631632"/>
            <a:ext cx="96602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有限追问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C7D2484-2685-423C-A1C7-CBF160E9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28760" y="1965960"/>
            <a:ext cx="16306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只询问仍有价值的缺口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15D7D57-81BA-49C2-BB39-FC9151F8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" y="397430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C20EC32-951C-4C14-918E-2A7D10E7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7295" y="3917632"/>
            <a:ext cx="96602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停止判断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54BB314-336D-480E-BA65-32F7529C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3010" y="4251960"/>
            <a:ext cx="17907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根据核心完整度及时结束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4C4654E-3474-4788-8255-6CB79A8D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48712" y="397430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DEBC24A-C159-42C2-9DBA-C07B3E46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23045" y="3917632"/>
            <a:ext cx="1197054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结果可追溯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13125CD4-55CC-4141-85C3-4CE20CD3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28760" y="4251960"/>
            <a:ext cx="16306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向医生解释来源与原因</a:t>
            </a:r>
          </a:p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7AABA4D7-6AA3-4C02-BEFD-6B93DC78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5219700"/>
            <a:ext cx="10401300" cy="9525"/>
          </a:xfrm>
          <a:custGeom xmlns:a="http://schemas.openxmlformats.org/drawingml/2006/main">
            <a:rect l="l" t="t" r="r" b="b"/>
            <a:pathLst>
              <a:path w="10401300" h="9525">
                <a:moveTo>
                  <a:pt x="0" y="0"/>
                </a:moveTo>
                <a:lnTo>
                  <a:pt x="10401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B55B50F-D96E-4A6C-986C-9B50FC33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1508" y="5424964"/>
            <a:ext cx="746474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能力边界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219973C3-0F61-43CA-BFB9-290B9C8E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3558" y="5424964"/>
            <a:ext cx="4265914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66762"/>
                </a:solidFill>
                <a:latin typeface="Arial"/>
                <a:ea typeface="Arial"/>
                <a:cs typeface="Arial"/>
              </a:rPr>
              <a:t>不自动诊断 不输出患病概率 不自动开方 不替代医生面诊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EAEC3E14-F289-4866-B05B-F70E4E86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460" y="5795010"/>
            <a:ext cx="515112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155348"/>
                </a:solidFill>
                <a:latin typeface="Arial"/>
                <a:ea typeface="Arial"/>
                <a:cs typeface="Arial"/>
              </a:rPr>
              <a:t>定位：为医生提供更完整的诊前资料，而不是给患者提供最终医疗结论。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12566EA5-EDDE-4C64-807D-BAB77282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4618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2A020A7-4A00-4480-B4CE-2A838C83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B56CE89-8E7F-4289-A650-69142480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467678"/>
            <a:ext cx="2207038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系统整体架构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996C5DB-F0A2-496A-9884-E72680F3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365" y="1477328"/>
            <a:ext cx="673551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B8783"/>
                </a:solidFill>
                <a:latin typeface="Arial"/>
                <a:ea typeface="Arial"/>
                <a:cs typeface="Arial"/>
              </a:rPr>
              <a:t>01 交互层</a:t>
            </a:r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81F1235-E74B-4305-8ACA-165F5D5E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250" y="1238250"/>
            <a:ext cx="904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0F43634-4001-4F6E-B96A-20EE116E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6950" y="1362075"/>
            <a:ext cx="66817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患者端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B6272945-ECF6-48D0-9C36-81983508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19575" y="1362075"/>
            <a:ext cx="108823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医生工作台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F13D8C5C-D623-46C2-8F4A-9B13D925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72665" y="1639252"/>
            <a:ext cx="1006792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66762"/>
                </a:solidFill>
                <a:latin typeface="Arial"/>
                <a:ea typeface="Arial"/>
                <a:cs typeface="Arial"/>
              </a:rPr>
              <a:t>问诊交互与档案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C2AF000-F148-4987-BB63-2E860F20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5290" y="1639252"/>
            <a:ext cx="1006792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66762"/>
                </a:solidFill>
                <a:latin typeface="Arial"/>
                <a:ea typeface="Arial"/>
                <a:cs typeface="Arial"/>
              </a:rPr>
              <a:t>多患者只读查看</a:t>
            </a:r>
          </a:p>
        </p:txBody>
      </p:sp>
      <p:sp>
        <p:nvSpPr>
          <p:cNvPr id="10" name="Line 10">
            <a:extLst xmlns:a="http://schemas.openxmlformats.org/drawingml/2006/main">
              <a:ext uri="{FF2B5EF4-FFF2-40B4-BE49-F238E27FC236}">
                <a16:creationId xmlns:a16="http://schemas.microsoft.com/office/drawing/2014/main" id="{A7C57798-BAFD-46A2-8A20-0AF8052C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1924050"/>
            <a:ext cx="9525" cy="219075"/>
          </a:xfrm>
          <a:custGeom xmlns:a="http://schemas.openxmlformats.org/drawingml/2006/main">
            <a:rect l="l" t="t" r="r" b="b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AF7C258-41EA-49BA-B71B-F81313E0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365" y="2410778"/>
            <a:ext cx="673551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B8783"/>
                </a:solidFill>
                <a:latin typeface="Arial"/>
                <a:ea typeface="Arial"/>
                <a:cs typeface="Arial"/>
              </a:rPr>
              <a:t>02 接口层</a:t>
            </a:r>
          </a:p>
        </p:txBody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1EE0570-6FC5-4811-8637-438E33C3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250" y="2143125"/>
            <a:ext cx="904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823427-0014-477C-8F7C-7FE12EC8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6950" y="2276475"/>
            <a:ext cx="79419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787D291-398F-49E6-BC7D-2A2BEA03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9010" y="2308860"/>
            <a:ext cx="3694938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患者隔离接口 会话接口 医生查询接口 档案归档接口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B7765E34-B9BE-4FDB-B18E-C2C4F8F3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72665" y="2553652"/>
            <a:ext cx="263099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7B8783"/>
                </a:solidFill>
                <a:latin typeface="Arial"/>
                <a:ea typeface="Arial"/>
                <a:cs typeface="Arial"/>
              </a:rPr>
              <a:t>统一请求校验与 patient_id 资源归属检查</a:t>
            </a:r>
          </a:p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E145037A-C7C9-4373-8918-8CC327F5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2828925"/>
            <a:ext cx="9525" cy="219075"/>
          </a:xfrm>
          <a:custGeom xmlns:a="http://schemas.openxmlformats.org/drawingml/2006/main">
            <a:rect l="l" t="t" r="r" b="b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9CC9F92-3A66-46C5-B549-040AC017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365" y="3525202"/>
            <a:ext cx="673551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03 决策层</a:t>
            </a:r>
          </a:p>
        </p:txBody>
      </p:sp>
      <p:sp>
        <p:nvSpPr>
          <p:cNvPr id="1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00DFC4A-5587-43EF-9CC2-F460077A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250" y="3048000"/>
            <a:ext cx="9048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A43B07A-0071-4C07-B6B3-BFDDADF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9342" y="3242786"/>
            <a:ext cx="708023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822FFE4-67A3-4349-9CA3-685EEC86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6010" y="3594735"/>
            <a:ext cx="37109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F7F5EF"/>
                </a:solidFill>
                <a:latin typeface="Arial"/>
                <a:ea typeface="Arial"/>
                <a:cs typeface="Arial"/>
              </a:rPr>
              <a:t>理解回答、抽取字段、保存原文证据、组织自然问题</a:t>
            </a:r>
          </a:p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6D0D286A-011A-4895-B7C5-75301EAF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3257550"/>
            <a:ext cx="9525" cy="762000"/>
          </a:xfrm>
          <a:custGeom xmlns:a="http://schemas.openxmlformats.org/drawingml/2006/main"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8461A37-0749-4A73-99D3-C8E157AC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0342" y="324278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规则系统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23626CE9-63F7-4C4A-B040-604B5AA4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7010" y="3594735"/>
            <a:ext cx="37109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F7F5EF"/>
                </a:solidFill>
                <a:latin typeface="Arial"/>
                <a:ea typeface="Arial"/>
                <a:cs typeface="Arial"/>
              </a:rPr>
              <a:t>判断状态、计算完整度、选择下一问、决定何时停止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BC57095-98D2-4103-8EE5-CA3D24FC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58915" y="3858578"/>
            <a:ext cx="1846898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F7F5EF"/>
                </a:solidFill>
                <a:latin typeface="Arial"/>
                <a:ea typeface="Arial"/>
                <a:cs typeface="Arial"/>
              </a:rPr>
              <a:t>确定性边界约束模型不确定性</a:t>
            </a:r>
          </a:p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FFC604A4-CABD-426A-8B60-31EA10F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4229100"/>
            <a:ext cx="9525" cy="219075"/>
          </a:xfrm>
          <a:custGeom xmlns:a="http://schemas.openxmlformats.org/drawingml/2006/main">
            <a:rect l="l" t="t" r="r" b="b"/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ADF621BC-F571-4046-BDF6-9C9D6929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365" y="4763452"/>
            <a:ext cx="673551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7B8783"/>
                </a:solidFill>
                <a:latin typeface="Arial"/>
                <a:ea typeface="Arial"/>
                <a:cs typeface="Arial"/>
              </a:rPr>
              <a:t>04 数据层</a:t>
            </a:r>
          </a:p>
        </p:txBody>
      </p:sp>
      <p:sp>
        <p:nvSpPr>
          <p:cNvPr id="2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B2B692D-0B38-482C-AB71-39652F66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250" y="4448175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C797E76-EC7C-4202-B49A-7D08C6F4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6950" y="4629150"/>
            <a:ext cx="181282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MySQL 完整持久化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4FF7797D-1269-43D2-A1DB-38F98426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71712" y="4964906"/>
            <a:ext cx="389905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566762"/>
                </a:solidFill>
                <a:latin typeface="Arial"/>
                <a:ea typeface="Arial"/>
                <a:cs typeface="Arial"/>
              </a:rPr>
              <a:t>患者 会话 字段状态 问答记录 诊前档案 归档状态 审计记录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DB50079E-32E3-4378-AD2E-5ACDD7BE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8" y="5767864"/>
            <a:ext cx="3817058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关键设计：模型负责“理解”，规则负责“决定”。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69B3250B-C62D-4586-A9EC-772DE9D1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985775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2255A3A-C857-4CD5-930D-9E59D8D5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206399B-C3C2-429E-99E4-FB7E1CDB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467678"/>
            <a:ext cx="3278172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系统角色与主要功能</a:t>
            </a:r>
          </a:p>
        </p:txBody>
      </p:sp>
      <p:sp>
        <p:nvSpPr>
          <p:cNvPr id="4" name="Ellipse 4">
            <a:extLst xmlns:a="http://schemas.openxmlformats.org/drawingml/2006/main">
              <a:ext uri="{FF2B5EF4-FFF2-40B4-BE49-F238E27FC236}">
                <a16:creationId xmlns:a16="http://schemas.microsoft.com/office/drawing/2014/main" id="{11BBD4A3-A474-4769-9B69-C8976287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" y="19812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9730399F-5119-4BC2-AB3B-42811C6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4479" y="2581751"/>
            <a:ext cx="902041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患者端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75CA3F2-6B0A-4498-8BED-F037F119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1175" y="3002756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>
                <a:solidFill>
                  <a:srgbClr val="F7F5EF"/>
                </a:solidFill>
                <a:latin typeface="Arial"/>
                <a:ea typeface="Arial"/>
                <a:cs typeface="Arial"/>
              </a:rPr>
              <a:t>提供信息</a:t>
            </a:r>
          </a:p>
        </p:txBody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2782D4A1-4CC2-426E-96B4-6CBB6436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71800" y="2857500"/>
            <a:ext cx="1733550" cy="9525"/>
          </a:xfrm>
          <a:custGeom xmlns:a="http://schemas.openxmlformats.org/drawingml/2006/main"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FCFC9"/>
            </a:solidFill>
          </a:ln>
        </p:spPr>
      </p:sp>
      <p:sp>
        <p:nvSpPr>
          <p:cNvPr id="8" name="Polygon 8">
            <a:extLst xmlns:a="http://schemas.openxmlformats.org/drawingml/2006/main">
              <a:ext uri="{FF2B5EF4-FFF2-40B4-BE49-F238E27FC236}">
                <a16:creationId xmlns:a16="http://schemas.microsoft.com/office/drawing/2014/main" id="{A810194D-A778-4979-8BEF-082A419C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2950" y="2781300"/>
            <a:ext cx="152400" cy="152400"/>
          </a:xfrm>
          <a:custGeom xmlns:a="http://schemas.openxmlformats.org/drawingml/2006/main">
            <a:rect l="l" t="t" r="r" b="b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BFCFC9"/>
          </a:solidFill>
          <a:ln xmlns:a="http://schemas.openxmlformats.org/drawingml/2006/main">
            <a:noFill/>
          </a:ln>
        </p:spPr>
      </p:sp>
      <p:sp>
        <p:nvSpPr>
          <p:cNvPr id="9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3D991E0-8969-4383-A1CD-0A2479DC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5350" y="2076450"/>
            <a:ext cx="2781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C1CCD6-6B58-43F8-8A75-DEE92CF7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2987" y="2279332"/>
            <a:ext cx="966026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系统整理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7E9C1F8E-78AF-4BB2-ABA5-B1E84E09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60670" y="2661285"/>
            <a:ext cx="14706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字段状态与原文证据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B4B7560-77B0-4901-A892-E87FA54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0650" y="2947035"/>
            <a:ext cx="17907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完整度、缺口与停止原因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6B6B258-7C1A-4563-8524-69D91C7E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20690" y="3232785"/>
            <a:ext cx="115062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结构化诊前档案</a:t>
            </a:r>
          </a:p>
        </p:txBody>
      </p:sp>
      <p:sp>
        <p:nvSpPr>
          <p:cNvPr id="14" name="Line 14">
            <a:extLst xmlns:a="http://schemas.openxmlformats.org/drawingml/2006/main">
              <a:ext uri="{FF2B5EF4-FFF2-40B4-BE49-F238E27FC236}">
                <a16:creationId xmlns:a16="http://schemas.microsoft.com/office/drawing/2014/main" id="{FC83ED54-FFD7-4FE1-ABA6-DAA070EB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6650" y="2857500"/>
            <a:ext cx="1733550" cy="9525"/>
          </a:xfrm>
          <a:custGeom xmlns:a="http://schemas.openxmlformats.org/drawingml/2006/main"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FCFC9"/>
            </a:solidFill>
          </a:ln>
        </p:spPr>
      </p:sp>
      <p:sp>
        <p:nvSpPr>
          <p:cNvPr id="15" name="Polygon 15">
            <a:extLst xmlns:a="http://schemas.openxmlformats.org/drawingml/2006/main">
              <a:ext uri="{FF2B5EF4-FFF2-40B4-BE49-F238E27FC236}">
                <a16:creationId xmlns:a16="http://schemas.microsoft.com/office/drawing/2014/main" id="{918AFC1E-8E79-4406-A867-9686512B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7800" y="2781300"/>
            <a:ext cx="152400" cy="152400"/>
          </a:xfrm>
          <a:custGeom xmlns:a="http://schemas.openxmlformats.org/drawingml/2006/main">
            <a:rect l="l" t="t" r="r" b="b"/>
            <a:pathLst>
              <a:path w="152400" h="152400">
                <a:moveTo>
                  <a:pt x="152400" y="76200"/>
                </a:move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BFCFC9"/>
          </a:solidFill>
          <a:ln xmlns:a="http://schemas.openxmlformats.org/drawingml/2006/main">
            <a:noFill/>
          </a:ln>
        </p:spPr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1D7AFFA2-0605-4F5E-A3A0-95812E9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0200" y="19812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D78BA70-520E-4075-8302-BE7FCCA3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5479" y="2581751"/>
            <a:ext cx="902041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医生端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349A5AB3-4DE4-4CF9-A237-D83F6E47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07166" y="3002756"/>
            <a:ext cx="77866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>
                <a:solidFill>
                  <a:srgbClr val="F7F5EF"/>
                </a:solidFill>
                <a:latin typeface="Arial"/>
                <a:ea typeface="Arial"/>
                <a:cs typeface="Arial"/>
              </a:rPr>
              <a:t>查看与理解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8D059F3-F23D-4FA7-BF12-688FE4FF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205" y="4216718"/>
            <a:ext cx="241598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身份选择 基础资料 开放描述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98C7984-6F8B-435F-AA43-DBE3C847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0110" y="4528185"/>
            <a:ext cx="30708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逐项回答、恢复未完成问诊、查看历史档案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E69950F-1195-40C7-BD0E-61CF35A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1455" y="4216718"/>
            <a:ext cx="241598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患者列表 历史问诊 问答详情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6E7FA08D-E302-4075-B766-E033ADBD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3360" y="4528185"/>
            <a:ext cx="32308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查看关键缺口、追问来源、完整度和停止原因</a:t>
            </a:r>
          </a:p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DE00D409-9256-45DF-ADDE-21CB289B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5257800"/>
            <a:ext cx="10401300" cy="9525"/>
          </a:xfrm>
          <a:custGeom xmlns:a="http://schemas.openxmlformats.org/drawingml/2006/main">
            <a:rect l="l" t="t" r="r" b="b"/>
            <a:pathLst>
              <a:path w="10401300" h="9525">
                <a:moveTo>
                  <a:pt x="0" y="0"/>
                </a:moveTo>
                <a:lnTo>
                  <a:pt x="10401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B29BAEC0-604C-42CA-A47A-1EF33B02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460" y="5490210"/>
            <a:ext cx="70256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数据边界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089FD28B-A64B-4F8D-8512-D8A41AF9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4960" y="5490210"/>
            <a:ext cx="5671185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会话和档案显式绑定 patient_id；跨患者读取返回 404；医生端当前保持只读。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2101B0AD-343A-4793-8F2D-75A7ECE8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26309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A05C0F9-3BBB-4ED0-87B5-DE340400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10DD458-ED66-46F9-BF8B-A9C73243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467678"/>
            <a:ext cx="2207038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完整问诊流程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0987CC6-E8C9-47C7-9B82-4823EAC0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1125" y="1952625"/>
            <a:ext cx="8524875" cy="2047875"/>
          </a:xfrm>
          <a:custGeom xmlns:a="http://schemas.openxmlformats.org/drawingml/2006/main">
            <a:rect l="l" t="t" r="r" b="b"/>
            <a:pathLst>
              <a:path w="8524875" h="2047875">
                <a:moveTo>
                  <a:pt x="0" y="0"/>
                </a:moveTo>
                <a:lnTo>
                  <a:pt x="8524875" y="0"/>
                </a:lnTo>
                <a:lnTo>
                  <a:pt x="8524875" y="2047875"/>
                </a:lnTo>
                <a:lnTo>
                  <a:pt x="1571625" y="20478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FCFC9"/>
            </a:solidFill>
          </a:ln>
        </p:spPr>
      </p:sp>
      <p:sp>
        <p:nvSpPr>
          <p:cNvPr id="5" name="Ellipse 5">
            <a:extLst xmlns:a="http://schemas.openxmlformats.org/drawingml/2006/main">
              <a:ext uri="{FF2B5EF4-FFF2-40B4-BE49-F238E27FC236}">
                <a16:creationId xmlns:a16="http://schemas.microsoft.com/office/drawing/2014/main" id="{0914EC59-09A0-4A6E-9164-461A2884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" y="1666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6" name="Ellipse 6">
            <a:extLst xmlns:a="http://schemas.openxmlformats.org/drawingml/2006/main">
              <a:ext uri="{FF2B5EF4-FFF2-40B4-BE49-F238E27FC236}">
                <a16:creationId xmlns:a16="http://schemas.microsoft.com/office/drawing/2014/main" id="{2AE9F0D7-3FC7-46FD-B885-67C84EA8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09875" y="1666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7" name="Ellipse 7">
            <a:extLst xmlns:a="http://schemas.openxmlformats.org/drawingml/2006/main">
              <a:ext uri="{FF2B5EF4-FFF2-40B4-BE49-F238E27FC236}">
                <a16:creationId xmlns:a16="http://schemas.microsoft.com/office/drawing/2014/main" id="{9F7BBC71-B0DE-4B5B-BC8F-2A93370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24375" y="1666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8" name="Ellipse 8">
            <a:extLst xmlns:a="http://schemas.openxmlformats.org/drawingml/2006/main">
              <a:ext uri="{FF2B5EF4-FFF2-40B4-BE49-F238E27FC236}">
                <a16:creationId xmlns:a16="http://schemas.microsoft.com/office/drawing/2014/main" id="{0FD6A455-EE14-4C0D-9961-E93C4042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8875" y="1666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>
            <a:noFill/>
          </a:ln>
        </p:spPr>
      </p:sp>
      <p:sp>
        <p:nvSpPr>
          <p:cNvPr id="9" name="Ellipse 9">
            <a:extLst xmlns:a="http://schemas.openxmlformats.org/drawingml/2006/main">
              <a:ext uri="{FF2B5EF4-FFF2-40B4-BE49-F238E27FC236}">
                <a16:creationId xmlns:a16="http://schemas.microsoft.com/office/drawing/2014/main" id="{18E8A53A-92F4-480E-8BFB-7F197912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3375" y="16668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10" name="Ellipse 10">
            <a:extLst xmlns:a="http://schemas.openxmlformats.org/drawingml/2006/main">
              <a:ext uri="{FF2B5EF4-FFF2-40B4-BE49-F238E27FC236}">
                <a16:creationId xmlns:a16="http://schemas.microsoft.com/office/drawing/2014/main" id="{2B8676F5-A494-4431-BEAF-F07917EE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20250" y="2571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11" name="Ellipse 11">
            <a:extLst xmlns:a="http://schemas.openxmlformats.org/drawingml/2006/main">
              <a:ext uri="{FF2B5EF4-FFF2-40B4-BE49-F238E27FC236}">
                <a16:creationId xmlns:a16="http://schemas.microsoft.com/office/drawing/2014/main" id="{72C6DA0B-F123-4695-8194-EAB81C12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53375" y="3714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87358F9F-920F-4A0D-8D3C-8C9C9D5A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67375" y="3714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>
            <a:noFill/>
          </a:ln>
        </p:spPr>
      </p:sp>
      <p:sp>
        <p:nvSpPr>
          <p:cNvPr id="13" name="Ellipse 13">
            <a:extLst xmlns:a="http://schemas.openxmlformats.org/drawingml/2006/main">
              <a:ext uri="{FF2B5EF4-FFF2-40B4-BE49-F238E27FC236}">
                <a16:creationId xmlns:a16="http://schemas.microsoft.com/office/drawing/2014/main" id="{F7B78E3D-24A6-4519-B5D5-7B1F52FE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7000" y="3714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D849F7F-BDD0-4E74-BC4A-E330C511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202" y="189785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CC22186-2A99-476B-B024-6868CC30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94702" y="189785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0C4565D7-B961-4B60-B330-7A6926EA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9202" y="189785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B841D99-2506-4033-99FA-3D1BF2EF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23702" y="189785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4CB4B9D-30C2-40E9-82F1-D60D20F8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8202" y="189785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2129DEB-C6F9-4E0E-AA26-BA998A94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5077" y="2802731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96778C-8291-4B79-8C67-E9DD2174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8202" y="3945731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D3CE7CE-76C3-4570-B46E-A0177ACB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5520" y="3945731"/>
            <a:ext cx="11521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52C0EABA-0EFF-4D73-BEE3-FAE1159D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95145" y="3945731"/>
            <a:ext cx="11521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9E103AE7-5C23-47D1-9957-7BF9BB9F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888" y="1329214"/>
            <a:ext cx="746474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选择患者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10531BEA-27D4-4A82-AA3D-1B6C28BD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22388" y="1329214"/>
            <a:ext cx="746474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基础资料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314E3F1-FFAC-4CBE-AC97-A64943B7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6888" y="1329214"/>
            <a:ext cx="746474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开放描述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050C7792-EE78-4993-B208-7BF094F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7664" y="1329214"/>
            <a:ext cx="933923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Agent 提取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1671742-DFB4-4033-9D43-B1A52492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5888" y="1329214"/>
            <a:ext cx="746474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字段更新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D536EF69-8C26-4D9E-82E8-30337F37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61308" y="2777014"/>
            <a:ext cx="924997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完整度判断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57F3A89-0502-41AD-966D-12503A3F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76627" y="4415314"/>
            <a:ext cx="924997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选择下一问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F7346475-3B61-4EFB-B5E4-A32DB058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0627" y="4415314"/>
            <a:ext cx="924997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7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回答后重算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BF36950F-3463-497F-B09B-712A3840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79513" y="4415314"/>
            <a:ext cx="746474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生成档案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09A63BA0-CF94-42F6-AFE1-C8FC19E6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53125" y="3143250"/>
            <a:ext cx="1285875" cy="571500"/>
          </a:xfrm>
          <a:custGeom xmlns:a="http://schemas.openxmlformats.org/drawingml/2006/main">
            <a:rect l="l" t="t" r="r" b="b"/>
            <a:pathLst>
              <a:path w="1285875" h="571500">
                <a:moveTo>
                  <a:pt x="0" y="571500"/>
                </a:moveTo>
                <a:cubicBezTo>
                  <a:pt x="0" y="0"/>
                  <a:pt x="1285875" y="0"/>
                  <a:pt x="1285875" y="5715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86A3A"/>
            </a:solidFill>
            <a:prstDash val="lgDash"/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DA24609A-5411-4D6C-9CE9-6E7E962A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8862" y="3172778"/>
            <a:ext cx="8667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C86A3A"/>
                </a:solidFill>
                <a:latin typeface="Arial"/>
                <a:ea typeface="Arial"/>
                <a:cs typeface="Arial"/>
              </a:rPr>
              <a:t>缺口仍可采集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2C99C340-73D0-4502-A728-FA512B85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555" y="5512118"/>
            <a:ext cx="702816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流程不是固定轮数：每一次回答都会改变字段状态，也可能改变下一问和停止结果。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8B26F8A4-3093-4FA6-BB0C-A5D5505F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703703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3143D90-4967-4FBE-8321-2C74E84D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0D10CBAF-91A4-4817-AA3D-114E1D8E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467678"/>
            <a:ext cx="3635216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结构化字段与信息来源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34EDFB7-9959-4BF3-BEBB-D7156437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1307306"/>
            <a:ext cx="65865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采集范围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4E1B217-CFFF-4E35-8ADD-7212CFDF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792" y="173783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基础测量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5628058-47F1-472C-94D5-2517CDEE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2069306"/>
            <a:ext cx="167878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566762"/>
                </a:solidFill>
                <a:latin typeface="Arial"/>
                <a:ea typeface="Arial"/>
                <a:cs typeface="Arial"/>
              </a:rPr>
              <a:t>年龄、身高、体重、腰围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1319B14-CBA6-46E6-9260-9CE9C619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792" y="253793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病程信息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366E8F8-6DEE-4181-9C37-8B4C6F8E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2869406"/>
            <a:ext cx="21288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566762"/>
                </a:solidFill>
                <a:latin typeface="Arial"/>
                <a:ea typeface="Arial"/>
                <a:cs typeface="Arial"/>
              </a:rPr>
              <a:t>变化经过、相关因素、管理经历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CCDFC6D-E39A-4922-9258-940CE30F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792" y="333803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中医症状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7E86C1F-25EC-45EE-BACB-6FAA6937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3669506"/>
            <a:ext cx="227885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566762"/>
                </a:solidFill>
                <a:latin typeface="Arial"/>
                <a:ea typeface="Arial"/>
                <a:cs typeface="Arial"/>
              </a:rPr>
              <a:t>食欲口渴、二便、睡眠情绪、疲劳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0D1A5C3-1A26-41A3-BF28-379E9A00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792" y="413813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生活方式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1818F2A-97E0-45AA-A0CD-E6420419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4469606"/>
            <a:ext cx="21288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566762"/>
                </a:solidFill>
                <a:latin typeface="Arial"/>
                <a:ea typeface="Arial"/>
                <a:cs typeface="Arial"/>
              </a:rPr>
              <a:t>饮食、运动、作息、压力性进食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BC3AE9E-20BC-461D-B12C-BF5127CB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792" y="493823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安全信息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32517763-FFEC-412C-85C0-54F54370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5269706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566762"/>
                </a:solidFill>
                <a:latin typeface="Arial"/>
                <a:ea typeface="Arial"/>
                <a:cs typeface="Arial"/>
              </a:rPr>
              <a:t>过敏、用药、病史、妊娠、危险信号</a:t>
            </a:r>
          </a:p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C4C935A9-8E75-4AFF-97A1-08B4FDCC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333500"/>
            <a:ext cx="9525" cy="4191000"/>
          </a:xfrm>
          <a:custGeom xmlns:a="http://schemas.openxmlformats.org/drawingml/2006/main">
            <a:rect l="l" t="t" r="r" b="b"/>
            <a:pathLst>
              <a:path w="9525" h="4191000">
                <a:moveTo>
                  <a:pt x="0" y="0"/>
                </a:moveTo>
                <a:lnTo>
                  <a:pt x="0" y="41910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EC38A358-5DAA-42E4-AA1D-D451F07F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24462" y="1307306"/>
            <a:ext cx="65865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问题来源</a:t>
            </a:r>
          </a:p>
        </p:txBody>
      </p:sp>
      <p:sp>
        <p:nvSpPr>
          <p:cNvPr id="18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6273341-4BF2-44AD-86EE-40BC00F2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0" y="180975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5ABAFE8-C952-468D-90F4-13828FC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58778" y="1932146"/>
            <a:ext cx="83429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字段定义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B4E3F9A-D6E8-4AE9-A14B-40A6A46E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63540" y="2191702"/>
            <a:ext cx="282702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66762"/>
                </a:solidFill>
                <a:latin typeface="Arial"/>
                <a:ea typeface="Arial"/>
                <a:cs typeface="Arial"/>
              </a:rPr>
              <a:t>标准问题、优先级、核心属性、最大尝试次数</a:t>
            </a:r>
          </a:p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DE49A557-2DC5-4529-BB5A-83F66601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0000" y="2419350"/>
            <a:ext cx="9525" cy="304800"/>
          </a:xfrm>
          <a:custGeom xmlns:a="http://schemas.openxmlformats.org/drawingml/2006/main"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22" name="Polygon 22">
            <a:extLst xmlns:a="http://schemas.openxmlformats.org/drawingml/2006/main">
              <a:ext uri="{FF2B5EF4-FFF2-40B4-BE49-F238E27FC236}">
                <a16:creationId xmlns:a16="http://schemas.microsoft.com/office/drawing/2014/main" id="{62B3F453-0C5F-4B75-B88D-CBC39740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3800" y="2571750"/>
            <a:ext cx="152400" cy="152400"/>
          </a:xfrm>
          <a:custGeom xmlns:a="http://schemas.openxmlformats.org/drawingml/2006/main">
            <a:rect l="l" t="t" r="r" b="b"/>
            <a:pathLst>
              <a:path w="152400" h="152400">
                <a:moveTo>
                  <a:pt x="76200" y="15240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 xmlns:a="http://schemas.openxmlformats.org/drawingml/2006/main">
            <a:srgbClr val="BFCFC9"/>
          </a:solidFill>
          <a:ln xmlns:a="http://schemas.openxmlformats.org/drawingml/2006/main">
            <a:noFill/>
          </a:ln>
        </p:spPr>
      </p:sp>
      <p:sp>
        <p:nvSpPr>
          <p:cNvPr id="2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B14E1F8-3751-4F29-89EC-8278850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10250" y="272415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40309562-DCD9-45F5-8CD9-16DD8B60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0278" y="2846546"/>
            <a:ext cx="1442846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Agent 提取证据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C4DD20F7-3F51-4210-B471-8F859CFB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0" y="3106102"/>
            <a:ext cx="254698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66762"/>
                </a:solidFill>
                <a:latin typeface="Arial"/>
                <a:ea typeface="Arial"/>
                <a:cs typeface="Arial"/>
              </a:rPr>
              <a:t>字段值、患者原文、信息来源、回答质量</a:t>
            </a:r>
          </a:p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424E4156-EDBC-482D-AEED-0471125C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91500" y="3333750"/>
            <a:ext cx="9525" cy="304800"/>
          </a:xfrm>
          <a:custGeom xmlns:a="http://schemas.openxmlformats.org/drawingml/2006/main"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27" name="Polygon 27">
            <a:extLst xmlns:a="http://schemas.openxmlformats.org/drawingml/2006/main">
              <a:ext uri="{FF2B5EF4-FFF2-40B4-BE49-F238E27FC236}">
                <a16:creationId xmlns:a16="http://schemas.microsoft.com/office/drawing/2014/main" id="{28DA71F5-8930-4BE7-94CF-C8A63CEB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5300" y="3486150"/>
            <a:ext cx="152400" cy="152400"/>
          </a:xfrm>
          <a:custGeom xmlns:a="http://schemas.openxmlformats.org/drawingml/2006/main">
            <a:rect l="l" t="t" r="r" b="b"/>
            <a:pathLst>
              <a:path w="152400" h="152400">
                <a:moveTo>
                  <a:pt x="76200" y="15240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 xmlns:a="http://schemas.openxmlformats.org/drawingml/2006/main">
            <a:srgbClr val="BFCFC9"/>
          </a:solidFill>
          <a:ln xmlns:a="http://schemas.openxmlformats.org/drawingml/2006/main">
            <a:noFill/>
          </a:ln>
        </p:spPr>
      </p:sp>
      <p:sp>
        <p:nvSpPr>
          <p:cNvPr id="28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7282D78-9F34-43F6-8975-A356F245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0" y="363855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74BE319-9ABF-494B-BD50-A7941CDD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1778" y="3760946"/>
            <a:ext cx="1233345" cy="2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规则更新状态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FF93DECF-D295-41D5-92E2-3EF1E9ED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06540" y="4020502"/>
            <a:ext cx="2687002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66762"/>
                </a:solidFill>
                <a:latin typeface="Arial"/>
                <a:ea typeface="Arial"/>
                <a:cs typeface="Arial"/>
              </a:rPr>
              <a:t>确认、部分获取、无法提供、不适用或冲突</a:t>
            </a:r>
          </a:p>
        </p:txBody>
      </p:sp>
      <p:sp>
        <p:nvSpPr>
          <p:cNvPr id="31" name="Line 31">
            <a:extLst xmlns:a="http://schemas.openxmlformats.org/drawingml/2006/main">
              <a:ext uri="{FF2B5EF4-FFF2-40B4-BE49-F238E27FC236}">
                <a16:creationId xmlns:a16="http://schemas.microsoft.com/office/drawing/2014/main" id="{67D7A213-4092-4451-9BB1-80F7983C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3000" y="4248150"/>
            <a:ext cx="9525" cy="304800"/>
          </a:xfrm>
          <a:custGeom xmlns:a="http://schemas.openxmlformats.org/drawingml/2006/main"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86A3A"/>
            </a:solidFill>
          </a:ln>
        </p:spPr>
      </p:sp>
      <p:sp>
        <p:nvSpPr>
          <p:cNvPr id="32" name="Polygon 32">
            <a:extLst xmlns:a="http://schemas.openxmlformats.org/drawingml/2006/main">
              <a:ext uri="{FF2B5EF4-FFF2-40B4-BE49-F238E27FC236}">
                <a16:creationId xmlns:a16="http://schemas.microsoft.com/office/drawing/2014/main" id="{E0B4E5DD-656D-4938-BA5E-4A04E843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6800" y="4400550"/>
            <a:ext cx="152400" cy="152400"/>
          </a:xfrm>
          <a:custGeom xmlns:a="http://schemas.openxmlformats.org/drawingml/2006/main">
            <a:rect l="l" t="t" r="r" b="b"/>
            <a:pathLst>
              <a:path w="152400" h="152400">
                <a:moveTo>
                  <a:pt x="76200" y="152400"/>
                </a:move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 xmlns:a="http://schemas.openxmlformats.org/drawingml/2006/main">
            <a:srgbClr val="C86A3A"/>
          </a:solidFill>
          <a:ln xmlns:a="http://schemas.openxmlformats.org/drawingml/2006/main">
            <a:noFill/>
          </a:ln>
        </p:spPr>
      </p:sp>
      <p:sp>
        <p:nvSpPr>
          <p:cNvPr id="33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62424FAC-4540-408E-879C-35917DE1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3250" y="455295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6D32E732-56B4-4587-841C-00548B2C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4686300"/>
            <a:ext cx="17183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规则选择目标字段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F2244BD0-41F8-44AD-8038-B4079CB9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7088" y="4974431"/>
            <a:ext cx="243637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F7F5EF"/>
                </a:solidFill>
                <a:latin typeface="Arial"/>
                <a:ea typeface="Arial"/>
                <a:cs typeface="Arial"/>
              </a:rPr>
              <a:t>Agent 只把目标字段表达成自然问题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360D8A4-63F3-456A-82D4-2BA1B39A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5642610"/>
            <a:ext cx="4399026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问题顺序可以变化，但每个问题的目标和来源始终可追踪。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ED125B85-D10A-4953-90B3-C45E21CE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9227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72EBEF-38BC-4D7F-A691-20AA917F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E973659-8ECF-4A34-8426-A15858E2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467678"/>
            <a:ext cx="3278172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资料完整度如何判断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4D8EEA0-8C0D-4CA5-AE92-E22BDEF4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1402556"/>
            <a:ext cx="97369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字段状态输入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568EB71-48CD-4B7E-93AD-9204DAB4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555" y="1873568"/>
            <a:ext cx="7543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66762"/>
                </a:solidFill>
                <a:latin typeface="Arial"/>
                <a:ea typeface="Arial"/>
                <a:cs typeface="Arial"/>
              </a:rPr>
              <a:t>尚未询问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6D15FB4-785D-483A-8622-82DBA7DA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555" y="2426018"/>
            <a:ext cx="7543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66762"/>
                </a:solidFill>
                <a:latin typeface="Arial"/>
                <a:ea typeface="Arial"/>
                <a:cs typeface="Arial"/>
              </a:rPr>
              <a:t>部分获取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DE1F65A-CC1F-4CD7-AE4A-5A911D06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555" y="2978468"/>
            <a:ext cx="79038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已经确认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EFC4336-2981-4BF1-9D09-676ACEBD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555" y="3530918"/>
            <a:ext cx="7543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66762"/>
                </a:solidFill>
                <a:latin typeface="Arial"/>
                <a:ea typeface="Arial"/>
                <a:cs typeface="Arial"/>
              </a:rPr>
              <a:t>无法提供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C96FFDA-8B35-4F56-87E3-A634318D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555" y="4083368"/>
            <a:ext cx="57435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66762"/>
                </a:solidFill>
                <a:latin typeface="Arial"/>
                <a:ea typeface="Arial"/>
                <a:cs typeface="Arial"/>
              </a:rPr>
              <a:t>不适用</a:t>
            </a:r>
          </a:p>
        </p:txBody>
      </p:sp>
      <p:sp>
        <p:nvSpPr>
          <p:cNvPr id="10" name="Line 10">
            <a:extLst xmlns:a="http://schemas.openxmlformats.org/drawingml/2006/main">
              <a:ext uri="{FF2B5EF4-FFF2-40B4-BE49-F238E27FC236}">
                <a16:creationId xmlns:a16="http://schemas.microsoft.com/office/drawing/2014/main" id="{98DA7DFF-2961-40A4-AFC8-56BDDC94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0750" y="1952625"/>
            <a:ext cx="2000250" cy="1000125"/>
          </a:xfrm>
          <a:custGeom xmlns:a="http://schemas.openxmlformats.org/drawingml/2006/main">
            <a:rect l="l" t="t" r="r" b="b"/>
            <a:pathLst>
              <a:path w="2000250" h="1000125">
                <a:moveTo>
                  <a:pt x="0" y="0"/>
                </a:moveTo>
                <a:lnTo>
                  <a:pt x="2000250" y="10001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1" name="Line 11">
            <a:extLst xmlns:a="http://schemas.openxmlformats.org/drawingml/2006/main">
              <a:ext uri="{FF2B5EF4-FFF2-40B4-BE49-F238E27FC236}">
                <a16:creationId xmlns:a16="http://schemas.microsoft.com/office/drawing/2014/main" id="{F2DFA357-496D-4274-892E-6C33DCC3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0750" y="2505075"/>
            <a:ext cx="2000250" cy="542925"/>
          </a:xfrm>
          <a:custGeom xmlns:a="http://schemas.openxmlformats.org/drawingml/2006/main">
            <a:rect l="l" t="t" r="r" b="b"/>
            <a:pathLst>
              <a:path w="2000250" h="542925">
                <a:moveTo>
                  <a:pt x="0" y="0"/>
                </a:moveTo>
                <a:lnTo>
                  <a:pt x="2000250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2" name="Line 12">
            <a:extLst xmlns:a="http://schemas.openxmlformats.org/drawingml/2006/main">
              <a:ext uri="{FF2B5EF4-FFF2-40B4-BE49-F238E27FC236}">
                <a16:creationId xmlns:a16="http://schemas.microsoft.com/office/drawing/2014/main" id="{8F66738D-94F9-4F71-A35A-26EC4863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0750" y="3057525"/>
            <a:ext cx="2000250" cy="85725"/>
          </a:xfrm>
          <a:custGeom xmlns:a="http://schemas.openxmlformats.org/drawingml/2006/main">
            <a:rect l="l" t="t" r="r" b="b"/>
            <a:pathLst>
              <a:path w="2000250" h="85725">
                <a:moveTo>
                  <a:pt x="0" y="0"/>
                </a:moveTo>
                <a:lnTo>
                  <a:pt x="200025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3" name="Line 13">
            <a:extLst xmlns:a="http://schemas.openxmlformats.org/drawingml/2006/main">
              <a:ext uri="{FF2B5EF4-FFF2-40B4-BE49-F238E27FC236}">
                <a16:creationId xmlns:a16="http://schemas.microsoft.com/office/drawing/2014/main" id="{6D665803-05D8-417C-84DF-BD1D7030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0750" y="3238500"/>
            <a:ext cx="2000250" cy="371475"/>
          </a:xfrm>
          <a:custGeom xmlns:a="http://schemas.openxmlformats.org/drawingml/2006/main">
            <a:rect l="l" t="t" r="r" b="b"/>
            <a:pathLst>
              <a:path w="2000250" h="371475">
                <a:moveTo>
                  <a:pt x="0" y="371475"/>
                </a:moveTo>
                <a:lnTo>
                  <a:pt x="200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4" name="Line 14">
            <a:extLst xmlns:a="http://schemas.openxmlformats.org/drawingml/2006/main">
              <a:ext uri="{FF2B5EF4-FFF2-40B4-BE49-F238E27FC236}">
                <a16:creationId xmlns:a16="http://schemas.microsoft.com/office/drawing/2014/main" id="{DE4E7E25-74B2-4537-9C71-6BEC2AD5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0750" y="3333750"/>
            <a:ext cx="2000250" cy="828675"/>
          </a:xfrm>
          <a:custGeom xmlns:a="http://schemas.openxmlformats.org/drawingml/2006/main">
            <a:rect l="l" t="t" r="r" b="b"/>
            <a:pathLst>
              <a:path w="2000250" h="828675">
                <a:moveTo>
                  <a:pt x="0" y="828675"/>
                </a:moveTo>
                <a:lnTo>
                  <a:pt x="200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F7504392-69B5-4174-8D54-BE3EE6CF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91000" y="1762125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97B4EF9A-0A30-4AA2-A06C-7F6F85F5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0714" y="2483644"/>
            <a:ext cx="162282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75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完整度判断器</a:t>
            </a:r>
          </a:p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2DCEE0CB-7E6F-4272-A57F-4AF0D3C9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0125" y="2914650"/>
            <a:ext cx="1524000" cy="9525"/>
          </a:xfrm>
          <a:custGeom xmlns:a="http://schemas.openxmlformats.org/drawingml/2006/main"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140BF6F-5584-48B7-ADC0-BFA1EFC8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6805" y="3108960"/>
            <a:ext cx="13106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F7F5EF"/>
                </a:solidFill>
                <a:latin typeface="Arial"/>
                <a:ea typeface="Arial"/>
                <a:cs typeface="Arial"/>
              </a:rPr>
              <a:t>基础测量是否完成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2354139-7892-4E4B-8C98-E504967C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6775" y="3394710"/>
            <a:ext cx="17907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F7F5EF"/>
                </a:solidFill>
                <a:latin typeface="Arial"/>
                <a:ea typeface="Arial"/>
                <a:cs typeface="Arial"/>
              </a:rPr>
              <a:t>核心与安全字段是否缺失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3874A42-D4A3-42D8-A571-001FC1E6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36795" y="3680460"/>
            <a:ext cx="14706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F7F5EF"/>
                </a:solidFill>
                <a:latin typeface="Arial"/>
                <a:ea typeface="Arial"/>
                <a:cs typeface="Arial"/>
              </a:rPr>
              <a:t>是否存在未解决冲突</a:t>
            </a:r>
          </a:p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5A36A999-DE92-419F-BA9B-471C9360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3250" y="1952625"/>
            <a:ext cx="952500" cy="1190625"/>
          </a:xfrm>
          <a:custGeom xmlns:a="http://schemas.openxmlformats.org/drawingml/2006/main">
            <a:rect l="l" t="t" r="r" b="b"/>
            <a:pathLst>
              <a:path w="952500" h="1190625">
                <a:moveTo>
                  <a:pt x="0" y="1190625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4BDE37FF-5F3D-4D4E-A876-4A0FA72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3250" y="3143250"/>
            <a:ext cx="952500" cy="9525"/>
          </a:xfrm>
          <a:custGeom xmlns:a="http://schemas.openxmlformats.org/drawingml/2006/main"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8AC81196-0A1D-4CC6-9315-DD9AB85F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3250" y="3143250"/>
            <a:ext cx="952500" cy="1190625"/>
          </a:xfrm>
          <a:custGeom xmlns:a="http://schemas.openxmlformats.org/drawingml/2006/main">
            <a:rect l="l" t="t" r="r" b="b"/>
            <a:pathLst>
              <a:path w="952500" h="1190625">
                <a:moveTo>
                  <a:pt x="0" y="0"/>
                </a:moveTo>
                <a:lnTo>
                  <a:pt x="952500" y="1190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86A3A"/>
            </a:solidFill>
          </a:ln>
        </p:spPr>
      </p:sp>
      <p:sp>
        <p:nvSpPr>
          <p:cNvPr id="26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C025791-DD6F-4901-8668-1636822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5750" y="15240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0D109C36-419E-41EA-93EE-1F6E4609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3872" y="1696879"/>
            <a:ext cx="92211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继续追问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719897E1-272B-47F3-AF47-6CECDE78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9588" y="2012156"/>
            <a:ext cx="21288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566762"/>
                </a:solidFill>
                <a:latin typeface="Arial"/>
                <a:ea typeface="Arial"/>
                <a:cs typeface="Arial"/>
              </a:rPr>
              <a:t>关键缺口仍存在且可以继续采集</a:t>
            </a:r>
          </a:p>
        </p:txBody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158E2C3-2CF8-4B42-B38E-C71626E5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5750" y="2714625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F3B2FB1-DB26-4D2F-B0F9-096EF5F9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3872" y="2887504"/>
            <a:ext cx="92211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正常结束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4E76BA99-3044-4CC3-94DC-EABF9292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9588" y="3202781"/>
            <a:ext cx="227885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566762"/>
                </a:solidFill>
                <a:latin typeface="Arial"/>
                <a:ea typeface="Arial"/>
                <a:cs typeface="Arial"/>
              </a:rPr>
              <a:t>核心信息可用、无安全缺口与冲突</a:t>
            </a:r>
          </a:p>
        </p:txBody>
      </p:sp>
      <p:sp>
        <p:nvSpPr>
          <p:cNvPr id="32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CC9DF14-65A7-48F2-88E1-05DF7EB6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5750" y="390525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19050">
            <a:solidFill>
              <a:srgbClr val="C86A3A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678E90A-1A3C-4F68-B49E-211432EB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3872" y="4078129"/>
            <a:ext cx="1142643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保护性结束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7C30A38E-FA34-40AC-A661-7FB9D29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9588" y="4393406"/>
            <a:ext cx="257889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566762"/>
                </a:solidFill>
                <a:latin typeface="Arial"/>
                <a:ea typeface="Arial"/>
                <a:cs typeface="Arial"/>
              </a:rPr>
              <a:t>在线采集失效，保存结果交由医生补充</a:t>
            </a:r>
          </a:p>
        </p:txBody>
      </p:sp>
      <p:sp>
        <p:nvSpPr>
          <p:cNvPr id="36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09CF125-FCE6-4504-9AF3-342626DA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5334000"/>
            <a:ext cx="10401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8C58C81B-FC72-4DB7-8C48-B6EB8F4A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9155" y="5559742"/>
            <a:ext cx="723609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完整不等于“所有字段填满”，而是核心信息可用、安全缺口已处理、没有阻塞性冲突。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E677D01-3C95-4D00-9B4B-8B650F4E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632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C552DE6-3B7B-4B62-A054-5EEBC458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B908322-C852-465C-A39C-7A61B1F1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467678"/>
            <a:ext cx="3635216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追问优先级与决策机制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C9DDC74-B0CD-4671-BE37-B3EB9D81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4476750"/>
            <a:ext cx="457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603FB62-8470-4546-AAAD-6D5B9E9E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" y="3752850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57768F4-1260-47BA-B23B-039AA2E5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0700" y="30289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64B53C0-6D95-408D-9618-8CEBFB63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2200" y="23050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2122936-223A-4011-BE58-CDE3A9BA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33700" y="158115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9E1347B-8FC7-442F-BD56-59DD1A19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9155" y="4759642"/>
            <a:ext cx="143306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05 可选补充信息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8858689-3C78-43FF-BF02-EE3B79E2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0655" y="4035742"/>
            <a:ext cx="1811112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04 高优先级普通字段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8094748-A8A4-4550-89C4-7C48D132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155" y="3311842"/>
            <a:ext cx="162208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03 冲突与澄清字段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BF0C5C1-1585-4328-9BA8-8B486C1E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73655" y="2587942"/>
            <a:ext cx="162208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02 未完成核心字段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74C94008-48D6-4421-9F40-0FB2CF45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7055" y="1864042"/>
            <a:ext cx="105501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01 危险信号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E817B3D-BCBB-418D-BFDC-1655F080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5441156"/>
            <a:ext cx="392906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7B8783"/>
                </a:solidFill>
                <a:latin typeface="Arial"/>
                <a:ea typeface="Arial"/>
                <a:cs typeface="Arial"/>
              </a:rPr>
              <a:t>已确认、不适用或达到尝试上限的字段不再进入候选集合。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F1179314-81C4-4904-9A8F-00BE1DDE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6962" y="1459706"/>
            <a:ext cx="65865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选择示例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7536703-A89A-4401-8251-93843FA4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6485" y="1837372"/>
            <a:ext cx="2961894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ts val="3000"/>
              </a:lnSpc>
              <a:buNone/>
            </a:pPr>
            <a:r>
              <a:rPr sz="19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“用药信息”和“运动情况”</a:t>
            </a:r>
            <a:r>
              <a:rPr sz="19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同时缺失时，先问什么？</a:t>
            </a:r>
          </a:p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3FBFFABB-BFCA-4BDE-8B6B-7ED7C24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2762250"/>
            <a:ext cx="4857750" cy="9525"/>
          </a:xfrm>
          <a:custGeom xmlns:a="http://schemas.openxmlformats.org/drawingml/2006/main"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3D359E3-16FB-41C6-BF34-295670F1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5058" y="3072289"/>
            <a:ext cx="2922746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66762"/>
                </a:solidFill>
                <a:latin typeface="Arial"/>
                <a:ea typeface="Arial"/>
                <a:cs typeface="Arial"/>
              </a:rPr>
              <a:t>规则比较安全属性、核心属性和优先级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63E751B-A21A-433D-8176-B2505C94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4105" y="3492818"/>
            <a:ext cx="1735503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目标字段：用药信息</a:t>
            </a:r>
          </a:p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0E51CDE7-11E6-4363-8310-AE233E23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3905250"/>
            <a:ext cx="4857750" cy="9525"/>
          </a:xfrm>
          <a:custGeom xmlns:a="http://schemas.openxmlformats.org/drawingml/2006/main">
            <a:rect l="l" t="t" r="r" b="b"/>
            <a:pathLst>
              <a:path w="4857750" h="9525">
                <a:moveTo>
                  <a:pt x="0" y="0"/>
                </a:moveTo>
                <a:lnTo>
                  <a:pt x="485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B3525EC-452B-4154-86C1-1E85040B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5058" y="4196239"/>
            <a:ext cx="259120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66762"/>
                </a:solidFill>
                <a:latin typeface="Arial"/>
                <a:ea typeface="Arial"/>
                <a:cs typeface="Arial"/>
              </a:rPr>
              <a:t>Agent 将目标字段组织成自然问题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202AAE4-3864-480D-9937-6EB186B3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9342" y="4614386"/>
            <a:ext cx="3449391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“您目前有长期服用的药物吗？”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6349615-34D8-4FEB-A3FF-608A5AB1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6962" y="5193506"/>
            <a:ext cx="258639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>
                <a:solidFill>
                  <a:srgbClr val="7B8783"/>
                </a:solidFill>
                <a:latin typeface="Arial"/>
                <a:ea typeface="Arial"/>
                <a:cs typeface="Arial"/>
              </a:rPr>
              <a:t>规则决定问什么，Agent 决定怎么问。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4A87FB0F-768B-4006-BECB-08E4DEB9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31693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12BC2F6-D1ED-4F3E-AC24-2250B00E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B7DE6DF-38C1-4067-9A4D-658509E4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467678"/>
            <a:ext cx="2207038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何时停止追问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8DDAAE6-C7EA-49E9-98F3-E261EAFD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0500" y="1257300"/>
            <a:ext cx="419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EBAEF71-BFE4-47E3-85C3-AD157384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1300" y="1431608"/>
            <a:ext cx="3969401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7F5EF"/>
                </a:solidFill>
                <a:latin typeface="Arial"/>
                <a:ea typeface="Arial"/>
                <a:cs typeface="Arial"/>
              </a:rPr>
              <a:t>当前信息是否仍需要并适合在线追问？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A3BC67C-A8E9-4073-9C99-C329C316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8497" y="1763078"/>
            <a:ext cx="2715006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F7F5EF"/>
                </a:solidFill>
                <a:latin typeface="Arial"/>
                <a:ea typeface="Arial"/>
                <a:cs typeface="Arial"/>
              </a:rPr>
              <a:t>核心字段 安全缺口 冲突 尝试次数 回答质量</a:t>
            </a:r>
          </a:p>
        </p:txBody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0B442950-D9C4-4400-A76E-DBEB53A6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2095500"/>
            <a:ext cx="9525" cy="438150"/>
          </a:xfrm>
          <a:custGeom xmlns:a="http://schemas.openxmlformats.org/drawingml/2006/main">
            <a:rect l="l" t="t" r="r" b="b"/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8" name="Line 8">
            <a:extLst xmlns:a="http://schemas.openxmlformats.org/drawingml/2006/main">
              <a:ext uri="{FF2B5EF4-FFF2-40B4-BE49-F238E27FC236}">
                <a16:creationId xmlns:a16="http://schemas.microsoft.com/office/drawing/2014/main" id="{CDDAD122-070D-4566-8262-FE78EE38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9300" y="2533650"/>
            <a:ext cx="8153400" cy="9525"/>
          </a:xfrm>
          <a:custGeom xmlns:a="http://schemas.openxmlformats.org/drawingml/2006/main">
            <a:rect l="l" t="t" r="r" b="b"/>
            <a:pathLst>
              <a:path w="8153400" h="9525">
                <a:moveTo>
                  <a:pt x="0" y="0"/>
                </a:moveTo>
                <a:lnTo>
                  <a:pt x="815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9" name="Line 9">
            <a:extLst xmlns:a="http://schemas.openxmlformats.org/drawingml/2006/main">
              <a:ext uri="{FF2B5EF4-FFF2-40B4-BE49-F238E27FC236}">
                <a16:creationId xmlns:a16="http://schemas.microsoft.com/office/drawing/2014/main" id="{53301B30-0CA3-4A74-BD6A-BD993F98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9300" y="2533650"/>
            <a:ext cx="9525" cy="438150"/>
          </a:xfrm>
          <a:custGeom xmlns:a="http://schemas.openxmlformats.org/drawingml/2006/main">
            <a:rect l="l" t="t" r="r" b="b"/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10" name="Line 10">
            <a:extLst xmlns:a="http://schemas.openxmlformats.org/drawingml/2006/main">
              <a:ext uri="{FF2B5EF4-FFF2-40B4-BE49-F238E27FC236}">
                <a16:creationId xmlns:a16="http://schemas.microsoft.com/office/drawing/2014/main" id="{58AC3CDA-4D45-471D-B5EF-DA211036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2533650"/>
            <a:ext cx="9525" cy="438150"/>
          </a:xfrm>
          <a:custGeom xmlns:a="http://schemas.openxmlformats.org/drawingml/2006/main">
            <a:rect l="l" t="t" r="r" b="b"/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11" name="Line 11">
            <a:extLst xmlns:a="http://schemas.openxmlformats.org/drawingml/2006/main">
              <a:ext uri="{FF2B5EF4-FFF2-40B4-BE49-F238E27FC236}">
                <a16:creationId xmlns:a16="http://schemas.microsoft.com/office/drawing/2014/main" id="{9F2882EC-2193-4019-9588-9CF0B11E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72700" y="2533650"/>
            <a:ext cx="9525" cy="438150"/>
          </a:xfrm>
          <a:custGeom xmlns:a="http://schemas.openxmlformats.org/drawingml/2006/main">
            <a:rect l="l" t="t" r="r" b="b"/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86A3A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9582E45-B67C-4B0B-826B-9A36CDC2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5912" y="2667952"/>
            <a:ext cx="8667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566762"/>
                </a:solidFill>
                <a:latin typeface="Arial"/>
                <a:ea typeface="Arial"/>
                <a:cs typeface="Arial"/>
              </a:rPr>
              <a:t>仍有关键缺口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DB0ECBD-30BC-435B-B952-879BFE8E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62612" y="2667952"/>
            <a:ext cx="8667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566762"/>
                </a:solidFill>
                <a:latin typeface="Arial"/>
                <a:ea typeface="Arial"/>
                <a:cs typeface="Arial"/>
              </a:rPr>
              <a:t>核心信息满足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F466296-ABC6-4CEA-BB8D-4CB8CCCE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9312" y="2667952"/>
            <a:ext cx="86677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C86A3A"/>
                </a:solidFill>
                <a:latin typeface="Arial"/>
                <a:ea typeface="Arial"/>
                <a:cs typeface="Arial"/>
              </a:rPr>
              <a:t>在线采集失效</a:t>
            </a:r>
          </a:p>
        </p:txBody>
      </p:sp>
      <p:sp>
        <p:nvSpPr>
          <p:cNvPr id="15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C5CE3A4-02EE-476A-961E-4E1CB7E8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2971800"/>
            <a:ext cx="2743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3F48CCE-119F-42F5-B5A3-9D0687C7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4392" y="318563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继续追问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F6ABED5-6EF9-4387-AD6A-AED78FC4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060" y="3651885"/>
            <a:ext cx="115062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核心字段仍缺失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9416450-F93A-49BD-91E2-590BCA58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060" y="3975735"/>
            <a:ext cx="13106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安全信息尚未确认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A153089-EB4F-4A3B-8FCB-3FC4793F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060" y="4299585"/>
            <a:ext cx="13106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冲突仍可在线澄清</a:t>
            </a:r>
          </a:p>
        </p:txBody>
      </p:sp>
      <p:sp>
        <p:nvSpPr>
          <p:cNvPr id="2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CB1F383-0E58-4005-B18D-BAF7BE63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24400" y="2971800"/>
            <a:ext cx="2743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A9B7EAC-A26E-49E7-B9FA-0C05519F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1092" y="3185636"/>
            <a:ext cx="100993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正常结束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7535ADED-4999-4A59-BEE3-E0F296D1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7760" y="3651885"/>
            <a:ext cx="13106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核心字段已经完整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430CB14-3201-49C6-A43B-40B3CA59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7760" y="3975735"/>
            <a:ext cx="115062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无关键安全缺口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F2D64C3-58BA-444D-9108-A166B7B4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7760" y="4299585"/>
            <a:ext cx="9906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无未解决冲突</a:t>
            </a:r>
          </a:p>
        </p:txBody>
      </p:sp>
      <p:sp>
        <p:nvSpPr>
          <p:cNvPr id="25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183CC86-D28D-4CBB-995D-E70062D5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01100" y="2971800"/>
            <a:ext cx="2743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19050">
            <a:solidFill>
              <a:srgbClr val="C86A3A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64781537-FFD3-4696-B45E-A7486A46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7792" y="3185636"/>
            <a:ext cx="1251466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保护性结束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B1AA007A-E973-4E27-93AF-5395F4AB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14460" y="3651885"/>
            <a:ext cx="17907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多次无法回答或问题重复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9F40541E-B213-458F-A133-D9346199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14460" y="3975735"/>
            <a:ext cx="16306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剩余内容不宜在线采集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6BDC1750-31C4-4849-BEE4-3313DBD2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14460" y="4299585"/>
            <a:ext cx="1654683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AI 暂不可用或出现风险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49AA0EB2-CFD7-4D91-8744-7062CB54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16365" y="4696778"/>
            <a:ext cx="1371888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停止追问 ≠ 资料完整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E6933140-74F3-4BA5-9CFF-BDF34A79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8" y="5520214"/>
            <a:ext cx="5923621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系统不依赖固定轮数，而是依据核心完整度和在线可采集性决定结束时机。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6BF42FA0-DED9-4FCD-9B0D-9D22C1BF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25288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2D22A6-399D-41CE-8446-76A3652C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5F38E2E-1A71-42CA-AA09-F94E5164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467678"/>
            <a:ext cx="3635216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项目实现中的关键难点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40D2EC7-8CA7-45BD-8831-7539E283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134540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5E20C8C-6F45-448C-B01C-9781D6A7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6798" y="1296829"/>
            <a:ext cx="136317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追问轮数过多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E791C97-F4F4-4AFD-9D19-20A3DD37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13760" y="1337310"/>
            <a:ext cx="33909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核心字段驱动停止，可选字段不再无限阻塞结束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BD95654-F308-4316-AF2A-DD4D29AA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2712" y="1345406"/>
            <a:ext cx="50113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已实现</a:t>
            </a:r>
          </a:p>
        </p:txBody>
      </p:sp>
      <p:sp>
        <p:nvSpPr>
          <p:cNvPr id="8" name="Line 8">
            <a:extLst xmlns:a="http://schemas.openxmlformats.org/drawingml/2006/main">
              <a:ext uri="{FF2B5EF4-FFF2-40B4-BE49-F238E27FC236}">
                <a16:creationId xmlns:a16="http://schemas.microsoft.com/office/drawing/2014/main" id="{6ACFC3AF-F00A-4736-9AFA-F06F21F9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1752600"/>
            <a:ext cx="10401300" cy="9525"/>
          </a:xfrm>
          <a:custGeom xmlns:a="http://schemas.openxmlformats.org/drawingml/2006/main">
            <a:rect l="l" t="t" r="r" b="b"/>
            <a:pathLst>
              <a:path w="10401300" h="9525">
                <a:moveTo>
                  <a:pt x="0" y="0"/>
                </a:moveTo>
                <a:lnTo>
                  <a:pt x="10401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760C5A3-8CFC-43BA-9B74-8069FB21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214550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E15F87A-6066-4C3A-B265-16E3D26F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6798" y="2096929"/>
            <a:ext cx="1815252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Agent 输出不稳定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736A9CF-4CBE-4AA0-B3BD-60086D2E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13760" y="2137410"/>
            <a:ext cx="323888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Agent 提供字段与证据，确定性规则负责决策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6400847-36C3-4741-85B0-98C4D3AC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2712" y="2145506"/>
            <a:ext cx="50113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已实现</a:t>
            </a:r>
          </a:p>
        </p:txBody>
      </p:sp>
      <p:sp>
        <p:nvSpPr>
          <p:cNvPr id="13" name="Line 13">
            <a:extLst xmlns:a="http://schemas.openxmlformats.org/drawingml/2006/main">
              <a:ext uri="{FF2B5EF4-FFF2-40B4-BE49-F238E27FC236}">
                <a16:creationId xmlns:a16="http://schemas.microsoft.com/office/drawing/2014/main" id="{750FB0EF-4417-4EC9-88AA-1C117E7D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2552700"/>
            <a:ext cx="10401300" cy="9525"/>
          </a:xfrm>
          <a:custGeom xmlns:a="http://schemas.openxmlformats.org/drawingml/2006/main">
            <a:rect l="l" t="t" r="r" b="b"/>
            <a:pathLst>
              <a:path w="10401300" h="9525">
                <a:moveTo>
                  <a:pt x="0" y="0"/>
                </a:moveTo>
                <a:lnTo>
                  <a:pt x="10401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CFE718B-5264-47F8-BC42-EEC04AB9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294560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C775346D-6AEB-4724-A334-73A12488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6798" y="2897029"/>
            <a:ext cx="182627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“不知道”导致重复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B182F1C-2477-48DE-A8A5-B7557407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13760" y="2937510"/>
            <a:ext cx="355092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记录尝试次数与回答质量，到达上限后转医生补充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761D8CD-E9C0-497B-A6C8-5A9F88F3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2712" y="2945606"/>
            <a:ext cx="50113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已实现</a:t>
            </a:r>
          </a:p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24EC4F1E-5C3D-4F3D-981C-974B09CA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3352800"/>
            <a:ext cx="10401300" cy="9525"/>
          </a:xfrm>
          <a:custGeom xmlns:a="http://schemas.openxmlformats.org/drawingml/2006/main">
            <a:rect l="l" t="t" r="r" b="b"/>
            <a:pathLst>
              <a:path w="10401300" h="9525">
                <a:moveTo>
                  <a:pt x="0" y="0"/>
                </a:moveTo>
                <a:lnTo>
                  <a:pt x="10401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E44E816-02F7-4595-869A-5CB15F0E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3745706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765EDAF-D47A-4AD0-8B6D-0C76532D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6798" y="3697129"/>
            <a:ext cx="158369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5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多患者数据隔离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2EF8499-45FC-4A2B-8ED8-B2313C6E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13760" y="3737610"/>
            <a:ext cx="395897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显式 patient_id 和资源归属校验，跨患者访问返回 404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6DE9A5DA-1881-4119-80C4-5922670D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2712" y="3745706"/>
            <a:ext cx="50113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已实现</a:t>
            </a:r>
          </a:p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D9F706B1-466B-43B8-90ED-81414875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4152900"/>
            <a:ext cx="10401300" cy="9525"/>
          </a:xfrm>
          <a:custGeom xmlns:a="http://schemas.openxmlformats.org/drawingml/2006/main">
            <a:rect l="l" t="t" r="r" b="b"/>
            <a:pathLst>
              <a:path w="10401300" h="9525">
                <a:moveTo>
                  <a:pt x="0" y="0"/>
                </a:moveTo>
                <a:lnTo>
                  <a:pt x="10401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EDA"/>
            </a:solidFill>
          </a:ln>
        </p:spPr>
      </p:sp>
      <p:sp>
        <p:nvSpPr>
          <p:cNvPr id="24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7D91F0F-3094-40DC-932A-3BB4E50D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4686300"/>
            <a:ext cx="10401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>
            <a:noFill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7C42F57-6045-4BE9-83CA-8DEDA081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0110" y="4928235"/>
            <a:ext cx="70256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当前边界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7C19DB9-5D00-49A9-B28D-90BD4B4A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9158" y="5272564"/>
            <a:ext cx="6493192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>
                <a:solidFill>
                  <a:srgbClr val="566762"/>
                </a:solidFill>
                <a:latin typeface="Arial"/>
                <a:ea typeface="Arial"/>
                <a:cs typeface="Arial"/>
              </a:rPr>
              <a:t>演示身份不等于正式鉴权；真实临床效果、规则覆盖范围和权限体系仍需进一步验证。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92BEE14-56B3-420C-925A-1D55B56A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69328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113AD2-E7EE-414E-82EC-2AB01752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4B7455D-4DCF-4BEA-A005-1DAB933C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467678"/>
            <a:ext cx="5420439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项目操作展示：身份选择与患者端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5F8307-B3F5-412F-89A5-D061EA4D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1314450"/>
            <a:ext cx="65722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19050">
            <a:solidFill>
              <a:srgbClr val="155348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3A5FAE3-161B-4760-BD50-6643BD12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015" y="1544002"/>
            <a:ext cx="798516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01 / 主界面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7D6CFDE-C91D-4714-BE38-897D4DBC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42211" y="2888932"/>
            <a:ext cx="2583228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放置截图：身份选择首页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5BB1456-193F-48D4-9918-4A006DC2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9425" y="3250406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>
                <a:solidFill>
                  <a:srgbClr val="7B8783"/>
                </a:solidFill>
                <a:latin typeface="Arial"/>
                <a:ea typeface="Arial"/>
                <a:cs typeface="Arial"/>
              </a:rPr>
              <a:t>展示三位患者和医生端入口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67560D7-CA52-42F9-9932-6FA74F0B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1314450"/>
            <a:ext cx="33718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4CB5DDE-DA7D-40CA-A1FB-21358211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2415" y="1505902"/>
            <a:ext cx="94553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02 / 基础资料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F819C560-E2E9-4BD9-855E-53E59A91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859" y="2121218"/>
            <a:ext cx="1168432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放置局部截图</a:t>
            </a:r>
          </a:p>
        </p:txBody>
      </p:sp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671D4FD-46DF-4686-9D04-6ECB21C3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7150" y="3333750"/>
            <a:ext cx="33718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2561E39-832B-45CC-A6DD-DA2DAB86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2415" y="3525202"/>
            <a:ext cx="94553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03 / 侧栏记录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B95E9BE-D40A-4FA2-A577-C15A27EC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8859" y="4140518"/>
            <a:ext cx="1168432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放置局部截图</a:t>
            </a:r>
          </a:p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59E57E99-E59E-41E7-A184-E3CD54F7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5476875"/>
            <a:ext cx="10401300" cy="9525"/>
          </a:xfrm>
          <a:custGeom xmlns:a="http://schemas.openxmlformats.org/drawingml/2006/main">
            <a:rect l="l" t="t" r="r" b="b"/>
            <a:pathLst>
              <a:path w="10401300" h="9525">
                <a:moveTo>
                  <a:pt x="0" y="0"/>
                </a:moveTo>
                <a:lnTo>
                  <a:pt x="10401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FB293D7-A86C-435A-A119-7AFF027C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460" y="5699760"/>
            <a:ext cx="518312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66762"/>
                </a:solidFill>
                <a:latin typeface="Arial"/>
                <a:ea typeface="Arial"/>
                <a:cs typeface="Arial"/>
              </a:rPr>
              <a:t>演示重点：多患者入口 数据隔离 侧栏折叠 未完成问诊恢复 独立历史记录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43913FE-9E1D-4BF3-8D47-5132ADEB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596572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9E86CD6-7AD5-4D04-A5E2-53427C0E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68C17795-1B26-4F87-B248-AB7CA1C1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467678"/>
            <a:ext cx="3992261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项目操作展示：问诊过程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C60A85B-CAB6-4632-A83E-D02478A2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1428750"/>
            <a:ext cx="2952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7AED75AD-6768-42AB-9331-23B90685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3915" y="1639252"/>
            <a:ext cx="18839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B0FC2B9-FF75-454D-8D3B-F6004848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4972" y="2724150"/>
            <a:ext cx="87820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开放描述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48B6043-52A1-4689-8A69-BCF310D5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0705" y="3077528"/>
            <a:ext cx="586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7B8783"/>
                </a:solidFill>
                <a:latin typeface="Arial"/>
                <a:ea typeface="Arial"/>
                <a:cs typeface="Arial"/>
              </a:rPr>
              <a:t>放置截图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B3AF63B-8870-4F0D-B78B-526F77A1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81450" y="1200150"/>
            <a:ext cx="37147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19050">
            <a:solidFill>
              <a:srgbClr val="155348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C6BFCFA-036E-4EFB-8DEC-4F4E378A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96715" y="1429702"/>
            <a:ext cx="94553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02 / 核心操作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5718228-2D40-400B-9B32-44F6D729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4783" y="2707958"/>
            <a:ext cx="1428083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逐项补充追问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7C8C4D0-95A2-4E7E-A4B7-57A8419F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9491" y="3088481"/>
            <a:ext cx="77866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>
                <a:solidFill>
                  <a:srgbClr val="7B8783"/>
                </a:solidFill>
                <a:latin typeface="Arial"/>
                <a:ea typeface="Arial"/>
                <a:cs typeface="Arial"/>
              </a:rPr>
              <a:t>放置主截图</a:t>
            </a:r>
          </a:p>
        </p:txBody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8C91977-92FD-413E-B9D8-B2312E9C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7200" y="1428750"/>
            <a:ext cx="34671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1F26999-6807-45AB-B1F2-5A89A111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2465" y="1639252"/>
            <a:ext cx="18839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B2849A7-ADE3-4618-8576-211D14FB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648" y="2724150"/>
            <a:ext cx="87820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诊前档案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B106B71-08C7-46B4-92B2-A4E1A3AF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7380" y="3077528"/>
            <a:ext cx="58674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>
                <a:solidFill>
                  <a:srgbClr val="7B8783"/>
                </a:solidFill>
                <a:latin typeface="Arial"/>
                <a:ea typeface="Arial"/>
                <a:cs typeface="Arial"/>
              </a:rPr>
              <a:t>放置截图</a:t>
            </a:r>
          </a:p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EAC9F4BB-69E1-48E0-8CE6-C48270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5391150"/>
            <a:ext cx="10896600" cy="9525"/>
          </a:xfrm>
          <a:custGeom xmlns:a="http://schemas.openxmlformats.org/drawingml/2006/main"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FCFC9"/>
            </a:solidFill>
          </a:ln>
        </p:spPr>
      </p:sp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7CE8A46D-9BBB-4D0D-B461-9BB1838C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7400" y="5324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51205BB5-6A50-4286-9D35-A359DFB3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2150" y="5324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A3A"/>
          </a:solidFill>
          <a:ln xmlns:a="http://schemas.openxmlformats.org/drawingml/2006/main">
            <a:noFill/>
          </a:ln>
        </p:spPr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2AABE55A-BA16-4F2F-A7AE-40793337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44075" y="5324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348"/>
          </a:solidFill>
          <a:ln xmlns:a="http://schemas.openxmlformats.org/drawingml/2006/main">
            <a:noFill/>
          </a:ln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067140E-ECA0-4FD3-A36F-BBDCD9CA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30091" y="5699760"/>
            <a:ext cx="4331818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自由描述 → 信息抽取 → 单项追问 → 完整度更新 → 生成档案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EDC94A61-4B50-4282-96E6-E64CCF28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5696930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32EA34-860E-4DB5-8697-CEE62BCB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>
            <a:noFill/>
          </a:ln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672633E8-6271-4C0E-85B1-FF5E0103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" y="467678"/>
            <a:ext cx="5420439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项目操作展示：医生工作台与总结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C736E4E-472C-4DC4-94B6-5E7F4A32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1257300"/>
            <a:ext cx="104013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EE8"/>
          </a:solidFill>
          <a:ln xmlns:a="http://schemas.openxmlformats.org/drawingml/2006/main" w="19050">
            <a:solidFill>
              <a:srgbClr val="155348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DE333BA-2977-483D-87D7-453BB367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015" y="1486852"/>
            <a:ext cx="21069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医生三栏工作台 / 放置完整截图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07B5076-0EBB-4A55-A443-C76BD516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9502" y="2690336"/>
            <a:ext cx="3497697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25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患者列表 · 问诊详情 · 决策解释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B4F59CA2-0A6E-4B50-AB5F-5E55A103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58866" y="3098006"/>
            <a:ext cx="317896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5">
                <a:solidFill>
                  <a:srgbClr val="7B8783"/>
                </a:solidFill>
                <a:latin typeface="Arial"/>
                <a:ea typeface="Arial"/>
                <a:cs typeface="Arial"/>
              </a:rPr>
              <a:t>建议截图同时包含多个患者和一次完整问诊详情</a:t>
            </a:r>
          </a:p>
        </p:txBody>
      </p:sp>
      <p:sp>
        <p:nvSpPr>
          <p:cNvPr id="9" name="Line 9">
            <a:extLst xmlns:a="http://schemas.openxmlformats.org/drawingml/2006/main">
              <a:ext uri="{FF2B5EF4-FFF2-40B4-BE49-F238E27FC236}">
                <a16:creationId xmlns:a16="http://schemas.microsoft.com/office/drawing/2014/main" id="{1E1A03C2-816C-49EA-B516-204A54C2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" y="5029200"/>
            <a:ext cx="10401300" cy="9525"/>
          </a:xfrm>
          <a:custGeom xmlns:a="http://schemas.openxmlformats.org/drawingml/2006/main">
            <a:rect l="l" t="t" r="r" b="b"/>
            <a:pathLst>
              <a:path w="10401300" h="9525">
                <a:moveTo>
                  <a:pt x="0" y="0"/>
                </a:moveTo>
                <a:lnTo>
                  <a:pt x="10401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FCFC9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D0A754C-65CC-4635-BFDE-45E608F5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" y="5260181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4796CD1-DD1D-42A6-86EB-FF110E36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3455" y="5235892"/>
            <a:ext cx="79038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患者列表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B8D7D9B-00E9-45F0-A279-111C67AC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7265" y="5534978"/>
            <a:ext cx="1286828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66762"/>
                </a:solidFill>
                <a:latin typeface="Arial"/>
                <a:ea typeface="Arial"/>
                <a:cs typeface="Arial"/>
              </a:rPr>
              <a:t>档案数量与快速切换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4D954F2-DE34-4FCF-8607-56349FC6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1462" y="5260181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FA64142-37B6-4E59-81F1-4481E1AA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1505" y="5235892"/>
            <a:ext cx="79038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问诊详情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BF7755CB-EB7F-4BA2-9F16-FDA1CFC1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25315" y="5534978"/>
            <a:ext cx="170688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66762"/>
                </a:solidFill>
                <a:latin typeface="Arial"/>
                <a:ea typeface="Arial"/>
                <a:cs typeface="Arial"/>
              </a:rPr>
              <a:t>基础资料、描述和逐轮问答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3062E9AF-61AF-4608-B906-1B11EAC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24762" y="5260181"/>
            <a:ext cx="2018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5" b="1">
                <a:solidFill>
                  <a:srgbClr val="C86A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F1AAC56-3680-4263-AACD-DB84CAFA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4805" y="5235892"/>
            <a:ext cx="79038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263D38"/>
                </a:solidFill>
                <a:latin typeface="Arial"/>
                <a:ea typeface="Arial"/>
                <a:cs typeface="Arial"/>
              </a:rPr>
              <a:t>决策解释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F397D838-9093-4B88-BB6B-02912B43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8615" y="5534978"/>
            <a:ext cx="22669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>
                <a:solidFill>
                  <a:srgbClr val="566762"/>
                </a:solidFill>
                <a:latin typeface="Arial"/>
                <a:ea typeface="Arial"/>
                <a:cs typeface="Arial"/>
              </a:rPr>
              <a:t>完整度、关键缺口、来源和停止原因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DBF062E-05FB-441F-AC87-9202AAA0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" y="5969318"/>
            <a:ext cx="6848592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155348"/>
                </a:solidFill>
                <a:latin typeface="Arial"/>
                <a:ea typeface="Arial"/>
                <a:cs typeface="Arial"/>
              </a:rPr>
              <a:t>规则约束 Agent，使诊前信息整理过程更安全、更可追踪，也更容易被医生理解。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408177FC-E914-49F3-B218-50B5A211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954" y="6284595"/>
            <a:ext cx="154877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6676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00495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2026-09-18T07:39:48.6910000Z</dcterms:created>
  <dcterms:modified xsi:type="dcterms:W3CDTF">2026-09-18T07:39:48.6910000Z</dcterms:modified>
</coreProperties>
</file>