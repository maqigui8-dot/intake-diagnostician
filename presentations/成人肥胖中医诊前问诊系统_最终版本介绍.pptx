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5" d="100"/>
          <a:sy n="95" d="100"/>
        </p:scale>
        <p:origin x="90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9156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今天介绍的是成人肥胖中医诊前问诊系统。这个项目希望在患者正式见到医生之前，把零散的描述经过收集、追问和整理，转换成诊中可以直接使用的资料。接下来我会从项目定位、系统流程和两端使用方式三个方面进行介绍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系统服务于成人肥胖患者的诊前信息整理。患者在就诊前完成基础资料和症状描述，医生在诊中继续确认并作出专业判断。系统不替代诊断，也不直接开方，它的职责是整理资料、提示缺口并帮助医生节省重复询问的时间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主要处理三个实际问题。患者往往说不清症状之间的时间关系，首次问诊又很难在有限时间内覆盖全部信息，医生还需要从大量自然语言里快速发现缺口和风险。系统把这些内容整理成结构化、可追溯、可继续确认的诊前档案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系统由患者端、问诊决策引擎和医生端组成。患者端负责自然交互，后端结合核心字段状态、问题优先级、大模型生成和确定性规则决定下一步，医生端查看结构化档案、完整度明细和检查建议。技术上使用 Vue 3 和 Vite 构建前端，FastAPI 提供后端服务，大模型与规则引擎协同工作。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患者首先填写基础信息和主要诉求，然后用自己的语言描述当前情况。系统根据仍然缺少的核心信息逐项追问，在资料达到可用状态后生成诊前档案和检查建议。这里预留了当前系统流程截图，后续可以直接替换成实际页面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采集内容分为四个方面。第一部分是肥胖情况、体重变化和起病经过，第二部分是食欲口渴、寒热汗出、二便、睡眠情绪等中医症状，第三部分是过敏史、用药和危险信号等安全资料，第四部分是既往疾病、代谢风险与近期检查。这些信息共同为诊中辨证和安全用药提供资料基础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不再用固定轮数决定什么时候结束追问，而是判断核心资料是否已经形成可用答案，以及关键回答之间是否仍有冲突。核心资料齐全时可以生成档案，缺少影响判断或用药安全的信息时继续追问，不确定、拒答和可选细节则保留给医生诊中确认。为了保持友好交互，系统一次只问一个重点，对不知道或拒答的内容最多友好澄清一次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患者端强调连续、清楚的对话体验。问答历史不会消失，用户可以在固定高度的聊天区域中滚动查看，也可以回看属于自己的历史问诊档案。完整度分数、必问缺失项和内部风险判断不会直接展示给患者，避免增加理解负担和不必要的焦虑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医生端把患者陈述、结构化字段、完整问答记录和待确认信息放在同一份诊前档案中，同时根据已收集的信息提供检查项目和注意事项。这里分别预留了诊前档案和检查建议的截图位置。系统负责整理与提示，最终诊断、检查选择和处方仍由医生完成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目前系统已经形成诊前收集、对话追问、档案整理和检查准备的完整闭环。患者可以减少重复描述并保留历史资料，医生能够更快发现缺口、冲突和风险线索。这个项目最终要做的事情很明确，就是把患者说过的话，变成医生接得住、用得上的诊前资料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CFDF9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7429500" y="0"/>
              <a:ext cx="4762500" cy="6858000"/>
            </a:xfrm>
            <a:prstGeom prst="rect">
              <a:avLst/>
            </a:prstGeom>
            <a:solidFill>
              <a:srgbClr val="236B45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533400" y="514350"/>
              <a:ext cx="1123950" cy="304800"/>
            </a:xfrm>
            <a:prstGeom prst="roundRect">
              <a:avLst>
                <a:gd name="adj" fmla="val 50000"/>
              </a:avLst>
            </a:prstGeom>
            <a:solidFill>
              <a:srgbClr val="F1F6E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81050" y="60245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36B45"/>
                  </a:solidFill>
                  <a:latin typeface="Arial"/>
                  <a:ea typeface="Microsoft YaHei"/>
                  <a:cs typeface="Arial"/>
                </a:rPr>
                <a:t>项目介绍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980" y="1449705"/>
            <a:ext cx="4210050" cy="3569970"/>
            <a:chOff x="601980" y="1449705"/>
            <a:chExt cx="4210050" cy="3569970"/>
          </a:xfrm>
        </p:grpSpPr>
        <p:sp>
          <p:nvSpPr>
            <p:cNvPr id="7" name="TextBox 7"/>
            <p:cNvSpPr txBox="1"/>
            <p:nvPr/>
          </p:nvSpPr>
          <p:spPr>
            <a:xfrm>
              <a:off x="601980" y="1449705"/>
              <a:ext cx="4210050" cy="1817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6150"/>
                </a:lnSpc>
              </a:pPr>
              <a:r>
                <a:rPr lang="zh-CN" sz="5100" b="1" dirty="0">
                  <a:solidFill>
                    <a:srgbClr val="24332B"/>
                  </a:solidFill>
                  <a:latin typeface="Georgia"/>
                  <a:ea typeface="KaiTi"/>
                  <a:cs typeface="Georgia"/>
                </a:rPr>
                <a:t>成人肥胖中医诊前问诊系统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66750" y="3810000"/>
              <a:ext cx="800100" cy="47625"/>
            </a:xfrm>
            <a:prstGeom prst="roundRect">
              <a:avLst>
                <a:gd name="adj" fmla="val 40000"/>
              </a:avLst>
            </a:prstGeom>
            <a:solidFill>
              <a:srgbClr val="C68A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41985" y="4094798"/>
              <a:ext cx="395001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236B45"/>
                  </a:solidFill>
                  <a:latin typeface="Arial"/>
                  <a:ea typeface="Microsoft YaHei"/>
                  <a:cs typeface="Arial"/>
                </a:rPr>
                <a:t>面向诊中决策的智能诊前资料整理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7700" y="4714875"/>
              <a:ext cx="3038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把零散描述，整理成诊中可用资料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229600" y="1162050"/>
            <a:ext cx="723900" cy="4581525"/>
            <a:chOff x="8229600" y="1162050"/>
            <a:chExt cx="723900" cy="4581525"/>
          </a:xfrm>
        </p:grpSpPr>
        <p:sp>
          <p:nvSpPr>
            <p:cNvPr id="12" name="Line 12"/>
            <p:cNvSpPr/>
            <p:nvPr/>
          </p:nvSpPr>
          <p:spPr>
            <a:xfrm>
              <a:off x="8591550" y="1428750"/>
              <a:ext cx="9525" cy="3952875"/>
            </a:xfrm>
            <a:custGeom>
              <a:avLst/>
              <a:gdLst/>
              <a:ahLst/>
              <a:cxnLst/>
              <a:rect l="l" t="t" r="r" b="b"/>
              <a:pathLst>
                <a:path w="9525" h="3952875">
                  <a:moveTo>
                    <a:pt x="0" y="0"/>
                  </a:moveTo>
                  <a:lnTo>
                    <a:pt x="0" y="3952875"/>
                  </a:lnTo>
                </a:path>
              </a:pathLst>
            </a:custGeom>
            <a:noFill/>
            <a:ln w="38100">
              <a:solidFill>
                <a:srgbClr val="72A984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8229600" y="1162050"/>
              <a:ext cx="723900" cy="723900"/>
            </a:xfrm>
            <a:prstGeom prst="ellipse">
              <a:avLst/>
            </a:prstGeom>
            <a:solidFill>
              <a:srgbClr val="FCFDF9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8229600" y="2447925"/>
              <a:ext cx="723900" cy="723900"/>
            </a:xfrm>
            <a:prstGeom prst="ellipse">
              <a:avLst/>
            </a:prstGeom>
            <a:solidFill>
              <a:srgbClr val="FCFDF9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8229600" y="3733800"/>
              <a:ext cx="723900" cy="723900"/>
            </a:xfrm>
            <a:prstGeom prst="ellipse">
              <a:avLst/>
            </a:prstGeom>
            <a:solidFill>
              <a:srgbClr val="FCFDF9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8229600" y="5019675"/>
              <a:ext cx="723900" cy="723900"/>
            </a:xfrm>
            <a:prstGeom prst="ellipse">
              <a:avLst/>
            </a:prstGeom>
            <a:solidFill>
              <a:srgbClr val="FCFD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17862" y="1383030"/>
              <a:ext cx="34737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36B45"/>
                  </a:solidFill>
                  <a:latin typeface="Georgia"/>
                  <a:ea typeface="KaiTi"/>
                  <a:cs typeface="Georgia"/>
                </a:rPr>
                <a:t>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17862" y="2668905"/>
              <a:ext cx="34737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36B45"/>
                  </a:solidFill>
                  <a:latin typeface="Georgia"/>
                  <a:ea typeface="KaiTi"/>
                  <a:cs typeface="Georgia"/>
                </a:rPr>
                <a:t>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17862" y="3954780"/>
              <a:ext cx="34737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36B45"/>
                  </a:solidFill>
                  <a:latin typeface="Georgia"/>
                  <a:ea typeface="KaiTi"/>
                  <a:cs typeface="Georgia"/>
                </a:rPr>
                <a:t>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17862" y="5240655"/>
              <a:ext cx="34737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36B45"/>
                  </a:solidFill>
                  <a:latin typeface="Georgia"/>
                  <a:ea typeface="KaiTi"/>
                  <a:cs typeface="Georgia"/>
                </a:rPr>
                <a:t>备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292590" y="1263015"/>
            <a:ext cx="1478280" cy="4442460"/>
            <a:chOff x="9292590" y="1263015"/>
            <a:chExt cx="1478280" cy="4442460"/>
          </a:xfrm>
        </p:grpSpPr>
        <p:sp>
          <p:nvSpPr>
            <p:cNvPr id="22" name="TextBox 22"/>
            <p:cNvSpPr txBox="1"/>
            <p:nvPr/>
          </p:nvSpPr>
          <p:spPr>
            <a:xfrm>
              <a:off x="9292590" y="1263015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收集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00210" y="160401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1F6EF"/>
                  </a:solidFill>
                  <a:latin typeface="Arial"/>
                  <a:ea typeface="Microsoft YaHei"/>
                  <a:cs typeface="Arial"/>
                </a:rPr>
                <a:t>基础资料与开放描述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292590" y="254889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追问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300210" y="2889885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1F6EF"/>
                  </a:solidFill>
                  <a:latin typeface="Arial"/>
                  <a:ea typeface="Microsoft YaHei"/>
                  <a:cs typeface="Arial"/>
                </a:rPr>
                <a:t>围绕核心缺口对话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92590" y="3834765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整理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300210" y="417576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1F6EF"/>
                  </a:solidFill>
                  <a:latin typeface="Arial"/>
                  <a:ea typeface="Microsoft YaHei"/>
                  <a:cs typeface="Arial"/>
                </a:rPr>
                <a:t>形成结构化诊前档案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92590" y="512064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准备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00210" y="5461635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1F6EF"/>
                  </a:solidFill>
                  <a:latin typeface="Arial"/>
                  <a:ea typeface="Microsoft YaHei"/>
                  <a:cs typeface="Arial"/>
                </a:rPr>
                <a:t>辅助医生诊中确认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652462" y="6222206"/>
            <a:ext cx="14012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8756D"/>
                </a:solidFill>
                <a:latin typeface="Arial"/>
                <a:ea typeface="Microsoft YaHei"/>
                <a:cs typeface="Arial"/>
              </a:rPr>
              <a:t>最终版本 · 项目介绍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9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5310" y="451485"/>
            <a:ext cx="11007090" cy="548640"/>
            <a:chOff x="575310" y="451485"/>
            <a:chExt cx="11007090" cy="548640"/>
          </a:xfrm>
        </p:grpSpPr>
        <p:sp>
          <p:nvSpPr>
            <p:cNvPr id="3" name="TextBox 3"/>
            <p:cNvSpPr txBox="1"/>
            <p:nvPr/>
          </p:nvSpPr>
          <p:spPr>
            <a:xfrm>
              <a:off x="575310" y="451485"/>
              <a:ext cx="271491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4332B"/>
                  </a:solidFill>
                  <a:latin typeface="Georgia"/>
                  <a:ea typeface="KaiTi"/>
                  <a:cs typeface="Georgia"/>
                </a:rPr>
                <a:t>项目背景与定位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914400"/>
              <a:ext cx="10972800" cy="19050"/>
            </a:xfrm>
            <a:prstGeom prst="rect">
              <a:avLst/>
            </a:prstGeom>
            <a:solidFill>
              <a:srgbClr val="E8EFE8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43890" y="1472565"/>
            <a:ext cx="5804535" cy="3842385"/>
            <a:chOff x="643890" y="1472565"/>
            <a:chExt cx="5804535" cy="3842385"/>
          </a:xfrm>
        </p:grpSpPr>
        <p:sp>
          <p:nvSpPr>
            <p:cNvPr id="6" name="TextBox 6"/>
            <p:cNvSpPr txBox="1"/>
            <p:nvPr/>
          </p:nvSpPr>
          <p:spPr>
            <a:xfrm>
              <a:off x="643890" y="1472565"/>
              <a:ext cx="5804535" cy="1261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650"/>
                </a:lnSpc>
              </a:pPr>
              <a:r>
                <a:rPr lang="zh-CN" sz="3300" b="1" dirty="0">
                  <a:solidFill>
                    <a:srgbClr val="236B45"/>
                  </a:solidFill>
                  <a:latin typeface="Georgia"/>
                  <a:ea typeface="KaiTi"/>
                  <a:cs typeface="Georgia"/>
                </a:rPr>
                <a:t>诊前先把信息整理好，诊中才能把时间用在判断上。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85800" y="3171825"/>
              <a:ext cx="4419600" cy="6286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系统面向成人肥胖患者，在就诊前收集和整理信息，帮助医生更快进入辨证、风险核查与治疗决策。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04850" y="4343400"/>
              <a:ext cx="4000500" cy="971550"/>
            </a:xfrm>
            <a:prstGeom prst="roundRect">
              <a:avLst>
                <a:gd name="adj" fmla="val 7843"/>
              </a:avLst>
            </a:prstGeom>
            <a:solidFill>
              <a:srgbClr val="F1F6E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17258" y="45486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36B45"/>
                  </a:solidFill>
                  <a:latin typeface="Arial"/>
                  <a:ea typeface="Microsoft YaHei"/>
                  <a:cs typeface="Arial"/>
                </a:rPr>
                <a:t>使用时点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14400" y="4848225"/>
              <a:ext cx="3038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4332B"/>
                  </a:solidFill>
                  <a:latin typeface="Arial"/>
                  <a:ea typeface="Microsoft YaHei"/>
                  <a:cs typeface="Arial"/>
                </a:rPr>
                <a:t>患者诊前完成，医生诊中继续确认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305550" y="1466850"/>
            <a:ext cx="4857750" cy="4076700"/>
            <a:chOff x="6305550" y="1466850"/>
            <a:chExt cx="4857750" cy="4076700"/>
          </a:xfrm>
        </p:grpSpPr>
        <p:sp>
          <p:nvSpPr>
            <p:cNvPr id="12" name="Rectangle 12"/>
            <p:cNvSpPr/>
            <p:nvPr/>
          </p:nvSpPr>
          <p:spPr>
            <a:xfrm>
              <a:off x="6305550" y="1466850"/>
              <a:ext cx="4857750" cy="4076700"/>
            </a:xfrm>
            <a:prstGeom prst="roundRect">
              <a:avLst>
                <a:gd name="adj" fmla="val 1869"/>
              </a:avLst>
            </a:prstGeom>
            <a:solidFill>
              <a:srgbClr val="FFFFFF"/>
            </a:solidFill>
            <a:ln w="19050">
              <a:solidFill>
                <a:srgbClr val="D7E2D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07505" y="1825942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系统职责边界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724650" y="2190750"/>
              <a:ext cx="4019550" cy="9525"/>
            </a:xfrm>
            <a:custGeom>
              <a:avLst/>
              <a:gdLst/>
              <a:ahLst/>
              <a:cxnLst/>
              <a:rect l="l" t="t" r="r" b="b"/>
              <a:pathLst>
                <a:path w="4019550" h="9525">
                  <a:moveTo>
                    <a:pt x="0" y="0"/>
                  </a:moveTo>
                  <a:lnTo>
                    <a:pt x="4019550" y="0"/>
                  </a:lnTo>
                </a:path>
              </a:pathLst>
            </a:custGeom>
            <a:noFill/>
            <a:ln w="19050">
              <a:solidFill>
                <a:srgbClr val="E8EFE8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6835774" y="2608263"/>
              <a:ext cx="292104" cy="365127"/>
              <a:chOff x="6835774" y="2608263"/>
              <a:chExt cx="292104" cy="365127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6835774" y="2608263"/>
                <a:ext cx="292104" cy="365127"/>
              </a:xfrm>
              <a:custGeom>
                <a:avLst/>
                <a:gdLst/>
                <a:ahLst/>
                <a:cxnLst/>
                <a:rect l="l" t="t" r="r" b="b"/>
                <a:pathLst>
                  <a:path w="292104" h="365127">
                    <a:moveTo>
                      <a:pt x="146052" y="0"/>
                    </a:moveTo>
                    <a:lnTo>
                      <a:pt x="148188" y="128"/>
                    </a:lnTo>
                    <a:cubicBezTo>
                      <a:pt x="156576" y="1117"/>
                      <a:pt x="163191" y="7732"/>
                      <a:pt x="164180" y="16120"/>
                    </a:cubicBezTo>
                    <a:lnTo>
                      <a:pt x="164308" y="18256"/>
                    </a:lnTo>
                    <a:lnTo>
                      <a:pt x="164308" y="91281"/>
                    </a:lnTo>
                    <a:lnTo>
                      <a:pt x="164399" y="94020"/>
                    </a:lnTo>
                    <a:cubicBezTo>
                      <a:pt x="165749" y="111982"/>
                      <a:pt x="179997" y="126276"/>
                      <a:pt x="197954" y="127684"/>
                    </a:cubicBezTo>
                    <a:lnTo>
                      <a:pt x="200821" y="127794"/>
                    </a:lnTo>
                    <a:lnTo>
                      <a:pt x="273846" y="127794"/>
                    </a:lnTo>
                    <a:lnTo>
                      <a:pt x="275982" y="127922"/>
                    </a:lnTo>
                    <a:cubicBezTo>
                      <a:pt x="284370" y="128911"/>
                      <a:pt x="290985" y="135526"/>
                      <a:pt x="291974" y="143914"/>
                    </a:cubicBezTo>
                    <a:lnTo>
                      <a:pt x="292102" y="146050"/>
                    </a:lnTo>
                    <a:lnTo>
                      <a:pt x="292102" y="310357"/>
                    </a:lnTo>
                    <a:cubicBezTo>
                      <a:pt x="292104" y="339358"/>
                      <a:pt x="269498" y="363333"/>
                      <a:pt x="240546" y="365034"/>
                    </a:cubicBezTo>
                    <a:lnTo>
                      <a:pt x="237333" y="365126"/>
                    </a:lnTo>
                    <a:lnTo>
                      <a:pt x="54770" y="365126"/>
                    </a:lnTo>
                    <a:cubicBezTo>
                      <a:pt x="25769" y="365127"/>
                      <a:pt x="1794" y="342521"/>
                      <a:pt x="93" y="313570"/>
                    </a:cubicBezTo>
                    <a:lnTo>
                      <a:pt x="2" y="310357"/>
                    </a:lnTo>
                    <a:lnTo>
                      <a:pt x="2" y="54769"/>
                    </a:lnTo>
                    <a:cubicBezTo>
                      <a:pt x="0" y="25768"/>
                      <a:pt x="22606" y="1793"/>
                      <a:pt x="51557" y="91"/>
                    </a:cubicBezTo>
                    <a:lnTo>
                      <a:pt x="54770" y="0"/>
                    </a:lnTo>
                    <a:close/>
                    <a:moveTo>
                      <a:pt x="200821" y="255588"/>
                    </a:moveTo>
                    <a:lnTo>
                      <a:pt x="91283" y="255588"/>
                    </a:lnTo>
                    <a:cubicBezTo>
                      <a:pt x="81200" y="255588"/>
                      <a:pt x="73027" y="263762"/>
                      <a:pt x="73027" y="273844"/>
                    </a:cubicBezTo>
                    <a:cubicBezTo>
                      <a:pt x="73027" y="283927"/>
                      <a:pt x="81200" y="292101"/>
                      <a:pt x="91283" y="292101"/>
                    </a:cubicBezTo>
                    <a:lnTo>
                      <a:pt x="200821" y="292101"/>
                    </a:lnTo>
                    <a:cubicBezTo>
                      <a:pt x="210903" y="292101"/>
                      <a:pt x="219077" y="283927"/>
                      <a:pt x="219077" y="273844"/>
                    </a:cubicBezTo>
                    <a:cubicBezTo>
                      <a:pt x="219077" y="263762"/>
                      <a:pt x="210903" y="255588"/>
                      <a:pt x="200821" y="255588"/>
                    </a:cubicBezTo>
                    <a:moveTo>
                      <a:pt x="200821" y="182563"/>
                    </a:moveTo>
                    <a:lnTo>
                      <a:pt x="91283" y="182563"/>
                    </a:lnTo>
                    <a:cubicBezTo>
                      <a:pt x="81200" y="182563"/>
                      <a:pt x="73027" y="190736"/>
                      <a:pt x="73027" y="200819"/>
                    </a:cubicBezTo>
                    <a:cubicBezTo>
                      <a:pt x="73027" y="210902"/>
                      <a:pt x="81200" y="219075"/>
                      <a:pt x="91283" y="219075"/>
                    </a:cubicBezTo>
                    <a:lnTo>
                      <a:pt x="200821" y="219075"/>
                    </a:lnTo>
                    <a:cubicBezTo>
                      <a:pt x="210903" y="219075"/>
                      <a:pt x="219077" y="210902"/>
                      <a:pt x="219077" y="200819"/>
                    </a:cubicBezTo>
                    <a:cubicBezTo>
                      <a:pt x="219077" y="190736"/>
                      <a:pt x="210903" y="182563"/>
                      <a:pt x="200821" y="182563"/>
                    </a:cubicBezTo>
                  </a:path>
                </a:pathLst>
              </a:custGeom>
              <a:solidFill>
                <a:srgbClr val="236B45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036576" y="2626501"/>
                <a:ext cx="73043" cy="73043"/>
              </a:xfrm>
              <a:custGeom>
                <a:avLst/>
                <a:gdLst/>
                <a:ahLst/>
                <a:cxnLst/>
                <a:rect l="l" t="t" r="r" b="b"/>
                <a:pathLst>
                  <a:path w="73043" h="73043">
                    <a:moveTo>
                      <a:pt x="73043" y="73043"/>
                    </a:moveTo>
                    <a:lnTo>
                      <a:pt x="18" y="730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36B45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7446645" y="2555558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4332B"/>
                  </a:solidFill>
                  <a:latin typeface="Arial"/>
                  <a:ea typeface="Microsoft YaHei"/>
                  <a:cs typeface="Arial"/>
                </a:rPr>
                <a:t>整理资料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51408" y="2900839"/>
              <a:ext cx="20726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结构化患者描述和问答记录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6784721" y="3496001"/>
              <a:ext cx="381237" cy="383832"/>
            </a:xfrm>
            <a:custGeom>
              <a:avLst/>
              <a:gdLst/>
              <a:ahLst/>
              <a:cxnLst/>
              <a:rect l="l" t="t" r="r" b="b"/>
              <a:pathLst>
                <a:path w="381237" h="383832">
                  <a:moveTo>
                    <a:pt x="233617" y="36708"/>
                  </a:moveTo>
                  <a:cubicBezTo>
                    <a:pt x="270167" y="57806"/>
                    <a:pt x="295804" y="93684"/>
                    <a:pt x="303923" y="135099"/>
                  </a:cubicBezTo>
                  <a:cubicBezTo>
                    <a:pt x="312042" y="176513"/>
                    <a:pt x="301850" y="219415"/>
                    <a:pt x="275971" y="252752"/>
                  </a:cubicBezTo>
                  <a:lnTo>
                    <a:pt x="374318" y="351099"/>
                  </a:lnTo>
                  <a:cubicBezTo>
                    <a:pt x="381237" y="358262"/>
                    <a:pt x="381138" y="369649"/>
                    <a:pt x="374096" y="376691"/>
                  </a:cubicBezTo>
                  <a:cubicBezTo>
                    <a:pt x="367054" y="383733"/>
                    <a:pt x="355667" y="383832"/>
                    <a:pt x="348504" y="376913"/>
                  </a:cubicBezTo>
                  <a:lnTo>
                    <a:pt x="250139" y="278567"/>
                  </a:lnTo>
                  <a:cubicBezTo>
                    <a:pt x="192156" y="323558"/>
                    <a:pt x="109791" y="318534"/>
                    <a:pt x="57707" y="266828"/>
                  </a:cubicBezTo>
                  <a:cubicBezTo>
                    <a:pt x="5624" y="215121"/>
                    <a:pt x="0" y="132795"/>
                    <a:pt x="44569" y="74486"/>
                  </a:cubicBezTo>
                  <a:cubicBezTo>
                    <a:pt x="89138" y="16178"/>
                    <a:pt x="170055" y="0"/>
                    <a:pt x="233617" y="36689"/>
                  </a:cubicBezTo>
                </a:path>
              </a:pathLst>
            </a:custGeom>
            <a:solidFill>
              <a:srgbClr val="236B4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446645" y="34604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4332B"/>
                  </a:solidFill>
                  <a:latin typeface="Arial"/>
                  <a:ea typeface="Microsoft YaHei"/>
                  <a:cs typeface="Arial"/>
                </a:rPr>
                <a:t>提示缺口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51408" y="3805714"/>
              <a:ext cx="241268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标记待确认信息和相关检查准备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6790996" y="4418013"/>
              <a:ext cx="381641" cy="365321"/>
            </a:xfrm>
            <a:custGeom>
              <a:avLst/>
              <a:gdLst/>
              <a:ahLst/>
              <a:cxnLst/>
              <a:rect l="l" t="t" r="r" b="b"/>
              <a:pathLst>
                <a:path w="381641" h="365321">
                  <a:moveTo>
                    <a:pt x="190793" y="0"/>
                  </a:moveTo>
                  <a:lnTo>
                    <a:pt x="192947" y="128"/>
                  </a:lnTo>
                  <a:lnTo>
                    <a:pt x="194024" y="274"/>
                  </a:lnTo>
                  <a:lnTo>
                    <a:pt x="195138" y="511"/>
                  </a:lnTo>
                  <a:lnTo>
                    <a:pt x="197164" y="1132"/>
                  </a:lnTo>
                  <a:cubicBezTo>
                    <a:pt x="198564" y="1648"/>
                    <a:pt x="199894" y="2335"/>
                    <a:pt x="201126" y="3177"/>
                  </a:cubicBezTo>
                  <a:lnTo>
                    <a:pt x="203024" y="4674"/>
                  </a:lnTo>
                  <a:lnTo>
                    <a:pt x="207680" y="8653"/>
                  </a:lnTo>
                  <a:cubicBezTo>
                    <a:pt x="244508" y="39243"/>
                    <a:pt x="291054" y="55669"/>
                    <a:pt x="338924" y="54970"/>
                  </a:cubicBezTo>
                  <a:lnTo>
                    <a:pt x="345168" y="54787"/>
                  </a:lnTo>
                  <a:cubicBezTo>
                    <a:pt x="353568" y="54404"/>
                    <a:pt x="361144" y="59809"/>
                    <a:pt x="363515" y="67877"/>
                  </a:cubicBezTo>
                  <a:cubicBezTo>
                    <a:pt x="381641" y="129533"/>
                    <a:pt x="373987" y="195905"/>
                    <a:pt x="342304" y="251818"/>
                  </a:cubicBezTo>
                  <a:cubicBezTo>
                    <a:pt x="310621" y="307731"/>
                    <a:pt x="257618" y="348405"/>
                    <a:pt x="195411" y="364541"/>
                  </a:cubicBezTo>
                  <a:cubicBezTo>
                    <a:pt x="192406" y="365321"/>
                    <a:pt x="189252" y="365321"/>
                    <a:pt x="186247" y="364541"/>
                  </a:cubicBezTo>
                  <a:cubicBezTo>
                    <a:pt x="124037" y="348409"/>
                    <a:pt x="71029" y="307736"/>
                    <a:pt x="39343" y="251823"/>
                  </a:cubicBezTo>
                  <a:cubicBezTo>
                    <a:pt x="7656" y="195909"/>
                    <a:pt x="0" y="129536"/>
                    <a:pt x="18125" y="67877"/>
                  </a:cubicBezTo>
                  <a:cubicBezTo>
                    <a:pt x="20496" y="59809"/>
                    <a:pt x="28072" y="54404"/>
                    <a:pt x="36472" y="54787"/>
                  </a:cubicBezTo>
                  <a:cubicBezTo>
                    <a:pt x="86448" y="57072"/>
                    <a:pt x="135477" y="40620"/>
                    <a:pt x="173960" y="8653"/>
                  </a:cubicBezTo>
                  <a:lnTo>
                    <a:pt x="178762" y="4546"/>
                  </a:lnTo>
                  <a:lnTo>
                    <a:pt x="180514" y="3177"/>
                  </a:lnTo>
                  <a:cubicBezTo>
                    <a:pt x="181746" y="2335"/>
                    <a:pt x="183076" y="1648"/>
                    <a:pt x="184476" y="1132"/>
                  </a:cubicBezTo>
                  <a:lnTo>
                    <a:pt x="186521" y="511"/>
                  </a:lnTo>
                  <a:cubicBezTo>
                    <a:pt x="187236" y="338"/>
                    <a:pt x="187962" y="210"/>
                    <a:pt x="188693" y="128"/>
                  </a:cubicBezTo>
                  <a:lnTo>
                    <a:pt x="190793" y="0"/>
                  </a:lnTo>
                  <a:close/>
                  <a:moveTo>
                    <a:pt x="258523" y="133143"/>
                  </a:moveTo>
                  <a:cubicBezTo>
                    <a:pt x="255099" y="129715"/>
                    <a:pt x="250453" y="127789"/>
                    <a:pt x="245607" y="127789"/>
                  </a:cubicBezTo>
                  <a:cubicBezTo>
                    <a:pt x="240762" y="127789"/>
                    <a:pt x="236115" y="129715"/>
                    <a:pt x="232691" y="133143"/>
                  </a:cubicBezTo>
                  <a:lnTo>
                    <a:pt x="172573" y="193243"/>
                  </a:lnTo>
                  <a:lnTo>
                    <a:pt x="148968" y="169656"/>
                  </a:lnTo>
                  <a:lnTo>
                    <a:pt x="147251" y="168140"/>
                  </a:lnTo>
                  <a:cubicBezTo>
                    <a:pt x="139636" y="162252"/>
                    <a:pt x="128757" y="163288"/>
                    <a:pt x="122391" y="170509"/>
                  </a:cubicBezTo>
                  <a:cubicBezTo>
                    <a:pt x="116024" y="177729"/>
                    <a:pt x="116358" y="188652"/>
                    <a:pt x="123153" y="195470"/>
                  </a:cubicBezTo>
                  <a:lnTo>
                    <a:pt x="159666" y="231983"/>
                  </a:lnTo>
                  <a:lnTo>
                    <a:pt x="161382" y="233498"/>
                  </a:lnTo>
                  <a:cubicBezTo>
                    <a:pt x="168649" y="239135"/>
                    <a:pt x="178976" y="238486"/>
                    <a:pt x="185480" y="231983"/>
                  </a:cubicBezTo>
                  <a:lnTo>
                    <a:pt x="258505" y="158957"/>
                  </a:lnTo>
                  <a:lnTo>
                    <a:pt x="260020" y="157241"/>
                  </a:lnTo>
                  <a:cubicBezTo>
                    <a:pt x="265658" y="149974"/>
                    <a:pt x="265009" y="139647"/>
                    <a:pt x="258505" y="133143"/>
                  </a:cubicBezTo>
                  <a:close/>
                </a:path>
              </a:pathLst>
            </a:custGeom>
            <a:solidFill>
              <a:srgbClr val="C68A3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46645" y="4365308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4332B"/>
                  </a:solidFill>
                  <a:latin typeface="Arial"/>
                  <a:ea typeface="Microsoft YaHei"/>
                  <a:cs typeface="Arial"/>
                </a:rPr>
                <a:t>保留医生判断权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51408" y="4710589"/>
              <a:ext cx="19026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不替代诊断，不直接开方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96265" y="6325552"/>
            <a:ext cx="10999470" cy="213360"/>
            <a:chOff x="596265" y="6325552"/>
            <a:chExt cx="10999470" cy="213360"/>
          </a:xfrm>
        </p:grpSpPr>
        <p:sp>
          <p:nvSpPr>
            <p:cNvPr id="27" name="TextBox 27"/>
            <p:cNvSpPr txBox="1"/>
            <p:nvPr/>
          </p:nvSpPr>
          <p:spPr>
            <a:xfrm>
              <a:off x="596265" y="632555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成人肥胖中医诊前问诊系统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415046" y="632555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8756D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9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5310" y="451485"/>
            <a:ext cx="4011930" cy="782003"/>
            <a:chOff x="575310" y="451485"/>
            <a:chExt cx="4011930" cy="782003"/>
          </a:xfrm>
        </p:grpSpPr>
        <p:sp>
          <p:nvSpPr>
            <p:cNvPr id="3" name="TextBox 3"/>
            <p:cNvSpPr txBox="1"/>
            <p:nvPr/>
          </p:nvSpPr>
          <p:spPr>
            <a:xfrm>
              <a:off x="575310" y="451485"/>
              <a:ext cx="271491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4332B"/>
                  </a:solidFill>
                  <a:latin typeface="Georgia"/>
                  <a:ea typeface="KaiTi"/>
                  <a:cs typeface="Georgia"/>
                </a:rPr>
                <a:t>系统解决的问题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455" y="959168"/>
              <a:ext cx="3994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从患者自然表达，到医生可以直接接续的诊前资料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9600" y="1695450"/>
            <a:ext cx="3162300" cy="2628900"/>
            <a:chOff x="609600" y="1695450"/>
            <a:chExt cx="3162300" cy="2628900"/>
          </a:xfrm>
        </p:grpSpPr>
        <p:sp>
          <p:nvSpPr>
            <p:cNvPr id="6" name="Rectangle 6"/>
            <p:cNvSpPr/>
            <p:nvPr/>
          </p:nvSpPr>
          <p:spPr>
            <a:xfrm>
              <a:off x="609600" y="1695450"/>
              <a:ext cx="3162300" cy="2628900"/>
            </a:xfrm>
            <a:prstGeom prst="roundRect">
              <a:avLst>
                <a:gd name="adj" fmla="val 2899"/>
              </a:avLst>
            </a:prstGeom>
            <a:solidFill>
              <a:srgbClr val="FFFFFF"/>
            </a:solidFill>
            <a:ln w="19050">
              <a:solidFill>
                <a:srgbClr val="D7E2D8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38200" y="1905000"/>
              <a:ext cx="457200" cy="457200"/>
            </a:xfrm>
            <a:prstGeom prst="ellipse">
              <a:avLst/>
            </a:prstGeom>
            <a:solidFill>
              <a:srgbClr val="F1F6EF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939800" y="2019300"/>
              <a:ext cx="253999" cy="241894"/>
            </a:xfrm>
            <a:custGeom>
              <a:avLst/>
              <a:gdLst/>
              <a:ahLst/>
              <a:cxnLst/>
              <a:rect l="l" t="t" r="r" b="b"/>
              <a:pathLst>
                <a:path w="253999" h="241894">
                  <a:moveTo>
                    <a:pt x="203199" y="0"/>
                  </a:moveTo>
                  <a:cubicBezTo>
                    <a:pt x="231255" y="0"/>
                    <a:pt x="253999" y="22744"/>
                    <a:pt x="253999" y="50800"/>
                  </a:cubicBezTo>
                  <a:lnTo>
                    <a:pt x="253999" y="152400"/>
                  </a:lnTo>
                  <a:cubicBezTo>
                    <a:pt x="253999" y="180456"/>
                    <a:pt x="231255" y="203199"/>
                    <a:pt x="203199" y="203199"/>
                  </a:cubicBezTo>
                  <a:lnTo>
                    <a:pt x="143205" y="203199"/>
                  </a:lnTo>
                  <a:lnTo>
                    <a:pt x="82728" y="239483"/>
                  </a:lnTo>
                  <a:cubicBezTo>
                    <a:pt x="79027" y="241704"/>
                    <a:pt x="74451" y="241894"/>
                    <a:pt x="70580" y="239986"/>
                  </a:cubicBezTo>
                  <a:cubicBezTo>
                    <a:pt x="66708" y="238078"/>
                    <a:pt x="64070" y="234335"/>
                    <a:pt x="63576" y="230047"/>
                  </a:cubicBezTo>
                  <a:lnTo>
                    <a:pt x="63500" y="228599"/>
                  </a:lnTo>
                  <a:lnTo>
                    <a:pt x="63500" y="203199"/>
                  </a:lnTo>
                  <a:lnTo>
                    <a:pt x="50800" y="203199"/>
                  </a:lnTo>
                  <a:cubicBezTo>
                    <a:pt x="23731" y="203200"/>
                    <a:pt x="1417" y="181974"/>
                    <a:pt x="63" y="154940"/>
                  </a:cubicBezTo>
                  <a:lnTo>
                    <a:pt x="0" y="152400"/>
                  </a:ln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  <a:moveTo>
                    <a:pt x="167640" y="117932"/>
                  </a:moveTo>
                  <a:cubicBezTo>
                    <a:pt x="162631" y="113023"/>
                    <a:pt x="154592" y="113102"/>
                    <a:pt x="149682" y="118110"/>
                  </a:cubicBezTo>
                  <a:cubicBezTo>
                    <a:pt x="143710" y="124207"/>
                    <a:pt x="135534" y="127643"/>
                    <a:pt x="127000" y="127643"/>
                  </a:cubicBezTo>
                  <a:cubicBezTo>
                    <a:pt x="118465" y="127643"/>
                    <a:pt x="110290" y="124207"/>
                    <a:pt x="104318" y="118110"/>
                  </a:cubicBezTo>
                  <a:cubicBezTo>
                    <a:pt x="99386" y="113222"/>
                    <a:pt x="91444" y="113200"/>
                    <a:pt x="86486" y="118061"/>
                  </a:cubicBezTo>
                  <a:cubicBezTo>
                    <a:pt x="81528" y="122921"/>
                    <a:pt x="81393" y="130863"/>
                    <a:pt x="86182" y="135890"/>
                  </a:cubicBezTo>
                  <a:cubicBezTo>
                    <a:pt x="96931" y="146858"/>
                    <a:pt x="111642" y="153039"/>
                    <a:pt x="127000" y="153039"/>
                  </a:cubicBezTo>
                  <a:cubicBezTo>
                    <a:pt x="142357" y="153039"/>
                    <a:pt x="157068" y="146858"/>
                    <a:pt x="167817" y="135890"/>
                  </a:cubicBezTo>
                  <a:cubicBezTo>
                    <a:pt x="172726" y="130881"/>
                    <a:pt x="172647" y="122842"/>
                    <a:pt x="167640" y="117932"/>
                  </a:cubicBezTo>
                  <a:moveTo>
                    <a:pt x="95377" y="63500"/>
                  </a:moveTo>
                  <a:lnTo>
                    <a:pt x="95250" y="63500"/>
                  </a:lnTo>
                  <a:cubicBezTo>
                    <a:pt x="88236" y="63500"/>
                    <a:pt x="82550" y="69186"/>
                    <a:pt x="82550" y="76200"/>
                  </a:cubicBezTo>
                  <a:cubicBezTo>
                    <a:pt x="82550" y="83214"/>
                    <a:pt x="88236" y="88900"/>
                    <a:pt x="95250" y="88900"/>
                  </a:cubicBezTo>
                  <a:lnTo>
                    <a:pt x="95377" y="88900"/>
                  </a:lnTo>
                  <a:cubicBezTo>
                    <a:pt x="102391" y="88900"/>
                    <a:pt x="108077" y="83214"/>
                    <a:pt x="108077" y="76200"/>
                  </a:cubicBezTo>
                  <a:cubicBezTo>
                    <a:pt x="108077" y="69186"/>
                    <a:pt x="102391" y="63500"/>
                    <a:pt x="95377" y="63500"/>
                  </a:cubicBezTo>
                  <a:moveTo>
                    <a:pt x="158877" y="63500"/>
                  </a:moveTo>
                  <a:lnTo>
                    <a:pt x="158750" y="63500"/>
                  </a:lnTo>
                  <a:cubicBezTo>
                    <a:pt x="151736" y="63500"/>
                    <a:pt x="146050" y="69186"/>
                    <a:pt x="146050" y="76200"/>
                  </a:cubicBezTo>
                  <a:cubicBezTo>
                    <a:pt x="146050" y="83214"/>
                    <a:pt x="151736" y="88900"/>
                    <a:pt x="158750" y="88900"/>
                  </a:cubicBezTo>
                  <a:lnTo>
                    <a:pt x="158877" y="88900"/>
                  </a:lnTo>
                  <a:cubicBezTo>
                    <a:pt x="165891" y="88900"/>
                    <a:pt x="171577" y="83214"/>
                    <a:pt x="171577" y="76200"/>
                  </a:cubicBezTo>
                  <a:cubicBezTo>
                    <a:pt x="171577" y="69186"/>
                    <a:pt x="165891" y="63500"/>
                    <a:pt x="158877" y="63500"/>
                  </a:cubicBezTo>
                </a:path>
              </a:pathLst>
            </a:custGeom>
            <a:solidFill>
              <a:srgbClr val="236B4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86840" y="2015490"/>
              <a:ext cx="801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4332B"/>
                  </a:solidFill>
                  <a:latin typeface="Arial"/>
                  <a:ea typeface="Microsoft YaHei"/>
                  <a:cs typeface="Arial"/>
                </a:rPr>
                <a:t>说不清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6302" y="2627471"/>
              <a:ext cx="2207895" cy="9372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425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患者的症状、持续时间、诱因和既往情况，常常混在一段自然语言里。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14400" y="3829050"/>
              <a:ext cx="800100" cy="38100"/>
            </a:xfrm>
            <a:prstGeom prst="roundRect">
              <a:avLst>
                <a:gd name="adj" fmla="val 50000"/>
              </a:avLst>
            </a:prstGeom>
            <a:solidFill>
              <a:srgbClr val="C68A3A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3924300" y="2743200"/>
            <a:ext cx="514350" cy="304800"/>
            <a:chOff x="3924300" y="2743200"/>
            <a:chExt cx="514350" cy="304800"/>
          </a:xfrm>
        </p:grpSpPr>
        <p:sp>
          <p:nvSpPr>
            <p:cNvPr id="13" name="Polygon 13"/>
            <p:cNvSpPr/>
            <p:nvPr/>
          </p:nvSpPr>
          <p:spPr>
            <a:xfrm>
              <a:off x="3924300" y="2743200"/>
              <a:ext cx="514350" cy="304800"/>
            </a:xfrm>
            <a:custGeom>
              <a:avLst/>
              <a:gdLst/>
              <a:ahLst/>
              <a:cxnLst/>
              <a:rect l="l" t="t" r="r" b="b"/>
              <a:pathLst>
                <a:path w="514350" h="304800">
                  <a:moveTo>
                    <a:pt x="0" y="152400"/>
                  </a:moveTo>
                  <a:lnTo>
                    <a:pt x="266700" y="0"/>
                  </a:lnTo>
                  <a:lnTo>
                    <a:pt x="266700" y="95250"/>
                  </a:lnTo>
                  <a:lnTo>
                    <a:pt x="514350" y="95250"/>
                  </a:lnTo>
                  <a:lnTo>
                    <a:pt x="514350" y="209550"/>
                  </a:lnTo>
                  <a:lnTo>
                    <a:pt x="266700" y="209550"/>
                  </a:lnTo>
                  <a:lnTo>
                    <a:pt x="266700" y="304800"/>
                  </a:lnTo>
                  <a:close/>
                </a:path>
              </a:pathLst>
            </a:custGeom>
            <a:solidFill>
              <a:srgbClr val="72A984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4533900" y="1695450"/>
            <a:ext cx="3162300" cy="2628900"/>
            <a:chOff x="4533900" y="1695450"/>
            <a:chExt cx="3162300" cy="2628900"/>
          </a:xfrm>
        </p:grpSpPr>
        <p:sp>
          <p:nvSpPr>
            <p:cNvPr id="15" name="Rectangle 15"/>
            <p:cNvSpPr/>
            <p:nvPr/>
          </p:nvSpPr>
          <p:spPr>
            <a:xfrm>
              <a:off x="4533900" y="1695450"/>
              <a:ext cx="3162300" cy="2628900"/>
            </a:xfrm>
            <a:prstGeom prst="roundRect">
              <a:avLst>
                <a:gd name="adj" fmla="val 2899"/>
              </a:avLst>
            </a:prstGeom>
            <a:solidFill>
              <a:srgbClr val="F1F6EF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762500" y="1905000"/>
              <a:ext cx="457200" cy="457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853984" y="1994679"/>
              <a:ext cx="265207" cy="267012"/>
            </a:xfrm>
            <a:custGeom>
              <a:avLst/>
              <a:gdLst/>
              <a:ahLst/>
              <a:cxnLst/>
              <a:rect l="l" t="t" r="r" b="b"/>
              <a:pathLst>
                <a:path w="265207" h="267012">
                  <a:moveTo>
                    <a:pt x="162515" y="25536"/>
                  </a:moveTo>
                  <a:cubicBezTo>
                    <a:pt x="187942" y="40213"/>
                    <a:pt x="205776" y="65171"/>
                    <a:pt x="211424" y="93981"/>
                  </a:cubicBezTo>
                  <a:cubicBezTo>
                    <a:pt x="217072" y="122791"/>
                    <a:pt x="209982" y="152636"/>
                    <a:pt x="191979" y="175827"/>
                  </a:cubicBezTo>
                  <a:lnTo>
                    <a:pt x="260394" y="244242"/>
                  </a:lnTo>
                  <a:cubicBezTo>
                    <a:pt x="265207" y="249225"/>
                    <a:pt x="265138" y="257146"/>
                    <a:pt x="260239" y="262045"/>
                  </a:cubicBezTo>
                  <a:cubicBezTo>
                    <a:pt x="255341" y="266944"/>
                    <a:pt x="247419" y="267012"/>
                    <a:pt x="242436" y="262199"/>
                  </a:cubicBezTo>
                  <a:lnTo>
                    <a:pt x="174009" y="193785"/>
                  </a:lnTo>
                  <a:cubicBezTo>
                    <a:pt x="133673" y="225083"/>
                    <a:pt x="76376" y="221588"/>
                    <a:pt x="40144" y="185618"/>
                  </a:cubicBezTo>
                  <a:cubicBezTo>
                    <a:pt x="3912" y="149649"/>
                    <a:pt x="0" y="92378"/>
                    <a:pt x="31004" y="51816"/>
                  </a:cubicBezTo>
                  <a:cubicBezTo>
                    <a:pt x="62009" y="11254"/>
                    <a:pt x="118299" y="0"/>
                    <a:pt x="162515" y="25523"/>
                  </a:cubicBezTo>
                </a:path>
              </a:pathLst>
            </a:custGeom>
            <a:solidFill>
              <a:srgbClr val="236B4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311140" y="2015490"/>
              <a:ext cx="801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4332B"/>
                  </a:solidFill>
                  <a:latin typeface="Arial"/>
                  <a:ea typeface="Microsoft YaHei"/>
                  <a:cs typeface="Arial"/>
                </a:rPr>
                <a:t>问不全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820602" y="2627471"/>
              <a:ext cx="2388870" cy="9372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425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首次问诊时间有限，需要同时覆盖中医症状、用药安全、既往史和代谢风险。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838700" y="3829050"/>
              <a:ext cx="800100" cy="38100"/>
            </a:xfrm>
            <a:prstGeom prst="roundRect">
              <a:avLst>
                <a:gd name="adj" fmla="val 50000"/>
              </a:avLst>
            </a:prstGeom>
            <a:solidFill>
              <a:srgbClr val="C68A3A"/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7848600" y="2743200"/>
            <a:ext cx="514350" cy="304800"/>
            <a:chOff x="7848600" y="2743200"/>
            <a:chExt cx="514350" cy="304800"/>
          </a:xfrm>
        </p:grpSpPr>
        <p:sp>
          <p:nvSpPr>
            <p:cNvPr id="22" name="Polygon 22"/>
            <p:cNvSpPr/>
            <p:nvPr/>
          </p:nvSpPr>
          <p:spPr>
            <a:xfrm>
              <a:off x="7848600" y="2743200"/>
              <a:ext cx="514350" cy="304800"/>
            </a:xfrm>
            <a:custGeom>
              <a:avLst/>
              <a:gdLst/>
              <a:ahLst/>
              <a:cxnLst/>
              <a:rect l="l" t="t" r="r" b="b"/>
              <a:pathLst>
                <a:path w="514350" h="304800">
                  <a:moveTo>
                    <a:pt x="0" y="152400"/>
                  </a:moveTo>
                  <a:lnTo>
                    <a:pt x="266700" y="0"/>
                  </a:lnTo>
                  <a:lnTo>
                    <a:pt x="266700" y="95250"/>
                  </a:lnTo>
                  <a:lnTo>
                    <a:pt x="514350" y="95250"/>
                  </a:lnTo>
                  <a:lnTo>
                    <a:pt x="514350" y="209550"/>
                  </a:lnTo>
                  <a:lnTo>
                    <a:pt x="266700" y="209550"/>
                  </a:lnTo>
                  <a:lnTo>
                    <a:pt x="266700" y="304800"/>
                  </a:lnTo>
                  <a:close/>
                </a:path>
              </a:pathLst>
            </a:custGeom>
            <a:solidFill>
              <a:srgbClr val="72A984"/>
            </a:solidFill>
            <a:ln>
              <a:noFill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8458200" y="1695450"/>
            <a:ext cx="3124200" cy="2628900"/>
            <a:chOff x="8458200" y="1695450"/>
            <a:chExt cx="3124200" cy="2628900"/>
          </a:xfrm>
        </p:grpSpPr>
        <p:sp>
          <p:nvSpPr>
            <p:cNvPr id="24" name="Rectangle 24"/>
            <p:cNvSpPr/>
            <p:nvPr/>
          </p:nvSpPr>
          <p:spPr>
            <a:xfrm>
              <a:off x="8458200" y="1695450"/>
              <a:ext cx="3124200" cy="2628900"/>
            </a:xfrm>
            <a:prstGeom prst="roundRect">
              <a:avLst>
                <a:gd name="adj" fmla="val 2899"/>
              </a:avLst>
            </a:prstGeom>
            <a:solidFill>
              <a:srgbClr val="FFFFFF"/>
            </a:solidFill>
            <a:ln w="19050">
              <a:solidFill>
                <a:srgbClr val="D7E2D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8686800" y="1905000"/>
              <a:ext cx="457200" cy="457200"/>
            </a:xfrm>
            <a:prstGeom prst="ellipse">
              <a:avLst/>
            </a:prstGeom>
            <a:solidFill>
              <a:srgbClr val="F1F6EF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8813797" y="2006600"/>
              <a:ext cx="203205" cy="253999"/>
            </a:xfrm>
            <a:custGeom>
              <a:avLst/>
              <a:gdLst/>
              <a:ahLst/>
              <a:cxnLst/>
              <a:rect l="l" t="t" r="r" b="b"/>
              <a:pathLst>
                <a:path w="203205" h="253999">
                  <a:moveTo>
                    <a:pt x="177764" y="27559"/>
                  </a:moveTo>
                  <a:cubicBezTo>
                    <a:pt x="193009" y="32931"/>
                    <a:pt x="203205" y="47337"/>
                    <a:pt x="203202" y="63500"/>
                  </a:cubicBezTo>
                  <a:lnTo>
                    <a:pt x="203202" y="215899"/>
                  </a:lnTo>
                  <a:cubicBezTo>
                    <a:pt x="203202" y="236941"/>
                    <a:pt x="186144" y="253999"/>
                    <a:pt x="165102" y="253999"/>
                  </a:cubicBezTo>
                  <a:lnTo>
                    <a:pt x="38103" y="253999"/>
                  </a:lnTo>
                  <a:cubicBezTo>
                    <a:pt x="17061" y="253999"/>
                    <a:pt x="3" y="236941"/>
                    <a:pt x="3" y="215899"/>
                  </a:cubicBezTo>
                  <a:lnTo>
                    <a:pt x="3" y="63500"/>
                  </a:lnTo>
                  <a:cubicBezTo>
                    <a:pt x="0" y="47337"/>
                    <a:pt x="10196" y="32931"/>
                    <a:pt x="25441" y="27559"/>
                  </a:cubicBezTo>
                  <a:cubicBezTo>
                    <a:pt x="26598" y="54754"/>
                    <a:pt x="48983" y="76204"/>
                    <a:pt x="76203" y="76200"/>
                  </a:cubicBezTo>
                  <a:lnTo>
                    <a:pt x="127002" y="76200"/>
                  </a:lnTo>
                  <a:cubicBezTo>
                    <a:pt x="153078" y="76202"/>
                    <a:pt x="174921" y="56461"/>
                    <a:pt x="177548" y="30518"/>
                  </a:cubicBezTo>
                  <a:close/>
                  <a:moveTo>
                    <a:pt x="63630" y="165100"/>
                  </a:moveTo>
                  <a:lnTo>
                    <a:pt x="63503" y="165100"/>
                  </a:lnTo>
                  <a:cubicBezTo>
                    <a:pt x="56783" y="165107"/>
                    <a:pt x="51232" y="170347"/>
                    <a:pt x="50839" y="177055"/>
                  </a:cubicBezTo>
                  <a:cubicBezTo>
                    <a:pt x="50445" y="183763"/>
                    <a:pt x="55344" y="189617"/>
                    <a:pt x="62017" y="190411"/>
                  </a:cubicBezTo>
                  <a:lnTo>
                    <a:pt x="63630" y="190500"/>
                  </a:lnTo>
                  <a:cubicBezTo>
                    <a:pt x="70644" y="190500"/>
                    <a:pt x="76330" y="184814"/>
                    <a:pt x="76330" y="177800"/>
                  </a:cubicBezTo>
                  <a:cubicBezTo>
                    <a:pt x="76330" y="170786"/>
                    <a:pt x="70644" y="165100"/>
                    <a:pt x="63630" y="165100"/>
                  </a:cubicBezTo>
                  <a:moveTo>
                    <a:pt x="139702" y="165100"/>
                  </a:moveTo>
                  <a:lnTo>
                    <a:pt x="114302" y="165100"/>
                  </a:lnTo>
                  <a:cubicBezTo>
                    <a:pt x="107288" y="165100"/>
                    <a:pt x="101603" y="170786"/>
                    <a:pt x="101603" y="177800"/>
                  </a:cubicBezTo>
                  <a:cubicBezTo>
                    <a:pt x="101603" y="184814"/>
                    <a:pt x="107288" y="190500"/>
                    <a:pt x="114302" y="190500"/>
                  </a:cubicBezTo>
                  <a:lnTo>
                    <a:pt x="139702" y="190500"/>
                  </a:lnTo>
                  <a:cubicBezTo>
                    <a:pt x="146716" y="190500"/>
                    <a:pt x="152402" y="184814"/>
                    <a:pt x="152402" y="177800"/>
                  </a:cubicBezTo>
                  <a:cubicBezTo>
                    <a:pt x="152402" y="170786"/>
                    <a:pt x="146716" y="165100"/>
                    <a:pt x="139702" y="165100"/>
                  </a:cubicBezTo>
                  <a:moveTo>
                    <a:pt x="63630" y="114300"/>
                  </a:moveTo>
                  <a:lnTo>
                    <a:pt x="63503" y="114300"/>
                  </a:lnTo>
                  <a:cubicBezTo>
                    <a:pt x="56783" y="114307"/>
                    <a:pt x="51232" y="119547"/>
                    <a:pt x="50839" y="126255"/>
                  </a:cubicBezTo>
                  <a:cubicBezTo>
                    <a:pt x="50445" y="132963"/>
                    <a:pt x="55344" y="138817"/>
                    <a:pt x="62017" y="139611"/>
                  </a:cubicBezTo>
                  <a:lnTo>
                    <a:pt x="63630" y="139700"/>
                  </a:lnTo>
                  <a:cubicBezTo>
                    <a:pt x="70644" y="139700"/>
                    <a:pt x="76330" y="134014"/>
                    <a:pt x="76330" y="127000"/>
                  </a:cubicBezTo>
                  <a:cubicBezTo>
                    <a:pt x="76330" y="119986"/>
                    <a:pt x="70644" y="114300"/>
                    <a:pt x="63630" y="114300"/>
                  </a:cubicBezTo>
                  <a:moveTo>
                    <a:pt x="139702" y="114300"/>
                  </a:moveTo>
                  <a:lnTo>
                    <a:pt x="114302" y="114300"/>
                  </a:lnTo>
                  <a:cubicBezTo>
                    <a:pt x="107288" y="114300"/>
                    <a:pt x="101603" y="119986"/>
                    <a:pt x="101603" y="127000"/>
                  </a:cubicBezTo>
                  <a:cubicBezTo>
                    <a:pt x="101603" y="134014"/>
                    <a:pt x="107288" y="139700"/>
                    <a:pt x="114302" y="139700"/>
                  </a:cubicBezTo>
                  <a:lnTo>
                    <a:pt x="139702" y="139700"/>
                  </a:lnTo>
                  <a:cubicBezTo>
                    <a:pt x="146716" y="139700"/>
                    <a:pt x="152402" y="134014"/>
                    <a:pt x="152402" y="127000"/>
                  </a:cubicBezTo>
                  <a:cubicBezTo>
                    <a:pt x="152402" y="119986"/>
                    <a:pt x="146716" y="114300"/>
                    <a:pt x="139702" y="114300"/>
                  </a:cubicBezTo>
                  <a:moveTo>
                    <a:pt x="127002" y="0"/>
                  </a:moveTo>
                  <a:cubicBezTo>
                    <a:pt x="141030" y="0"/>
                    <a:pt x="152402" y="11372"/>
                    <a:pt x="152402" y="25400"/>
                  </a:cubicBezTo>
                  <a:cubicBezTo>
                    <a:pt x="152402" y="39428"/>
                    <a:pt x="141030" y="50800"/>
                    <a:pt x="127002" y="50800"/>
                  </a:cubicBezTo>
                  <a:lnTo>
                    <a:pt x="76203" y="50800"/>
                  </a:lnTo>
                  <a:cubicBezTo>
                    <a:pt x="62175" y="50800"/>
                    <a:pt x="50803" y="39428"/>
                    <a:pt x="50803" y="25400"/>
                  </a:cubicBezTo>
                  <a:cubicBezTo>
                    <a:pt x="50803" y="11372"/>
                    <a:pt x="62175" y="0"/>
                    <a:pt x="76203" y="0"/>
                  </a:cubicBezTo>
                  <a:close/>
                </a:path>
              </a:pathLst>
            </a:custGeom>
            <a:solidFill>
              <a:srgbClr val="236B4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235440" y="2015490"/>
              <a:ext cx="801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4332B"/>
                  </a:solidFill>
                  <a:latin typeface="Arial"/>
                  <a:ea typeface="Microsoft YaHei"/>
                  <a:cs typeface="Arial"/>
                </a:rPr>
                <a:t>看不快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744902" y="2627471"/>
              <a:ext cx="2207895" cy="9372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425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医生需要在较短时间内识别信息缺口、回答冲突和需要优先确认的风险线索。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763000" y="3829050"/>
              <a:ext cx="800100" cy="38100"/>
            </a:xfrm>
            <a:prstGeom prst="roundRect">
              <a:avLst>
                <a:gd name="adj" fmla="val 50000"/>
              </a:avLst>
            </a:prstGeom>
            <a:solidFill>
              <a:srgbClr val="C68A3A"/>
            </a:solidFill>
            <a:ln>
              <a:noFill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609600" y="4781550"/>
            <a:ext cx="10972800" cy="1047750"/>
            <a:chOff x="609600" y="4781550"/>
            <a:chExt cx="10972800" cy="1047750"/>
          </a:xfrm>
        </p:grpSpPr>
        <p:sp>
          <p:nvSpPr>
            <p:cNvPr id="31" name="Rectangle 31"/>
            <p:cNvSpPr/>
            <p:nvPr/>
          </p:nvSpPr>
          <p:spPr>
            <a:xfrm>
              <a:off x="609600" y="4781550"/>
              <a:ext cx="10972800" cy="1047750"/>
            </a:xfrm>
            <a:prstGeom prst="roundRect">
              <a:avLst>
                <a:gd name="adj" fmla="val 7273"/>
              </a:avLst>
            </a:prstGeom>
            <a:solidFill>
              <a:srgbClr val="236B45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996948" y="5099050"/>
              <a:ext cx="330204" cy="412752"/>
              <a:chOff x="996948" y="5099050"/>
              <a:chExt cx="330204" cy="412752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996948" y="5099050"/>
                <a:ext cx="330204" cy="412752"/>
              </a:xfrm>
              <a:custGeom>
                <a:avLst/>
                <a:gdLst/>
                <a:ahLst/>
                <a:cxnLst/>
                <a:rect l="l" t="t" r="r" b="b"/>
                <a:pathLst>
                  <a:path w="330204" h="412752">
                    <a:moveTo>
                      <a:pt x="165102" y="0"/>
                    </a:moveTo>
                    <a:lnTo>
                      <a:pt x="167517" y="144"/>
                    </a:lnTo>
                    <a:cubicBezTo>
                      <a:pt x="176999" y="1263"/>
                      <a:pt x="184477" y="8740"/>
                      <a:pt x="185595" y="18223"/>
                    </a:cubicBezTo>
                    <a:lnTo>
                      <a:pt x="185740" y="20638"/>
                    </a:lnTo>
                    <a:lnTo>
                      <a:pt x="185740" y="103188"/>
                    </a:lnTo>
                    <a:lnTo>
                      <a:pt x="185843" y="106283"/>
                    </a:lnTo>
                    <a:cubicBezTo>
                      <a:pt x="187369" y="126588"/>
                      <a:pt x="203475" y="142747"/>
                      <a:pt x="223775" y="144339"/>
                    </a:cubicBezTo>
                    <a:lnTo>
                      <a:pt x="227015" y="144463"/>
                    </a:lnTo>
                    <a:lnTo>
                      <a:pt x="309565" y="144463"/>
                    </a:lnTo>
                    <a:lnTo>
                      <a:pt x="311979" y="144607"/>
                    </a:lnTo>
                    <a:cubicBezTo>
                      <a:pt x="321462" y="145725"/>
                      <a:pt x="328940" y="153203"/>
                      <a:pt x="330058" y="162686"/>
                    </a:cubicBezTo>
                    <a:lnTo>
                      <a:pt x="330202" y="165100"/>
                    </a:lnTo>
                    <a:lnTo>
                      <a:pt x="330202" y="350838"/>
                    </a:lnTo>
                    <a:cubicBezTo>
                      <a:pt x="330204" y="383622"/>
                      <a:pt x="304649" y="410724"/>
                      <a:pt x="271922" y="412647"/>
                    </a:cubicBezTo>
                    <a:lnTo>
                      <a:pt x="268290" y="412751"/>
                    </a:lnTo>
                    <a:lnTo>
                      <a:pt x="61914" y="412751"/>
                    </a:lnTo>
                    <a:cubicBezTo>
                      <a:pt x="29131" y="412752"/>
                      <a:pt x="2028" y="387198"/>
                      <a:pt x="105" y="354470"/>
                    </a:cubicBezTo>
                    <a:lnTo>
                      <a:pt x="2" y="350838"/>
                    </a:lnTo>
                    <a:lnTo>
                      <a:pt x="2" y="61913"/>
                    </a:lnTo>
                    <a:cubicBezTo>
                      <a:pt x="0" y="29129"/>
                      <a:pt x="25555" y="2027"/>
                      <a:pt x="58282" y="103"/>
                    </a:cubicBezTo>
                    <a:lnTo>
                      <a:pt x="61914" y="0"/>
                    </a:lnTo>
                    <a:close/>
                    <a:moveTo>
                      <a:pt x="227015" y="288925"/>
                    </a:moveTo>
                    <a:lnTo>
                      <a:pt x="103189" y="288925"/>
                    </a:lnTo>
                    <a:cubicBezTo>
                      <a:pt x="91792" y="288925"/>
                      <a:pt x="82552" y="298165"/>
                      <a:pt x="82552" y="309563"/>
                    </a:cubicBezTo>
                    <a:cubicBezTo>
                      <a:pt x="82552" y="320961"/>
                      <a:pt x="91792" y="330201"/>
                      <a:pt x="103189" y="330201"/>
                    </a:cubicBezTo>
                    <a:lnTo>
                      <a:pt x="227015" y="330201"/>
                    </a:lnTo>
                    <a:cubicBezTo>
                      <a:pt x="238412" y="330201"/>
                      <a:pt x="247652" y="320961"/>
                      <a:pt x="247652" y="309563"/>
                    </a:cubicBezTo>
                    <a:cubicBezTo>
                      <a:pt x="247652" y="298165"/>
                      <a:pt x="238412" y="288925"/>
                      <a:pt x="227015" y="288925"/>
                    </a:cubicBezTo>
                    <a:moveTo>
                      <a:pt x="227015" y="206375"/>
                    </a:moveTo>
                    <a:lnTo>
                      <a:pt x="103189" y="206375"/>
                    </a:lnTo>
                    <a:cubicBezTo>
                      <a:pt x="91792" y="206375"/>
                      <a:pt x="82552" y="215615"/>
                      <a:pt x="82552" y="227013"/>
                    </a:cubicBezTo>
                    <a:cubicBezTo>
                      <a:pt x="82552" y="238411"/>
                      <a:pt x="91792" y="247650"/>
                      <a:pt x="103189" y="247650"/>
                    </a:cubicBezTo>
                    <a:lnTo>
                      <a:pt x="227015" y="247650"/>
                    </a:lnTo>
                    <a:cubicBezTo>
                      <a:pt x="238412" y="247650"/>
                      <a:pt x="247652" y="238411"/>
                      <a:pt x="247652" y="227013"/>
                    </a:cubicBezTo>
                    <a:cubicBezTo>
                      <a:pt x="247652" y="215615"/>
                      <a:pt x="238412" y="206375"/>
                      <a:pt x="227015" y="20637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223942" y="5119667"/>
                <a:ext cx="82571" cy="82571"/>
              </a:xfrm>
              <a:custGeom>
                <a:avLst/>
                <a:gdLst/>
                <a:ahLst/>
                <a:cxnLst/>
                <a:rect l="l" t="t" r="r" b="b"/>
                <a:pathLst>
                  <a:path w="82571" h="82571">
                    <a:moveTo>
                      <a:pt x="82571" y="82571"/>
                    </a:moveTo>
                    <a:lnTo>
                      <a:pt x="21" y="825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688782" y="4982051"/>
              <a:ext cx="1185577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FFFFFF"/>
                  </a:solidFill>
                  <a:latin typeface="Georgia"/>
                  <a:ea typeface="KaiTi"/>
                  <a:cs typeface="Georgia"/>
                </a:rPr>
                <a:t>系统输出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694498" y="5373529"/>
              <a:ext cx="529066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F1F6EF"/>
                  </a:solidFill>
                  <a:latin typeface="Arial"/>
                  <a:ea typeface="Microsoft YaHei"/>
                  <a:cs typeface="Arial"/>
                </a:rPr>
                <a:t>结构化、可追溯、可继续确认的诊前档案与检查准备建议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96265" y="6325552"/>
            <a:ext cx="10999470" cy="213360"/>
            <a:chOff x="596265" y="6325552"/>
            <a:chExt cx="10999470" cy="213360"/>
          </a:xfrm>
        </p:grpSpPr>
        <p:sp>
          <p:nvSpPr>
            <p:cNvPr id="38" name="TextBox 38"/>
            <p:cNvSpPr txBox="1"/>
            <p:nvPr/>
          </p:nvSpPr>
          <p:spPr>
            <a:xfrm>
              <a:off x="596265" y="632555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成人肥胖中医诊前问诊系统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415046" y="632555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8756D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9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5310" y="432435"/>
            <a:ext cx="4371975" cy="762953"/>
            <a:chOff x="575310" y="432435"/>
            <a:chExt cx="4371975" cy="762953"/>
          </a:xfrm>
        </p:grpSpPr>
        <p:sp>
          <p:nvSpPr>
            <p:cNvPr id="3" name="TextBox 3"/>
            <p:cNvSpPr txBox="1"/>
            <p:nvPr/>
          </p:nvSpPr>
          <p:spPr>
            <a:xfrm>
              <a:off x="575310" y="43243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4332B"/>
                  </a:solidFill>
                  <a:latin typeface="Georgia"/>
                  <a:ea typeface="KaiTi"/>
                  <a:cs typeface="Georgia"/>
                </a:rPr>
                <a:t>整体系统架构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455" y="921068"/>
              <a:ext cx="43548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患者自然交互、规则与模型协同、医生保留最终判断权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9600" y="1581150"/>
            <a:ext cx="3048000" cy="2609850"/>
            <a:chOff x="609600" y="1581150"/>
            <a:chExt cx="3048000" cy="2609850"/>
          </a:xfrm>
        </p:grpSpPr>
        <p:sp>
          <p:nvSpPr>
            <p:cNvPr id="6" name="Rectangle 6"/>
            <p:cNvSpPr/>
            <p:nvPr/>
          </p:nvSpPr>
          <p:spPr>
            <a:xfrm>
              <a:off x="609600" y="1581150"/>
              <a:ext cx="3048000" cy="2609850"/>
            </a:xfrm>
            <a:prstGeom prst="roundRect">
              <a:avLst>
                <a:gd name="adj" fmla="val 2920"/>
              </a:avLst>
            </a:prstGeom>
            <a:solidFill>
              <a:srgbClr val="FFFFFF"/>
            </a:solidFill>
            <a:ln w="19050">
              <a:solidFill>
                <a:srgbClr val="D7E2D8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38200" y="1809750"/>
              <a:ext cx="533400" cy="533400"/>
            </a:xfrm>
            <a:prstGeom prst="ellipse">
              <a:avLst/>
            </a:prstGeom>
            <a:solidFill>
              <a:srgbClr val="F1F6EF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93775" y="1917700"/>
              <a:ext cx="222250" cy="317500"/>
              <a:chOff x="993775" y="1917700"/>
              <a:chExt cx="222250" cy="3175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025525" y="1917700"/>
                <a:ext cx="158750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158750">
                    <a:moveTo>
                      <a:pt x="79375" y="0"/>
                    </a:moveTo>
                    <a:cubicBezTo>
                      <a:pt x="123213" y="0"/>
                      <a:pt x="158750" y="35537"/>
                      <a:pt x="158750" y="79375"/>
                    </a:cubicBezTo>
                    <a:cubicBezTo>
                      <a:pt x="158750" y="123213"/>
                      <a:pt x="123213" y="158750"/>
                      <a:pt x="79375" y="158750"/>
                    </a:cubicBezTo>
                    <a:cubicBezTo>
                      <a:pt x="35537" y="158750"/>
                      <a:pt x="0" y="123213"/>
                      <a:pt x="0" y="79375"/>
                    </a:cubicBezTo>
                    <a:lnTo>
                      <a:pt x="79" y="75930"/>
                    </a:lnTo>
                    <a:cubicBezTo>
                      <a:pt x="1924" y="33474"/>
                      <a:pt x="36879" y="2"/>
                      <a:pt x="79375" y="0"/>
                    </a:cubicBezTo>
                    <a:close/>
                  </a:path>
                </a:pathLst>
              </a:custGeom>
              <a:solidFill>
                <a:srgbClr val="236B45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93775" y="2108200"/>
                <a:ext cx="2222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27000">
                    <a:moveTo>
                      <a:pt x="142875" y="0"/>
                    </a:moveTo>
                    <a:cubicBezTo>
                      <a:pt x="186713" y="0"/>
                      <a:pt x="222250" y="35537"/>
                      <a:pt x="222250" y="79375"/>
                    </a:cubicBezTo>
                    <a:lnTo>
                      <a:pt x="222250" y="95250"/>
                    </a:lnTo>
                    <a:cubicBezTo>
                      <a:pt x="222250" y="112785"/>
                      <a:pt x="208035" y="127000"/>
                      <a:pt x="190500" y="127000"/>
                    </a:cubicBezTo>
                    <a:lnTo>
                      <a:pt x="31750" y="127000"/>
                    </a:lnTo>
                    <a:cubicBezTo>
                      <a:pt x="14215" y="127000"/>
                      <a:pt x="0" y="112785"/>
                      <a:pt x="0" y="95250"/>
                    </a:cubicBezTo>
                    <a:lnTo>
                      <a:pt x="0" y="79375"/>
                    </a:lnTo>
                    <a:cubicBezTo>
                      <a:pt x="0" y="35537"/>
                      <a:pt x="35537" y="0"/>
                      <a:pt x="79375" y="0"/>
                    </a:cubicBezTo>
                    <a:lnTo>
                      <a:pt x="142875" y="0"/>
                    </a:lnTo>
                    <a:close/>
                  </a:path>
                </a:pathLst>
              </a:custGeom>
              <a:solidFill>
                <a:srgbClr val="236B45"/>
              </a:solidFill>
              <a:ln>
                <a:noFill/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480185" y="1942148"/>
              <a:ext cx="86863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4332B"/>
                  </a:solidFill>
                  <a:latin typeface="Arial"/>
                  <a:ea typeface="Microsoft YaHei"/>
                  <a:cs typeface="Arial"/>
                </a:rPr>
                <a:t>患者端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96302" y="2570321"/>
              <a:ext cx="1664970" cy="10134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1425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基础资料与主要诉求开放描述与对话追问个人历史档案回看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867150" y="2590800"/>
            <a:ext cx="590550" cy="381000"/>
            <a:chOff x="3867150" y="2590800"/>
            <a:chExt cx="590550" cy="381000"/>
          </a:xfrm>
        </p:grpSpPr>
        <p:sp>
          <p:nvSpPr>
            <p:cNvPr id="14" name="Polygon 14"/>
            <p:cNvSpPr/>
            <p:nvPr/>
          </p:nvSpPr>
          <p:spPr>
            <a:xfrm>
              <a:off x="3867150" y="2590800"/>
              <a:ext cx="590550" cy="381000"/>
            </a:xfrm>
            <a:custGeom>
              <a:avLst/>
              <a:gdLst/>
              <a:ahLst/>
              <a:cxnLst/>
              <a:rect l="l" t="t" r="r" b="b"/>
              <a:pathLst>
                <a:path w="590550" h="381000">
                  <a:moveTo>
                    <a:pt x="0" y="190500"/>
                  </a:moveTo>
                  <a:lnTo>
                    <a:pt x="323850" y="0"/>
                  </a:lnTo>
                  <a:lnTo>
                    <a:pt x="323850" y="95250"/>
                  </a:lnTo>
                  <a:lnTo>
                    <a:pt x="590550" y="95250"/>
                  </a:lnTo>
                  <a:lnTo>
                    <a:pt x="590550" y="285750"/>
                  </a:lnTo>
                  <a:lnTo>
                    <a:pt x="323850" y="285750"/>
                  </a:lnTo>
                  <a:lnTo>
                    <a:pt x="323850" y="381000"/>
                  </a:lnTo>
                  <a:close/>
                </a:path>
              </a:pathLst>
            </a:custGeom>
            <a:solidFill>
              <a:srgbClr val="72A984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4629150" y="1390650"/>
            <a:ext cx="3048000" cy="2990850"/>
            <a:chOff x="4629150" y="1390650"/>
            <a:chExt cx="3048000" cy="2990850"/>
          </a:xfrm>
        </p:grpSpPr>
        <p:sp>
          <p:nvSpPr>
            <p:cNvPr id="16" name="Rectangle 16"/>
            <p:cNvSpPr/>
            <p:nvPr/>
          </p:nvSpPr>
          <p:spPr>
            <a:xfrm>
              <a:off x="4629150" y="1390650"/>
              <a:ext cx="3048000" cy="2990850"/>
            </a:xfrm>
            <a:prstGeom prst="roundRect">
              <a:avLst>
                <a:gd name="adj" fmla="val 2548"/>
              </a:avLst>
            </a:prstGeom>
            <a:solidFill>
              <a:srgbClr val="236B45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4857750" y="1657350"/>
              <a:ext cx="533400" cy="533400"/>
            </a:xfrm>
            <a:prstGeom prst="ellipse">
              <a:avLst/>
            </a:prstGeom>
            <a:solidFill>
              <a:srgbClr val="FCFDF9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4981574" y="1765300"/>
              <a:ext cx="285752" cy="317501"/>
              <a:chOff x="4981574" y="1765300"/>
              <a:chExt cx="285752" cy="31750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4981575" y="1983280"/>
                <a:ext cx="285751" cy="9952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99521">
                    <a:moveTo>
                      <a:pt x="0" y="0"/>
                    </a:moveTo>
                    <a:cubicBezTo>
                      <a:pt x="31242" y="23924"/>
                      <a:pt x="83090" y="36020"/>
                      <a:pt x="142875" y="36020"/>
                    </a:cubicBezTo>
                    <a:cubicBezTo>
                      <a:pt x="202565" y="36020"/>
                      <a:pt x="254397" y="23955"/>
                      <a:pt x="285751" y="270"/>
                    </a:cubicBezTo>
                    <a:lnTo>
                      <a:pt x="285751" y="36020"/>
                    </a:lnTo>
                    <a:cubicBezTo>
                      <a:pt x="285751" y="74517"/>
                      <a:pt x="223917" y="98505"/>
                      <a:pt x="147749" y="99489"/>
                    </a:cubicBezTo>
                    <a:lnTo>
                      <a:pt x="142875" y="99521"/>
                    </a:lnTo>
                    <a:cubicBezTo>
                      <a:pt x="64484" y="99521"/>
                      <a:pt x="0" y="75343"/>
                      <a:pt x="0" y="36020"/>
                    </a:cubicBezTo>
                    <a:close/>
                  </a:path>
                </a:pathLst>
              </a:custGeom>
              <a:solidFill>
                <a:srgbClr val="236B45"/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4981575" y="1888030"/>
                <a:ext cx="285751" cy="9952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99521">
                    <a:moveTo>
                      <a:pt x="0" y="0"/>
                    </a:moveTo>
                    <a:cubicBezTo>
                      <a:pt x="31242" y="23924"/>
                      <a:pt x="83090" y="36020"/>
                      <a:pt x="142875" y="36020"/>
                    </a:cubicBezTo>
                    <a:cubicBezTo>
                      <a:pt x="202565" y="36020"/>
                      <a:pt x="254397" y="23955"/>
                      <a:pt x="285751" y="270"/>
                    </a:cubicBezTo>
                    <a:lnTo>
                      <a:pt x="285751" y="36020"/>
                    </a:lnTo>
                    <a:cubicBezTo>
                      <a:pt x="285751" y="75343"/>
                      <a:pt x="221266" y="99521"/>
                      <a:pt x="142875" y="99521"/>
                    </a:cubicBezTo>
                    <a:cubicBezTo>
                      <a:pt x="66707" y="99521"/>
                      <a:pt x="3651" y="76692"/>
                      <a:pt x="333" y="39275"/>
                    </a:cubicBezTo>
                    <a:lnTo>
                      <a:pt x="79" y="37671"/>
                    </a:lnTo>
                    <a:lnTo>
                      <a:pt x="0" y="36020"/>
                    </a:lnTo>
                    <a:close/>
                  </a:path>
                </a:pathLst>
              </a:custGeom>
              <a:solidFill>
                <a:srgbClr val="236B45"/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4981574" y="1765300"/>
                <a:ext cx="285752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85752" h="127000">
                    <a:moveTo>
                      <a:pt x="142877" y="0"/>
                    </a:moveTo>
                    <a:cubicBezTo>
                      <a:pt x="159402" y="0"/>
                      <a:pt x="175325" y="1080"/>
                      <a:pt x="190136" y="3143"/>
                    </a:cubicBezTo>
                    <a:lnTo>
                      <a:pt x="197582" y="4270"/>
                    </a:lnTo>
                    <a:cubicBezTo>
                      <a:pt x="206472" y="5752"/>
                      <a:pt x="214865" y="7594"/>
                      <a:pt x="222760" y="9795"/>
                    </a:cubicBezTo>
                    <a:lnTo>
                      <a:pt x="229745" y="11875"/>
                    </a:lnTo>
                    <a:lnTo>
                      <a:pt x="230935" y="12256"/>
                    </a:lnTo>
                    <a:cubicBezTo>
                      <a:pt x="235256" y="13676"/>
                      <a:pt x="239519" y="15265"/>
                      <a:pt x="243715" y="17018"/>
                    </a:cubicBezTo>
                    <a:lnTo>
                      <a:pt x="246874" y="18383"/>
                    </a:lnTo>
                    <a:cubicBezTo>
                      <a:pt x="252536" y="20944"/>
                      <a:pt x="257653" y="23749"/>
                      <a:pt x="262225" y="26797"/>
                    </a:cubicBezTo>
                    <a:cubicBezTo>
                      <a:pt x="263971" y="27961"/>
                      <a:pt x="265628" y="29152"/>
                      <a:pt x="267194" y="30369"/>
                    </a:cubicBezTo>
                    <a:cubicBezTo>
                      <a:pt x="271162" y="33448"/>
                      <a:pt x="274729" y="37010"/>
                      <a:pt x="277814" y="40973"/>
                    </a:cubicBezTo>
                    <a:lnTo>
                      <a:pt x="279259" y="43005"/>
                    </a:lnTo>
                    <a:cubicBezTo>
                      <a:pt x="280000" y="44117"/>
                      <a:pt x="280682" y="45233"/>
                      <a:pt x="281307" y="46355"/>
                    </a:cubicBezTo>
                    <a:lnTo>
                      <a:pt x="282418" y="48562"/>
                    </a:lnTo>
                    <a:cubicBezTo>
                      <a:pt x="284143" y="52266"/>
                      <a:pt x="285201" y="56129"/>
                      <a:pt x="285593" y="60150"/>
                    </a:cubicBezTo>
                    <a:lnTo>
                      <a:pt x="285752" y="63500"/>
                    </a:lnTo>
                    <a:cubicBezTo>
                      <a:pt x="285752" y="102823"/>
                      <a:pt x="221267" y="127000"/>
                      <a:pt x="142877" y="127000"/>
                    </a:cubicBezTo>
                    <a:cubicBezTo>
                      <a:pt x="66708" y="127000"/>
                      <a:pt x="3653" y="104172"/>
                      <a:pt x="335" y="66755"/>
                    </a:cubicBezTo>
                    <a:cubicBezTo>
                      <a:pt x="112" y="65684"/>
                      <a:pt x="0" y="64594"/>
                      <a:pt x="1" y="63500"/>
                    </a:cubicBezTo>
                    <a:lnTo>
                      <a:pt x="81" y="61849"/>
                    </a:lnTo>
                    <a:lnTo>
                      <a:pt x="335" y="60262"/>
                    </a:lnTo>
                    <a:cubicBezTo>
                      <a:pt x="3589" y="23654"/>
                      <a:pt x="63993" y="1000"/>
                      <a:pt x="137924" y="32"/>
                    </a:cubicBezTo>
                    <a:close/>
                  </a:path>
                </a:pathLst>
              </a:custGeom>
              <a:solidFill>
                <a:srgbClr val="236B45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5499735" y="178974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问诊决策引擎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15852" y="2456021"/>
              <a:ext cx="2054066" cy="13754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1425" dirty="0">
                  <a:solidFill>
                    <a:srgbClr val="F1F6EF"/>
                  </a:solidFill>
                  <a:latin typeface="Arial"/>
                  <a:ea typeface="Microsoft YaHei"/>
                  <a:cs typeface="Arial"/>
                </a:rPr>
                <a:t>核心字段状态与完整度问题优先级与冲突检查大模型生成 + 确定性规则档案整理与检查建议触发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886700" y="2590800"/>
            <a:ext cx="590550" cy="381000"/>
            <a:chOff x="7886700" y="2590800"/>
            <a:chExt cx="590550" cy="381000"/>
          </a:xfrm>
        </p:grpSpPr>
        <p:sp>
          <p:nvSpPr>
            <p:cNvPr id="25" name="Polygon 25"/>
            <p:cNvSpPr/>
            <p:nvPr/>
          </p:nvSpPr>
          <p:spPr>
            <a:xfrm>
              <a:off x="7886700" y="2590800"/>
              <a:ext cx="590550" cy="381000"/>
            </a:xfrm>
            <a:custGeom>
              <a:avLst/>
              <a:gdLst/>
              <a:ahLst/>
              <a:cxnLst/>
              <a:rect l="l" t="t" r="r" b="b"/>
              <a:pathLst>
                <a:path w="590550" h="381000">
                  <a:moveTo>
                    <a:pt x="0" y="190500"/>
                  </a:moveTo>
                  <a:lnTo>
                    <a:pt x="323850" y="0"/>
                  </a:lnTo>
                  <a:lnTo>
                    <a:pt x="323850" y="95250"/>
                  </a:lnTo>
                  <a:lnTo>
                    <a:pt x="590550" y="95250"/>
                  </a:lnTo>
                  <a:lnTo>
                    <a:pt x="590550" y="285750"/>
                  </a:lnTo>
                  <a:lnTo>
                    <a:pt x="323850" y="285750"/>
                  </a:lnTo>
                  <a:lnTo>
                    <a:pt x="323850" y="381000"/>
                  </a:lnTo>
                  <a:close/>
                </a:path>
              </a:pathLst>
            </a:custGeom>
            <a:solidFill>
              <a:srgbClr val="72A984"/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8648700" y="1581150"/>
            <a:ext cx="2933700" cy="2609850"/>
            <a:chOff x="8648700" y="1581150"/>
            <a:chExt cx="2933700" cy="2609850"/>
          </a:xfrm>
        </p:grpSpPr>
        <p:sp>
          <p:nvSpPr>
            <p:cNvPr id="27" name="Rectangle 27"/>
            <p:cNvSpPr/>
            <p:nvPr/>
          </p:nvSpPr>
          <p:spPr>
            <a:xfrm>
              <a:off x="8648700" y="1581150"/>
              <a:ext cx="2933700" cy="2609850"/>
            </a:xfrm>
            <a:prstGeom prst="roundRect">
              <a:avLst>
                <a:gd name="adj" fmla="val 2920"/>
              </a:avLst>
            </a:prstGeom>
            <a:solidFill>
              <a:srgbClr val="FFFFFF"/>
            </a:solidFill>
            <a:ln w="19050">
              <a:solidFill>
                <a:srgbClr val="D7E2D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8877300" y="1809750"/>
              <a:ext cx="533400" cy="533400"/>
            </a:xfrm>
            <a:prstGeom prst="ellipse">
              <a:avLst/>
            </a:prstGeom>
            <a:solidFill>
              <a:srgbClr val="F1F6EF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8989818" y="1917700"/>
              <a:ext cx="308365" cy="317501"/>
            </a:xfrm>
            <a:custGeom>
              <a:avLst/>
              <a:gdLst/>
              <a:ahLst/>
              <a:cxnLst/>
              <a:rect l="l" t="t" r="r" b="b"/>
              <a:pathLst>
                <a:path w="308365" h="317501">
                  <a:moveTo>
                    <a:pt x="138307" y="0"/>
                  </a:moveTo>
                  <a:lnTo>
                    <a:pt x="135926" y="79"/>
                  </a:lnTo>
                  <a:cubicBezTo>
                    <a:pt x="119358" y="1326"/>
                    <a:pt x="106552" y="15135"/>
                    <a:pt x="106557" y="31750"/>
                  </a:cubicBezTo>
                  <a:lnTo>
                    <a:pt x="106557" y="76248"/>
                  </a:lnTo>
                  <a:lnTo>
                    <a:pt x="68013" y="54007"/>
                  </a:lnTo>
                  <a:cubicBezTo>
                    <a:pt x="52827" y="45240"/>
                    <a:pt x="33410" y="50442"/>
                    <a:pt x="24642" y="65627"/>
                  </a:cubicBezTo>
                  <a:lnTo>
                    <a:pt x="8767" y="93123"/>
                  </a:lnTo>
                  <a:lnTo>
                    <a:pt x="7608" y="95314"/>
                  </a:lnTo>
                  <a:cubicBezTo>
                    <a:pt x="465" y="110272"/>
                    <a:pt x="6031" y="128207"/>
                    <a:pt x="20388" y="136494"/>
                  </a:cubicBezTo>
                  <a:lnTo>
                    <a:pt x="58916" y="158750"/>
                  </a:lnTo>
                  <a:lnTo>
                    <a:pt x="20388" y="181007"/>
                  </a:lnTo>
                  <a:cubicBezTo>
                    <a:pt x="5203" y="189775"/>
                    <a:pt x="0" y="209192"/>
                    <a:pt x="8767" y="224378"/>
                  </a:cubicBezTo>
                  <a:lnTo>
                    <a:pt x="24642" y="251873"/>
                  </a:lnTo>
                  <a:lnTo>
                    <a:pt x="25960" y="253969"/>
                  </a:lnTo>
                  <a:cubicBezTo>
                    <a:pt x="35342" y="267635"/>
                    <a:pt x="53658" y="271783"/>
                    <a:pt x="68013" y="263494"/>
                  </a:cubicBezTo>
                  <a:lnTo>
                    <a:pt x="106557" y="241237"/>
                  </a:lnTo>
                  <a:lnTo>
                    <a:pt x="106557" y="285751"/>
                  </a:lnTo>
                  <a:cubicBezTo>
                    <a:pt x="106557" y="303286"/>
                    <a:pt x="120772" y="317501"/>
                    <a:pt x="138307" y="317501"/>
                  </a:cubicBezTo>
                  <a:lnTo>
                    <a:pt x="170057" y="317501"/>
                  </a:lnTo>
                  <a:lnTo>
                    <a:pt x="172439" y="317421"/>
                  </a:lnTo>
                  <a:cubicBezTo>
                    <a:pt x="189007" y="316175"/>
                    <a:pt x="201813" y="302366"/>
                    <a:pt x="201808" y="285751"/>
                  </a:cubicBezTo>
                  <a:lnTo>
                    <a:pt x="201808" y="241237"/>
                  </a:lnTo>
                  <a:lnTo>
                    <a:pt x="240352" y="263510"/>
                  </a:lnTo>
                  <a:cubicBezTo>
                    <a:pt x="255538" y="272277"/>
                    <a:pt x="274955" y="267074"/>
                    <a:pt x="283723" y="251889"/>
                  </a:cubicBezTo>
                  <a:lnTo>
                    <a:pt x="299598" y="224394"/>
                  </a:lnTo>
                  <a:lnTo>
                    <a:pt x="300757" y="222203"/>
                  </a:lnTo>
                  <a:cubicBezTo>
                    <a:pt x="307899" y="207245"/>
                    <a:pt x="302333" y="189309"/>
                    <a:pt x="287977" y="181023"/>
                  </a:cubicBezTo>
                  <a:lnTo>
                    <a:pt x="249433" y="158750"/>
                  </a:lnTo>
                  <a:lnTo>
                    <a:pt x="287977" y="136494"/>
                  </a:lnTo>
                  <a:cubicBezTo>
                    <a:pt x="303162" y="127726"/>
                    <a:pt x="308365" y="108308"/>
                    <a:pt x="299598" y="93123"/>
                  </a:cubicBezTo>
                  <a:lnTo>
                    <a:pt x="283723" y="65627"/>
                  </a:lnTo>
                  <a:lnTo>
                    <a:pt x="282405" y="63532"/>
                  </a:lnTo>
                  <a:cubicBezTo>
                    <a:pt x="273023" y="49866"/>
                    <a:pt x="254707" y="45717"/>
                    <a:pt x="240352" y="54007"/>
                  </a:cubicBezTo>
                  <a:lnTo>
                    <a:pt x="201808" y="76232"/>
                  </a:lnTo>
                  <a:lnTo>
                    <a:pt x="201808" y="31750"/>
                  </a:lnTo>
                  <a:cubicBezTo>
                    <a:pt x="201808" y="14215"/>
                    <a:pt x="187593" y="0"/>
                    <a:pt x="170057" y="0"/>
                  </a:cubicBezTo>
                  <a:lnTo>
                    <a:pt x="138307" y="0"/>
                  </a:lnTo>
                  <a:close/>
                </a:path>
              </a:pathLst>
            </a:custGeom>
            <a:solidFill>
              <a:srgbClr val="236B4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519285" y="1942148"/>
              <a:ext cx="86863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4332B"/>
                  </a:solidFill>
                  <a:latin typeface="Arial"/>
                  <a:ea typeface="Microsoft YaHei"/>
                  <a:cs typeface="Arial"/>
                </a:rPr>
                <a:t>医生端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35402" y="2570321"/>
              <a:ext cx="2026920" cy="10134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1425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结构化诊前档案完整度明细与待确认项推荐检查项目与注意事项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28700" y="4381500"/>
            <a:ext cx="10134600" cy="1447800"/>
            <a:chOff x="1028700" y="4381500"/>
            <a:chExt cx="10134600" cy="1447800"/>
          </a:xfrm>
        </p:grpSpPr>
        <p:sp>
          <p:nvSpPr>
            <p:cNvPr id="33" name="Line 33"/>
            <p:cNvSpPr/>
            <p:nvPr/>
          </p:nvSpPr>
          <p:spPr>
            <a:xfrm>
              <a:off x="6153150" y="43815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28575">
              <a:solidFill>
                <a:srgbClr val="72A984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2286000" y="4762500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28575">
              <a:solidFill>
                <a:srgbClr val="72A984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2286000" y="47625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28575">
              <a:solidFill>
                <a:srgbClr val="72A984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9906000" y="47625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28575">
              <a:solidFill>
                <a:srgbClr val="72A984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028700" y="5048250"/>
              <a:ext cx="3429000" cy="781050"/>
            </a:xfrm>
            <a:prstGeom prst="roundRect">
              <a:avLst>
                <a:gd name="adj" fmla="val 9756"/>
              </a:avLst>
            </a:prstGeom>
            <a:solidFill>
              <a:srgbClr val="F1F6EF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1396999" y="5280025"/>
              <a:ext cx="254003" cy="317502"/>
              <a:chOff x="1396999" y="5280025"/>
              <a:chExt cx="254003" cy="317502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1396999" y="5280025"/>
                <a:ext cx="254003" cy="317502"/>
              </a:xfrm>
              <a:custGeom>
                <a:avLst/>
                <a:gdLst/>
                <a:ahLst/>
                <a:cxnLst/>
                <a:rect l="l" t="t" r="r" b="b"/>
                <a:pathLst>
                  <a:path w="254003" h="317502">
                    <a:moveTo>
                      <a:pt x="127002" y="0"/>
                    </a:moveTo>
                    <a:lnTo>
                      <a:pt x="128859" y="111"/>
                    </a:lnTo>
                    <a:cubicBezTo>
                      <a:pt x="136153" y="971"/>
                      <a:pt x="141905" y="6723"/>
                      <a:pt x="142766" y="14018"/>
                    </a:cubicBezTo>
                    <a:lnTo>
                      <a:pt x="142877" y="15875"/>
                    </a:lnTo>
                    <a:lnTo>
                      <a:pt x="142877" y="79375"/>
                    </a:lnTo>
                    <a:lnTo>
                      <a:pt x="142956" y="81756"/>
                    </a:lnTo>
                    <a:cubicBezTo>
                      <a:pt x="144130" y="97376"/>
                      <a:pt x="156519" y="109805"/>
                      <a:pt x="172134" y="111030"/>
                    </a:cubicBezTo>
                    <a:lnTo>
                      <a:pt x="174627" y="111125"/>
                    </a:lnTo>
                    <a:lnTo>
                      <a:pt x="238127" y="111125"/>
                    </a:lnTo>
                    <a:lnTo>
                      <a:pt x="239984" y="111236"/>
                    </a:lnTo>
                    <a:cubicBezTo>
                      <a:pt x="247279" y="112097"/>
                      <a:pt x="253031" y="117848"/>
                      <a:pt x="253891" y="125143"/>
                    </a:cubicBezTo>
                    <a:lnTo>
                      <a:pt x="254002" y="127000"/>
                    </a:lnTo>
                    <a:lnTo>
                      <a:pt x="254002" y="269876"/>
                    </a:lnTo>
                    <a:cubicBezTo>
                      <a:pt x="254003" y="295094"/>
                      <a:pt x="234346" y="315942"/>
                      <a:pt x="209171" y="317421"/>
                    </a:cubicBezTo>
                    <a:lnTo>
                      <a:pt x="206377" y="317501"/>
                    </a:lnTo>
                    <a:lnTo>
                      <a:pt x="47627" y="317501"/>
                    </a:lnTo>
                    <a:cubicBezTo>
                      <a:pt x="22408" y="317502"/>
                      <a:pt x="1560" y="297845"/>
                      <a:pt x="81" y="272670"/>
                    </a:cubicBezTo>
                    <a:lnTo>
                      <a:pt x="1" y="269876"/>
                    </a:lnTo>
                    <a:lnTo>
                      <a:pt x="1" y="47625"/>
                    </a:lnTo>
                    <a:cubicBezTo>
                      <a:pt x="0" y="22407"/>
                      <a:pt x="19658" y="1559"/>
                      <a:pt x="44832" y="79"/>
                    </a:cubicBezTo>
                    <a:lnTo>
                      <a:pt x="47627" y="0"/>
                    </a:lnTo>
                    <a:close/>
                    <a:moveTo>
                      <a:pt x="174627" y="222250"/>
                    </a:moveTo>
                    <a:lnTo>
                      <a:pt x="79377" y="222250"/>
                    </a:lnTo>
                    <a:cubicBezTo>
                      <a:pt x="70609" y="222250"/>
                      <a:pt x="63502" y="229358"/>
                      <a:pt x="63502" y="238125"/>
                    </a:cubicBezTo>
                    <a:cubicBezTo>
                      <a:pt x="63502" y="246893"/>
                      <a:pt x="70609" y="254001"/>
                      <a:pt x="79377" y="254001"/>
                    </a:cubicBezTo>
                    <a:lnTo>
                      <a:pt x="174627" y="254001"/>
                    </a:lnTo>
                    <a:cubicBezTo>
                      <a:pt x="183394" y="254001"/>
                      <a:pt x="190502" y="246893"/>
                      <a:pt x="190502" y="238125"/>
                    </a:cubicBezTo>
                    <a:cubicBezTo>
                      <a:pt x="190502" y="229358"/>
                      <a:pt x="183394" y="222250"/>
                      <a:pt x="174627" y="222250"/>
                    </a:cubicBezTo>
                    <a:moveTo>
                      <a:pt x="174627" y="158750"/>
                    </a:moveTo>
                    <a:lnTo>
                      <a:pt x="79377" y="158750"/>
                    </a:lnTo>
                    <a:cubicBezTo>
                      <a:pt x="70609" y="158750"/>
                      <a:pt x="63502" y="165858"/>
                      <a:pt x="63502" y="174625"/>
                    </a:cubicBezTo>
                    <a:cubicBezTo>
                      <a:pt x="63502" y="183393"/>
                      <a:pt x="70609" y="190500"/>
                      <a:pt x="79377" y="190500"/>
                    </a:cubicBezTo>
                    <a:lnTo>
                      <a:pt x="174627" y="190500"/>
                    </a:lnTo>
                    <a:cubicBezTo>
                      <a:pt x="183394" y="190500"/>
                      <a:pt x="190502" y="183393"/>
                      <a:pt x="190502" y="174625"/>
                    </a:cubicBezTo>
                    <a:cubicBezTo>
                      <a:pt x="190502" y="165858"/>
                      <a:pt x="183394" y="158750"/>
                      <a:pt x="174627" y="158750"/>
                    </a:cubicBezTo>
                  </a:path>
                </a:pathLst>
              </a:custGeom>
              <a:solidFill>
                <a:srgbClr val="236B45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571610" y="5295884"/>
                <a:ext cx="63516" cy="63516"/>
              </a:xfrm>
              <a:custGeom>
                <a:avLst/>
                <a:gdLst/>
                <a:ahLst/>
                <a:cxnLst/>
                <a:rect l="l" t="t" r="r" b="b"/>
                <a:pathLst>
                  <a:path w="63516" h="63516">
                    <a:moveTo>
                      <a:pt x="63516" y="63516"/>
                    </a:moveTo>
                    <a:lnTo>
                      <a:pt x="16" y="635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36B45"/>
              </a:solidFill>
              <a:ln>
                <a:noFill/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905000" y="52482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4332B"/>
                  </a:solidFill>
                  <a:latin typeface="Arial"/>
                  <a:ea typeface="Microsoft YaHei"/>
                  <a:cs typeface="Arial"/>
                </a:rPr>
                <a:t>诊前档案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909762" y="5536406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结构化资料与完整问答记录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734300" y="5048250"/>
              <a:ext cx="3429000" cy="781050"/>
            </a:xfrm>
            <a:prstGeom prst="roundRect">
              <a:avLst>
                <a:gd name="adj" fmla="val 9756"/>
              </a:avLst>
            </a:prstGeom>
            <a:solidFill>
              <a:srgbClr val="F1F6EF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8102597" y="5280025"/>
              <a:ext cx="254007" cy="317501"/>
            </a:xfrm>
            <a:custGeom>
              <a:avLst/>
              <a:gdLst/>
              <a:ahLst/>
              <a:cxnLst/>
              <a:rect l="l" t="t" r="r" b="b"/>
              <a:pathLst>
                <a:path w="254007" h="317501">
                  <a:moveTo>
                    <a:pt x="222206" y="34449"/>
                  </a:moveTo>
                  <a:cubicBezTo>
                    <a:pt x="241262" y="41163"/>
                    <a:pt x="254007" y="59171"/>
                    <a:pt x="254004" y="79375"/>
                  </a:cubicBezTo>
                  <a:lnTo>
                    <a:pt x="254004" y="269876"/>
                  </a:lnTo>
                  <a:cubicBezTo>
                    <a:pt x="254004" y="296178"/>
                    <a:pt x="232681" y="317501"/>
                    <a:pt x="206379" y="317501"/>
                  </a:cubicBezTo>
                  <a:lnTo>
                    <a:pt x="47629" y="317501"/>
                  </a:lnTo>
                  <a:cubicBezTo>
                    <a:pt x="21326" y="317501"/>
                    <a:pt x="3" y="296178"/>
                    <a:pt x="3" y="269876"/>
                  </a:cubicBezTo>
                  <a:lnTo>
                    <a:pt x="3" y="79375"/>
                  </a:lnTo>
                  <a:cubicBezTo>
                    <a:pt x="0" y="59171"/>
                    <a:pt x="12745" y="41163"/>
                    <a:pt x="31801" y="34449"/>
                  </a:cubicBezTo>
                  <a:cubicBezTo>
                    <a:pt x="33247" y="68442"/>
                    <a:pt x="61229" y="95255"/>
                    <a:pt x="95254" y="95250"/>
                  </a:cubicBezTo>
                  <a:lnTo>
                    <a:pt x="158754" y="95250"/>
                  </a:lnTo>
                  <a:cubicBezTo>
                    <a:pt x="191349" y="95253"/>
                    <a:pt x="218652" y="70577"/>
                    <a:pt x="221936" y="38148"/>
                  </a:cubicBezTo>
                  <a:close/>
                  <a:moveTo>
                    <a:pt x="79379" y="142875"/>
                  </a:moveTo>
                  <a:cubicBezTo>
                    <a:pt x="70611" y="142875"/>
                    <a:pt x="63504" y="149983"/>
                    <a:pt x="63504" y="158750"/>
                  </a:cubicBezTo>
                  <a:lnTo>
                    <a:pt x="63504" y="238125"/>
                  </a:lnTo>
                  <a:cubicBezTo>
                    <a:pt x="63504" y="246893"/>
                    <a:pt x="70611" y="254001"/>
                    <a:pt x="79379" y="254001"/>
                  </a:cubicBezTo>
                  <a:cubicBezTo>
                    <a:pt x="88146" y="254001"/>
                    <a:pt x="95254" y="246893"/>
                    <a:pt x="95254" y="238125"/>
                  </a:cubicBezTo>
                  <a:lnTo>
                    <a:pt x="95254" y="158750"/>
                  </a:lnTo>
                  <a:cubicBezTo>
                    <a:pt x="95254" y="149983"/>
                    <a:pt x="88146" y="142875"/>
                    <a:pt x="79379" y="142875"/>
                  </a:cubicBezTo>
                  <a:moveTo>
                    <a:pt x="127004" y="206375"/>
                  </a:moveTo>
                  <a:cubicBezTo>
                    <a:pt x="118236" y="206375"/>
                    <a:pt x="111129" y="213483"/>
                    <a:pt x="111129" y="222250"/>
                  </a:cubicBezTo>
                  <a:lnTo>
                    <a:pt x="111129" y="238125"/>
                  </a:lnTo>
                  <a:cubicBezTo>
                    <a:pt x="111129" y="246893"/>
                    <a:pt x="118236" y="254001"/>
                    <a:pt x="127004" y="254001"/>
                  </a:cubicBezTo>
                  <a:cubicBezTo>
                    <a:pt x="135771" y="254001"/>
                    <a:pt x="142879" y="246893"/>
                    <a:pt x="142879" y="238125"/>
                  </a:cubicBezTo>
                  <a:lnTo>
                    <a:pt x="142879" y="222250"/>
                  </a:lnTo>
                  <a:cubicBezTo>
                    <a:pt x="142879" y="213483"/>
                    <a:pt x="135771" y="206375"/>
                    <a:pt x="127004" y="206375"/>
                  </a:cubicBezTo>
                  <a:moveTo>
                    <a:pt x="174629" y="174625"/>
                  </a:moveTo>
                  <a:cubicBezTo>
                    <a:pt x="165861" y="174625"/>
                    <a:pt x="158754" y="181733"/>
                    <a:pt x="158754" y="190500"/>
                  </a:cubicBezTo>
                  <a:lnTo>
                    <a:pt x="158754" y="238125"/>
                  </a:lnTo>
                  <a:cubicBezTo>
                    <a:pt x="158754" y="246893"/>
                    <a:pt x="165861" y="254001"/>
                    <a:pt x="174629" y="254001"/>
                  </a:cubicBezTo>
                  <a:cubicBezTo>
                    <a:pt x="183396" y="254001"/>
                    <a:pt x="190504" y="246893"/>
                    <a:pt x="190504" y="238125"/>
                  </a:cubicBezTo>
                  <a:lnTo>
                    <a:pt x="190504" y="190500"/>
                  </a:lnTo>
                  <a:cubicBezTo>
                    <a:pt x="190504" y="181733"/>
                    <a:pt x="183396" y="174625"/>
                    <a:pt x="174629" y="174625"/>
                  </a:cubicBezTo>
                  <a:moveTo>
                    <a:pt x="158754" y="0"/>
                  </a:moveTo>
                  <a:cubicBezTo>
                    <a:pt x="176289" y="0"/>
                    <a:pt x="190504" y="14215"/>
                    <a:pt x="190504" y="31750"/>
                  </a:cubicBezTo>
                  <a:cubicBezTo>
                    <a:pt x="190504" y="49285"/>
                    <a:pt x="176289" y="63500"/>
                    <a:pt x="158754" y="63500"/>
                  </a:cubicBezTo>
                  <a:lnTo>
                    <a:pt x="95254" y="63500"/>
                  </a:lnTo>
                  <a:cubicBezTo>
                    <a:pt x="77719" y="63500"/>
                    <a:pt x="63504" y="49285"/>
                    <a:pt x="63504" y="31750"/>
                  </a:cubicBezTo>
                  <a:cubicBezTo>
                    <a:pt x="63504" y="14215"/>
                    <a:pt x="77719" y="0"/>
                    <a:pt x="95254" y="0"/>
                  </a:cubicBezTo>
                  <a:close/>
                </a:path>
              </a:pathLst>
            </a:custGeom>
            <a:solidFill>
              <a:srgbClr val="236B45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610600" y="52482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4332B"/>
                  </a:solidFill>
                  <a:latin typeface="Arial"/>
                  <a:ea typeface="Microsoft YaHei"/>
                  <a:cs typeface="Arial"/>
                </a:rPr>
                <a:t>检查准备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615362" y="5536406"/>
              <a:ext cx="1678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结合已收集信息生成建议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96265" y="6239828"/>
            <a:ext cx="10999470" cy="213360"/>
            <a:chOff x="596265" y="6239828"/>
            <a:chExt cx="10999470" cy="213360"/>
          </a:xfrm>
        </p:grpSpPr>
        <p:sp>
          <p:nvSpPr>
            <p:cNvPr id="48" name="TextBox 48"/>
            <p:cNvSpPr txBox="1"/>
            <p:nvPr/>
          </p:nvSpPr>
          <p:spPr>
            <a:xfrm>
              <a:off x="596265" y="6239828"/>
              <a:ext cx="24069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8756D"/>
                  </a:solidFill>
                  <a:latin typeface="Consolas"/>
                  <a:ea typeface="Consolas"/>
                  <a:cs typeface="Consolas"/>
                </a:rPr>
                <a:t>Vue 3 + Vite · FastAPI · LLM + Rules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415046" y="6239828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8756D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9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5310" y="394335"/>
            <a:ext cx="4551997" cy="762953"/>
            <a:chOff x="575310" y="394335"/>
            <a:chExt cx="4551997" cy="762953"/>
          </a:xfrm>
        </p:grpSpPr>
        <p:sp>
          <p:nvSpPr>
            <p:cNvPr id="3" name="TextBox 3"/>
            <p:cNvSpPr txBox="1"/>
            <p:nvPr/>
          </p:nvSpPr>
          <p:spPr>
            <a:xfrm>
              <a:off x="575310" y="394335"/>
              <a:ext cx="271491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4332B"/>
                  </a:solidFill>
                  <a:latin typeface="Georgia"/>
                  <a:ea typeface="KaiTi"/>
                  <a:cs typeface="Georgia"/>
                </a:rPr>
                <a:t>患者端使用流程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455" y="882968"/>
              <a:ext cx="45348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从基础描述进入对话追问，核心资料闭环后形成诊前档案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90650" y="1790700"/>
            <a:ext cx="9410700" cy="9525"/>
            <a:chOff x="1390650" y="1790700"/>
            <a:chExt cx="9410700" cy="9525"/>
          </a:xfrm>
        </p:grpSpPr>
        <p:sp>
          <p:nvSpPr>
            <p:cNvPr id="6" name="Line 6"/>
            <p:cNvSpPr/>
            <p:nvPr/>
          </p:nvSpPr>
          <p:spPr>
            <a:xfrm>
              <a:off x="1390650" y="1790700"/>
              <a:ext cx="9410700" cy="9525"/>
            </a:xfrm>
            <a:custGeom>
              <a:avLst/>
              <a:gdLst/>
              <a:ahLst/>
              <a:cxnLst/>
              <a:rect l="l" t="t" r="r" b="b"/>
              <a:pathLst>
                <a:path w="9410700" h="9525">
                  <a:moveTo>
                    <a:pt x="0" y="0"/>
                  </a:moveTo>
                  <a:lnTo>
                    <a:pt x="9410700" y="0"/>
                  </a:lnTo>
                </a:path>
              </a:pathLst>
            </a:custGeom>
            <a:noFill/>
            <a:ln w="38100">
              <a:solidFill>
                <a:srgbClr val="D7E2D8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390650" y="1790700"/>
              <a:ext cx="9410700" cy="9525"/>
            </a:xfrm>
            <a:custGeom>
              <a:avLst/>
              <a:gdLst/>
              <a:ahLst/>
              <a:cxnLst/>
              <a:rect l="l" t="t" r="r" b="b"/>
              <a:pathLst>
                <a:path w="9410700" h="9525">
                  <a:moveTo>
                    <a:pt x="0" y="0"/>
                  </a:moveTo>
                  <a:lnTo>
                    <a:pt x="9410700" y="0"/>
                  </a:lnTo>
                </a:path>
              </a:pathLst>
            </a:custGeom>
            <a:noFill/>
            <a:ln w="38100">
              <a:solidFill>
                <a:srgbClr val="72A984"/>
              </a:solidFill>
              <a:prstDash val="lgDash"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973503" y="1504950"/>
            <a:ext cx="834295" cy="1176338"/>
            <a:chOff x="973503" y="1504950"/>
            <a:chExt cx="834295" cy="1176338"/>
          </a:xfrm>
        </p:grpSpPr>
        <p:sp>
          <p:nvSpPr>
            <p:cNvPr id="9" name="Ellipse 9"/>
            <p:cNvSpPr/>
            <p:nvPr/>
          </p:nvSpPr>
          <p:spPr>
            <a:xfrm>
              <a:off x="1104900" y="1504950"/>
              <a:ext cx="571500" cy="571500"/>
            </a:xfrm>
            <a:prstGeom prst="ellipse">
              <a:avLst/>
            </a:prstGeom>
            <a:solidFill>
              <a:srgbClr val="236B45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13843" y="1704975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73503" y="217027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24332B"/>
                  </a:solidFill>
                  <a:latin typeface="Arial"/>
                  <a:ea typeface="Microsoft YaHei"/>
                  <a:cs typeface="Arial"/>
                </a:rPr>
                <a:t>基础信息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7280" y="246792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主要诉求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090988" y="1504950"/>
            <a:ext cx="866775" cy="1176338"/>
            <a:chOff x="4090988" y="1504950"/>
            <a:chExt cx="866775" cy="1176338"/>
          </a:xfrm>
        </p:grpSpPr>
        <p:sp>
          <p:nvSpPr>
            <p:cNvPr id="14" name="Ellipse 14"/>
            <p:cNvSpPr/>
            <p:nvPr/>
          </p:nvSpPr>
          <p:spPr>
            <a:xfrm>
              <a:off x="4238625" y="1504950"/>
              <a:ext cx="571500" cy="571500"/>
            </a:xfrm>
            <a:prstGeom prst="ellipse">
              <a:avLst/>
            </a:prstGeom>
            <a:solidFill>
              <a:srgbClr val="236B4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447568" y="1704975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07228" y="217027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24332B"/>
                  </a:solidFill>
                  <a:latin typeface="Arial"/>
                  <a:ea typeface="Microsoft YaHei"/>
                  <a:cs typeface="Arial"/>
                </a:rPr>
                <a:t>开放描述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90988" y="2467928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自由表达情况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014686" y="1504950"/>
            <a:ext cx="1286828" cy="1176338"/>
            <a:chOff x="7014686" y="1504950"/>
            <a:chExt cx="1286828" cy="1176338"/>
          </a:xfrm>
        </p:grpSpPr>
        <p:sp>
          <p:nvSpPr>
            <p:cNvPr id="19" name="Ellipse 19"/>
            <p:cNvSpPr/>
            <p:nvPr/>
          </p:nvSpPr>
          <p:spPr>
            <a:xfrm>
              <a:off x="7372350" y="1504950"/>
              <a:ext cx="571500" cy="571500"/>
            </a:xfrm>
            <a:prstGeom prst="ellipse">
              <a:avLst/>
            </a:prstGeom>
            <a:solidFill>
              <a:srgbClr val="C68A3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81293" y="1704975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40953" y="217027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24332B"/>
                  </a:solidFill>
                  <a:latin typeface="Arial"/>
                  <a:ea typeface="Microsoft YaHei"/>
                  <a:cs typeface="Arial"/>
                </a:rPr>
                <a:t>对话追问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14686" y="246792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按核心缺口逐项询问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157936" y="1504950"/>
            <a:ext cx="1286828" cy="1176338"/>
            <a:chOff x="10157936" y="1504950"/>
            <a:chExt cx="1286828" cy="1176338"/>
          </a:xfrm>
        </p:grpSpPr>
        <p:sp>
          <p:nvSpPr>
            <p:cNvPr id="24" name="Ellipse 24"/>
            <p:cNvSpPr/>
            <p:nvPr/>
          </p:nvSpPr>
          <p:spPr>
            <a:xfrm>
              <a:off x="10515600" y="1504950"/>
              <a:ext cx="571500" cy="571500"/>
            </a:xfrm>
            <a:prstGeom prst="ellipse">
              <a:avLst/>
            </a:prstGeom>
            <a:solidFill>
              <a:srgbClr val="236B4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724543" y="1704975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384203" y="217027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24332B"/>
                  </a:solidFill>
                  <a:latin typeface="Arial"/>
                  <a:ea typeface="Microsoft YaHei"/>
                  <a:cs typeface="Arial"/>
                </a:rPr>
                <a:t>形成档案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157936" y="246792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检查建议与历史记录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9600" y="3009900"/>
            <a:ext cx="10972800" cy="2914650"/>
            <a:chOff x="609600" y="3009900"/>
            <a:chExt cx="10972800" cy="2914650"/>
          </a:xfrm>
        </p:grpSpPr>
        <p:sp>
          <p:nvSpPr>
            <p:cNvPr id="29" name="Rectangle 29"/>
            <p:cNvSpPr/>
            <p:nvPr/>
          </p:nvSpPr>
          <p:spPr>
            <a:xfrm>
              <a:off x="609600" y="3009900"/>
              <a:ext cx="10972800" cy="2914650"/>
            </a:xfrm>
            <a:prstGeom prst="roundRect">
              <a:avLst>
                <a:gd name="adj" fmla="val 2614"/>
              </a:avLst>
            </a:prstGeom>
            <a:solidFill>
              <a:srgbClr val="FFFFFF"/>
            </a:solidFill>
            <a:ln w="19050">
              <a:solidFill>
                <a:srgbClr val="72A984"/>
              </a:solidFill>
              <a:prstDash val="lgDash"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09600" y="3009900"/>
              <a:ext cx="10972800" cy="400050"/>
            </a:xfrm>
            <a:prstGeom prst="roundRect">
              <a:avLst>
                <a:gd name="adj" fmla="val 19048"/>
              </a:avLst>
            </a:prstGeom>
            <a:solidFill>
              <a:srgbClr val="F1F6EF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09600" y="3314700"/>
              <a:ext cx="10972800" cy="95250"/>
            </a:xfrm>
            <a:prstGeom prst="rect">
              <a:avLst/>
            </a:prstGeom>
            <a:solidFill>
              <a:srgbClr val="F1F6EF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828675" y="3162300"/>
              <a:ext cx="95250" cy="95250"/>
            </a:xfrm>
            <a:prstGeom prst="ellipse">
              <a:avLst/>
            </a:prstGeom>
            <a:solidFill>
              <a:srgbClr val="C68A3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000125" y="3162300"/>
              <a:ext cx="95250" cy="95250"/>
            </a:xfrm>
            <a:prstGeom prst="ellipse">
              <a:avLst/>
            </a:prstGeom>
            <a:solidFill>
              <a:srgbClr val="72A984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171575" y="3162300"/>
              <a:ext cx="95250" cy="95250"/>
            </a:xfrm>
            <a:prstGeom prst="ellipse">
              <a:avLst/>
            </a:prstGeom>
            <a:solidFill>
              <a:srgbClr val="D7E2D8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5803897" y="3949700"/>
              <a:ext cx="584206" cy="730253"/>
              <a:chOff x="5803897" y="3949700"/>
              <a:chExt cx="584206" cy="73025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5803897" y="3949700"/>
                <a:ext cx="584206" cy="730253"/>
              </a:xfrm>
              <a:custGeom>
                <a:avLst/>
                <a:gdLst/>
                <a:ahLst/>
                <a:cxnLst/>
                <a:rect l="l" t="t" r="r" b="b"/>
                <a:pathLst>
                  <a:path w="584206" h="730253">
                    <a:moveTo>
                      <a:pt x="292103" y="0"/>
                    </a:moveTo>
                    <a:lnTo>
                      <a:pt x="296375" y="256"/>
                    </a:lnTo>
                    <a:cubicBezTo>
                      <a:pt x="313152" y="2234"/>
                      <a:pt x="326381" y="15463"/>
                      <a:pt x="328360" y="32241"/>
                    </a:cubicBezTo>
                    <a:lnTo>
                      <a:pt x="328615" y="36512"/>
                    </a:lnTo>
                    <a:lnTo>
                      <a:pt x="328615" y="182562"/>
                    </a:lnTo>
                    <a:lnTo>
                      <a:pt x="328798" y="188039"/>
                    </a:lnTo>
                    <a:cubicBezTo>
                      <a:pt x="331498" y="223964"/>
                      <a:pt x="359993" y="252551"/>
                      <a:pt x="395908" y="255368"/>
                    </a:cubicBezTo>
                    <a:lnTo>
                      <a:pt x="401640" y="255587"/>
                    </a:lnTo>
                    <a:lnTo>
                      <a:pt x="547690" y="255587"/>
                    </a:lnTo>
                    <a:lnTo>
                      <a:pt x="551962" y="255843"/>
                    </a:lnTo>
                    <a:cubicBezTo>
                      <a:pt x="568739" y="257821"/>
                      <a:pt x="581969" y="271051"/>
                      <a:pt x="583947" y="287828"/>
                    </a:cubicBezTo>
                    <a:lnTo>
                      <a:pt x="584203" y="292100"/>
                    </a:lnTo>
                    <a:lnTo>
                      <a:pt x="584203" y="620712"/>
                    </a:lnTo>
                    <a:cubicBezTo>
                      <a:pt x="584206" y="678714"/>
                      <a:pt x="538994" y="726664"/>
                      <a:pt x="481092" y="730067"/>
                    </a:cubicBezTo>
                    <a:lnTo>
                      <a:pt x="474665" y="730249"/>
                    </a:lnTo>
                    <a:lnTo>
                      <a:pt x="109541" y="730249"/>
                    </a:lnTo>
                    <a:cubicBezTo>
                      <a:pt x="51538" y="730253"/>
                      <a:pt x="3589" y="685040"/>
                      <a:pt x="186" y="627138"/>
                    </a:cubicBezTo>
                    <a:lnTo>
                      <a:pt x="3" y="620712"/>
                    </a:lnTo>
                    <a:lnTo>
                      <a:pt x="3" y="109537"/>
                    </a:lnTo>
                    <a:cubicBezTo>
                      <a:pt x="0" y="51535"/>
                      <a:pt x="45212" y="3585"/>
                      <a:pt x="103114" y="183"/>
                    </a:cubicBezTo>
                    <a:lnTo>
                      <a:pt x="109541" y="0"/>
                    </a:lnTo>
                    <a:close/>
                    <a:moveTo>
                      <a:pt x="401640" y="511175"/>
                    </a:moveTo>
                    <a:lnTo>
                      <a:pt x="182566" y="511175"/>
                    </a:lnTo>
                    <a:cubicBezTo>
                      <a:pt x="162400" y="511175"/>
                      <a:pt x="146053" y="527522"/>
                      <a:pt x="146053" y="547687"/>
                    </a:cubicBezTo>
                    <a:cubicBezTo>
                      <a:pt x="146053" y="567852"/>
                      <a:pt x="162400" y="584199"/>
                      <a:pt x="182566" y="584199"/>
                    </a:cubicBezTo>
                    <a:lnTo>
                      <a:pt x="401640" y="584199"/>
                    </a:lnTo>
                    <a:cubicBezTo>
                      <a:pt x="421806" y="584199"/>
                      <a:pt x="438153" y="567852"/>
                      <a:pt x="438153" y="547687"/>
                    </a:cubicBezTo>
                    <a:cubicBezTo>
                      <a:pt x="438153" y="527522"/>
                      <a:pt x="421806" y="511175"/>
                      <a:pt x="401640" y="511175"/>
                    </a:cubicBezTo>
                    <a:moveTo>
                      <a:pt x="401640" y="365125"/>
                    </a:moveTo>
                    <a:lnTo>
                      <a:pt x="182566" y="365125"/>
                    </a:lnTo>
                    <a:cubicBezTo>
                      <a:pt x="162400" y="365125"/>
                      <a:pt x="146053" y="381472"/>
                      <a:pt x="146053" y="401637"/>
                    </a:cubicBezTo>
                    <a:cubicBezTo>
                      <a:pt x="146053" y="421802"/>
                      <a:pt x="162400" y="438150"/>
                      <a:pt x="182566" y="438150"/>
                    </a:cubicBezTo>
                    <a:lnTo>
                      <a:pt x="401640" y="438150"/>
                    </a:lnTo>
                    <a:cubicBezTo>
                      <a:pt x="421806" y="438150"/>
                      <a:pt x="438153" y="421802"/>
                      <a:pt x="438153" y="401637"/>
                    </a:cubicBezTo>
                    <a:cubicBezTo>
                      <a:pt x="438153" y="381472"/>
                      <a:pt x="421806" y="365125"/>
                      <a:pt x="401640" y="365125"/>
                    </a:cubicBezTo>
                  </a:path>
                </a:pathLst>
              </a:custGeom>
              <a:solidFill>
                <a:srgbClr val="D7E2D8"/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205501" y="3986176"/>
                <a:ext cx="146086" cy="146086"/>
              </a:xfrm>
              <a:custGeom>
                <a:avLst/>
                <a:gdLst/>
                <a:ahLst/>
                <a:cxnLst/>
                <a:rect l="l" t="t" r="r" b="b"/>
                <a:pathLst>
                  <a:path w="146086" h="146086">
                    <a:moveTo>
                      <a:pt x="146086" y="146086"/>
                    </a:moveTo>
                    <a:lnTo>
                      <a:pt x="37" y="14608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E2D8"/>
              </a:solidFill>
              <a:ln>
                <a:noFill/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5317046" y="4806315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36B45"/>
                  </a:solidFill>
                  <a:latin typeface="Arial"/>
                  <a:ea typeface="Microsoft YaHei"/>
                  <a:cs typeface="Arial"/>
                </a:rPr>
                <a:t>系统截图占位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801523" y="5234464"/>
              <a:ext cx="45889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请放入当前患者端完整流程截图，建议使用浏览器 16:9 截图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172551" y="552545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替换时保留上方四步流程说明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96265" y="6325552"/>
            <a:ext cx="10999470" cy="213360"/>
            <a:chOff x="596265" y="6325552"/>
            <a:chExt cx="10999470" cy="213360"/>
          </a:xfrm>
        </p:grpSpPr>
        <p:sp>
          <p:nvSpPr>
            <p:cNvPr id="42" name="TextBox 42"/>
            <p:cNvSpPr txBox="1"/>
            <p:nvPr/>
          </p:nvSpPr>
          <p:spPr>
            <a:xfrm>
              <a:off x="596265" y="632555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成人肥胖中医诊前问诊系统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415046" y="632555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8756D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9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5310" y="413385"/>
            <a:ext cx="5272087" cy="782003"/>
            <a:chOff x="575310" y="413385"/>
            <a:chExt cx="5272087" cy="782003"/>
          </a:xfrm>
        </p:grpSpPr>
        <p:sp>
          <p:nvSpPr>
            <p:cNvPr id="3" name="TextBox 3"/>
            <p:cNvSpPr txBox="1"/>
            <p:nvPr/>
          </p:nvSpPr>
          <p:spPr>
            <a:xfrm>
              <a:off x="575310" y="413385"/>
              <a:ext cx="309295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4332B"/>
                  </a:solidFill>
                  <a:latin typeface="Georgia"/>
                  <a:ea typeface="KaiTi"/>
                  <a:cs typeface="Georgia"/>
                </a:rPr>
                <a:t>核心信息采集内容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455" y="921068"/>
              <a:ext cx="52549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围绕肥胖病程、中医症状、安全资料和相关风险形成完整诊前视图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9600" y="1466850"/>
            <a:ext cx="10972800" cy="1028700"/>
            <a:chOff x="609600" y="1466850"/>
            <a:chExt cx="10972800" cy="1028700"/>
          </a:xfrm>
        </p:grpSpPr>
        <p:sp>
          <p:nvSpPr>
            <p:cNvPr id="6" name="Rectangle 6"/>
            <p:cNvSpPr/>
            <p:nvPr/>
          </p:nvSpPr>
          <p:spPr>
            <a:xfrm>
              <a:off x="609600" y="1466850"/>
              <a:ext cx="10972800" cy="1028700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19050">
              <a:solidFill>
                <a:srgbClr val="D7E2D8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466850"/>
              <a:ext cx="1562100" cy="1028700"/>
            </a:xfrm>
            <a:prstGeom prst="roundRect">
              <a:avLst>
                <a:gd name="adj" fmla="val 7407"/>
              </a:avLst>
            </a:prstGeom>
            <a:solidFill>
              <a:srgbClr val="236B45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2095500" y="1466850"/>
              <a:ext cx="76200" cy="1028700"/>
            </a:xfrm>
            <a:prstGeom prst="rect">
              <a:avLst/>
            </a:prstGeom>
            <a:solidFill>
              <a:srgbClr val="236B4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942975" y="1785796"/>
              <a:ext cx="266700" cy="333986"/>
            </a:xfrm>
            <a:custGeom>
              <a:avLst/>
              <a:gdLst/>
              <a:ahLst/>
              <a:cxnLst/>
              <a:rect l="l" t="t" r="r" b="b"/>
              <a:pathLst>
                <a:path w="266700" h="333986">
                  <a:moveTo>
                    <a:pt x="0" y="50148"/>
                  </a:moveTo>
                  <a:cubicBezTo>
                    <a:pt x="1" y="45670"/>
                    <a:pt x="1803" y="41381"/>
                    <a:pt x="5001" y="38246"/>
                  </a:cubicBezTo>
                  <a:cubicBezTo>
                    <a:pt x="42705" y="1285"/>
                    <a:pt x="102647" y="0"/>
                    <a:pt x="141901" y="35312"/>
                  </a:cubicBezTo>
                  <a:lnTo>
                    <a:pt x="147752" y="40780"/>
                  </a:lnTo>
                  <a:cubicBezTo>
                    <a:pt x="172901" y="62814"/>
                    <a:pt x="210481" y="62814"/>
                    <a:pt x="235629" y="40780"/>
                  </a:cubicBezTo>
                  <a:lnTo>
                    <a:pt x="239780" y="36996"/>
                  </a:lnTo>
                  <a:cubicBezTo>
                    <a:pt x="249948" y="28945"/>
                    <a:pt x="265233" y="35379"/>
                    <a:pt x="266617" y="48264"/>
                  </a:cubicBezTo>
                  <a:lnTo>
                    <a:pt x="266700" y="50148"/>
                  </a:lnTo>
                  <a:lnTo>
                    <a:pt x="266700" y="200166"/>
                  </a:lnTo>
                  <a:cubicBezTo>
                    <a:pt x="266699" y="204644"/>
                    <a:pt x="264897" y="208933"/>
                    <a:pt x="261699" y="212068"/>
                  </a:cubicBezTo>
                  <a:cubicBezTo>
                    <a:pt x="223995" y="249030"/>
                    <a:pt x="164053" y="250314"/>
                    <a:pt x="124799" y="215002"/>
                  </a:cubicBezTo>
                  <a:lnTo>
                    <a:pt x="118948" y="209534"/>
                  </a:lnTo>
                  <a:cubicBezTo>
                    <a:pt x="94643" y="188238"/>
                    <a:pt x="58564" y="187437"/>
                    <a:pt x="33338" y="207634"/>
                  </a:cubicBezTo>
                  <a:lnTo>
                    <a:pt x="33338" y="316848"/>
                  </a:lnTo>
                  <a:cubicBezTo>
                    <a:pt x="33328" y="325667"/>
                    <a:pt x="26450" y="332952"/>
                    <a:pt x="17646" y="333469"/>
                  </a:cubicBezTo>
                  <a:cubicBezTo>
                    <a:pt x="8841" y="333986"/>
                    <a:pt x="1158" y="327556"/>
                    <a:pt x="117" y="318798"/>
                  </a:cubicBezTo>
                  <a:lnTo>
                    <a:pt x="0" y="316848"/>
                  </a:lnTo>
                  <a:lnTo>
                    <a:pt x="0" y="501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08748" y="1839754"/>
              <a:ext cx="114264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肥胖与病程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15552" y="1684496"/>
              <a:ext cx="342811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4332B"/>
                  </a:solidFill>
                  <a:latin typeface="Arial"/>
                  <a:ea typeface="Microsoft YaHei"/>
                  <a:cs typeface="Arial"/>
                </a:rPr>
                <a:t>身高体重、腰围、体重变化与起病经过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17458" y="2053114"/>
              <a:ext cx="382385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可能诱因 · 既往减重经历 · 当前最希望改善的问题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2647950"/>
            <a:ext cx="10972800" cy="1028700"/>
            <a:chOff x="609600" y="2647950"/>
            <a:chExt cx="10972800" cy="1028700"/>
          </a:xfrm>
        </p:grpSpPr>
        <p:sp>
          <p:nvSpPr>
            <p:cNvPr id="14" name="Rectangle 14"/>
            <p:cNvSpPr/>
            <p:nvPr/>
          </p:nvSpPr>
          <p:spPr>
            <a:xfrm>
              <a:off x="609600" y="2647950"/>
              <a:ext cx="10972800" cy="1028700"/>
            </a:xfrm>
            <a:prstGeom prst="roundRect">
              <a:avLst>
                <a:gd name="adj" fmla="val 7407"/>
              </a:avLst>
            </a:prstGeom>
            <a:solidFill>
              <a:srgbClr val="F1F6E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09600" y="2647950"/>
              <a:ext cx="1562100" cy="1028700"/>
            </a:xfrm>
            <a:prstGeom prst="roundRect">
              <a:avLst>
                <a:gd name="adj" fmla="val 7407"/>
              </a:avLst>
            </a:prstGeom>
            <a:solidFill>
              <a:srgbClr val="72A984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095500" y="2647950"/>
              <a:ext cx="76200" cy="1028700"/>
            </a:xfrm>
            <a:prstGeom prst="rect">
              <a:avLst/>
            </a:prstGeom>
            <a:solidFill>
              <a:srgbClr val="72A984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909638" y="2983706"/>
              <a:ext cx="333375" cy="317486"/>
            </a:xfrm>
            <a:custGeom>
              <a:avLst/>
              <a:gdLst/>
              <a:ahLst/>
              <a:cxnLst/>
              <a:rect l="l" t="t" r="r" b="b"/>
              <a:pathLst>
                <a:path w="333375" h="317486">
                  <a:moveTo>
                    <a:pt x="266700" y="0"/>
                  </a:moveTo>
                  <a:cubicBezTo>
                    <a:pt x="303524" y="0"/>
                    <a:pt x="333375" y="29851"/>
                    <a:pt x="333375" y="66675"/>
                  </a:cubicBezTo>
                  <a:lnTo>
                    <a:pt x="333375" y="200025"/>
                  </a:lnTo>
                  <a:cubicBezTo>
                    <a:pt x="333375" y="236849"/>
                    <a:pt x="303524" y="266700"/>
                    <a:pt x="266700" y="266700"/>
                  </a:cubicBezTo>
                  <a:lnTo>
                    <a:pt x="187957" y="266700"/>
                  </a:lnTo>
                  <a:lnTo>
                    <a:pt x="108580" y="314323"/>
                  </a:lnTo>
                  <a:cubicBezTo>
                    <a:pt x="103723" y="317238"/>
                    <a:pt x="97717" y="317486"/>
                    <a:pt x="92636" y="314982"/>
                  </a:cubicBezTo>
                  <a:cubicBezTo>
                    <a:pt x="87554" y="312479"/>
                    <a:pt x="84092" y="307565"/>
                    <a:pt x="83444" y="301938"/>
                  </a:cubicBezTo>
                  <a:lnTo>
                    <a:pt x="83344" y="300038"/>
                  </a:lnTo>
                  <a:lnTo>
                    <a:pt x="83344" y="266700"/>
                  </a:lnTo>
                  <a:lnTo>
                    <a:pt x="66675" y="266700"/>
                  </a:lnTo>
                  <a:cubicBezTo>
                    <a:pt x="31147" y="266700"/>
                    <a:pt x="1860" y="238842"/>
                    <a:pt x="83" y="203359"/>
                  </a:cubicBezTo>
                  <a:lnTo>
                    <a:pt x="0" y="200025"/>
                  </a:lnTo>
                  <a:lnTo>
                    <a:pt x="0" y="66675"/>
                  </a:lnTo>
                  <a:cubicBezTo>
                    <a:pt x="0" y="29851"/>
                    <a:pt x="29851" y="0"/>
                    <a:pt x="66675" y="0"/>
                  </a:cubicBezTo>
                  <a:close/>
                  <a:moveTo>
                    <a:pt x="220027" y="154786"/>
                  </a:moveTo>
                  <a:cubicBezTo>
                    <a:pt x="213454" y="148343"/>
                    <a:pt x="202902" y="148447"/>
                    <a:pt x="196458" y="155019"/>
                  </a:cubicBezTo>
                  <a:cubicBezTo>
                    <a:pt x="188620" y="163022"/>
                    <a:pt x="177889" y="167532"/>
                    <a:pt x="166688" y="167532"/>
                  </a:cubicBezTo>
                  <a:cubicBezTo>
                    <a:pt x="155486" y="167532"/>
                    <a:pt x="144755" y="163022"/>
                    <a:pt x="136917" y="155019"/>
                  </a:cubicBezTo>
                  <a:cubicBezTo>
                    <a:pt x="130445" y="148604"/>
                    <a:pt x="120020" y="148575"/>
                    <a:pt x="113513" y="154955"/>
                  </a:cubicBezTo>
                  <a:cubicBezTo>
                    <a:pt x="107006" y="161335"/>
                    <a:pt x="106828" y="171758"/>
                    <a:pt x="113114" y="178356"/>
                  </a:cubicBezTo>
                  <a:cubicBezTo>
                    <a:pt x="127222" y="192752"/>
                    <a:pt x="146531" y="200865"/>
                    <a:pt x="166688" y="200865"/>
                  </a:cubicBezTo>
                  <a:cubicBezTo>
                    <a:pt x="186844" y="200865"/>
                    <a:pt x="206153" y="192752"/>
                    <a:pt x="220261" y="178356"/>
                  </a:cubicBezTo>
                  <a:cubicBezTo>
                    <a:pt x="226704" y="171782"/>
                    <a:pt x="226600" y="161231"/>
                    <a:pt x="220027" y="154786"/>
                  </a:cubicBezTo>
                  <a:moveTo>
                    <a:pt x="125182" y="83344"/>
                  </a:moveTo>
                  <a:lnTo>
                    <a:pt x="125016" y="83344"/>
                  </a:lnTo>
                  <a:cubicBezTo>
                    <a:pt x="115810" y="83344"/>
                    <a:pt x="108347" y="90807"/>
                    <a:pt x="108347" y="100012"/>
                  </a:cubicBezTo>
                  <a:cubicBezTo>
                    <a:pt x="108347" y="109218"/>
                    <a:pt x="115810" y="116681"/>
                    <a:pt x="125016" y="116681"/>
                  </a:cubicBezTo>
                  <a:lnTo>
                    <a:pt x="125182" y="116681"/>
                  </a:lnTo>
                  <a:cubicBezTo>
                    <a:pt x="134388" y="116681"/>
                    <a:pt x="141851" y="109218"/>
                    <a:pt x="141851" y="100012"/>
                  </a:cubicBezTo>
                  <a:cubicBezTo>
                    <a:pt x="141851" y="90807"/>
                    <a:pt x="134388" y="83344"/>
                    <a:pt x="125182" y="83344"/>
                  </a:cubicBezTo>
                  <a:moveTo>
                    <a:pt x="208526" y="83344"/>
                  </a:moveTo>
                  <a:lnTo>
                    <a:pt x="208359" y="83344"/>
                  </a:lnTo>
                  <a:cubicBezTo>
                    <a:pt x="199153" y="83344"/>
                    <a:pt x="191691" y="90807"/>
                    <a:pt x="191691" y="100012"/>
                  </a:cubicBezTo>
                  <a:cubicBezTo>
                    <a:pt x="191691" y="109218"/>
                    <a:pt x="199153" y="116681"/>
                    <a:pt x="208359" y="116681"/>
                  </a:cubicBezTo>
                  <a:lnTo>
                    <a:pt x="208526" y="116681"/>
                  </a:lnTo>
                  <a:cubicBezTo>
                    <a:pt x="217732" y="116681"/>
                    <a:pt x="225195" y="109218"/>
                    <a:pt x="225195" y="100012"/>
                  </a:cubicBezTo>
                  <a:cubicBezTo>
                    <a:pt x="225195" y="90807"/>
                    <a:pt x="217732" y="83344"/>
                    <a:pt x="208526" y="8334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08748" y="3020854"/>
              <a:ext cx="92211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中医症状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15552" y="2865596"/>
              <a:ext cx="362764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4332B"/>
                  </a:solidFill>
                  <a:latin typeface="Arial"/>
                  <a:ea typeface="Microsoft YaHei"/>
                  <a:cs typeface="Arial"/>
                </a:rPr>
                <a:t>食欲口渴、寒热汗出、二便、睡眠与情绪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517458" y="3234214"/>
              <a:ext cx="435942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疲劳与活动耐力 · 身体困重 · 浮肿及胸腹不适 · 舌象资料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3829050"/>
            <a:ext cx="10972800" cy="1028700"/>
            <a:chOff x="609600" y="3829050"/>
            <a:chExt cx="10972800" cy="1028700"/>
          </a:xfrm>
        </p:grpSpPr>
        <p:sp>
          <p:nvSpPr>
            <p:cNvPr id="22" name="Rectangle 22"/>
            <p:cNvSpPr/>
            <p:nvPr/>
          </p:nvSpPr>
          <p:spPr>
            <a:xfrm>
              <a:off x="609600" y="3829050"/>
              <a:ext cx="10972800" cy="1028700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19050">
              <a:solidFill>
                <a:srgbClr val="D7E2D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9600" y="3829050"/>
              <a:ext cx="1562100" cy="1028700"/>
            </a:xfrm>
            <a:prstGeom prst="roundRect">
              <a:avLst>
                <a:gd name="adj" fmla="val 7407"/>
              </a:avLst>
            </a:prstGeom>
            <a:solidFill>
              <a:srgbClr val="C68A3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2095500" y="3829050"/>
              <a:ext cx="76200" cy="1028700"/>
            </a:xfrm>
            <a:prstGeom prst="rect">
              <a:avLst/>
            </a:prstGeom>
            <a:solidFill>
              <a:srgbClr val="C68A3A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902090" y="4148138"/>
              <a:ext cx="348454" cy="333553"/>
            </a:xfrm>
            <a:custGeom>
              <a:avLst/>
              <a:gdLst/>
              <a:ahLst/>
              <a:cxnLst/>
              <a:rect l="l" t="t" r="r" b="b"/>
              <a:pathLst>
                <a:path w="348454" h="333553">
                  <a:moveTo>
                    <a:pt x="174202" y="0"/>
                  </a:moveTo>
                  <a:lnTo>
                    <a:pt x="176169" y="117"/>
                  </a:lnTo>
                  <a:lnTo>
                    <a:pt x="177152" y="250"/>
                  </a:lnTo>
                  <a:lnTo>
                    <a:pt x="178169" y="467"/>
                  </a:lnTo>
                  <a:lnTo>
                    <a:pt x="180019" y="1033"/>
                  </a:lnTo>
                  <a:cubicBezTo>
                    <a:pt x="181297" y="1505"/>
                    <a:pt x="182512" y="2132"/>
                    <a:pt x="183636" y="2900"/>
                  </a:cubicBezTo>
                  <a:lnTo>
                    <a:pt x="185370" y="4267"/>
                  </a:lnTo>
                  <a:lnTo>
                    <a:pt x="189620" y="7901"/>
                  </a:lnTo>
                  <a:cubicBezTo>
                    <a:pt x="223246" y="35831"/>
                    <a:pt x="265744" y="50828"/>
                    <a:pt x="309452" y="50190"/>
                  </a:cubicBezTo>
                  <a:lnTo>
                    <a:pt x="315153" y="50023"/>
                  </a:lnTo>
                  <a:cubicBezTo>
                    <a:pt x="322823" y="49673"/>
                    <a:pt x="329740" y="54608"/>
                    <a:pt x="331905" y="61974"/>
                  </a:cubicBezTo>
                  <a:cubicBezTo>
                    <a:pt x="348454" y="118269"/>
                    <a:pt x="341466" y="178869"/>
                    <a:pt x="312538" y="229920"/>
                  </a:cubicBezTo>
                  <a:cubicBezTo>
                    <a:pt x="283610" y="280971"/>
                    <a:pt x="235216" y="318108"/>
                    <a:pt x="178419" y="332842"/>
                  </a:cubicBezTo>
                  <a:cubicBezTo>
                    <a:pt x="175675" y="333553"/>
                    <a:pt x="172795" y="333553"/>
                    <a:pt x="170051" y="332842"/>
                  </a:cubicBezTo>
                  <a:cubicBezTo>
                    <a:pt x="113251" y="318112"/>
                    <a:pt x="64853" y="280976"/>
                    <a:pt x="35921" y="229925"/>
                  </a:cubicBezTo>
                  <a:cubicBezTo>
                    <a:pt x="6990" y="178874"/>
                    <a:pt x="0" y="118272"/>
                    <a:pt x="16549" y="61974"/>
                  </a:cubicBezTo>
                  <a:cubicBezTo>
                    <a:pt x="18714" y="54608"/>
                    <a:pt x="25631" y="49673"/>
                    <a:pt x="33301" y="50023"/>
                  </a:cubicBezTo>
                  <a:cubicBezTo>
                    <a:pt x="78931" y="52109"/>
                    <a:pt x="123696" y="37088"/>
                    <a:pt x="158833" y="7901"/>
                  </a:cubicBezTo>
                  <a:lnTo>
                    <a:pt x="163217" y="4151"/>
                  </a:lnTo>
                  <a:lnTo>
                    <a:pt x="164817" y="2900"/>
                  </a:lnTo>
                  <a:cubicBezTo>
                    <a:pt x="165941" y="2132"/>
                    <a:pt x="167156" y="1505"/>
                    <a:pt x="168434" y="1033"/>
                  </a:cubicBezTo>
                  <a:lnTo>
                    <a:pt x="170301" y="467"/>
                  </a:lnTo>
                  <a:cubicBezTo>
                    <a:pt x="170954" y="309"/>
                    <a:pt x="171617" y="192"/>
                    <a:pt x="172285" y="117"/>
                  </a:cubicBezTo>
                  <a:lnTo>
                    <a:pt x="174202" y="0"/>
                  </a:lnTo>
                  <a:close/>
                  <a:moveTo>
                    <a:pt x="236043" y="121565"/>
                  </a:moveTo>
                  <a:cubicBezTo>
                    <a:pt x="232916" y="118435"/>
                    <a:pt x="228674" y="116676"/>
                    <a:pt x="224250" y="116676"/>
                  </a:cubicBezTo>
                  <a:cubicBezTo>
                    <a:pt x="219826" y="116676"/>
                    <a:pt x="215583" y="118435"/>
                    <a:pt x="212456" y="121565"/>
                  </a:cubicBezTo>
                  <a:lnTo>
                    <a:pt x="157566" y="176439"/>
                  </a:lnTo>
                  <a:lnTo>
                    <a:pt x="136014" y="154903"/>
                  </a:lnTo>
                  <a:lnTo>
                    <a:pt x="134447" y="153519"/>
                  </a:lnTo>
                  <a:cubicBezTo>
                    <a:pt x="127494" y="148143"/>
                    <a:pt x="117561" y="149089"/>
                    <a:pt x="111748" y="155681"/>
                  </a:cubicBezTo>
                  <a:cubicBezTo>
                    <a:pt x="105935" y="162274"/>
                    <a:pt x="106240" y="172247"/>
                    <a:pt x="112444" y="178472"/>
                  </a:cubicBezTo>
                  <a:lnTo>
                    <a:pt x="145781" y="211810"/>
                  </a:lnTo>
                  <a:lnTo>
                    <a:pt x="147348" y="213193"/>
                  </a:lnTo>
                  <a:cubicBezTo>
                    <a:pt x="153984" y="218341"/>
                    <a:pt x="163413" y="217748"/>
                    <a:pt x="169351" y="211810"/>
                  </a:cubicBezTo>
                  <a:lnTo>
                    <a:pt x="236026" y="145135"/>
                  </a:lnTo>
                  <a:lnTo>
                    <a:pt x="237410" y="143568"/>
                  </a:lnTo>
                  <a:cubicBezTo>
                    <a:pt x="242557" y="136932"/>
                    <a:pt x="241964" y="127504"/>
                    <a:pt x="236026" y="12156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408748" y="4201954"/>
              <a:ext cx="92211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安全资料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515552" y="4046696"/>
              <a:ext cx="342811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4332B"/>
                  </a:solidFill>
                  <a:latin typeface="Arial"/>
                  <a:ea typeface="Microsoft YaHei"/>
                  <a:cs typeface="Arial"/>
                </a:rPr>
                <a:t>过敏史、当前用药、保健品与减重产品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17458" y="4415314"/>
              <a:ext cx="365383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危险信号 · 妊娠与生育相关情况 · 用药禁忌线索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9600" y="5010150"/>
            <a:ext cx="10972800" cy="1028700"/>
            <a:chOff x="609600" y="5010150"/>
            <a:chExt cx="10972800" cy="1028700"/>
          </a:xfrm>
        </p:grpSpPr>
        <p:sp>
          <p:nvSpPr>
            <p:cNvPr id="30" name="Rectangle 30"/>
            <p:cNvSpPr/>
            <p:nvPr/>
          </p:nvSpPr>
          <p:spPr>
            <a:xfrm>
              <a:off x="609600" y="5010150"/>
              <a:ext cx="10972800" cy="1028700"/>
            </a:xfrm>
            <a:prstGeom prst="roundRect">
              <a:avLst>
                <a:gd name="adj" fmla="val 7407"/>
              </a:avLst>
            </a:prstGeom>
            <a:solidFill>
              <a:srgbClr val="F1F6EF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09600" y="5010150"/>
              <a:ext cx="1562100" cy="1028700"/>
            </a:xfrm>
            <a:prstGeom prst="roundRect">
              <a:avLst>
                <a:gd name="adj" fmla="val 7407"/>
              </a:avLst>
            </a:prstGeom>
            <a:solidFill>
              <a:srgbClr val="236B4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2095500" y="5010150"/>
              <a:ext cx="76200" cy="1028700"/>
            </a:xfrm>
            <a:prstGeom prst="rect">
              <a:avLst/>
            </a:prstGeom>
            <a:solidFill>
              <a:srgbClr val="236B4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942971" y="5329238"/>
              <a:ext cx="266707" cy="333375"/>
            </a:xfrm>
            <a:custGeom>
              <a:avLst/>
              <a:gdLst/>
              <a:ahLst/>
              <a:cxnLst/>
              <a:rect l="l" t="t" r="r" b="b"/>
              <a:pathLst>
                <a:path w="266707" h="333375">
                  <a:moveTo>
                    <a:pt x="233316" y="36171"/>
                  </a:moveTo>
                  <a:cubicBezTo>
                    <a:pt x="253325" y="43221"/>
                    <a:pt x="266707" y="62129"/>
                    <a:pt x="266704" y="83344"/>
                  </a:cubicBezTo>
                  <a:lnTo>
                    <a:pt x="266704" y="283369"/>
                  </a:lnTo>
                  <a:cubicBezTo>
                    <a:pt x="266704" y="310986"/>
                    <a:pt x="244315" y="333375"/>
                    <a:pt x="216697" y="333375"/>
                  </a:cubicBezTo>
                  <a:lnTo>
                    <a:pt x="50010" y="333375"/>
                  </a:lnTo>
                  <a:cubicBezTo>
                    <a:pt x="22392" y="333375"/>
                    <a:pt x="4" y="310986"/>
                    <a:pt x="4" y="283369"/>
                  </a:cubicBezTo>
                  <a:lnTo>
                    <a:pt x="4" y="83344"/>
                  </a:lnTo>
                  <a:cubicBezTo>
                    <a:pt x="0" y="62129"/>
                    <a:pt x="13383" y="43221"/>
                    <a:pt x="33391" y="36171"/>
                  </a:cubicBezTo>
                  <a:cubicBezTo>
                    <a:pt x="34909" y="71864"/>
                    <a:pt x="64291" y="100018"/>
                    <a:pt x="100016" y="100012"/>
                  </a:cubicBezTo>
                  <a:lnTo>
                    <a:pt x="166691" y="100012"/>
                  </a:lnTo>
                  <a:cubicBezTo>
                    <a:pt x="200916" y="100016"/>
                    <a:pt x="229585" y="74106"/>
                    <a:pt x="233033" y="40055"/>
                  </a:cubicBezTo>
                  <a:close/>
                  <a:moveTo>
                    <a:pt x="83347" y="150019"/>
                  </a:moveTo>
                  <a:cubicBezTo>
                    <a:pt x="74141" y="150019"/>
                    <a:pt x="66679" y="157482"/>
                    <a:pt x="66679" y="166688"/>
                  </a:cubicBezTo>
                  <a:lnTo>
                    <a:pt x="66679" y="250031"/>
                  </a:lnTo>
                  <a:cubicBezTo>
                    <a:pt x="66679" y="259237"/>
                    <a:pt x="74141" y="266700"/>
                    <a:pt x="83347" y="266700"/>
                  </a:cubicBezTo>
                  <a:cubicBezTo>
                    <a:pt x="92553" y="266700"/>
                    <a:pt x="100016" y="259237"/>
                    <a:pt x="100016" y="250031"/>
                  </a:cubicBezTo>
                  <a:lnTo>
                    <a:pt x="100016" y="166688"/>
                  </a:lnTo>
                  <a:cubicBezTo>
                    <a:pt x="100016" y="157482"/>
                    <a:pt x="92553" y="150019"/>
                    <a:pt x="83347" y="150019"/>
                  </a:cubicBezTo>
                  <a:moveTo>
                    <a:pt x="133354" y="216694"/>
                  </a:moveTo>
                  <a:cubicBezTo>
                    <a:pt x="124148" y="216694"/>
                    <a:pt x="116685" y="224157"/>
                    <a:pt x="116685" y="233362"/>
                  </a:cubicBezTo>
                  <a:lnTo>
                    <a:pt x="116685" y="250031"/>
                  </a:lnTo>
                  <a:cubicBezTo>
                    <a:pt x="116685" y="259237"/>
                    <a:pt x="124148" y="266700"/>
                    <a:pt x="133354" y="266700"/>
                  </a:cubicBezTo>
                  <a:cubicBezTo>
                    <a:pt x="142560" y="266700"/>
                    <a:pt x="150022" y="259237"/>
                    <a:pt x="150022" y="250031"/>
                  </a:cubicBezTo>
                  <a:lnTo>
                    <a:pt x="150022" y="233362"/>
                  </a:lnTo>
                  <a:cubicBezTo>
                    <a:pt x="150022" y="224157"/>
                    <a:pt x="142560" y="216694"/>
                    <a:pt x="133354" y="216694"/>
                  </a:cubicBezTo>
                  <a:moveTo>
                    <a:pt x="183360" y="183356"/>
                  </a:moveTo>
                  <a:cubicBezTo>
                    <a:pt x="174154" y="183356"/>
                    <a:pt x="166691" y="190819"/>
                    <a:pt x="166691" y="200025"/>
                  </a:cubicBezTo>
                  <a:lnTo>
                    <a:pt x="166691" y="250031"/>
                  </a:lnTo>
                  <a:cubicBezTo>
                    <a:pt x="166691" y="259237"/>
                    <a:pt x="174154" y="266700"/>
                    <a:pt x="183360" y="266700"/>
                  </a:cubicBezTo>
                  <a:cubicBezTo>
                    <a:pt x="192566" y="266700"/>
                    <a:pt x="200029" y="259237"/>
                    <a:pt x="200029" y="250031"/>
                  </a:cubicBezTo>
                  <a:lnTo>
                    <a:pt x="200029" y="200025"/>
                  </a:lnTo>
                  <a:cubicBezTo>
                    <a:pt x="200029" y="190819"/>
                    <a:pt x="192566" y="183356"/>
                    <a:pt x="183360" y="183356"/>
                  </a:cubicBezTo>
                  <a:moveTo>
                    <a:pt x="166691" y="0"/>
                  </a:moveTo>
                  <a:cubicBezTo>
                    <a:pt x="185103" y="0"/>
                    <a:pt x="200029" y="14926"/>
                    <a:pt x="200029" y="33338"/>
                  </a:cubicBezTo>
                  <a:cubicBezTo>
                    <a:pt x="200029" y="51749"/>
                    <a:pt x="185103" y="66675"/>
                    <a:pt x="166691" y="66675"/>
                  </a:cubicBezTo>
                  <a:lnTo>
                    <a:pt x="100016" y="66675"/>
                  </a:lnTo>
                  <a:cubicBezTo>
                    <a:pt x="81604" y="66675"/>
                    <a:pt x="66679" y="51749"/>
                    <a:pt x="66679" y="33338"/>
                  </a:cubicBezTo>
                  <a:cubicBezTo>
                    <a:pt x="66679" y="14926"/>
                    <a:pt x="81604" y="0"/>
                    <a:pt x="1000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408748" y="5383054"/>
              <a:ext cx="92211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相关风险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515552" y="5227796"/>
              <a:ext cx="342811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4332B"/>
                  </a:solidFill>
                  <a:latin typeface="Arial"/>
                  <a:ea typeface="Microsoft YaHei"/>
                  <a:cs typeface="Arial"/>
                </a:rPr>
                <a:t>既往疾病、继发性肥胖线索与近期检查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517458" y="5596414"/>
              <a:ext cx="452944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肝肾功能 · 代谢风险 · 血压血糖血脂 · 医生诊中继续确认项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96265" y="6325552"/>
            <a:ext cx="10999470" cy="213360"/>
            <a:chOff x="596265" y="6325552"/>
            <a:chExt cx="10999470" cy="213360"/>
          </a:xfrm>
        </p:grpSpPr>
        <p:sp>
          <p:nvSpPr>
            <p:cNvPr id="38" name="TextBox 38"/>
            <p:cNvSpPr txBox="1"/>
            <p:nvPr/>
          </p:nvSpPr>
          <p:spPr>
            <a:xfrm>
              <a:off x="596265" y="632555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成人肥胖中医诊前问诊系统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415046" y="632555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8756D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9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5310" y="413385"/>
            <a:ext cx="5812155" cy="782003"/>
            <a:chOff x="575310" y="413385"/>
            <a:chExt cx="5812155" cy="782003"/>
          </a:xfrm>
        </p:grpSpPr>
        <p:sp>
          <p:nvSpPr>
            <p:cNvPr id="3" name="TextBox 3"/>
            <p:cNvSpPr txBox="1"/>
            <p:nvPr/>
          </p:nvSpPr>
          <p:spPr>
            <a:xfrm>
              <a:off x="575310" y="413385"/>
              <a:ext cx="498319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4332B"/>
                  </a:solidFill>
                  <a:latin typeface="Georgia"/>
                  <a:ea typeface="KaiTi"/>
                  <a:cs typeface="Georgia"/>
                </a:rPr>
                <a:t>追问何时结束：核心资料闭环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455" y="921068"/>
              <a:ext cx="57950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不以固定轮数结束，而以核心资料是否可用、回答是否一致作为判断依据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619500" y="1504950"/>
            <a:ext cx="5537835" cy="1352550"/>
            <a:chOff x="3619500" y="1504950"/>
            <a:chExt cx="5537835" cy="1352550"/>
          </a:xfrm>
        </p:grpSpPr>
        <p:sp>
          <p:nvSpPr>
            <p:cNvPr id="6" name="Rectangle 6"/>
            <p:cNvSpPr/>
            <p:nvPr/>
          </p:nvSpPr>
          <p:spPr>
            <a:xfrm>
              <a:off x="3619500" y="1504950"/>
              <a:ext cx="4953000" cy="1352550"/>
            </a:xfrm>
            <a:prstGeom prst="roundRect">
              <a:avLst>
                <a:gd name="adj" fmla="val 5634"/>
              </a:avLst>
            </a:prstGeom>
            <a:solidFill>
              <a:srgbClr val="236B45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4064000" y="1920445"/>
              <a:ext cx="467392" cy="468157"/>
            </a:xfrm>
            <a:custGeom>
              <a:avLst/>
              <a:gdLst/>
              <a:ahLst/>
              <a:cxnLst/>
              <a:rect l="l" t="t" r="r" b="b"/>
              <a:pathLst>
                <a:path w="467392" h="468157">
                  <a:moveTo>
                    <a:pt x="333375" y="39737"/>
                  </a:moveTo>
                  <a:cubicBezTo>
                    <a:pt x="425995" y="93215"/>
                    <a:pt x="467392" y="205077"/>
                    <a:pt x="431898" y="305966"/>
                  </a:cubicBezTo>
                  <a:cubicBezTo>
                    <a:pt x="396404" y="406855"/>
                    <a:pt x="294086" y="468157"/>
                    <a:pt x="188384" y="451863"/>
                  </a:cubicBezTo>
                  <a:cubicBezTo>
                    <a:pt x="82682" y="435569"/>
                    <a:pt x="3575" y="346300"/>
                    <a:pt x="111" y="239406"/>
                  </a:cubicBezTo>
                  <a:lnTo>
                    <a:pt x="0" y="232205"/>
                  </a:lnTo>
                  <a:lnTo>
                    <a:pt x="111" y="225004"/>
                  </a:lnTo>
                  <a:cubicBezTo>
                    <a:pt x="2643" y="146928"/>
                    <a:pt x="45979" y="75913"/>
                    <a:pt x="114256" y="37956"/>
                  </a:cubicBezTo>
                  <a:cubicBezTo>
                    <a:pt x="182533" y="0"/>
                    <a:pt x="265724" y="676"/>
                    <a:pt x="333375" y="39737"/>
                  </a:cubicBezTo>
                  <a:close/>
                  <a:moveTo>
                    <a:pt x="304638" y="172042"/>
                  </a:moveTo>
                  <a:cubicBezTo>
                    <a:pt x="296720" y="164125"/>
                    <a:pt x="284148" y="163334"/>
                    <a:pt x="275301" y="170197"/>
                  </a:cubicBezTo>
                  <a:lnTo>
                    <a:pt x="273212" y="172042"/>
                  </a:lnTo>
                  <a:lnTo>
                    <a:pt x="200025" y="245207"/>
                  </a:lnTo>
                  <a:lnTo>
                    <a:pt x="171288" y="216492"/>
                  </a:lnTo>
                  <a:lnTo>
                    <a:pt x="169199" y="214647"/>
                  </a:lnTo>
                  <a:cubicBezTo>
                    <a:pt x="160351" y="207789"/>
                    <a:pt x="147783" y="208582"/>
                    <a:pt x="139868" y="216498"/>
                  </a:cubicBezTo>
                  <a:cubicBezTo>
                    <a:pt x="131952" y="224414"/>
                    <a:pt x="131159" y="236981"/>
                    <a:pt x="138017" y="245829"/>
                  </a:cubicBezTo>
                  <a:lnTo>
                    <a:pt x="139862" y="247918"/>
                  </a:lnTo>
                  <a:lnTo>
                    <a:pt x="184312" y="292368"/>
                  </a:lnTo>
                  <a:lnTo>
                    <a:pt x="186401" y="294213"/>
                  </a:lnTo>
                  <a:cubicBezTo>
                    <a:pt x="194418" y="300433"/>
                    <a:pt x="205631" y="300433"/>
                    <a:pt x="213649" y="294213"/>
                  </a:cubicBezTo>
                  <a:lnTo>
                    <a:pt x="215738" y="292368"/>
                  </a:lnTo>
                  <a:lnTo>
                    <a:pt x="304638" y="203468"/>
                  </a:lnTo>
                  <a:lnTo>
                    <a:pt x="306482" y="201379"/>
                  </a:lnTo>
                  <a:cubicBezTo>
                    <a:pt x="313345" y="192532"/>
                    <a:pt x="312555" y="179960"/>
                    <a:pt x="304638" y="1720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787265" y="1744028"/>
              <a:ext cx="220703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Georgia"/>
                  <a:ea typeface="KaiTi"/>
                  <a:cs typeface="Georgia"/>
                </a:rPr>
                <a:t>核心资料闭环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802505" y="2254568"/>
              <a:ext cx="43548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1F6EF"/>
                  </a:solidFill>
                  <a:latin typeface="Arial"/>
                  <a:ea typeface="Microsoft YaHei"/>
                  <a:cs typeface="Arial"/>
                </a:rPr>
                <a:t>核心字段形成可用答案，关键回答之间没有未解决冲突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962150" y="2857500"/>
            <a:ext cx="8277225" cy="857250"/>
            <a:chOff x="1962150" y="2857500"/>
            <a:chExt cx="8277225" cy="857250"/>
          </a:xfrm>
        </p:grpSpPr>
        <p:sp>
          <p:nvSpPr>
            <p:cNvPr id="11" name="Line 11"/>
            <p:cNvSpPr/>
            <p:nvPr/>
          </p:nvSpPr>
          <p:spPr>
            <a:xfrm>
              <a:off x="6096000" y="285750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28575">
              <a:solidFill>
                <a:srgbClr val="D7E2D8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962150" y="3352800"/>
              <a:ext cx="8267700" cy="9525"/>
            </a:xfrm>
            <a:custGeom>
              <a:avLst/>
              <a:gdLst/>
              <a:ahLst/>
              <a:cxnLst/>
              <a:rect l="l" t="t" r="r" b="b"/>
              <a:pathLst>
                <a:path w="8267700" h="9525">
                  <a:moveTo>
                    <a:pt x="0" y="0"/>
                  </a:moveTo>
                  <a:lnTo>
                    <a:pt x="8267700" y="0"/>
                  </a:lnTo>
                </a:path>
              </a:pathLst>
            </a:custGeom>
            <a:noFill/>
            <a:ln w="28575">
              <a:solidFill>
                <a:srgbClr val="D7E2D8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962150" y="335280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28575">
              <a:solidFill>
                <a:srgbClr val="D7E2D8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096000" y="335280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28575">
              <a:solidFill>
                <a:srgbClr val="D7E2D8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0229850" y="335280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28575">
              <a:solidFill>
                <a:srgbClr val="D7E2D8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055370" y="3714750"/>
            <a:ext cx="1813560" cy="1559719"/>
            <a:chOff x="1055370" y="3714750"/>
            <a:chExt cx="1813560" cy="1559719"/>
          </a:xfrm>
        </p:grpSpPr>
        <p:sp>
          <p:nvSpPr>
            <p:cNvPr id="17" name="Ellipse 17"/>
            <p:cNvSpPr/>
            <p:nvPr/>
          </p:nvSpPr>
          <p:spPr>
            <a:xfrm>
              <a:off x="1676400" y="3714750"/>
              <a:ext cx="571500" cy="571500"/>
            </a:xfrm>
            <a:prstGeom prst="ellipse">
              <a:avLst/>
            </a:prstGeom>
            <a:solidFill>
              <a:srgbClr val="236B45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803400" y="3834639"/>
              <a:ext cx="333852" cy="334399"/>
            </a:xfrm>
            <a:custGeom>
              <a:avLst/>
              <a:gdLst/>
              <a:ahLst/>
              <a:cxnLst/>
              <a:rect l="l" t="t" r="r" b="b"/>
              <a:pathLst>
                <a:path w="333852" h="334399">
                  <a:moveTo>
                    <a:pt x="238125" y="28384"/>
                  </a:moveTo>
                  <a:cubicBezTo>
                    <a:pt x="304283" y="66582"/>
                    <a:pt x="333852" y="146484"/>
                    <a:pt x="308499" y="218548"/>
                  </a:cubicBezTo>
                  <a:cubicBezTo>
                    <a:pt x="283147" y="290612"/>
                    <a:pt x="210062" y="334399"/>
                    <a:pt x="134561" y="322760"/>
                  </a:cubicBezTo>
                  <a:cubicBezTo>
                    <a:pt x="59059" y="311122"/>
                    <a:pt x="2554" y="247358"/>
                    <a:pt x="79" y="171005"/>
                  </a:cubicBezTo>
                  <a:lnTo>
                    <a:pt x="0" y="165861"/>
                  </a:lnTo>
                  <a:lnTo>
                    <a:pt x="79" y="160718"/>
                  </a:lnTo>
                  <a:cubicBezTo>
                    <a:pt x="1888" y="104949"/>
                    <a:pt x="32843" y="54223"/>
                    <a:pt x="81612" y="27112"/>
                  </a:cubicBezTo>
                  <a:cubicBezTo>
                    <a:pt x="130381" y="0"/>
                    <a:pt x="189803" y="483"/>
                    <a:pt x="238125" y="28384"/>
                  </a:cubicBezTo>
                  <a:close/>
                  <a:moveTo>
                    <a:pt x="217599" y="122888"/>
                  </a:moveTo>
                  <a:cubicBezTo>
                    <a:pt x="211943" y="117232"/>
                    <a:pt x="202964" y="116668"/>
                    <a:pt x="196644" y="121570"/>
                  </a:cubicBezTo>
                  <a:lnTo>
                    <a:pt x="195152" y="122888"/>
                  </a:lnTo>
                  <a:lnTo>
                    <a:pt x="142875" y="175148"/>
                  </a:lnTo>
                  <a:lnTo>
                    <a:pt x="122349" y="154638"/>
                  </a:lnTo>
                  <a:lnTo>
                    <a:pt x="120857" y="153320"/>
                  </a:lnTo>
                  <a:cubicBezTo>
                    <a:pt x="114537" y="148421"/>
                    <a:pt x="105560" y="148988"/>
                    <a:pt x="99906" y="154642"/>
                  </a:cubicBezTo>
                  <a:cubicBezTo>
                    <a:pt x="94252" y="160296"/>
                    <a:pt x="93685" y="169273"/>
                    <a:pt x="98584" y="175593"/>
                  </a:cubicBezTo>
                  <a:lnTo>
                    <a:pt x="99902" y="177085"/>
                  </a:lnTo>
                  <a:lnTo>
                    <a:pt x="131652" y="208835"/>
                  </a:lnTo>
                  <a:lnTo>
                    <a:pt x="133144" y="210153"/>
                  </a:lnTo>
                  <a:cubicBezTo>
                    <a:pt x="138871" y="214596"/>
                    <a:pt x="146880" y="214596"/>
                    <a:pt x="152607" y="210153"/>
                  </a:cubicBezTo>
                  <a:lnTo>
                    <a:pt x="154099" y="208835"/>
                  </a:lnTo>
                  <a:lnTo>
                    <a:pt x="217599" y="145335"/>
                  </a:lnTo>
                  <a:lnTo>
                    <a:pt x="218917" y="143843"/>
                  </a:lnTo>
                  <a:cubicBezTo>
                    <a:pt x="223819" y="137523"/>
                    <a:pt x="223254" y="128543"/>
                    <a:pt x="217599" y="1228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479137" y="4365308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36B45"/>
                  </a:solidFill>
                  <a:latin typeface="Arial"/>
                  <a:ea typeface="Microsoft YaHei"/>
                  <a:cs typeface="Arial"/>
                </a:rPr>
                <a:t>可以结束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55370" y="4739164"/>
              <a:ext cx="1813560" cy="5353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2175"/>
                </a:lnSpc>
              </a:pPr>
              <a:r>
                <a:rPr lang="zh-CN" sz="1275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核心资料可用于诊中接续生成诊前档案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027295" y="3714750"/>
            <a:ext cx="2137410" cy="1559719"/>
            <a:chOff x="5027295" y="3714750"/>
            <a:chExt cx="2137410" cy="1559719"/>
          </a:xfrm>
        </p:grpSpPr>
        <p:sp>
          <p:nvSpPr>
            <p:cNvPr id="22" name="Ellipse 22"/>
            <p:cNvSpPr/>
            <p:nvPr/>
          </p:nvSpPr>
          <p:spPr>
            <a:xfrm>
              <a:off x="5810250" y="3714750"/>
              <a:ext cx="571500" cy="571500"/>
            </a:xfrm>
            <a:prstGeom prst="ellipse">
              <a:avLst/>
            </a:prstGeom>
            <a:solidFill>
              <a:srgbClr val="C68A3A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5924605" y="3826848"/>
              <a:ext cx="331510" cy="333767"/>
            </a:xfrm>
            <a:custGeom>
              <a:avLst/>
              <a:gdLst/>
              <a:ahLst/>
              <a:cxnLst/>
              <a:rect l="l" t="t" r="r" b="b"/>
              <a:pathLst>
                <a:path w="331510" h="333767">
                  <a:moveTo>
                    <a:pt x="203145" y="31920"/>
                  </a:moveTo>
                  <a:cubicBezTo>
                    <a:pt x="234928" y="50266"/>
                    <a:pt x="257221" y="81464"/>
                    <a:pt x="264281" y="117477"/>
                  </a:cubicBezTo>
                  <a:cubicBezTo>
                    <a:pt x="271341" y="153490"/>
                    <a:pt x="262478" y="190796"/>
                    <a:pt x="239975" y="219785"/>
                  </a:cubicBezTo>
                  <a:lnTo>
                    <a:pt x="325494" y="305304"/>
                  </a:lnTo>
                  <a:cubicBezTo>
                    <a:pt x="331510" y="311533"/>
                    <a:pt x="331424" y="321434"/>
                    <a:pt x="325301" y="327557"/>
                  </a:cubicBezTo>
                  <a:cubicBezTo>
                    <a:pt x="319177" y="333681"/>
                    <a:pt x="309276" y="333767"/>
                    <a:pt x="303047" y="327751"/>
                  </a:cubicBezTo>
                  <a:lnTo>
                    <a:pt x="217512" y="242232"/>
                  </a:lnTo>
                  <a:cubicBezTo>
                    <a:pt x="167092" y="281355"/>
                    <a:pt x="95470" y="276986"/>
                    <a:pt x="50180" y="232024"/>
                  </a:cubicBezTo>
                  <a:cubicBezTo>
                    <a:pt x="4890" y="187062"/>
                    <a:pt x="0" y="115474"/>
                    <a:pt x="38755" y="64771"/>
                  </a:cubicBezTo>
                  <a:cubicBezTo>
                    <a:pt x="77511" y="14068"/>
                    <a:pt x="147874" y="0"/>
                    <a:pt x="203145" y="3190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612987" y="4365308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C68A3A"/>
                  </a:solidFill>
                  <a:latin typeface="Arial"/>
                  <a:ea typeface="Microsoft YaHei"/>
                  <a:cs typeface="Arial"/>
                </a:rPr>
                <a:t>继续追问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27295" y="4739164"/>
              <a:ext cx="2137410" cy="5353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2175"/>
                </a:lnSpc>
              </a:pPr>
              <a:r>
                <a:rPr lang="zh-CN" sz="1275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仍缺少影响判断或用药安全的核心信息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323070" y="3714750"/>
            <a:ext cx="1813560" cy="1559719"/>
            <a:chOff x="9323070" y="3714750"/>
            <a:chExt cx="1813560" cy="1559719"/>
          </a:xfrm>
        </p:grpSpPr>
        <p:sp>
          <p:nvSpPr>
            <p:cNvPr id="27" name="Ellipse 27"/>
            <p:cNvSpPr/>
            <p:nvPr/>
          </p:nvSpPr>
          <p:spPr>
            <a:xfrm>
              <a:off x="9944100" y="3714750"/>
              <a:ext cx="571500" cy="571500"/>
            </a:xfrm>
            <a:prstGeom prst="ellipse">
              <a:avLst/>
            </a:prstGeom>
            <a:solidFill>
              <a:srgbClr val="B44A45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10075668" y="3841750"/>
              <a:ext cx="308365" cy="317501"/>
            </a:xfrm>
            <a:custGeom>
              <a:avLst/>
              <a:gdLst/>
              <a:ahLst/>
              <a:cxnLst/>
              <a:rect l="l" t="t" r="r" b="b"/>
              <a:pathLst>
                <a:path w="308365" h="317501">
                  <a:moveTo>
                    <a:pt x="138307" y="0"/>
                  </a:moveTo>
                  <a:lnTo>
                    <a:pt x="135926" y="79"/>
                  </a:lnTo>
                  <a:cubicBezTo>
                    <a:pt x="119358" y="1326"/>
                    <a:pt x="106552" y="15135"/>
                    <a:pt x="106557" y="31750"/>
                  </a:cubicBezTo>
                  <a:lnTo>
                    <a:pt x="106557" y="76248"/>
                  </a:lnTo>
                  <a:lnTo>
                    <a:pt x="68013" y="54007"/>
                  </a:lnTo>
                  <a:cubicBezTo>
                    <a:pt x="52827" y="45240"/>
                    <a:pt x="33410" y="50442"/>
                    <a:pt x="24642" y="65627"/>
                  </a:cubicBezTo>
                  <a:lnTo>
                    <a:pt x="8767" y="93123"/>
                  </a:lnTo>
                  <a:lnTo>
                    <a:pt x="7608" y="95314"/>
                  </a:lnTo>
                  <a:cubicBezTo>
                    <a:pt x="465" y="110272"/>
                    <a:pt x="6031" y="128207"/>
                    <a:pt x="20388" y="136494"/>
                  </a:cubicBezTo>
                  <a:lnTo>
                    <a:pt x="58916" y="158750"/>
                  </a:lnTo>
                  <a:lnTo>
                    <a:pt x="20388" y="181007"/>
                  </a:lnTo>
                  <a:cubicBezTo>
                    <a:pt x="5203" y="189775"/>
                    <a:pt x="0" y="209192"/>
                    <a:pt x="8767" y="224378"/>
                  </a:cubicBezTo>
                  <a:lnTo>
                    <a:pt x="24642" y="251873"/>
                  </a:lnTo>
                  <a:lnTo>
                    <a:pt x="25960" y="253969"/>
                  </a:lnTo>
                  <a:cubicBezTo>
                    <a:pt x="35342" y="267635"/>
                    <a:pt x="53658" y="271783"/>
                    <a:pt x="68013" y="263494"/>
                  </a:cubicBezTo>
                  <a:lnTo>
                    <a:pt x="106557" y="241237"/>
                  </a:lnTo>
                  <a:lnTo>
                    <a:pt x="106557" y="285751"/>
                  </a:lnTo>
                  <a:cubicBezTo>
                    <a:pt x="106557" y="303286"/>
                    <a:pt x="120772" y="317501"/>
                    <a:pt x="138307" y="317501"/>
                  </a:cubicBezTo>
                  <a:lnTo>
                    <a:pt x="170057" y="317501"/>
                  </a:lnTo>
                  <a:lnTo>
                    <a:pt x="172439" y="317421"/>
                  </a:lnTo>
                  <a:cubicBezTo>
                    <a:pt x="189007" y="316175"/>
                    <a:pt x="201813" y="302366"/>
                    <a:pt x="201808" y="285751"/>
                  </a:cubicBezTo>
                  <a:lnTo>
                    <a:pt x="201808" y="241237"/>
                  </a:lnTo>
                  <a:lnTo>
                    <a:pt x="240352" y="263510"/>
                  </a:lnTo>
                  <a:cubicBezTo>
                    <a:pt x="255538" y="272277"/>
                    <a:pt x="274955" y="267074"/>
                    <a:pt x="283723" y="251889"/>
                  </a:cubicBezTo>
                  <a:lnTo>
                    <a:pt x="299598" y="224394"/>
                  </a:lnTo>
                  <a:lnTo>
                    <a:pt x="300757" y="222203"/>
                  </a:lnTo>
                  <a:cubicBezTo>
                    <a:pt x="307899" y="207245"/>
                    <a:pt x="302333" y="189309"/>
                    <a:pt x="287977" y="181023"/>
                  </a:cubicBezTo>
                  <a:lnTo>
                    <a:pt x="249433" y="158750"/>
                  </a:lnTo>
                  <a:lnTo>
                    <a:pt x="287977" y="136494"/>
                  </a:lnTo>
                  <a:cubicBezTo>
                    <a:pt x="303162" y="127726"/>
                    <a:pt x="308365" y="108308"/>
                    <a:pt x="299598" y="93123"/>
                  </a:cubicBezTo>
                  <a:lnTo>
                    <a:pt x="283723" y="65627"/>
                  </a:lnTo>
                  <a:lnTo>
                    <a:pt x="282405" y="63532"/>
                  </a:lnTo>
                  <a:cubicBezTo>
                    <a:pt x="273023" y="49866"/>
                    <a:pt x="254707" y="45717"/>
                    <a:pt x="240352" y="54007"/>
                  </a:cubicBezTo>
                  <a:lnTo>
                    <a:pt x="201808" y="76232"/>
                  </a:lnTo>
                  <a:lnTo>
                    <a:pt x="201808" y="31750"/>
                  </a:lnTo>
                  <a:cubicBezTo>
                    <a:pt x="201808" y="14215"/>
                    <a:pt x="187593" y="0"/>
                    <a:pt x="170057" y="0"/>
                  </a:cubicBezTo>
                  <a:lnTo>
                    <a:pt x="1383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746837" y="4365308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B44A45"/>
                  </a:solidFill>
                  <a:latin typeface="Arial"/>
                  <a:ea typeface="Microsoft YaHei"/>
                  <a:cs typeface="Arial"/>
                </a:rPr>
                <a:t>转交医生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323070" y="4739164"/>
              <a:ext cx="1813560" cy="5353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2175"/>
                </a:lnSpc>
              </a:pPr>
              <a:r>
                <a:rPr lang="zh-CN" sz="1275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冲突、不确定或可选细节留待诊中确认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333500" y="5619750"/>
            <a:ext cx="9525000" cy="528638"/>
            <a:chOff x="1333500" y="5619750"/>
            <a:chExt cx="9525000" cy="528638"/>
          </a:xfrm>
        </p:grpSpPr>
        <p:sp>
          <p:nvSpPr>
            <p:cNvPr id="32" name="Line 32"/>
            <p:cNvSpPr/>
            <p:nvPr/>
          </p:nvSpPr>
          <p:spPr>
            <a:xfrm>
              <a:off x="1333500" y="561975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19050">
              <a:solidFill>
                <a:srgbClr val="E8EFE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752939" y="5874068"/>
              <a:ext cx="66861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4332B"/>
                  </a:solidFill>
                  <a:latin typeface="Arial"/>
                  <a:ea typeface="Microsoft YaHei"/>
                  <a:cs typeface="Arial"/>
                </a:rPr>
                <a:t>一次只问一个重点 · “不知道/拒答”最多友好澄清一次 · 可选细节不阻塞患者端完成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96265" y="6325552"/>
            <a:ext cx="10999470" cy="213360"/>
            <a:chOff x="596265" y="6325552"/>
            <a:chExt cx="10999470" cy="213360"/>
          </a:xfrm>
        </p:grpSpPr>
        <p:sp>
          <p:nvSpPr>
            <p:cNvPr id="35" name="TextBox 35"/>
            <p:cNvSpPr txBox="1"/>
            <p:nvPr/>
          </p:nvSpPr>
          <p:spPr>
            <a:xfrm>
              <a:off x="596265" y="632555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成人肥胖中医诊前问诊系统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415046" y="632555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8756D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9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5310" y="413385"/>
            <a:ext cx="4191953" cy="782003"/>
            <a:chOff x="575310" y="413385"/>
            <a:chExt cx="4191953" cy="782003"/>
          </a:xfrm>
        </p:grpSpPr>
        <p:sp>
          <p:nvSpPr>
            <p:cNvPr id="3" name="TextBox 3"/>
            <p:cNvSpPr txBox="1"/>
            <p:nvPr/>
          </p:nvSpPr>
          <p:spPr>
            <a:xfrm>
              <a:off x="575310" y="413385"/>
              <a:ext cx="309295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4332B"/>
                  </a:solidFill>
                  <a:latin typeface="Georgia"/>
                  <a:ea typeface="KaiTi"/>
                  <a:cs typeface="Georgia"/>
                </a:rPr>
                <a:t>患者端界面与交互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455" y="921068"/>
              <a:ext cx="41748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患者看到连续的对话体验，内部判断逻辑留在医生端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66750" y="1695450"/>
            <a:ext cx="1885950" cy="3867150"/>
            <a:chOff x="666750" y="1695450"/>
            <a:chExt cx="1885950" cy="3867150"/>
          </a:xfrm>
        </p:grpSpPr>
        <p:sp>
          <p:nvSpPr>
            <p:cNvPr id="6" name="Line 6"/>
            <p:cNvSpPr/>
            <p:nvPr/>
          </p:nvSpPr>
          <p:spPr>
            <a:xfrm>
              <a:off x="876300" y="1695450"/>
              <a:ext cx="9525" cy="3695700"/>
            </a:xfrm>
            <a:custGeom>
              <a:avLst/>
              <a:gdLst/>
              <a:ahLst/>
              <a:cxnLst/>
              <a:rect l="l" t="t" r="r" b="b"/>
              <a:pathLst>
                <a:path w="9525" h="3695700">
                  <a:moveTo>
                    <a:pt x="0" y="0"/>
                  </a:moveTo>
                  <a:lnTo>
                    <a:pt x="0" y="3695700"/>
                  </a:lnTo>
                </a:path>
              </a:pathLst>
            </a:custGeom>
            <a:noFill/>
            <a:ln w="28575">
              <a:solidFill>
                <a:srgbClr val="D7E2D8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666750" y="1752600"/>
              <a:ext cx="419100" cy="419100"/>
            </a:xfrm>
            <a:prstGeom prst="ellipse">
              <a:avLst/>
            </a:prstGeom>
            <a:solidFill>
              <a:srgbClr val="236B45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765175" y="1862138"/>
              <a:ext cx="222251" cy="211658"/>
            </a:xfrm>
            <a:custGeom>
              <a:avLst/>
              <a:gdLst/>
              <a:ahLst/>
              <a:cxnLst/>
              <a:rect l="l" t="t" r="r" b="b"/>
              <a:pathLst>
                <a:path w="222251" h="211658">
                  <a:moveTo>
                    <a:pt x="177801" y="0"/>
                  </a:moveTo>
                  <a:cubicBezTo>
                    <a:pt x="202350" y="0"/>
                    <a:pt x="222251" y="19901"/>
                    <a:pt x="222251" y="44450"/>
                  </a:cubicBezTo>
                  <a:lnTo>
                    <a:pt x="222251" y="133350"/>
                  </a:lnTo>
                  <a:cubicBezTo>
                    <a:pt x="222251" y="157900"/>
                    <a:pt x="202350" y="177801"/>
                    <a:pt x="177801" y="177801"/>
                  </a:cubicBezTo>
                  <a:lnTo>
                    <a:pt x="125305" y="177801"/>
                  </a:lnTo>
                  <a:lnTo>
                    <a:pt x="72387" y="209549"/>
                  </a:lnTo>
                  <a:cubicBezTo>
                    <a:pt x="69149" y="211492"/>
                    <a:pt x="65145" y="211658"/>
                    <a:pt x="61757" y="209989"/>
                  </a:cubicBezTo>
                  <a:cubicBezTo>
                    <a:pt x="58370" y="208320"/>
                    <a:pt x="56062" y="205044"/>
                    <a:pt x="55629" y="201292"/>
                  </a:cubicBezTo>
                  <a:lnTo>
                    <a:pt x="55563" y="200026"/>
                  </a:lnTo>
                  <a:lnTo>
                    <a:pt x="55563" y="177801"/>
                  </a:lnTo>
                  <a:lnTo>
                    <a:pt x="44450" y="177801"/>
                  </a:lnTo>
                  <a:cubicBezTo>
                    <a:pt x="20765" y="177801"/>
                    <a:pt x="1240" y="159229"/>
                    <a:pt x="56" y="135573"/>
                  </a:cubicBezTo>
                  <a:lnTo>
                    <a:pt x="0" y="133350"/>
                  </a:lnTo>
                  <a:lnTo>
                    <a:pt x="0" y="44450"/>
                  </a:lnTo>
                  <a:cubicBezTo>
                    <a:pt x="0" y="19901"/>
                    <a:pt x="19901" y="0"/>
                    <a:pt x="44450" y="0"/>
                  </a:cubicBezTo>
                  <a:close/>
                  <a:moveTo>
                    <a:pt x="146685" y="103191"/>
                  </a:moveTo>
                  <a:cubicBezTo>
                    <a:pt x="142303" y="98896"/>
                    <a:pt x="135269" y="98965"/>
                    <a:pt x="130972" y="103347"/>
                  </a:cubicBezTo>
                  <a:cubicBezTo>
                    <a:pt x="125747" y="108682"/>
                    <a:pt x="118593" y="111688"/>
                    <a:pt x="111125" y="111688"/>
                  </a:cubicBezTo>
                  <a:cubicBezTo>
                    <a:pt x="103657" y="111688"/>
                    <a:pt x="96504" y="108682"/>
                    <a:pt x="91278" y="103347"/>
                  </a:cubicBezTo>
                  <a:cubicBezTo>
                    <a:pt x="86964" y="99069"/>
                    <a:pt x="80014" y="99050"/>
                    <a:pt x="75676" y="103303"/>
                  </a:cubicBezTo>
                  <a:cubicBezTo>
                    <a:pt x="71337" y="107557"/>
                    <a:pt x="71219" y="114506"/>
                    <a:pt x="75410" y="118904"/>
                  </a:cubicBezTo>
                  <a:cubicBezTo>
                    <a:pt x="84815" y="128502"/>
                    <a:pt x="97687" y="133910"/>
                    <a:pt x="111125" y="133910"/>
                  </a:cubicBezTo>
                  <a:cubicBezTo>
                    <a:pt x="124563" y="133910"/>
                    <a:pt x="137436" y="128502"/>
                    <a:pt x="146841" y="118904"/>
                  </a:cubicBezTo>
                  <a:cubicBezTo>
                    <a:pt x="151136" y="114522"/>
                    <a:pt x="151067" y="107487"/>
                    <a:pt x="146685" y="103191"/>
                  </a:cubicBezTo>
                  <a:moveTo>
                    <a:pt x="83455" y="55563"/>
                  </a:moveTo>
                  <a:lnTo>
                    <a:pt x="83344" y="55563"/>
                  </a:lnTo>
                  <a:cubicBezTo>
                    <a:pt x="77207" y="55563"/>
                    <a:pt x="72231" y="60538"/>
                    <a:pt x="72231" y="66675"/>
                  </a:cubicBezTo>
                  <a:cubicBezTo>
                    <a:pt x="72231" y="72812"/>
                    <a:pt x="77207" y="77788"/>
                    <a:pt x="83344" y="77788"/>
                  </a:cubicBezTo>
                  <a:lnTo>
                    <a:pt x="83455" y="77788"/>
                  </a:lnTo>
                  <a:cubicBezTo>
                    <a:pt x="89592" y="77788"/>
                    <a:pt x="94568" y="72812"/>
                    <a:pt x="94568" y="66675"/>
                  </a:cubicBezTo>
                  <a:cubicBezTo>
                    <a:pt x="94568" y="60538"/>
                    <a:pt x="89592" y="55563"/>
                    <a:pt x="83455" y="55563"/>
                  </a:cubicBezTo>
                  <a:moveTo>
                    <a:pt x="139018" y="55563"/>
                  </a:moveTo>
                  <a:lnTo>
                    <a:pt x="138907" y="55563"/>
                  </a:lnTo>
                  <a:cubicBezTo>
                    <a:pt x="132769" y="55563"/>
                    <a:pt x="127794" y="60538"/>
                    <a:pt x="127794" y="66675"/>
                  </a:cubicBezTo>
                  <a:cubicBezTo>
                    <a:pt x="127794" y="72812"/>
                    <a:pt x="132769" y="77788"/>
                    <a:pt x="138907" y="77788"/>
                  </a:cubicBezTo>
                  <a:lnTo>
                    <a:pt x="139018" y="77788"/>
                  </a:lnTo>
                  <a:cubicBezTo>
                    <a:pt x="145155" y="77788"/>
                    <a:pt x="150130" y="72812"/>
                    <a:pt x="150130" y="66675"/>
                  </a:cubicBezTo>
                  <a:cubicBezTo>
                    <a:pt x="150130" y="60538"/>
                    <a:pt x="145155" y="55563"/>
                    <a:pt x="139018" y="555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38250" y="1752600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4332B"/>
                  </a:solidFill>
                  <a:latin typeface="Arial"/>
                  <a:ea typeface="Microsoft YaHei"/>
                  <a:cs typeface="Arial"/>
                </a:rPr>
                <a:t>对话式追问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42060" y="206121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一次聚焦一个问题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666750" y="2838450"/>
              <a:ext cx="419100" cy="419100"/>
            </a:xfrm>
            <a:prstGeom prst="ellipse">
              <a:avLst/>
            </a:prstGeom>
            <a:solidFill>
              <a:srgbClr val="72A984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787398" y="2936875"/>
              <a:ext cx="177805" cy="222251"/>
            </a:xfrm>
            <a:custGeom>
              <a:avLst/>
              <a:gdLst/>
              <a:ahLst/>
              <a:cxnLst/>
              <a:rect l="l" t="t" r="r" b="b"/>
              <a:pathLst>
                <a:path w="177805" h="222251">
                  <a:moveTo>
                    <a:pt x="155545" y="24114"/>
                  </a:moveTo>
                  <a:cubicBezTo>
                    <a:pt x="168884" y="28814"/>
                    <a:pt x="177805" y="41420"/>
                    <a:pt x="177803" y="55563"/>
                  </a:cubicBezTo>
                  <a:lnTo>
                    <a:pt x="177803" y="188913"/>
                  </a:lnTo>
                  <a:cubicBezTo>
                    <a:pt x="177803" y="207325"/>
                    <a:pt x="162877" y="222251"/>
                    <a:pt x="144465" y="222251"/>
                  </a:cubicBezTo>
                  <a:lnTo>
                    <a:pt x="33340" y="222251"/>
                  </a:lnTo>
                  <a:cubicBezTo>
                    <a:pt x="14928" y="222251"/>
                    <a:pt x="2" y="207325"/>
                    <a:pt x="2" y="188913"/>
                  </a:cubicBezTo>
                  <a:lnTo>
                    <a:pt x="2" y="55563"/>
                  </a:lnTo>
                  <a:cubicBezTo>
                    <a:pt x="0" y="41420"/>
                    <a:pt x="8922" y="28814"/>
                    <a:pt x="22261" y="24114"/>
                  </a:cubicBezTo>
                  <a:cubicBezTo>
                    <a:pt x="23273" y="47910"/>
                    <a:pt x="42861" y="66679"/>
                    <a:pt x="66678" y="66675"/>
                  </a:cubicBezTo>
                  <a:lnTo>
                    <a:pt x="111128" y="66675"/>
                  </a:lnTo>
                  <a:cubicBezTo>
                    <a:pt x="133944" y="66677"/>
                    <a:pt x="153057" y="49404"/>
                    <a:pt x="155356" y="26703"/>
                  </a:cubicBezTo>
                  <a:close/>
                  <a:moveTo>
                    <a:pt x="55676" y="144463"/>
                  </a:moveTo>
                  <a:lnTo>
                    <a:pt x="55565" y="144463"/>
                  </a:lnTo>
                  <a:cubicBezTo>
                    <a:pt x="49686" y="144469"/>
                    <a:pt x="44829" y="149055"/>
                    <a:pt x="44484" y="154924"/>
                  </a:cubicBezTo>
                  <a:cubicBezTo>
                    <a:pt x="44139" y="160794"/>
                    <a:pt x="48426" y="165916"/>
                    <a:pt x="54265" y="166610"/>
                  </a:cubicBezTo>
                  <a:lnTo>
                    <a:pt x="55676" y="166688"/>
                  </a:lnTo>
                  <a:cubicBezTo>
                    <a:pt x="61813" y="166688"/>
                    <a:pt x="66789" y="161713"/>
                    <a:pt x="66789" y="155575"/>
                  </a:cubicBezTo>
                  <a:cubicBezTo>
                    <a:pt x="66789" y="149438"/>
                    <a:pt x="61813" y="144463"/>
                    <a:pt x="55676" y="144463"/>
                  </a:cubicBezTo>
                  <a:moveTo>
                    <a:pt x="122240" y="144463"/>
                  </a:moveTo>
                  <a:lnTo>
                    <a:pt x="100015" y="144463"/>
                  </a:lnTo>
                  <a:cubicBezTo>
                    <a:pt x="93878" y="144463"/>
                    <a:pt x="88903" y="149438"/>
                    <a:pt x="88903" y="155575"/>
                  </a:cubicBezTo>
                  <a:cubicBezTo>
                    <a:pt x="88903" y="161713"/>
                    <a:pt x="93878" y="166688"/>
                    <a:pt x="100015" y="166688"/>
                  </a:cubicBezTo>
                  <a:lnTo>
                    <a:pt x="122240" y="166688"/>
                  </a:lnTo>
                  <a:cubicBezTo>
                    <a:pt x="128378" y="166688"/>
                    <a:pt x="133353" y="161713"/>
                    <a:pt x="133353" y="155575"/>
                  </a:cubicBezTo>
                  <a:cubicBezTo>
                    <a:pt x="133353" y="149438"/>
                    <a:pt x="128378" y="144463"/>
                    <a:pt x="122240" y="144463"/>
                  </a:cubicBezTo>
                  <a:moveTo>
                    <a:pt x="55676" y="100013"/>
                  </a:moveTo>
                  <a:lnTo>
                    <a:pt x="55565" y="100013"/>
                  </a:lnTo>
                  <a:cubicBezTo>
                    <a:pt x="49686" y="100019"/>
                    <a:pt x="44829" y="104605"/>
                    <a:pt x="44484" y="110474"/>
                  </a:cubicBezTo>
                  <a:cubicBezTo>
                    <a:pt x="44139" y="116344"/>
                    <a:pt x="48426" y="121466"/>
                    <a:pt x="54265" y="122160"/>
                  </a:cubicBezTo>
                  <a:lnTo>
                    <a:pt x="55676" y="122238"/>
                  </a:lnTo>
                  <a:cubicBezTo>
                    <a:pt x="61813" y="122238"/>
                    <a:pt x="66789" y="117263"/>
                    <a:pt x="66789" y="111125"/>
                  </a:cubicBezTo>
                  <a:cubicBezTo>
                    <a:pt x="66789" y="104988"/>
                    <a:pt x="61813" y="100013"/>
                    <a:pt x="55676" y="100013"/>
                  </a:cubicBezTo>
                  <a:moveTo>
                    <a:pt x="122240" y="100013"/>
                  </a:moveTo>
                  <a:lnTo>
                    <a:pt x="100015" y="100013"/>
                  </a:lnTo>
                  <a:cubicBezTo>
                    <a:pt x="93878" y="100013"/>
                    <a:pt x="88903" y="104988"/>
                    <a:pt x="88903" y="111125"/>
                  </a:cubicBezTo>
                  <a:cubicBezTo>
                    <a:pt x="88903" y="117263"/>
                    <a:pt x="93878" y="122238"/>
                    <a:pt x="100015" y="122238"/>
                  </a:cubicBezTo>
                  <a:lnTo>
                    <a:pt x="122240" y="122238"/>
                  </a:lnTo>
                  <a:cubicBezTo>
                    <a:pt x="128378" y="122238"/>
                    <a:pt x="133353" y="117263"/>
                    <a:pt x="133353" y="111125"/>
                  </a:cubicBezTo>
                  <a:cubicBezTo>
                    <a:pt x="133353" y="104988"/>
                    <a:pt x="128378" y="100013"/>
                    <a:pt x="122240" y="100013"/>
                  </a:cubicBezTo>
                  <a:moveTo>
                    <a:pt x="111128" y="0"/>
                  </a:moveTo>
                  <a:cubicBezTo>
                    <a:pt x="123402" y="0"/>
                    <a:pt x="133353" y="9950"/>
                    <a:pt x="133353" y="22225"/>
                  </a:cubicBezTo>
                  <a:cubicBezTo>
                    <a:pt x="133353" y="34500"/>
                    <a:pt x="123402" y="44450"/>
                    <a:pt x="111128" y="44450"/>
                  </a:cubicBezTo>
                  <a:lnTo>
                    <a:pt x="66678" y="44450"/>
                  </a:lnTo>
                  <a:cubicBezTo>
                    <a:pt x="54403" y="44450"/>
                    <a:pt x="44453" y="34500"/>
                    <a:pt x="44453" y="22225"/>
                  </a:cubicBezTo>
                  <a:cubicBezTo>
                    <a:pt x="44453" y="9950"/>
                    <a:pt x="54403" y="0"/>
                    <a:pt x="666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38250" y="2838450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4332B"/>
                  </a:solidFill>
                  <a:latin typeface="Arial"/>
                  <a:ea typeface="Microsoft YaHei"/>
                  <a:cs typeface="Arial"/>
                </a:rPr>
                <a:t>历史完整保留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42060" y="314706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固定区域滚动查看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666750" y="3924300"/>
              <a:ext cx="419100" cy="419100"/>
            </a:xfrm>
            <a:prstGeom prst="ellipse">
              <a:avLst/>
            </a:prstGeom>
            <a:solidFill>
              <a:srgbClr val="C68A3A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65175" y="4033838"/>
              <a:ext cx="222251" cy="200025"/>
              <a:chOff x="765175" y="4033838"/>
              <a:chExt cx="222251" cy="2000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65175" y="4033838"/>
                <a:ext cx="222251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1" h="4445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200026" y="0"/>
                    </a:lnTo>
                    <a:cubicBezTo>
                      <a:pt x="212300" y="0"/>
                      <a:pt x="222251" y="9950"/>
                      <a:pt x="222251" y="22225"/>
                    </a:cubicBezTo>
                    <a:cubicBezTo>
                      <a:pt x="222251" y="34500"/>
                      <a:pt x="212300" y="44450"/>
                      <a:pt x="200026" y="44450"/>
                    </a:cubicBezTo>
                    <a:lnTo>
                      <a:pt x="22225" y="44450"/>
                    </a:lnTo>
                    <a:cubicBezTo>
                      <a:pt x="9950" y="44450"/>
                      <a:pt x="0" y="34500"/>
                      <a:pt x="0" y="2222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87400" y="4100513"/>
                <a:ext cx="177801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33350">
                    <a:moveTo>
                      <a:pt x="166688" y="0"/>
                    </a:moveTo>
                    <a:cubicBezTo>
                      <a:pt x="172389" y="0"/>
                      <a:pt x="177089" y="5145"/>
                      <a:pt x="177723" y="11779"/>
                    </a:cubicBezTo>
                    <a:lnTo>
                      <a:pt x="177801" y="13335"/>
                    </a:lnTo>
                    <a:lnTo>
                      <a:pt x="177801" y="93345"/>
                    </a:lnTo>
                    <a:cubicBezTo>
                      <a:pt x="177801" y="114648"/>
                      <a:pt x="163921" y="132061"/>
                      <a:pt x="146419" y="133284"/>
                    </a:cubicBezTo>
                    <a:lnTo>
                      <a:pt x="144463" y="133350"/>
                    </a:lnTo>
                    <a:lnTo>
                      <a:pt x="33338" y="133350"/>
                    </a:lnTo>
                    <a:cubicBezTo>
                      <a:pt x="15580" y="133350"/>
                      <a:pt x="1067" y="116693"/>
                      <a:pt x="56" y="95701"/>
                    </a:cubicBezTo>
                    <a:lnTo>
                      <a:pt x="0" y="93345"/>
                    </a:lnTo>
                    <a:lnTo>
                      <a:pt x="0" y="13335"/>
                    </a:lnTo>
                    <a:cubicBezTo>
                      <a:pt x="0" y="5967"/>
                      <a:pt x="4978" y="0"/>
                      <a:pt x="11113" y="0"/>
                    </a:cubicBezTo>
                    <a:lnTo>
                      <a:pt x="166688" y="0"/>
                    </a:lnTo>
                    <a:close/>
                    <a:moveTo>
                      <a:pt x="111125" y="22225"/>
                    </a:moveTo>
                    <a:lnTo>
                      <a:pt x="66675" y="22225"/>
                    </a:lnTo>
                    <a:lnTo>
                      <a:pt x="65375" y="22303"/>
                    </a:lnTo>
                    <a:cubicBezTo>
                      <a:pt x="59785" y="22968"/>
                      <a:pt x="55575" y="27708"/>
                      <a:pt x="55575" y="33338"/>
                    </a:cubicBezTo>
                    <a:cubicBezTo>
                      <a:pt x="55575" y="38967"/>
                      <a:pt x="59785" y="43707"/>
                      <a:pt x="65375" y="44372"/>
                    </a:cubicBezTo>
                    <a:lnTo>
                      <a:pt x="66675" y="44450"/>
                    </a:lnTo>
                    <a:lnTo>
                      <a:pt x="111125" y="44450"/>
                    </a:lnTo>
                    <a:lnTo>
                      <a:pt x="112425" y="44372"/>
                    </a:lnTo>
                    <a:cubicBezTo>
                      <a:pt x="118016" y="43707"/>
                      <a:pt x="122225" y="38967"/>
                      <a:pt x="122225" y="33338"/>
                    </a:cubicBezTo>
                    <a:cubicBezTo>
                      <a:pt x="122225" y="27708"/>
                      <a:pt x="118016" y="22968"/>
                      <a:pt x="112425" y="22303"/>
                    </a:cubicBezTo>
                    <a:lnTo>
                      <a:pt x="111125" y="2222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238250" y="3924300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4332B"/>
                  </a:solidFill>
                  <a:latin typeface="Arial"/>
                  <a:ea typeface="Microsoft YaHei"/>
                  <a:cs typeface="Arial"/>
                </a:rPr>
                <a:t>个人档案回看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42060" y="423291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仅查看自己的记录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66750" y="5010150"/>
              <a:ext cx="419100" cy="419100"/>
            </a:xfrm>
            <a:prstGeom prst="ellipse">
              <a:avLst/>
            </a:prstGeom>
            <a:solidFill>
              <a:srgbClr val="236B45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760143" y="5108575"/>
              <a:ext cx="232303" cy="222369"/>
            </a:xfrm>
            <a:custGeom>
              <a:avLst/>
              <a:gdLst/>
              <a:ahLst/>
              <a:cxnLst/>
              <a:rect l="l" t="t" r="r" b="b"/>
              <a:pathLst>
                <a:path w="232303" h="222369">
                  <a:moveTo>
                    <a:pt x="116135" y="0"/>
                  </a:moveTo>
                  <a:lnTo>
                    <a:pt x="117446" y="78"/>
                  </a:lnTo>
                  <a:lnTo>
                    <a:pt x="118102" y="167"/>
                  </a:lnTo>
                  <a:lnTo>
                    <a:pt x="118780" y="311"/>
                  </a:lnTo>
                  <a:lnTo>
                    <a:pt x="120013" y="689"/>
                  </a:lnTo>
                  <a:cubicBezTo>
                    <a:pt x="120865" y="1003"/>
                    <a:pt x="121675" y="1421"/>
                    <a:pt x="122424" y="1934"/>
                  </a:cubicBezTo>
                  <a:lnTo>
                    <a:pt x="123580" y="2845"/>
                  </a:lnTo>
                  <a:lnTo>
                    <a:pt x="126414" y="5267"/>
                  </a:lnTo>
                  <a:cubicBezTo>
                    <a:pt x="148831" y="23887"/>
                    <a:pt x="177163" y="33885"/>
                    <a:pt x="206302" y="33460"/>
                  </a:cubicBezTo>
                  <a:lnTo>
                    <a:pt x="210102" y="33349"/>
                  </a:lnTo>
                  <a:cubicBezTo>
                    <a:pt x="215216" y="33115"/>
                    <a:pt x="219827" y="36405"/>
                    <a:pt x="221270" y="41316"/>
                  </a:cubicBezTo>
                  <a:cubicBezTo>
                    <a:pt x="232303" y="78847"/>
                    <a:pt x="227645" y="119246"/>
                    <a:pt x="208359" y="153280"/>
                  </a:cubicBezTo>
                  <a:cubicBezTo>
                    <a:pt x="189074" y="187314"/>
                    <a:pt x="156811" y="212073"/>
                    <a:pt x="118946" y="221895"/>
                  </a:cubicBezTo>
                  <a:cubicBezTo>
                    <a:pt x="117117" y="222369"/>
                    <a:pt x="115197" y="222369"/>
                    <a:pt x="113368" y="221895"/>
                  </a:cubicBezTo>
                  <a:cubicBezTo>
                    <a:pt x="75501" y="212075"/>
                    <a:pt x="43235" y="187318"/>
                    <a:pt x="23948" y="153284"/>
                  </a:cubicBezTo>
                  <a:cubicBezTo>
                    <a:pt x="4660" y="119249"/>
                    <a:pt x="0" y="78848"/>
                    <a:pt x="11032" y="41316"/>
                  </a:cubicBezTo>
                  <a:cubicBezTo>
                    <a:pt x="12476" y="36405"/>
                    <a:pt x="17087" y="33115"/>
                    <a:pt x="22201" y="33349"/>
                  </a:cubicBezTo>
                  <a:cubicBezTo>
                    <a:pt x="52621" y="34739"/>
                    <a:pt x="82465" y="24725"/>
                    <a:pt x="105889" y="5267"/>
                  </a:cubicBezTo>
                  <a:lnTo>
                    <a:pt x="108812" y="2767"/>
                  </a:lnTo>
                  <a:lnTo>
                    <a:pt x="109878" y="1934"/>
                  </a:lnTo>
                  <a:cubicBezTo>
                    <a:pt x="110628" y="1421"/>
                    <a:pt x="111438" y="1003"/>
                    <a:pt x="112290" y="689"/>
                  </a:cubicBezTo>
                  <a:lnTo>
                    <a:pt x="113534" y="311"/>
                  </a:lnTo>
                  <a:cubicBezTo>
                    <a:pt x="113970" y="206"/>
                    <a:pt x="114412" y="128"/>
                    <a:pt x="114857" y="78"/>
                  </a:cubicBezTo>
                  <a:lnTo>
                    <a:pt x="116135" y="0"/>
                  </a:lnTo>
                  <a:close/>
                  <a:moveTo>
                    <a:pt x="157362" y="81044"/>
                  </a:moveTo>
                  <a:cubicBezTo>
                    <a:pt x="155278" y="78957"/>
                    <a:pt x="152450" y="77785"/>
                    <a:pt x="149500" y="77785"/>
                  </a:cubicBezTo>
                  <a:cubicBezTo>
                    <a:pt x="146551" y="77785"/>
                    <a:pt x="143722" y="78957"/>
                    <a:pt x="141638" y="81044"/>
                  </a:cubicBezTo>
                  <a:lnTo>
                    <a:pt x="105044" y="117626"/>
                  </a:lnTo>
                  <a:lnTo>
                    <a:pt x="90676" y="103269"/>
                  </a:lnTo>
                  <a:lnTo>
                    <a:pt x="89631" y="102346"/>
                  </a:lnTo>
                  <a:cubicBezTo>
                    <a:pt x="84996" y="98762"/>
                    <a:pt x="78374" y="99393"/>
                    <a:pt x="74499" y="103788"/>
                  </a:cubicBezTo>
                  <a:cubicBezTo>
                    <a:pt x="70624" y="108183"/>
                    <a:pt x="70827" y="114832"/>
                    <a:pt x="74963" y="118982"/>
                  </a:cubicBezTo>
                  <a:lnTo>
                    <a:pt x="97188" y="141207"/>
                  </a:lnTo>
                  <a:lnTo>
                    <a:pt x="98233" y="142129"/>
                  </a:lnTo>
                  <a:cubicBezTo>
                    <a:pt x="102656" y="145561"/>
                    <a:pt x="108942" y="145166"/>
                    <a:pt x="112901" y="141207"/>
                  </a:cubicBezTo>
                  <a:lnTo>
                    <a:pt x="157351" y="96757"/>
                  </a:lnTo>
                  <a:lnTo>
                    <a:pt x="158274" y="95712"/>
                  </a:lnTo>
                  <a:cubicBezTo>
                    <a:pt x="161705" y="91289"/>
                    <a:pt x="161310" y="85003"/>
                    <a:pt x="157351" y="810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238250" y="5010150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4332B"/>
                  </a:solidFill>
                  <a:latin typeface="Arial"/>
                  <a:ea typeface="Microsoft YaHei"/>
                  <a:cs typeface="Arial"/>
                </a:rPr>
                <a:t>信息边界清楚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42060" y="531876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内部缺失项不展示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171950" y="1466850"/>
            <a:ext cx="7410450" cy="4572000"/>
            <a:chOff x="4171950" y="1466850"/>
            <a:chExt cx="7410450" cy="4572000"/>
          </a:xfrm>
        </p:grpSpPr>
        <p:sp>
          <p:nvSpPr>
            <p:cNvPr id="26" name="Rectangle 26"/>
            <p:cNvSpPr/>
            <p:nvPr/>
          </p:nvSpPr>
          <p:spPr>
            <a:xfrm>
              <a:off x="4171950" y="1466850"/>
              <a:ext cx="7410450" cy="457200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19050">
              <a:solidFill>
                <a:srgbClr val="72A984"/>
              </a:solidFill>
              <a:prstDash val="lgDash"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171950" y="1466850"/>
              <a:ext cx="7410450" cy="419100"/>
            </a:xfrm>
            <a:prstGeom prst="roundRect">
              <a:avLst>
                <a:gd name="adj" fmla="val 18182"/>
              </a:avLst>
            </a:prstGeom>
            <a:solidFill>
              <a:srgbClr val="F1F6EF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171950" y="1790700"/>
              <a:ext cx="7410450" cy="95250"/>
            </a:xfrm>
            <a:prstGeom prst="rect">
              <a:avLst/>
            </a:prstGeom>
            <a:solidFill>
              <a:srgbClr val="F1F6EF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4410075" y="1628775"/>
              <a:ext cx="95250" cy="95250"/>
            </a:xfrm>
            <a:prstGeom prst="ellipse">
              <a:avLst/>
            </a:prstGeom>
            <a:solidFill>
              <a:srgbClr val="C68A3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4581525" y="1628775"/>
              <a:ext cx="95250" cy="95250"/>
            </a:xfrm>
            <a:prstGeom prst="ellipse">
              <a:avLst/>
            </a:prstGeom>
            <a:solidFill>
              <a:srgbClr val="72A984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4752975" y="1628775"/>
              <a:ext cx="95250" cy="95250"/>
            </a:xfrm>
            <a:prstGeom prst="ellipse">
              <a:avLst/>
            </a:prstGeom>
            <a:solidFill>
              <a:srgbClr val="D7E2D8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7270750" y="3124200"/>
              <a:ext cx="889001" cy="846630"/>
            </a:xfrm>
            <a:custGeom>
              <a:avLst/>
              <a:gdLst/>
              <a:ahLst/>
              <a:cxnLst/>
              <a:rect l="l" t="t" r="r" b="b"/>
              <a:pathLst>
                <a:path w="889001" h="846630">
                  <a:moveTo>
                    <a:pt x="711201" y="0"/>
                  </a:moveTo>
                  <a:cubicBezTo>
                    <a:pt x="809397" y="0"/>
                    <a:pt x="889001" y="79604"/>
                    <a:pt x="889001" y="177800"/>
                  </a:cubicBezTo>
                  <a:lnTo>
                    <a:pt x="889001" y="533400"/>
                  </a:lnTo>
                  <a:cubicBezTo>
                    <a:pt x="889001" y="631597"/>
                    <a:pt x="809397" y="711201"/>
                    <a:pt x="711201" y="711201"/>
                  </a:cubicBezTo>
                  <a:lnTo>
                    <a:pt x="501219" y="711201"/>
                  </a:lnTo>
                  <a:lnTo>
                    <a:pt x="289548" y="838194"/>
                  </a:lnTo>
                  <a:cubicBezTo>
                    <a:pt x="276594" y="845968"/>
                    <a:pt x="260580" y="846630"/>
                    <a:pt x="247029" y="839954"/>
                  </a:cubicBezTo>
                  <a:cubicBezTo>
                    <a:pt x="233478" y="833277"/>
                    <a:pt x="224246" y="820175"/>
                    <a:pt x="222517" y="805168"/>
                  </a:cubicBezTo>
                  <a:lnTo>
                    <a:pt x="222250" y="800101"/>
                  </a:lnTo>
                  <a:lnTo>
                    <a:pt x="222250" y="711201"/>
                  </a:lnTo>
                  <a:lnTo>
                    <a:pt x="177800" y="711201"/>
                  </a:lnTo>
                  <a:cubicBezTo>
                    <a:pt x="83059" y="711201"/>
                    <a:pt x="4959" y="636913"/>
                    <a:pt x="222" y="542290"/>
                  </a:cubicBezTo>
                  <a:lnTo>
                    <a:pt x="0" y="533400"/>
                  </a:ln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  <a:moveTo>
                    <a:pt x="586740" y="412763"/>
                  </a:moveTo>
                  <a:cubicBezTo>
                    <a:pt x="569211" y="395581"/>
                    <a:pt x="541073" y="395860"/>
                    <a:pt x="523888" y="413385"/>
                  </a:cubicBezTo>
                  <a:cubicBezTo>
                    <a:pt x="502986" y="434726"/>
                    <a:pt x="474372" y="446752"/>
                    <a:pt x="444500" y="446752"/>
                  </a:cubicBezTo>
                  <a:cubicBezTo>
                    <a:pt x="414629" y="446752"/>
                    <a:pt x="386015" y="434726"/>
                    <a:pt x="365113" y="413385"/>
                  </a:cubicBezTo>
                  <a:cubicBezTo>
                    <a:pt x="347854" y="396277"/>
                    <a:pt x="320055" y="396200"/>
                    <a:pt x="302701" y="413213"/>
                  </a:cubicBezTo>
                  <a:cubicBezTo>
                    <a:pt x="285348" y="430226"/>
                    <a:pt x="284875" y="458021"/>
                    <a:pt x="301638" y="475615"/>
                  </a:cubicBezTo>
                  <a:cubicBezTo>
                    <a:pt x="339260" y="514006"/>
                    <a:pt x="390749" y="535639"/>
                    <a:pt x="444500" y="535639"/>
                  </a:cubicBezTo>
                  <a:cubicBezTo>
                    <a:pt x="498252" y="535639"/>
                    <a:pt x="549741" y="514006"/>
                    <a:pt x="587363" y="475615"/>
                  </a:cubicBezTo>
                  <a:cubicBezTo>
                    <a:pt x="604545" y="458086"/>
                    <a:pt x="604266" y="429948"/>
                    <a:pt x="586740" y="412763"/>
                  </a:cubicBezTo>
                  <a:moveTo>
                    <a:pt x="333820" y="222250"/>
                  </a:moveTo>
                  <a:lnTo>
                    <a:pt x="333375" y="222250"/>
                  </a:lnTo>
                  <a:cubicBezTo>
                    <a:pt x="308826" y="222250"/>
                    <a:pt x="288925" y="242151"/>
                    <a:pt x="288925" y="266700"/>
                  </a:cubicBezTo>
                  <a:cubicBezTo>
                    <a:pt x="288925" y="291249"/>
                    <a:pt x="308826" y="311150"/>
                    <a:pt x="333375" y="311150"/>
                  </a:cubicBezTo>
                  <a:lnTo>
                    <a:pt x="333820" y="311150"/>
                  </a:lnTo>
                  <a:cubicBezTo>
                    <a:pt x="358369" y="311150"/>
                    <a:pt x="378270" y="291249"/>
                    <a:pt x="378270" y="266700"/>
                  </a:cubicBezTo>
                  <a:cubicBezTo>
                    <a:pt x="378270" y="242151"/>
                    <a:pt x="358369" y="222250"/>
                    <a:pt x="333820" y="222250"/>
                  </a:cubicBezTo>
                  <a:moveTo>
                    <a:pt x="556070" y="222250"/>
                  </a:moveTo>
                  <a:lnTo>
                    <a:pt x="555625" y="222250"/>
                  </a:lnTo>
                  <a:cubicBezTo>
                    <a:pt x="531076" y="222250"/>
                    <a:pt x="511175" y="242151"/>
                    <a:pt x="511175" y="266700"/>
                  </a:cubicBezTo>
                  <a:cubicBezTo>
                    <a:pt x="511175" y="291249"/>
                    <a:pt x="531076" y="311150"/>
                    <a:pt x="555625" y="311150"/>
                  </a:cubicBezTo>
                  <a:lnTo>
                    <a:pt x="556070" y="311150"/>
                  </a:lnTo>
                  <a:cubicBezTo>
                    <a:pt x="580619" y="311150"/>
                    <a:pt x="600520" y="291249"/>
                    <a:pt x="600520" y="266700"/>
                  </a:cubicBezTo>
                  <a:cubicBezTo>
                    <a:pt x="600520" y="242151"/>
                    <a:pt x="580619" y="222250"/>
                    <a:pt x="556070" y="222250"/>
                  </a:cubicBezTo>
                </a:path>
              </a:pathLst>
            </a:custGeom>
            <a:solidFill>
              <a:srgbClr val="D7E2D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34498" y="4207669"/>
              <a:ext cx="1885355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b="1" dirty="0">
                  <a:solidFill>
                    <a:srgbClr val="236B45"/>
                  </a:solidFill>
                  <a:latin typeface="Arial"/>
                  <a:ea typeface="Microsoft YaHei"/>
                  <a:cs typeface="Arial"/>
                </a:rPr>
                <a:t>患者端页面截图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905738" y="4662964"/>
              <a:ext cx="39428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请放入当前对话问诊界面，保留聊天记录与输入区域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438900" y="5162550"/>
              <a:ext cx="2876550" cy="381000"/>
            </a:xfrm>
            <a:prstGeom prst="roundRect">
              <a:avLst>
                <a:gd name="adj" fmla="val 20000"/>
              </a:avLst>
            </a:prstGeom>
            <a:solidFill>
              <a:srgbClr val="F1F6E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093744" y="529685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36B45"/>
                  </a:solidFill>
                  <a:latin typeface="Arial"/>
                  <a:ea typeface="Microsoft YaHei"/>
                  <a:cs typeface="Arial"/>
                </a:rPr>
                <a:t>建议裁掉浏览器多余边框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96265" y="6325552"/>
            <a:ext cx="10999470" cy="213360"/>
            <a:chOff x="596265" y="6325552"/>
            <a:chExt cx="10999470" cy="213360"/>
          </a:xfrm>
        </p:grpSpPr>
        <p:sp>
          <p:nvSpPr>
            <p:cNvPr id="38" name="TextBox 38"/>
            <p:cNvSpPr txBox="1"/>
            <p:nvPr/>
          </p:nvSpPr>
          <p:spPr>
            <a:xfrm>
              <a:off x="596265" y="632555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成人肥胖中医诊前问诊系统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415046" y="632555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8756D"/>
                  </a:solidFill>
                  <a:latin typeface="Arial"/>
                  <a:ea typeface="Arial"/>
                  <a:cs typeface="Arial"/>
                </a:rPr>
                <a:t>08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9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5310" y="394335"/>
            <a:ext cx="5812155" cy="762953"/>
            <a:chOff x="575310" y="394335"/>
            <a:chExt cx="5812155" cy="762953"/>
          </a:xfrm>
        </p:grpSpPr>
        <p:sp>
          <p:nvSpPr>
            <p:cNvPr id="3" name="TextBox 3"/>
            <p:cNvSpPr txBox="1"/>
            <p:nvPr/>
          </p:nvSpPr>
          <p:spPr>
            <a:xfrm>
              <a:off x="575310" y="394335"/>
              <a:ext cx="384905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4332B"/>
                  </a:solidFill>
                  <a:latin typeface="Georgia"/>
                  <a:ea typeface="KaiTi"/>
                  <a:cs typeface="Georgia"/>
                </a:rPr>
                <a:t>医生端档案与检查建议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455" y="882968"/>
              <a:ext cx="57950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将患者陈述、结构化字段和检查准备放在同一份可继续确认的诊前档案中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90550" y="1343025"/>
            <a:ext cx="5238750" cy="3781425"/>
            <a:chOff x="590550" y="1343025"/>
            <a:chExt cx="5238750" cy="3781425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1343025"/>
              <a:ext cx="213836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36B45"/>
                  </a:solidFill>
                  <a:latin typeface="Arial"/>
                  <a:ea typeface="Microsoft YaHei"/>
                  <a:cs typeface="Arial"/>
                </a:rPr>
                <a:t>诊前档案与完整度明细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695450"/>
              <a:ext cx="5219700" cy="342900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19050">
              <a:solidFill>
                <a:srgbClr val="72A984"/>
              </a:solidFill>
              <a:prstDash val="lgDash"/>
            </a:ln>
          </p:spPr>
        </p:sp>
        <p:sp>
          <p:nvSpPr>
            <p:cNvPr id="8" name="Rectangle 8"/>
            <p:cNvSpPr/>
            <p:nvPr/>
          </p:nvSpPr>
          <p:spPr>
            <a:xfrm>
              <a:off x="609600" y="1695450"/>
              <a:ext cx="5219700" cy="381000"/>
            </a:xfrm>
            <a:prstGeom prst="roundRect">
              <a:avLst>
                <a:gd name="adj" fmla="val 20000"/>
              </a:avLst>
            </a:prstGeom>
            <a:solidFill>
              <a:srgbClr val="F1F6E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09600" y="1981200"/>
              <a:ext cx="5219700" cy="95250"/>
            </a:xfrm>
            <a:prstGeom prst="rect">
              <a:avLst/>
            </a:prstGeom>
            <a:solidFill>
              <a:srgbClr val="F1F6EF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819150" y="1838325"/>
              <a:ext cx="95250" cy="95250"/>
            </a:xfrm>
            <a:prstGeom prst="ellipse">
              <a:avLst/>
            </a:prstGeom>
            <a:solidFill>
              <a:srgbClr val="C68A3A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990600" y="1838325"/>
              <a:ext cx="95250" cy="95250"/>
            </a:xfrm>
            <a:prstGeom prst="ellipse">
              <a:avLst/>
            </a:prstGeom>
            <a:solidFill>
              <a:srgbClr val="72A984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162050" y="1838325"/>
              <a:ext cx="95250" cy="95250"/>
            </a:xfrm>
            <a:prstGeom prst="ellipse">
              <a:avLst/>
            </a:prstGeom>
            <a:solidFill>
              <a:srgbClr val="D7E2D8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2854321" y="2774950"/>
              <a:ext cx="711208" cy="889005"/>
              <a:chOff x="2854321" y="2774950"/>
              <a:chExt cx="711208" cy="88900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2854321" y="2774950"/>
                <a:ext cx="711208" cy="889005"/>
              </a:xfrm>
              <a:custGeom>
                <a:avLst/>
                <a:gdLst/>
                <a:ahLst/>
                <a:cxnLst/>
                <a:rect l="l" t="t" r="r" b="b"/>
                <a:pathLst>
                  <a:path w="711208" h="889005">
                    <a:moveTo>
                      <a:pt x="355604" y="0"/>
                    </a:moveTo>
                    <a:lnTo>
                      <a:pt x="360805" y="311"/>
                    </a:lnTo>
                    <a:cubicBezTo>
                      <a:pt x="381229" y="2720"/>
                      <a:pt x="397334" y="18825"/>
                      <a:pt x="399743" y="39249"/>
                    </a:cubicBezTo>
                    <a:lnTo>
                      <a:pt x="400054" y="44450"/>
                    </a:lnTo>
                    <a:lnTo>
                      <a:pt x="400054" y="222250"/>
                    </a:lnTo>
                    <a:lnTo>
                      <a:pt x="400276" y="228918"/>
                    </a:lnTo>
                    <a:cubicBezTo>
                      <a:pt x="403563" y="272652"/>
                      <a:pt x="438253" y="307454"/>
                      <a:pt x="481976" y="310884"/>
                    </a:cubicBezTo>
                    <a:lnTo>
                      <a:pt x="488954" y="311150"/>
                    </a:lnTo>
                    <a:lnTo>
                      <a:pt x="666754" y="311150"/>
                    </a:lnTo>
                    <a:lnTo>
                      <a:pt x="671955" y="311461"/>
                    </a:lnTo>
                    <a:cubicBezTo>
                      <a:pt x="692379" y="313870"/>
                      <a:pt x="708485" y="329975"/>
                      <a:pt x="710893" y="350400"/>
                    </a:cubicBezTo>
                    <a:lnTo>
                      <a:pt x="711204" y="355600"/>
                    </a:lnTo>
                    <a:lnTo>
                      <a:pt x="711204" y="755651"/>
                    </a:lnTo>
                    <a:cubicBezTo>
                      <a:pt x="711208" y="826262"/>
                      <a:pt x="656167" y="884636"/>
                      <a:pt x="585678" y="888778"/>
                    </a:cubicBezTo>
                    <a:lnTo>
                      <a:pt x="577854" y="889001"/>
                    </a:lnTo>
                    <a:lnTo>
                      <a:pt x="133354" y="889001"/>
                    </a:lnTo>
                    <a:cubicBezTo>
                      <a:pt x="62743" y="889005"/>
                      <a:pt x="4369" y="833964"/>
                      <a:pt x="226" y="763474"/>
                    </a:cubicBezTo>
                    <a:lnTo>
                      <a:pt x="4" y="755651"/>
                    </a:lnTo>
                    <a:lnTo>
                      <a:pt x="4" y="133350"/>
                    </a:lnTo>
                    <a:cubicBezTo>
                      <a:pt x="0" y="62739"/>
                      <a:pt x="55041" y="4365"/>
                      <a:pt x="125531" y="222"/>
                    </a:cubicBezTo>
                    <a:lnTo>
                      <a:pt x="133354" y="0"/>
                    </a:lnTo>
                    <a:close/>
                    <a:moveTo>
                      <a:pt x="488954" y="622300"/>
                    </a:moveTo>
                    <a:lnTo>
                      <a:pt x="222254" y="622300"/>
                    </a:lnTo>
                    <a:cubicBezTo>
                      <a:pt x="197705" y="622300"/>
                      <a:pt x="177804" y="642201"/>
                      <a:pt x="177804" y="666750"/>
                    </a:cubicBezTo>
                    <a:cubicBezTo>
                      <a:pt x="177804" y="691300"/>
                      <a:pt x="197705" y="711201"/>
                      <a:pt x="222254" y="711201"/>
                    </a:cubicBezTo>
                    <a:lnTo>
                      <a:pt x="488954" y="711201"/>
                    </a:lnTo>
                    <a:cubicBezTo>
                      <a:pt x="513503" y="711201"/>
                      <a:pt x="533404" y="691300"/>
                      <a:pt x="533404" y="666750"/>
                    </a:cubicBezTo>
                    <a:cubicBezTo>
                      <a:pt x="533404" y="642201"/>
                      <a:pt x="513503" y="622300"/>
                      <a:pt x="488954" y="622300"/>
                    </a:cubicBezTo>
                    <a:moveTo>
                      <a:pt x="488954" y="444500"/>
                    </a:moveTo>
                    <a:lnTo>
                      <a:pt x="222254" y="444500"/>
                    </a:lnTo>
                    <a:cubicBezTo>
                      <a:pt x="197705" y="444500"/>
                      <a:pt x="177804" y="464401"/>
                      <a:pt x="177804" y="488950"/>
                    </a:cubicBezTo>
                    <a:cubicBezTo>
                      <a:pt x="177804" y="513499"/>
                      <a:pt x="197705" y="533400"/>
                      <a:pt x="222254" y="533400"/>
                    </a:cubicBezTo>
                    <a:lnTo>
                      <a:pt x="488954" y="533400"/>
                    </a:lnTo>
                    <a:cubicBezTo>
                      <a:pt x="513503" y="533400"/>
                      <a:pt x="533404" y="513499"/>
                      <a:pt x="533404" y="488950"/>
                    </a:cubicBezTo>
                    <a:cubicBezTo>
                      <a:pt x="533404" y="464401"/>
                      <a:pt x="513503" y="444500"/>
                      <a:pt x="488954" y="444500"/>
                    </a:cubicBezTo>
                  </a:path>
                </a:pathLst>
              </a:custGeom>
              <a:solidFill>
                <a:srgbClr val="D7E2D8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343231" y="2819356"/>
                <a:ext cx="177845" cy="177845"/>
              </a:xfrm>
              <a:custGeom>
                <a:avLst/>
                <a:gdLst/>
                <a:ahLst/>
                <a:cxnLst/>
                <a:rect l="l" t="t" r="r" b="b"/>
                <a:pathLst>
                  <a:path w="177845" h="177845">
                    <a:moveTo>
                      <a:pt x="177845" y="177845"/>
                    </a:moveTo>
                    <a:lnTo>
                      <a:pt x="44" y="1778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E2D8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2352187" y="3909536"/>
              <a:ext cx="173452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236B45"/>
                  </a:solidFill>
                  <a:latin typeface="Arial"/>
                  <a:ea typeface="Microsoft YaHei"/>
                  <a:cs typeface="Arial"/>
                </a:rPr>
                <a:t>医生端档案截图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64030" y="4328160"/>
              <a:ext cx="29108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放入结构化档案、问答记录和待确认信息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343650" y="1343025"/>
            <a:ext cx="5238750" cy="3781425"/>
            <a:chOff x="6343650" y="1343025"/>
            <a:chExt cx="5238750" cy="3781425"/>
          </a:xfrm>
        </p:grpSpPr>
        <p:sp>
          <p:nvSpPr>
            <p:cNvPr id="19" name="TextBox 19"/>
            <p:cNvSpPr txBox="1"/>
            <p:nvPr/>
          </p:nvSpPr>
          <p:spPr>
            <a:xfrm>
              <a:off x="6343650" y="134302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36B45"/>
                  </a:solidFill>
                  <a:latin typeface="Arial"/>
                  <a:ea typeface="Microsoft YaHei"/>
                  <a:cs typeface="Arial"/>
                </a:rPr>
                <a:t>推荐检查项目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362700" y="1695450"/>
              <a:ext cx="5219700" cy="342900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19050">
              <a:solidFill>
                <a:srgbClr val="72A984"/>
              </a:solidFill>
              <a:prstDash val="lgDash"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362700" y="1695450"/>
              <a:ext cx="5219700" cy="381000"/>
            </a:xfrm>
            <a:prstGeom prst="roundRect">
              <a:avLst>
                <a:gd name="adj" fmla="val 20000"/>
              </a:avLst>
            </a:prstGeom>
            <a:solidFill>
              <a:srgbClr val="F1F6EF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362700" y="1981200"/>
              <a:ext cx="5219700" cy="95250"/>
            </a:xfrm>
            <a:prstGeom prst="rect">
              <a:avLst/>
            </a:prstGeom>
            <a:solidFill>
              <a:srgbClr val="F1F6EF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6572250" y="1838325"/>
              <a:ext cx="95250" cy="95250"/>
            </a:xfrm>
            <a:prstGeom prst="ellipse">
              <a:avLst/>
            </a:prstGeom>
            <a:solidFill>
              <a:srgbClr val="C68A3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6743700" y="1838325"/>
              <a:ext cx="95250" cy="95250"/>
            </a:xfrm>
            <a:prstGeom prst="ellipse">
              <a:avLst/>
            </a:prstGeom>
            <a:solidFill>
              <a:srgbClr val="72A984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6915150" y="1838325"/>
              <a:ext cx="95250" cy="95250"/>
            </a:xfrm>
            <a:prstGeom prst="ellipse">
              <a:avLst/>
            </a:prstGeom>
            <a:solidFill>
              <a:srgbClr val="D7E2D8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8607415" y="2774950"/>
              <a:ext cx="711220" cy="889001"/>
            </a:xfrm>
            <a:custGeom>
              <a:avLst/>
              <a:gdLst/>
              <a:ahLst/>
              <a:cxnLst/>
              <a:rect l="l" t="t" r="r" b="b"/>
              <a:pathLst>
                <a:path w="711220" h="889001">
                  <a:moveTo>
                    <a:pt x="622177" y="96457"/>
                  </a:moveTo>
                  <a:cubicBezTo>
                    <a:pt x="675533" y="115257"/>
                    <a:pt x="711220" y="165678"/>
                    <a:pt x="711210" y="222250"/>
                  </a:cubicBezTo>
                  <a:lnTo>
                    <a:pt x="711210" y="755651"/>
                  </a:lnTo>
                  <a:cubicBezTo>
                    <a:pt x="711210" y="829298"/>
                    <a:pt x="651507" y="889001"/>
                    <a:pt x="577860" y="889001"/>
                  </a:cubicBezTo>
                  <a:lnTo>
                    <a:pt x="133360" y="889001"/>
                  </a:lnTo>
                  <a:cubicBezTo>
                    <a:pt x="59713" y="889001"/>
                    <a:pt x="10" y="829298"/>
                    <a:pt x="10" y="755651"/>
                  </a:cubicBezTo>
                  <a:lnTo>
                    <a:pt x="10" y="222250"/>
                  </a:lnTo>
                  <a:cubicBezTo>
                    <a:pt x="0" y="165678"/>
                    <a:pt x="35687" y="115257"/>
                    <a:pt x="89043" y="96457"/>
                  </a:cubicBezTo>
                  <a:cubicBezTo>
                    <a:pt x="93092" y="191638"/>
                    <a:pt x="171442" y="266715"/>
                    <a:pt x="266710" y="266700"/>
                  </a:cubicBezTo>
                  <a:lnTo>
                    <a:pt x="444510" y="266700"/>
                  </a:lnTo>
                  <a:cubicBezTo>
                    <a:pt x="535776" y="266708"/>
                    <a:pt x="612226" y="197615"/>
                    <a:pt x="621421" y="106813"/>
                  </a:cubicBezTo>
                  <a:close/>
                  <a:moveTo>
                    <a:pt x="222260" y="400050"/>
                  </a:moveTo>
                  <a:cubicBezTo>
                    <a:pt x="197711" y="400050"/>
                    <a:pt x="177810" y="419951"/>
                    <a:pt x="177810" y="444500"/>
                  </a:cubicBezTo>
                  <a:lnTo>
                    <a:pt x="177810" y="666750"/>
                  </a:lnTo>
                  <a:cubicBezTo>
                    <a:pt x="177810" y="691300"/>
                    <a:pt x="197711" y="711201"/>
                    <a:pt x="222260" y="711201"/>
                  </a:cubicBezTo>
                  <a:cubicBezTo>
                    <a:pt x="246809" y="711201"/>
                    <a:pt x="266710" y="691300"/>
                    <a:pt x="266710" y="666750"/>
                  </a:cubicBezTo>
                  <a:lnTo>
                    <a:pt x="266710" y="444500"/>
                  </a:lnTo>
                  <a:cubicBezTo>
                    <a:pt x="266710" y="419951"/>
                    <a:pt x="246809" y="400050"/>
                    <a:pt x="222260" y="400050"/>
                  </a:cubicBezTo>
                  <a:moveTo>
                    <a:pt x="355610" y="577850"/>
                  </a:moveTo>
                  <a:cubicBezTo>
                    <a:pt x="331061" y="577850"/>
                    <a:pt x="311160" y="597751"/>
                    <a:pt x="311160" y="622300"/>
                  </a:cubicBezTo>
                  <a:lnTo>
                    <a:pt x="311160" y="666750"/>
                  </a:lnTo>
                  <a:cubicBezTo>
                    <a:pt x="311160" y="691300"/>
                    <a:pt x="331061" y="711201"/>
                    <a:pt x="355610" y="711201"/>
                  </a:cubicBezTo>
                  <a:cubicBezTo>
                    <a:pt x="380159" y="711201"/>
                    <a:pt x="400060" y="691300"/>
                    <a:pt x="400060" y="666750"/>
                  </a:cubicBezTo>
                  <a:lnTo>
                    <a:pt x="400060" y="622300"/>
                  </a:lnTo>
                  <a:cubicBezTo>
                    <a:pt x="400060" y="597751"/>
                    <a:pt x="380159" y="577850"/>
                    <a:pt x="355610" y="577850"/>
                  </a:cubicBezTo>
                  <a:moveTo>
                    <a:pt x="488960" y="488950"/>
                  </a:moveTo>
                  <a:cubicBezTo>
                    <a:pt x="464411" y="488950"/>
                    <a:pt x="444510" y="508851"/>
                    <a:pt x="444510" y="533400"/>
                  </a:cubicBezTo>
                  <a:lnTo>
                    <a:pt x="444510" y="666750"/>
                  </a:lnTo>
                  <a:cubicBezTo>
                    <a:pt x="444510" y="691300"/>
                    <a:pt x="464411" y="711201"/>
                    <a:pt x="488960" y="711201"/>
                  </a:cubicBezTo>
                  <a:cubicBezTo>
                    <a:pt x="513509" y="711201"/>
                    <a:pt x="533410" y="691300"/>
                    <a:pt x="533410" y="666750"/>
                  </a:cubicBezTo>
                  <a:lnTo>
                    <a:pt x="533410" y="533400"/>
                  </a:lnTo>
                  <a:cubicBezTo>
                    <a:pt x="533410" y="508851"/>
                    <a:pt x="513509" y="488950"/>
                    <a:pt x="488960" y="488950"/>
                  </a:cubicBezTo>
                  <a:moveTo>
                    <a:pt x="444510" y="0"/>
                  </a:moveTo>
                  <a:cubicBezTo>
                    <a:pt x="493608" y="0"/>
                    <a:pt x="533410" y="39802"/>
                    <a:pt x="533410" y="88900"/>
                  </a:cubicBezTo>
                  <a:cubicBezTo>
                    <a:pt x="533410" y="137998"/>
                    <a:pt x="493608" y="177800"/>
                    <a:pt x="444510" y="177800"/>
                  </a:cubicBezTo>
                  <a:lnTo>
                    <a:pt x="266710" y="177800"/>
                  </a:lnTo>
                  <a:cubicBezTo>
                    <a:pt x="217612" y="177800"/>
                    <a:pt x="177810" y="137998"/>
                    <a:pt x="177810" y="88900"/>
                  </a:cubicBezTo>
                  <a:cubicBezTo>
                    <a:pt x="177810" y="39802"/>
                    <a:pt x="217612" y="0"/>
                    <a:pt x="266710" y="0"/>
                  </a:cubicBezTo>
                  <a:close/>
                </a:path>
              </a:pathLst>
            </a:custGeom>
            <a:solidFill>
              <a:srgbClr val="D7E2D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26052" y="3909536"/>
              <a:ext cx="149299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236B45"/>
                  </a:solidFill>
                  <a:latin typeface="Arial"/>
                  <a:ea typeface="Microsoft YaHei"/>
                  <a:cs typeface="Arial"/>
                </a:rPr>
                <a:t>检查建议截图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77150" y="4328160"/>
              <a:ext cx="25908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放入检查项目、推荐理由与注意事项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9600" y="5410200"/>
            <a:ext cx="10972800" cy="685800"/>
            <a:chOff x="609600" y="5410200"/>
            <a:chExt cx="10972800" cy="685800"/>
          </a:xfrm>
        </p:grpSpPr>
        <p:sp>
          <p:nvSpPr>
            <p:cNvPr id="30" name="Rectangle 30"/>
            <p:cNvSpPr/>
            <p:nvPr/>
          </p:nvSpPr>
          <p:spPr>
            <a:xfrm>
              <a:off x="609600" y="5410200"/>
              <a:ext cx="10972800" cy="685800"/>
            </a:xfrm>
            <a:prstGeom prst="roundRect">
              <a:avLst>
                <a:gd name="adj" fmla="val 11111"/>
              </a:avLst>
            </a:prstGeom>
            <a:solidFill>
              <a:srgbClr val="236B4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900862" y="5594350"/>
              <a:ext cx="331862" cy="317670"/>
            </a:xfrm>
            <a:custGeom>
              <a:avLst/>
              <a:gdLst/>
              <a:ahLst/>
              <a:cxnLst/>
              <a:rect l="l" t="t" r="r" b="b"/>
              <a:pathLst>
                <a:path w="331862" h="317670">
                  <a:moveTo>
                    <a:pt x="165907" y="0"/>
                  </a:moveTo>
                  <a:lnTo>
                    <a:pt x="167780" y="111"/>
                  </a:lnTo>
                  <a:lnTo>
                    <a:pt x="168717" y="238"/>
                  </a:lnTo>
                  <a:lnTo>
                    <a:pt x="169685" y="445"/>
                  </a:lnTo>
                  <a:lnTo>
                    <a:pt x="171447" y="984"/>
                  </a:lnTo>
                  <a:cubicBezTo>
                    <a:pt x="172664" y="1433"/>
                    <a:pt x="173821" y="2030"/>
                    <a:pt x="174892" y="2762"/>
                  </a:cubicBezTo>
                  <a:lnTo>
                    <a:pt x="176543" y="4064"/>
                  </a:lnTo>
                  <a:lnTo>
                    <a:pt x="180591" y="7525"/>
                  </a:lnTo>
                  <a:cubicBezTo>
                    <a:pt x="212616" y="34124"/>
                    <a:pt x="253090" y="48408"/>
                    <a:pt x="294717" y="47800"/>
                  </a:cubicBezTo>
                  <a:lnTo>
                    <a:pt x="300146" y="47641"/>
                  </a:lnTo>
                  <a:cubicBezTo>
                    <a:pt x="307451" y="47308"/>
                    <a:pt x="314039" y="52008"/>
                    <a:pt x="316100" y="59023"/>
                  </a:cubicBezTo>
                  <a:cubicBezTo>
                    <a:pt x="331862" y="112638"/>
                    <a:pt x="325206" y="170352"/>
                    <a:pt x="297656" y="218972"/>
                  </a:cubicBezTo>
                  <a:cubicBezTo>
                    <a:pt x="270106" y="267592"/>
                    <a:pt x="224016" y="302961"/>
                    <a:pt x="169923" y="316993"/>
                  </a:cubicBezTo>
                  <a:cubicBezTo>
                    <a:pt x="167310" y="317670"/>
                    <a:pt x="164567" y="317670"/>
                    <a:pt x="161954" y="316993"/>
                  </a:cubicBezTo>
                  <a:cubicBezTo>
                    <a:pt x="107858" y="302964"/>
                    <a:pt x="61765" y="267597"/>
                    <a:pt x="34211" y="218976"/>
                  </a:cubicBezTo>
                  <a:cubicBezTo>
                    <a:pt x="6657" y="170356"/>
                    <a:pt x="0" y="112640"/>
                    <a:pt x="15761" y="59023"/>
                  </a:cubicBezTo>
                  <a:cubicBezTo>
                    <a:pt x="17823" y="52008"/>
                    <a:pt x="24410" y="47308"/>
                    <a:pt x="31715" y="47641"/>
                  </a:cubicBezTo>
                  <a:cubicBezTo>
                    <a:pt x="75172" y="49627"/>
                    <a:pt x="117806" y="35322"/>
                    <a:pt x="151270" y="7525"/>
                  </a:cubicBezTo>
                  <a:lnTo>
                    <a:pt x="155445" y="3953"/>
                  </a:lnTo>
                  <a:lnTo>
                    <a:pt x="156969" y="2762"/>
                  </a:lnTo>
                  <a:cubicBezTo>
                    <a:pt x="158040" y="2030"/>
                    <a:pt x="159197" y="1433"/>
                    <a:pt x="160414" y="984"/>
                  </a:cubicBezTo>
                  <a:lnTo>
                    <a:pt x="162192" y="445"/>
                  </a:lnTo>
                  <a:cubicBezTo>
                    <a:pt x="162814" y="294"/>
                    <a:pt x="163445" y="183"/>
                    <a:pt x="164081" y="111"/>
                  </a:cubicBezTo>
                  <a:lnTo>
                    <a:pt x="165907" y="0"/>
                  </a:lnTo>
                  <a:close/>
                  <a:moveTo>
                    <a:pt x="224803" y="115777"/>
                  </a:moveTo>
                  <a:cubicBezTo>
                    <a:pt x="221825" y="112796"/>
                    <a:pt x="217785" y="111121"/>
                    <a:pt x="213571" y="111121"/>
                  </a:cubicBezTo>
                  <a:cubicBezTo>
                    <a:pt x="209358" y="111121"/>
                    <a:pt x="205318" y="112796"/>
                    <a:pt x="202340" y="115777"/>
                  </a:cubicBezTo>
                  <a:lnTo>
                    <a:pt x="150063" y="168037"/>
                  </a:lnTo>
                  <a:lnTo>
                    <a:pt x="129537" y="147527"/>
                  </a:lnTo>
                  <a:lnTo>
                    <a:pt x="128045" y="146209"/>
                  </a:lnTo>
                  <a:cubicBezTo>
                    <a:pt x="121423" y="141089"/>
                    <a:pt x="111963" y="141990"/>
                    <a:pt x="106427" y="148268"/>
                  </a:cubicBezTo>
                  <a:cubicBezTo>
                    <a:pt x="100891" y="154547"/>
                    <a:pt x="101181" y="164045"/>
                    <a:pt x="107090" y="169974"/>
                  </a:cubicBezTo>
                  <a:lnTo>
                    <a:pt x="138840" y="201724"/>
                  </a:lnTo>
                  <a:lnTo>
                    <a:pt x="140332" y="203042"/>
                  </a:lnTo>
                  <a:cubicBezTo>
                    <a:pt x="146652" y="207944"/>
                    <a:pt x="155631" y="207379"/>
                    <a:pt x="161287" y="201724"/>
                  </a:cubicBezTo>
                  <a:lnTo>
                    <a:pt x="224787" y="138224"/>
                  </a:lnTo>
                  <a:lnTo>
                    <a:pt x="226105" y="136732"/>
                  </a:lnTo>
                  <a:cubicBezTo>
                    <a:pt x="231007" y="130412"/>
                    <a:pt x="230442" y="121432"/>
                    <a:pt x="224787" y="1157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447800" y="5553075"/>
              <a:ext cx="1928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系统提供整理与提示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983355" y="5569268"/>
              <a:ext cx="30946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1F6EF"/>
                  </a:solidFill>
                  <a:latin typeface="Arial"/>
                  <a:ea typeface="Microsoft YaHei"/>
                  <a:cs typeface="Arial"/>
                </a:rPr>
                <a:t>最终诊断、检查选择与处方由医生完成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96265" y="6325552"/>
            <a:ext cx="10999470" cy="213360"/>
            <a:chOff x="596265" y="6325552"/>
            <a:chExt cx="10999470" cy="213360"/>
          </a:xfrm>
        </p:grpSpPr>
        <p:sp>
          <p:nvSpPr>
            <p:cNvPr id="35" name="TextBox 35"/>
            <p:cNvSpPr txBox="1"/>
            <p:nvPr/>
          </p:nvSpPr>
          <p:spPr>
            <a:xfrm>
              <a:off x="596265" y="632555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成人肥胖中医诊前问诊系统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415046" y="632555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8756D"/>
                  </a:solidFill>
                  <a:latin typeface="Arial"/>
                  <a:ea typeface="Arial"/>
                  <a:cs typeface="Arial"/>
                </a:rPr>
                <a:t>09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36B45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5310" y="413385"/>
            <a:ext cx="4371975" cy="762953"/>
            <a:chOff x="575310" y="413385"/>
            <a:chExt cx="4371975" cy="762953"/>
          </a:xfrm>
        </p:grpSpPr>
        <p:sp>
          <p:nvSpPr>
            <p:cNvPr id="3" name="TextBox 3"/>
            <p:cNvSpPr txBox="1"/>
            <p:nvPr/>
          </p:nvSpPr>
          <p:spPr>
            <a:xfrm>
              <a:off x="575310" y="413385"/>
              <a:ext cx="347100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Georgia"/>
                  <a:ea typeface="KaiTi"/>
                  <a:cs typeface="Georgia"/>
                </a:rPr>
                <a:t>项目成果与应用价值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455" y="902018"/>
              <a:ext cx="43548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1F6EF"/>
                  </a:solidFill>
                  <a:latin typeface="Arial"/>
                  <a:ea typeface="Microsoft YaHei"/>
                  <a:cs typeface="Arial"/>
                </a:rPr>
                <a:t>从诊前收集到医生端使用，形成可持续接续的完整闭环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705225" y="1657350"/>
            <a:ext cx="4600575" cy="2800350"/>
            <a:chOff x="3705225" y="1657350"/>
            <a:chExt cx="4600575" cy="2800350"/>
          </a:xfrm>
        </p:grpSpPr>
        <p:sp>
          <p:nvSpPr>
            <p:cNvPr id="6" name="Line 6"/>
            <p:cNvSpPr/>
            <p:nvPr/>
          </p:nvSpPr>
          <p:spPr>
            <a:xfrm>
              <a:off x="6096000" y="1752600"/>
              <a:ext cx="2009775" cy="1143000"/>
            </a:xfrm>
            <a:custGeom>
              <a:avLst/>
              <a:gdLst/>
              <a:ahLst/>
              <a:cxnLst/>
              <a:rect l="l" t="t" r="r" b="b"/>
              <a:pathLst>
                <a:path w="2009775" h="1143000">
                  <a:moveTo>
                    <a:pt x="0" y="0"/>
                  </a:moveTo>
                  <a:lnTo>
                    <a:pt x="2009775" y="1143000"/>
                  </a:lnTo>
                </a:path>
              </a:pathLst>
            </a:custGeom>
            <a:noFill/>
            <a:ln w="38100">
              <a:solidFill>
                <a:srgbClr val="72A984"/>
              </a:solidFill>
            </a:ln>
          </p:spPr>
        </p:sp>
        <p:sp>
          <p:nvSpPr>
            <p:cNvPr id="7" name="Polygon 7"/>
            <p:cNvSpPr/>
            <p:nvPr/>
          </p:nvSpPr>
          <p:spPr>
            <a:xfrm>
              <a:off x="7991475" y="2771775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57150" y="0"/>
                  </a:moveTo>
                  <a:lnTo>
                    <a:pt x="304800" y="228600"/>
                  </a:lnTo>
                  <a:lnTo>
                    <a:pt x="0" y="161925"/>
                  </a:lnTo>
                  <a:close/>
                </a:path>
              </a:pathLst>
            </a:custGeom>
            <a:solidFill>
              <a:srgbClr val="72A984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6257925" y="3209925"/>
              <a:ext cx="2047875" cy="1143000"/>
            </a:xfrm>
            <a:custGeom>
              <a:avLst/>
              <a:gdLst/>
              <a:ahLst/>
              <a:cxnLst/>
              <a:rect l="l" t="t" r="r" b="b"/>
              <a:pathLst>
                <a:path w="2047875" h="1143000">
                  <a:moveTo>
                    <a:pt x="2047875" y="0"/>
                  </a:moveTo>
                  <a:lnTo>
                    <a:pt x="0" y="1143000"/>
                  </a:lnTo>
                </a:path>
              </a:pathLst>
            </a:custGeom>
            <a:noFill/>
            <a:ln w="38100">
              <a:solidFill>
                <a:srgbClr val="72A984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6096000" y="4171950"/>
              <a:ext cx="304800" cy="285750"/>
            </a:xfrm>
            <a:custGeom>
              <a:avLst/>
              <a:gdLst/>
              <a:ahLst/>
              <a:cxnLst/>
              <a:rect l="l" t="t" r="r" b="b"/>
              <a:pathLst>
                <a:path w="304800" h="285750">
                  <a:moveTo>
                    <a:pt x="304800" y="85725"/>
                  </a:moveTo>
                  <a:lnTo>
                    <a:pt x="0" y="285750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72A984"/>
            </a:solidFill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3886200" y="3209925"/>
              <a:ext cx="2047875" cy="1143000"/>
            </a:xfrm>
            <a:custGeom>
              <a:avLst/>
              <a:gdLst/>
              <a:ahLst/>
              <a:cxnLst/>
              <a:rect l="l" t="t" r="r" b="b"/>
              <a:pathLst>
                <a:path w="2047875" h="1143000">
                  <a:moveTo>
                    <a:pt x="2047875" y="114300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72A984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3705225" y="3105150"/>
              <a:ext cx="352425" cy="190500"/>
            </a:xfrm>
            <a:custGeom>
              <a:avLst/>
              <a:gdLst/>
              <a:ahLst/>
              <a:cxnLst/>
              <a:rect l="l" t="t" r="r" b="b"/>
              <a:pathLst>
                <a:path w="352425" h="190500">
                  <a:moveTo>
                    <a:pt x="304800" y="190500"/>
                  </a:moveTo>
                  <a:lnTo>
                    <a:pt x="0" y="0"/>
                  </a:lnTo>
                  <a:lnTo>
                    <a:pt x="352425" y="9525"/>
                  </a:lnTo>
                  <a:close/>
                </a:path>
              </a:pathLst>
            </a:custGeom>
            <a:solidFill>
              <a:srgbClr val="72A984"/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4086225" y="1752600"/>
              <a:ext cx="2009775" cy="1143000"/>
            </a:xfrm>
            <a:custGeom>
              <a:avLst/>
              <a:gdLst/>
              <a:ahLst/>
              <a:cxnLst/>
              <a:rect l="l" t="t" r="r" b="b"/>
              <a:pathLst>
                <a:path w="2009775" h="1143000">
                  <a:moveTo>
                    <a:pt x="0" y="1143000"/>
                  </a:moveTo>
                  <a:lnTo>
                    <a:pt x="2009775" y="0"/>
                  </a:lnTo>
                </a:path>
              </a:pathLst>
            </a:custGeom>
            <a:noFill/>
            <a:ln w="38100">
              <a:solidFill>
                <a:srgbClr val="72A984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5953125" y="1657350"/>
              <a:ext cx="304800" cy="276225"/>
            </a:xfrm>
            <a:custGeom>
              <a:avLst/>
              <a:gdLst/>
              <a:ahLst/>
              <a:cxnLst/>
              <a:rect l="l" t="t" r="r" b="b"/>
              <a:pathLst>
                <a:path w="304800" h="276225">
                  <a:moveTo>
                    <a:pt x="0" y="190500"/>
                  </a:moveTo>
                  <a:lnTo>
                    <a:pt x="304800" y="0"/>
                  </a:lnTo>
                  <a:lnTo>
                    <a:pt x="123825" y="276225"/>
                  </a:lnTo>
                  <a:close/>
                </a:path>
              </a:pathLst>
            </a:custGeom>
            <a:solidFill>
              <a:srgbClr val="72A984"/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187220" y="2266950"/>
            <a:ext cx="1817561" cy="1676400"/>
            <a:chOff x="5187220" y="2266950"/>
            <a:chExt cx="1817561" cy="1676400"/>
          </a:xfrm>
        </p:grpSpPr>
        <p:sp>
          <p:nvSpPr>
            <p:cNvPr id="15" name="Ellipse 15"/>
            <p:cNvSpPr/>
            <p:nvPr/>
          </p:nvSpPr>
          <p:spPr>
            <a:xfrm>
              <a:off x="5257800" y="2266950"/>
              <a:ext cx="1676400" cy="1676400"/>
            </a:xfrm>
            <a:prstGeom prst="ellipse">
              <a:avLst/>
            </a:prstGeom>
            <a:solidFill>
              <a:srgbClr val="FCFDF9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5880145" y="2616200"/>
              <a:ext cx="431709" cy="444499"/>
            </a:xfrm>
            <a:custGeom>
              <a:avLst/>
              <a:gdLst/>
              <a:ahLst/>
              <a:cxnLst/>
              <a:rect l="l" t="t" r="r" b="b"/>
              <a:pathLst>
                <a:path w="431709" h="444499">
                  <a:moveTo>
                    <a:pt x="193630" y="0"/>
                  </a:moveTo>
                  <a:lnTo>
                    <a:pt x="190296" y="111"/>
                  </a:lnTo>
                  <a:cubicBezTo>
                    <a:pt x="167100" y="1856"/>
                    <a:pt x="149172" y="21189"/>
                    <a:pt x="149180" y="44450"/>
                  </a:cubicBezTo>
                  <a:lnTo>
                    <a:pt x="149180" y="106747"/>
                  </a:lnTo>
                  <a:lnTo>
                    <a:pt x="95218" y="75609"/>
                  </a:lnTo>
                  <a:cubicBezTo>
                    <a:pt x="73958" y="63335"/>
                    <a:pt x="46774" y="70619"/>
                    <a:pt x="34499" y="91878"/>
                  </a:cubicBezTo>
                  <a:lnTo>
                    <a:pt x="12274" y="130372"/>
                  </a:lnTo>
                  <a:lnTo>
                    <a:pt x="10652" y="133439"/>
                  </a:lnTo>
                  <a:cubicBezTo>
                    <a:pt x="652" y="154380"/>
                    <a:pt x="8444" y="179490"/>
                    <a:pt x="28543" y="191090"/>
                  </a:cubicBezTo>
                  <a:lnTo>
                    <a:pt x="82483" y="222250"/>
                  </a:lnTo>
                  <a:lnTo>
                    <a:pt x="28543" y="253409"/>
                  </a:lnTo>
                  <a:cubicBezTo>
                    <a:pt x="7284" y="265684"/>
                    <a:pt x="0" y="292868"/>
                    <a:pt x="12274" y="314128"/>
                  </a:cubicBezTo>
                  <a:lnTo>
                    <a:pt x="34499" y="352621"/>
                  </a:lnTo>
                  <a:lnTo>
                    <a:pt x="36344" y="355555"/>
                  </a:lnTo>
                  <a:cubicBezTo>
                    <a:pt x="49478" y="374687"/>
                    <a:pt x="75121" y="380495"/>
                    <a:pt x="95218" y="368890"/>
                  </a:cubicBezTo>
                  <a:lnTo>
                    <a:pt x="149180" y="337731"/>
                  </a:lnTo>
                  <a:lnTo>
                    <a:pt x="149180" y="400049"/>
                  </a:lnTo>
                  <a:cubicBezTo>
                    <a:pt x="149180" y="424598"/>
                    <a:pt x="169081" y="444499"/>
                    <a:pt x="193630" y="444499"/>
                  </a:cubicBezTo>
                  <a:lnTo>
                    <a:pt x="238080" y="444499"/>
                  </a:lnTo>
                  <a:lnTo>
                    <a:pt x="241413" y="444388"/>
                  </a:lnTo>
                  <a:cubicBezTo>
                    <a:pt x="264609" y="442644"/>
                    <a:pt x="282537" y="423311"/>
                    <a:pt x="282530" y="400049"/>
                  </a:cubicBezTo>
                  <a:lnTo>
                    <a:pt x="282530" y="337731"/>
                  </a:lnTo>
                  <a:lnTo>
                    <a:pt x="336492" y="368912"/>
                  </a:lnTo>
                  <a:cubicBezTo>
                    <a:pt x="357751" y="381186"/>
                    <a:pt x="384936" y="373903"/>
                    <a:pt x="397210" y="352644"/>
                  </a:cubicBezTo>
                  <a:lnTo>
                    <a:pt x="419435" y="314150"/>
                  </a:lnTo>
                  <a:lnTo>
                    <a:pt x="421058" y="311083"/>
                  </a:lnTo>
                  <a:cubicBezTo>
                    <a:pt x="431058" y="290142"/>
                    <a:pt x="423265" y="265032"/>
                    <a:pt x="403167" y="253431"/>
                  </a:cubicBezTo>
                  <a:lnTo>
                    <a:pt x="349204" y="222250"/>
                  </a:lnTo>
                  <a:lnTo>
                    <a:pt x="403167" y="191090"/>
                  </a:lnTo>
                  <a:cubicBezTo>
                    <a:pt x="424426" y="178815"/>
                    <a:pt x="431709" y="151631"/>
                    <a:pt x="419435" y="130372"/>
                  </a:cubicBezTo>
                  <a:lnTo>
                    <a:pt x="397210" y="91878"/>
                  </a:lnTo>
                  <a:lnTo>
                    <a:pt x="395366" y="88944"/>
                  </a:lnTo>
                  <a:cubicBezTo>
                    <a:pt x="382231" y="69812"/>
                    <a:pt x="356588" y="64004"/>
                    <a:pt x="336492" y="75609"/>
                  </a:cubicBezTo>
                  <a:lnTo>
                    <a:pt x="282530" y="106724"/>
                  </a:lnTo>
                  <a:lnTo>
                    <a:pt x="282530" y="44450"/>
                  </a:lnTo>
                  <a:cubicBezTo>
                    <a:pt x="282530" y="19901"/>
                    <a:pt x="262629" y="0"/>
                    <a:pt x="238080" y="0"/>
                  </a:cubicBezTo>
                  <a:lnTo>
                    <a:pt x="193630" y="0"/>
                  </a:lnTo>
                  <a:close/>
                </a:path>
              </a:pathLst>
            </a:custGeom>
            <a:solidFill>
              <a:srgbClr val="236B4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187220" y="3192780"/>
              <a:ext cx="181756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4332B"/>
                  </a:solidFill>
                  <a:latin typeface="Georgia"/>
                  <a:ea typeface="KaiTi"/>
                  <a:cs typeface="Georgia"/>
                </a:rPr>
                <a:t>服务诊中决策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06628" y="35742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8756D"/>
                  </a:solidFill>
                  <a:latin typeface="Arial"/>
                  <a:ea typeface="Microsoft YaHei"/>
                  <a:cs typeface="Arial"/>
                </a:rPr>
                <a:t>医生保留最终判断权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562600" y="1085850"/>
            <a:ext cx="1066800" cy="1066800"/>
            <a:chOff x="5562600" y="1085850"/>
            <a:chExt cx="1066800" cy="1066800"/>
          </a:xfrm>
        </p:grpSpPr>
        <p:sp>
          <p:nvSpPr>
            <p:cNvPr id="20" name="Ellipse 20"/>
            <p:cNvSpPr/>
            <p:nvPr/>
          </p:nvSpPr>
          <p:spPr>
            <a:xfrm>
              <a:off x="5562600" y="1085850"/>
              <a:ext cx="1066800" cy="1066800"/>
            </a:xfrm>
            <a:prstGeom prst="ellipse">
              <a:avLst/>
            </a:prstGeom>
            <a:solidFill>
              <a:srgbClr val="FCFDF9"/>
            </a:solidFill>
            <a:ln w="38100">
              <a:solidFill>
                <a:srgbClr val="C68A3A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5984875" y="1327150"/>
              <a:ext cx="222250" cy="317500"/>
              <a:chOff x="5984875" y="1327150"/>
              <a:chExt cx="222250" cy="3175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016625" y="1327150"/>
                <a:ext cx="158750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158750">
                    <a:moveTo>
                      <a:pt x="79375" y="0"/>
                    </a:moveTo>
                    <a:cubicBezTo>
                      <a:pt x="123213" y="0"/>
                      <a:pt x="158750" y="35537"/>
                      <a:pt x="158750" y="79375"/>
                    </a:cubicBezTo>
                    <a:cubicBezTo>
                      <a:pt x="158750" y="123213"/>
                      <a:pt x="123213" y="158750"/>
                      <a:pt x="79375" y="158750"/>
                    </a:cubicBezTo>
                    <a:cubicBezTo>
                      <a:pt x="35537" y="158750"/>
                      <a:pt x="0" y="123213"/>
                      <a:pt x="0" y="79375"/>
                    </a:cubicBezTo>
                    <a:lnTo>
                      <a:pt x="79" y="75930"/>
                    </a:lnTo>
                    <a:cubicBezTo>
                      <a:pt x="1924" y="33474"/>
                      <a:pt x="36879" y="2"/>
                      <a:pt x="79375" y="0"/>
                    </a:cubicBezTo>
                    <a:close/>
                  </a:path>
                </a:pathLst>
              </a:custGeom>
              <a:solidFill>
                <a:srgbClr val="236B45"/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984875" y="1517650"/>
                <a:ext cx="2222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27000">
                    <a:moveTo>
                      <a:pt x="142875" y="0"/>
                    </a:moveTo>
                    <a:cubicBezTo>
                      <a:pt x="186713" y="0"/>
                      <a:pt x="222250" y="35537"/>
                      <a:pt x="222250" y="79375"/>
                    </a:cubicBezTo>
                    <a:lnTo>
                      <a:pt x="222250" y="95250"/>
                    </a:lnTo>
                    <a:cubicBezTo>
                      <a:pt x="222250" y="112785"/>
                      <a:pt x="208035" y="127000"/>
                      <a:pt x="190500" y="127000"/>
                    </a:cubicBezTo>
                    <a:lnTo>
                      <a:pt x="31750" y="127000"/>
                    </a:lnTo>
                    <a:cubicBezTo>
                      <a:pt x="14215" y="127000"/>
                      <a:pt x="0" y="112785"/>
                      <a:pt x="0" y="95250"/>
                    </a:cubicBezTo>
                    <a:lnTo>
                      <a:pt x="0" y="79375"/>
                    </a:lnTo>
                    <a:cubicBezTo>
                      <a:pt x="0" y="35537"/>
                      <a:pt x="35537" y="0"/>
                      <a:pt x="79375" y="0"/>
                    </a:cubicBezTo>
                    <a:lnTo>
                      <a:pt x="142875" y="0"/>
                    </a:lnTo>
                    <a:close/>
                  </a:path>
                </a:pathLst>
              </a:custGeom>
              <a:solidFill>
                <a:srgbClr val="236B45"/>
              </a:solidFill>
              <a:ln>
                <a:noFill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5700808" y="17687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4332B"/>
                  </a:solidFill>
                  <a:latin typeface="Arial"/>
                  <a:ea typeface="Microsoft YaHei"/>
                  <a:cs typeface="Arial"/>
                </a:rPr>
                <a:t>诊前收集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924800" y="2571750"/>
            <a:ext cx="1066800" cy="1066800"/>
            <a:chOff x="7924800" y="2571750"/>
            <a:chExt cx="1066800" cy="1066800"/>
          </a:xfrm>
        </p:grpSpPr>
        <p:sp>
          <p:nvSpPr>
            <p:cNvPr id="26" name="Ellipse 26"/>
            <p:cNvSpPr/>
            <p:nvPr/>
          </p:nvSpPr>
          <p:spPr>
            <a:xfrm>
              <a:off x="7924800" y="2571750"/>
              <a:ext cx="1066800" cy="1066800"/>
            </a:xfrm>
            <a:prstGeom prst="ellipse">
              <a:avLst/>
            </a:prstGeom>
            <a:solidFill>
              <a:srgbClr val="FCFDF9"/>
            </a:solidFill>
            <a:ln w="38100">
              <a:solidFill>
                <a:srgbClr val="C68A3A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8299450" y="2828925"/>
              <a:ext cx="317501" cy="302368"/>
            </a:xfrm>
            <a:custGeom>
              <a:avLst/>
              <a:gdLst/>
              <a:ahLst/>
              <a:cxnLst/>
              <a:rect l="l" t="t" r="r" b="b"/>
              <a:pathLst>
                <a:path w="317501" h="302368">
                  <a:moveTo>
                    <a:pt x="254001" y="0"/>
                  </a:moveTo>
                  <a:cubicBezTo>
                    <a:pt x="289071" y="0"/>
                    <a:pt x="317501" y="28430"/>
                    <a:pt x="317501" y="63500"/>
                  </a:cubicBezTo>
                  <a:lnTo>
                    <a:pt x="317501" y="190500"/>
                  </a:lnTo>
                  <a:cubicBezTo>
                    <a:pt x="317501" y="225571"/>
                    <a:pt x="289071" y="254001"/>
                    <a:pt x="254001" y="254001"/>
                  </a:cubicBezTo>
                  <a:lnTo>
                    <a:pt x="179007" y="254001"/>
                  </a:lnTo>
                  <a:lnTo>
                    <a:pt x="103410" y="299355"/>
                  </a:lnTo>
                  <a:cubicBezTo>
                    <a:pt x="98784" y="302132"/>
                    <a:pt x="93064" y="302368"/>
                    <a:pt x="88225" y="299984"/>
                  </a:cubicBezTo>
                  <a:cubicBezTo>
                    <a:pt x="83385" y="297599"/>
                    <a:pt x="80088" y="292920"/>
                    <a:pt x="79470" y="287560"/>
                  </a:cubicBezTo>
                  <a:lnTo>
                    <a:pt x="79375" y="285751"/>
                  </a:lnTo>
                  <a:lnTo>
                    <a:pt x="79375" y="254001"/>
                  </a:lnTo>
                  <a:lnTo>
                    <a:pt x="63500" y="254001"/>
                  </a:lnTo>
                  <a:cubicBezTo>
                    <a:pt x="29664" y="254001"/>
                    <a:pt x="1771" y="227469"/>
                    <a:pt x="79" y="193675"/>
                  </a:cubicBezTo>
                  <a:lnTo>
                    <a:pt x="0" y="190500"/>
                  </a:ln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  <a:moveTo>
                    <a:pt x="209550" y="147416"/>
                  </a:moveTo>
                  <a:cubicBezTo>
                    <a:pt x="203290" y="141279"/>
                    <a:pt x="193241" y="141379"/>
                    <a:pt x="187103" y="147638"/>
                  </a:cubicBezTo>
                  <a:cubicBezTo>
                    <a:pt x="179638" y="155259"/>
                    <a:pt x="169419" y="159554"/>
                    <a:pt x="158750" y="159554"/>
                  </a:cubicBezTo>
                  <a:cubicBezTo>
                    <a:pt x="148082" y="159554"/>
                    <a:pt x="137863" y="155259"/>
                    <a:pt x="130398" y="147638"/>
                  </a:cubicBezTo>
                  <a:cubicBezTo>
                    <a:pt x="124234" y="141528"/>
                    <a:pt x="114305" y="141500"/>
                    <a:pt x="108108" y="147576"/>
                  </a:cubicBezTo>
                  <a:cubicBezTo>
                    <a:pt x="101910" y="153652"/>
                    <a:pt x="101741" y="163579"/>
                    <a:pt x="107728" y="169863"/>
                  </a:cubicBezTo>
                  <a:cubicBezTo>
                    <a:pt x="121164" y="183574"/>
                    <a:pt x="139553" y="191300"/>
                    <a:pt x="158750" y="191300"/>
                  </a:cubicBezTo>
                  <a:cubicBezTo>
                    <a:pt x="177947" y="191300"/>
                    <a:pt x="196336" y="183574"/>
                    <a:pt x="209773" y="169863"/>
                  </a:cubicBezTo>
                  <a:cubicBezTo>
                    <a:pt x="215909" y="163602"/>
                    <a:pt x="215810" y="153553"/>
                    <a:pt x="209550" y="147416"/>
                  </a:cubicBezTo>
                  <a:moveTo>
                    <a:pt x="119221" y="79375"/>
                  </a:moveTo>
                  <a:lnTo>
                    <a:pt x="119063" y="79375"/>
                  </a:lnTo>
                  <a:cubicBezTo>
                    <a:pt x="110295" y="79375"/>
                    <a:pt x="103188" y="86483"/>
                    <a:pt x="103188" y="95250"/>
                  </a:cubicBezTo>
                  <a:cubicBezTo>
                    <a:pt x="103188" y="104018"/>
                    <a:pt x="110295" y="111125"/>
                    <a:pt x="119063" y="111125"/>
                  </a:cubicBezTo>
                  <a:lnTo>
                    <a:pt x="119221" y="111125"/>
                  </a:lnTo>
                  <a:cubicBezTo>
                    <a:pt x="127989" y="111125"/>
                    <a:pt x="135097" y="104018"/>
                    <a:pt x="135097" y="95250"/>
                  </a:cubicBezTo>
                  <a:cubicBezTo>
                    <a:pt x="135097" y="86483"/>
                    <a:pt x="127989" y="79375"/>
                    <a:pt x="119221" y="79375"/>
                  </a:cubicBezTo>
                  <a:moveTo>
                    <a:pt x="198597" y="79375"/>
                  </a:moveTo>
                  <a:lnTo>
                    <a:pt x="198438" y="79375"/>
                  </a:lnTo>
                  <a:cubicBezTo>
                    <a:pt x="189670" y="79375"/>
                    <a:pt x="182563" y="86483"/>
                    <a:pt x="182563" y="95250"/>
                  </a:cubicBezTo>
                  <a:cubicBezTo>
                    <a:pt x="182563" y="104018"/>
                    <a:pt x="189670" y="111125"/>
                    <a:pt x="198438" y="111125"/>
                  </a:cubicBezTo>
                  <a:lnTo>
                    <a:pt x="198597" y="111125"/>
                  </a:lnTo>
                  <a:cubicBezTo>
                    <a:pt x="207364" y="111125"/>
                    <a:pt x="214472" y="104018"/>
                    <a:pt x="214472" y="95250"/>
                  </a:cubicBezTo>
                  <a:cubicBezTo>
                    <a:pt x="214472" y="86483"/>
                    <a:pt x="207364" y="79375"/>
                    <a:pt x="198597" y="79375"/>
                  </a:cubicBezTo>
                </a:path>
              </a:pathLst>
            </a:custGeom>
            <a:solidFill>
              <a:srgbClr val="236B4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063008" y="32546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4332B"/>
                  </a:solidFill>
                  <a:latin typeface="Arial"/>
                  <a:ea typeface="Microsoft YaHei"/>
                  <a:cs typeface="Arial"/>
                </a:rPr>
                <a:t>对话追问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562600" y="4057650"/>
            <a:ext cx="1066800" cy="1066800"/>
            <a:chOff x="5562600" y="4057650"/>
            <a:chExt cx="1066800" cy="1066800"/>
          </a:xfrm>
        </p:grpSpPr>
        <p:sp>
          <p:nvSpPr>
            <p:cNvPr id="30" name="Ellipse 30"/>
            <p:cNvSpPr/>
            <p:nvPr/>
          </p:nvSpPr>
          <p:spPr>
            <a:xfrm>
              <a:off x="5562600" y="4057650"/>
              <a:ext cx="1066800" cy="1066800"/>
            </a:xfrm>
            <a:prstGeom prst="ellipse">
              <a:avLst/>
            </a:prstGeom>
            <a:solidFill>
              <a:srgbClr val="FCFDF9"/>
            </a:solidFill>
            <a:ln w="38100">
              <a:solidFill>
                <a:srgbClr val="C68A3A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5968999" y="4298950"/>
              <a:ext cx="254003" cy="317502"/>
              <a:chOff x="5968999" y="4298950"/>
              <a:chExt cx="254003" cy="317502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5968999" y="4298950"/>
                <a:ext cx="254003" cy="317502"/>
              </a:xfrm>
              <a:custGeom>
                <a:avLst/>
                <a:gdLst/>
                <a:ahLst/>
                <a:cxnLst/>
                <a:rect l="l" t="t" r="r" b="b"/>
                <a:pathLst>
                  <a:path w="254003" h="317502">
                    <a:moveTo>
                      <a:pt x="127002" y="0"/>
                    </a:moveTo>
                    <a:lnTo>
                      <a:pt x="128859" y="111"/>
                    </a:lnTo>
                    <a:cubicBezTo>
                      <a:pt x="136153" y="971"/>
                      <a:pt x="141905" y="6723"/>
                      <a:pt x="142766" y="14018"/>
                    </a:cubicBezTo>
                    <a:lnTo>
                      <a:pt x="142877" y="15875"/>
                    </a:lnTo>
                    <a:lnTo>
                      <a:pt x="142877" y="79375"/>
                    </a:lnTo>
                    <a:lnTo>
                      <a:pt x="142956" y="81756"/>
                    </a:lnTo>
                    <a:cubicBezTo>
                      <a:pt x="144130" y="97376"/>
                      <a:pt x="156519" y="109805"/>
                      <a:pt x="172134" y="111030"/>
                    </a:cubicBezTo>
                    <a:lnTo>
                      <a:pt x="174627" y="111125"/>
                    </a:lnTo>
                    <a:lnTo>
                      <a:pt x="238127" y="111125"/>
                    </a:lnTo>
                    <a:lnTo>
                      <a:pt x="239984" y="111236"/>
                    </a:lnTo>
                    <a:cubicBezTo>
                      <a:pt x="247279" y="112097"/>
                      <a:pt x="253031" y="117848"/>
                      <a:pt x="253891" y="125143"/>
                    </a:cubicBezTo>
                    <a:lnTo>
                      <a:pt x="254002" y="127000"/>
                    </a:lnTo>
                    <a:lnTo>
                      <a:pt x="254002" y="269876"/>
                    </a:lnTo>
                    <a:cubicBezTo>
                      <a:pt x="254003" y="295094"/>
                      <a:pt x="234346" y="315942"/>
                      <a:pt x="209171" y="317421"/>
                    </a:cubicBezTo>
                    <a:lnTo>
                      <a:pt x="206377" y="317501"/>
                    </a:lnTo>
                    <a:lnTo>
                      <a:pt x="47627" y="317501"/>
                    </a:lnTo>
                    <a:cubicBezTo>
                      <a:pt x="22408" y="317502"/>
                      <a:pt x="1560" y="297845"/>
                      <a:pt x="81" y="272670"/>
                    </a:cubicBezTo>
                    <a:lnTo>
                      <a:pt x="1" y="269876"/>
                    </a:lnTo>
                    <a:lnTo>
                      <a:pt x="1" y="47625"/>
                    </a:lnTo>
                    <a:cubicBezTo>
                      <a:pt x="0" y="22407"/>
                      <a:pt x="19658" y="1559"/>
                      <a:pt x="44832" y="79"/>
                    </a:cubicBezTo>
                    <a:lnTo>
                      <a:pt x="47627" y="0"/>
                    </a:lnTo>
                    <a:close/>
                    <a:moveTo>
                      <a:pt x="174627" y="222250"/>
                    </a:moveTo>
                    <a:lnTo>
                      <a:pt x="79377" y="222250"/>
                    </a:lnTo>
                    <a:cubicBezTo>
                      <a:pt x="70609" y="222250"/>
                      <a:pt x="63502" y="229358"/>
                      <a:pt x="63502" y="238125"/>
                    </a:cubicBezTo>
                    <a:cubicBezTo>
                      <a:pt x="63502" y="246893"/>
                      <a:pt x="70609" y="254001"/>
                      <a:pt x="79377" y="254001"/>
                    </a:cubicBezTo>
                    <a:lnTo>
                      <a:pt x="174627" y="254001"/>
                    </a:lnTo>
                    <a:cubicBezTo>
                      <a:pt x="183394" y="254001"/>
                      <a:pt x="190502" y="246893"/>
                      <a:pt x="190502" y="238125"/>
                    </a:cubicBezTo>
                    <a:cubicBezTo>
                      <a:pt x="190502" y="229358"/>
                      <a:pt x="183394" y="222250"/>
                      <a:pt x="174627" y="222250"/>
                    </a:cubicBezTo>
                    <a:moveTo>
                      <a:pt x="174627" y="158750"/>
                    </a:moveTo>
                    <a:lnTo>
                      <a:pt x="79377" y="158750"/>
                    </a:lnTo>
                    <a:cubicBezTo>
                      <a:pt x="70609" y="158750"/>
                      <a:pt x="63502" y="165858"/>
                      <a:pt x="63502" y="174625"/>
                    </a:cubicBezTo>
                    <a:cubicBezTo>
                      <a:pt x="63502" y="183393"/>
                      <a:pt x="70609" y="190500"/>
                      <a:pt x="79377" y="190500"/>
                    </a:cubicBezTo>
                    <a:lnTo>
                      <a:pt x="174627" y="190500"/>
                    </a:lnTo>
                    <a:cubicBezTo>
                      <a:pt x="183394" y="190500"/>
                      <a:pt x="190502" y="183393"/>
                      <a:pt x="190502" y="174625"/>
                    </a:cubicBezTo>
                    <a:cubicBezTo>
                      <a:pt x="190502" y="165858"/>
                      <a:pt x="183394" y="158750"/>
                      <a:pt x="174627" y="158750"/>
                    </a:cubicBezTo>
                  </a:path>
                </a:pathLst>
              </a:custGeom>
              <a:solidFill>
                <a:srgbClr val="236B45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143610" y="4314809"/>
                <a:ext cx="63516" cy="63516"/>
              </a:xfrm>
              <a:custGeom>
                <a:avLst/>
                <a:gdLst/>
                <a:ahLst/>
                <a:cxnLst/>
                <a:rect l="l" t="t" r="r" b="b"/>
                <a:pathLst>
                  <a:path w="63516" h="63516">
                    <a:moveTo>
                      <a:pt x="63516" y="63516"/>
                    </a:moveTo>
                    <a:lnTo>
                      <a:pt x="16" y="635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36B45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5700808" y="47405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4332B"/>
                  </a:solidFill>
                  <a:latin typeface="Arial"/>
                  <a:ea typeface="Microsoft YaHei"/>
                  <a:cs typeface="Arial"/>
                </a:rPr>
                <a:t>档案整理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200400" y="2571750"/>
            <a:ext cx="1066800" cy="1066800"/>
            <a:chOff x="3200400" y="2571750"/>
            <a:chExt cx="1066800" cy="1066800"/>
          </a:xfrm>
        </p:grpSpPr>
        <p:sp>
          <p:nvSpPr>
            <p:cNvPr id="36" name="Ellipse 36"/>
            <p:cNvSpPr/>
            <p:nvPr/>
          </p:nvSpPr>
          <p:spPr>
            <a:xfrm>
              <a:off x="3200400" y="2571750"/>
              <a:ext cx="1066800" cy="1066800"/>
            </a:xfrm>
            <a:prstGeom prst="ellipse">
              <a:avLst/>
            </a:prstGeom>
            <a:solidFill>
              <a:srgbClr val="FCFDF9"/>
            </a:solidFill>
            <a:ln w="38100">
              <a:solidFill>
                <a:srgbClr val="C68A3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3606797" y="2813050"/>
              <a:ext cx="254007" cy="317501"/>
            </a:xfrm>
            <a:custGeom>
              <a:avLst/>
              <a:gdLst/>
              <a:ahLst/>
              <a:cxnLst/>
              <a:rect l="l" t="t" r="r" b="b"/>
              <a:pathLst>
                <a:path w="254007" h="317501">
                  <a:moveTo>
                    <a:pt x="222206" y="34449"/>
                  </a:moveTo>
                  <a:cubicBezTo>
                    <a:pt x="241262" y="41163"/>
                    <a:pt x="254007" y="59171"/>
                    <a:pt x="254004" y="79375"/>
                  </a:cubicBezTo>
                  <a:lnTo>
                    <a:pt x="254004" y="269876"/>
                  </a:lnTo>
                  <a:cubicBezTo>
                    <a:pt x="254004" y="296178"/>
                    <a:pt x="232681" y="317501"/>
                    <a:pt x="206379" y="317501"/>
                  </a:cubicBezTo>
                  <a:lnTo>
                    <a:pt x="47629" y="317501"/>
                  </a:lnTo>
                  <a:cubicBezTo>
                    <a:pt x="21326" y="317501"/>
                    <a:pt x="3" y="296178"/>
                    <a:pt x="3" y="269876"/>
                  </a:cubicBezTo>
                  <a:lnTo>
                    <a:pt x="3" y="79375"/>
                  </a:lnTo>
                  <a:cubicBezTo>
                    <a:pt x="0" y="59171"/>
                    <a:pt x="12745" y="41163"/>
                    <a:pt x="31801" y="34449"/>
                  </a:cubicBezTo>
                  <a:cubicBezTo>
                    <a:pt x="33247" y="68442"/>
                    <a:pt x="61229" y="95255"/>
                    <a:pt x="95254" y="95250"/>
                  </a:cubicBezTo>
                  <a:lnTo>
                    <a:pt x="158754" y="95250"/>
                  </a:lnTo>
                  <a:cubicBezTo>
                    <a:pt x="191349" y="95253"/>
                    <a:pt x="218652" y="70577"/>
                    <a:pt x="221936" y="38148"/>
                  </a:cubicBezTo>
                  <a:close/>
                  <a:moveTo>
                    <a:pt x="79379" y="142875"/>
                  </a:moveTo>
                  <a:cubicBezTo>
                    <a:pt x="70611" y="142875"/>
                    <a:pt x="63504" y="149983"/>
                    <a:pt x="63504" y="158750"/>
                  </a:cubicBezTo>
                  <a:lnTo>
                    <a:pt x="63504" y="238125"/>
                  </a:lnTo>
                  <a:cubicBezTo>
                    <a:pt x="63504" y="246893"/>
                    <a:pt x="70611" y="254001"/>
                    <a:pt x="79379" y="254001"/>
                  </a:cubicBezTo>
                  <a:cubicBezTo>
                    <a:pt x="88146" y="254001"/>
                    <a:pt x="95254" y="246893"/>
                    <a:pt x="95254" y="238125"/>
                  </a:cubicBezTo>
                  <a:lnTo>
                    <a:pt x="95254" y="158750"/>
                  </a:lnTo>
                  <a:cubicBezTo>
                    <a:pt x="95254" y="149983"/>
                    <a:pt x="88146" y="142875"/>
                    <a:pt x="79379" y="142875"/>
                  </a:cubicBezTo>
                  <a:moveTo>
                    <a:pt x="127004" y="206375"/>
                  </a:moveTo>
                  <a:cubicBezTo>
                    <a:pt x="118236" y="206375"/>
                    <a:pt x="111129" y="213483"/>
                    <a:pt x="111129" y="222250"/>
                  </a:cubicBezTo>
                  <a:lnTo>
                    <a:pt x="111129" y="238125"/>
                  </a:lnTo>
                  <a:cubicBezTo>
                    <a:pt x="111129" y="246893"/>
                    <a:pt x="118236" y="254001"/>
                    <a:pt x="127004" y="254001"/>
                  </a:cubicBezTo>
                  <a:cubicBezTo>
                    <a:pt x="135771" y="254001"/>
                    <a:pt x="142879" y="246893"/>
                    <a:pt x="142879" y="238125"/>
                  </a:cubicBezTo>
                  <a:lnTo>
                    <a:pt x="142879" y="222250"/>
                  </a:lnTo>
                  <a:cubicBezTo>
                    <a:pt x="142879" y="213483"/>
                    <a:pt x="135771" y="206375"/>
                    <a:pt x="127004" y="206375"/>
                  </a:cubicBezTo>
                  <a:moveTo>
                    <a:pt x="174629" y="174625"/>
                  </a:moveTo>
                  <a:cubicBezTo>
                    <a:pt x="165861" y="174625"/>
                    <a:pt x="158754" y="181733"/>
                    <a:pt x="158754" y="190500"/>
                  </a:cubicBezTo>
                  <a:lnTo>
                    <a:pt x="158754" y="238125"/>
                  </a:lnTo>
                  <a:cubicBezTo>
                    <a:pt x="158754" y="246893"/>
                    <a:pt x="165861" y="254001"/>
                    <a:pt x="174629" y="254001"/>
                  </a:cubicBezTo>
                  <a:cubicBezTo>
                    <a:pt x="183396" y="254001"/>
                    <a:pt x="190504" y="246893"/>
                    <a:pt x="190504" y="238125"/>
                  </a:cubicBezTo>
                  <a:lnTo>
                    <a:pt x="190504" y="190500"/>
                  </a:lnTo>
                  <a:cubicBezTo>
                    <a:pt x="190504" y="181733"/>
                    <a:pt x="183396" y="174625"/>
                    <a:pt x="174629" y="174625"/>
                  </a:cubicBezTo>
                  <a:moveTo>
                    <a:pt x="158754" y="0"/>
                  </a:moveTo>
                  <a:cubicBezTo>
                    <a:pt x="176289" y="0"/>
                    <a:pt x="190504" y="14215"/>
                    <a:pt x="190504" y="31750"/>
                  </a:cubicBezTo>
                  <a:cubicBezTo>
                    <a:pt x="190504" y="49285"/>
                    <a:pt x="176289" y="63500"/>
                    <a:pt x="158754" y="63500"/>
                  </a:cubicBezTo>
                  <a:lnTo>
                    <a:pt x="95254" y="63500"/>
                  </a:lnTo>
                  <a:cubicBezTo>
                    <a:pt x="77719" y="63500"/>
                    <a:pt x="63504" y="49285"/>
                    <a:pt x="63504" y="31750"/>
                  </a:cubicBezTo>
                  <a:cubicBezTo>
                    <a:pt x="63504" y="14215"/>
                    <a:pt x="77719" y="0"/>
                    <a:pt x="95254" y="0"/>
                  </a:cubicBezTo>
                  <a:close/>
                </a:path>
              </a:pathLst>
            </a:custGeom>
            <a:solidFill>
              <a:srgbClr val="236B4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338608" y="32546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4332B"/>
                  </a:solidFill>
                  <a:latin typeface="Arial"/>
                  <a:ea typeface="Microsoft YaHei"/>
                  <a:cs typeface="Arial"/>
                </a:rPr>
                <a:t>检查准备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95400" y="5543550"/>
            <a:ext cx="9757410" cy="590550"/>
            <a:chOff x="1295400" y="5543550"/>
            <a:chExt cx="9757410" cy="590550"/>
          </a:xfrm>
        </p:grpSpPr>
        <p:sp>
          <p:nvSpPr>
            <p:cNvPr id="40" name="Line 40"/>
            <p:cNvSpPr/>
            <p:nvPr/>
          </p:nvSpPr>
          <p:spPr>
            <a:xfrm>
              <a:off x="1295400" y="5543550"/>
              <a:ext cx="9601200" cy="9525"/>
            </a:xfrm>
            <a:custGeom>
              <a:avLst/>
              <a:gdLst/>
              <a:ahLst/>
              <a:cxnLst/>
              <a:rect l="l" t="t" r="r" b="b"/>
              <a:pathLst>
                <a:path w="9601200" h="9525">
                  <a:moveTo>
                    <a:pt x="0" y="0"/>
                  </a:moveTo>
                  <a:lnTo>
                    <a:pt x="9601200" y="0"/>
                  </a:lnTo>
                </a:path>
              </a:pathLst>
            </a:custGeom>
            <a:noFill/>
            <a:ln w="19050">
              <a:solidFill>
                <a:srgbClr val="72A984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811655" y="58169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患者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385060" y="5833110"/>
              <a:ext cx="21107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1F6EF"/>
                  </a:solidFill>
                  <a:latin typeface="Arial"/>
                  <a:ea typeface="Microsoft YaHei"/>
                  <a:cs typeface="Arial"/>
                </a:rPr>
                <a:t>降低表达负担，减少重复描述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4610100" y="573405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19050">
              <a:solidFill>
                <a:srgbClr val="72A984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40655" y="58169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医生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814060" y="583311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1F6EF"/>
                  </a:solidFill>
                  <a:latin typeface="Arial"/>
                  <a:ea typeface="Microsoft YaHei"/>
                  <a:cs typeface="Arial"/>
                </a:rPr>
                <a:t>快速发现缺口、冲突和风险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8039100" y="573405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19050">
              <a:solidFill>
                <a:srgbClr val="72A984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688705" y="58169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系统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62110" y="583311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1F6EF"/>
                  </a:solidFill>
                  <a:latin typeface="Arial"/>
                  <a:ea typeface="Microsoft YaHei"/>
                  <a:cs typeface="Arial"/>
                </a:rPr>
                <a:t>资料可追溯，流程可接续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3880271" y="6336982"/>
            <a:ext cx="443145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Georgia"/>
                <a:ea typeface="KaiTi"/>
                <a:cs typeface="Georgia"/>
              </a:rPr>
              <a:t>把患者说过的话，变成医生接得住的资料。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2731</Words>
  <Application>Microsoft Office PowerPoint</Application>
  <PresentationFormat>宽屏</PresentationFormat>
  <Paragraphs>157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其贵 马</cp:lastModifiedBy>
  <cp:revision>1</cp:revision>
  <dcterms:created xsi:type="dcterms:W3CDTF">2026-08-23T16:32:21Z</dcterms:created>
  <dcterms:modified xsi:type="dcterms:W3CDTF">2026-08-23T16:40:19Z</dcterms:modified>
  <cp:category/>
  <cp:contentStatus/>
  <dc:language/>
</cp:coreProperties>
</file>