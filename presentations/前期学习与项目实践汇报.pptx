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4" r:id="rId28"/>
    <p:sldId id="282" r:id="rId29"/>
    <p:sldId id="283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63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72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这一部分汇报前期学习如何为当前项目建立能力基础。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学习分为前端、后端和 Agent 三条线，最后在医疗 AI 场景中汇合。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每条学习线都通过可运行的练习原型验证，而不是只停留在阅读知识点。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从页面交互、接口规则到智能流程，能力逐步迁移到医生可用的诊前资料服务。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前端学习使我能够组织用户输入、状态变化和清晰的页面反馈。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Todo List 练习覆盖了常见的表单、编辑、筛选、状态和持久化交互。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这些前端能力后来用于问诊表单、进度、聊天历史和结果展示。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后端学习的重点是将输入、规则和响应封装成可验证的 API。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BMI 计算器跑通了前端输入、后端规则计算与 JSON 结果展示的闭环。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BMI 原型让我明确：关键数值和阈值要由规则计算，模型更适合理解语言。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大模型 API 原型用于探索症状资料如何进入结构化处理流程。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接口可靠性还依赖密钥管理、JSON 解析、参数校验和失败兜底。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Dify 和 Ollama 的平台实践帮助我快速理解模型、知识库、提示词和工具的组合方式。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RAG 练习跑通了资料上传、检索和拼接提示词的完整链路。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对话原型重点练习多轮采集和结构化总结，当前项目已收敛了它的医疗边界。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Function Calling 和 MCP 让我理解 Agent 如何按需调用外部工具。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LangChain 学习把 RAG 从平台能力拆解为可独立理解的模块。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LangGraph 练习说明多轮状态与长期记录需要分别管理。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DeepAgents 实践将工具、记忆和数据层编排为可运行的智能体原型。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前期学习验证技术路径，当前项目则将能力收敛为安全、可核对的诊前信息采集。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下面进入项目实践部分：成人肥胖诊前问诊系统。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系统服务于诊中准备，最终判断仍由医生完成。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项目改造解决固定问答、状态不稳和过早结束三类问题。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规则负责确定性判断，AI 负责理解、解释和自然追问。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系统从基础资料开始，经过开放描述和分层追问，最后输出档案与检查候选。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成人流程先校验基础资料，BMI 等数值由服务端规则计算。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对话式追问一次推进一个信息目标，并保留用户历史表达。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完整度由基础资料、病因风险、中医资料和安全信息四层共同决定。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追问结束不依赖固定轮次，而取决于资料、风险、矛盾和澄清状态。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患者端提供安全可理解的摘要，医生端提供证据、冲突与执行依据。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下一步将补充端到端测试、访问控制与文档收口。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4360" y="651510"/>
            <a:ext cx="10988040" cy="424815"/>
            <a:chOff x="594360" y="651510"/>
            <a:chExt cx="10988040" cy="424815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24079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第一部分 / 前期学习与能力准备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066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9D7CE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46735" y="1989772"/>
            <a:ext cx="4712256" cy="2332197"/>
            <a:chOff x="546735" y="1989772"/>
            <a:chExt cx="4712256" cy="2332197"/>
          </a:xfrm>
        </p:grpSpPr>
        <p:sp>
          <p:nvSpPr>
            <p:cNvPr id="6" name="TextBox 6"/>
            <p:cNvSpPr txBox="1"/>
            <p:nvPr/>
          </p:nvSpPr>
          <p:spPr>
            <a:xfrm>
              <a:off x="546735" y="1989772"/>
              <a:ext cx="2898076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9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前期学习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6735" y="2742248"/>
              <a:ext cx="3591163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95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与能力准备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38175" y="3619500"/>
              <a:ext cx="781050" cy="66675"/>
            </a:xfrm>
            <a:prstGeom prst="rect">
              <a:avLst/>
            </a:prstGeom>
            <a:solidFill>
              <a:srgbClr val="E07A5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85788" y="3940969"/>
              <a:ext cx="467320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从前后端基础到医疗 AI Agent 的能力积累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372475" y="1781175"/>
            <a:ext cx="2108409" cy="3143250"/>
            <a:chOff x="8372475" y="1781175"/>
            <a:chExt cx="2108409" cy="3143250"/>
          </a:xfrm>
        </p:grpSpPr>
        <p:sp>
          <p:nvSpPr>
            <p:cNvPr id="11" name="Line 11"/>
            <p:cNvSpPr/>
            <p:nvPr/>
          </p:nvSpPr>
          <p:spPr>
            <a:xfrm>
              <a:off x="8686800" y="2000250"/>
              <a:ext cx="9525" cy="2724150"/>
            </a:xfrm>
            <a:custGeom>
              <a:avLst/>
              <a:gdLst/>
              <a:ahLst/>
              <a:cxnLst/>
              <a:rect l="l" t="t" r="r" b="b"/>
              <a:pathLst>
                <a:path w="9525" h="2724150">
                  <a:moveTo>
                    <a:pt x="0" y="0"/>
                  </a:moveTo>
                  <a:lnTo>
                    <a:pt x="0" y="2724150"/>
                  </a:lnTo>
                </a:path>
              </a:pathLst>
            </a:custGeom>
            <a:noFill/>
            <a:ln w="28575">
              <a:solidFill>
                <a:srgbClr val="C9D7CE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372475" y="1781175"/>
              <a:ext cx="628650" cy="62865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372475" y="3038475"/>
              <a:ext cx="628650" cy="628650"/>
            </a:xfrm>
            <a:prstGeom prst="ellipse">
              <a:avLst/>
            </a:prstGeom>
            <a:solidFill>
              <a:srgbClr val="4C8C7B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8372475" y="4295775"/>
              <a:ext cx="628650" cy="628650"/>
            </a:xfrm>
            <a:prstGeom prst="ellipse">
              <a:avLst/>
            </a:prstGeom>
            <a:solidFill>
              <a:srgbClr val="E07A5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62737" y="2019300"/>
              <a:ext cx="24812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62737" y="3276600"/>
              <a:ext cx="24812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后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62737" y="4533900"/>
              <a:ext cx="24812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17342" y="19854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前端交互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17342" y="32427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服务接口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217342" y="4500086"/>
              <a:ext cx="126354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Agent 能力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94360" y="6115050"/>
            <a:ext cx="10988040" cy="457200"/>
            <a:chOff x="594360" y="6115050"/>
            <a:chExt cx="10988040" cy="457200"/>
          </a:xfrm>
        </p:grpSpPr>
        <p:sp>
          <p:nvSpPr>
            <p:cNvPr id="22" name="Line 22"/>
            <p:cNvSpPr/>
            <p:nvPr/>
          </p:nvSpPr>
          <p:spPr>
            <a:xfrm>
              <a:off x="609600" y="61150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9D7C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4360" y="6328410"/>
              <a:ext cx="14946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学习积累 → 项目实践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143488" y="632841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9595" y="651510"/>
            <a:ext cx="5310664" cy="1251109"/>
            <a:chOff x="569595" y="651510"/>
            <a:chExt cx="5310664" cy="1251109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学习路线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513009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从基础开发到医疗 AI 应用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9598" y="1582579"/>
              <a:ext cx="529066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基本要求提供方向，学习内容通过可运行练习逐步沉淀。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9610" y="2404110"/>
            <a:ext cx="2392680" cy="1882140"/>
            <a:chOff x="689610" y="2404110"/>
            <a:chExt cx="2392680" cy="1882140"/>
          </a:xfrm>
        </p:grpSpPr>
        <p:sp>
          <p:nvSpPr>
            <p:cNvPr id="7" name="TextBox 7"/>
            <p:cNvSpPr txBox="1"/>
            <p:nvPr/>
          </p:nvSpPr>
          <p:spPr>
            <a:xfrm>
              <a:off x="689610" y="240411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16280" y="3249930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前端学习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3900" y="3695700"/>
              <a:ext cx="235839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E6D65"/>
                  </a:solidFill>
                  <a:latin typeface="Arial"/>
                  <a:ea typeface="Arial"/>
                  <a:cs typeface="Arial"/>
                </a:rPr>
                <a:t>HTML · CSS · JavaScript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3900" y="3981450"/>
              <a:ext cx="22683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E6D65"/>
                  </a:solidFill>
                  <a:latin typeface="Arial"/>
                  <a:ea typeface="Arial"/>
                  <a:cs typeface="Arial"/>
                </a:rPr>
                <a:t>Vue · Vite · TypeScript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613910" y="2404110"/>
            <a:ext cx="2512695" cy="1882140"/>
            <a:chOff x="4613910" y="2404110"/>
            <a:chExt cx="2512695" cy="1882140"/>
          </a:xfrm>
        </p:grpSpPr>
        <p:sp>
          <p:nvSpPr>
            <p:cNvPr id="12" name="TextBox 12"/>
            <p:cNvSpPr txBox="1"/>
            <p:nvPr/>
          </p:nvSpPr>
          <p:spPr>
            <a:xfrm>
              <a:off x="4613910" y="240411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4C8C7B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40580" y="3249930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后端学习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48200" y="3695700"/>
              <a:ext cx="24784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E6D65"/>
                  </a:solidFill>
                  <a:latin typeface="Arial"/>
                  <a:ea typeface="Arial"/>
                  <a:cs typeface="Arial"/>
                </a:rPr>
                <a:t>FastAPI · REST API · JSON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48200" y="3981450"/>
              <a:ext cx="18683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规则计算 · 参数校验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38210" y="2404110"/>
            <a:ext cx="3562826" cy="1882140"/>
            <a:chOff x="8538210" y="2404110"/>
            <a:chExt cx="3562826" cy="1882140"/>
          </a:xfrm>
        </p:grpSpPr>
        <p:sp>
          <p:nvSpPr>
            <p:cNvPr id="17" name="TextBox 17"/>
            <p:cNvSpPr txBox="1"/>
            <p:nvPr/>
          </p:nvSpPr>
          <p:spPr>
            <a:xfrm>
              <a:off x="8538210" y="240411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E07A5F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64880" y="3249930"/>
              <a:ext cx="153822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Agent 学习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72500" y="3695700"/>
              <a:ext cx="158829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E6D65"/>
                  </a:solidFill>
                  <a:latin typeface="Arial"/>
                  <a:ea typeface="Arial"/>
                  <a:cs typeface="Arial"/>
                </a:rPr>
                <a:t>Dify · RAG · MCP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72500" y="3981450"/>
              <a:ext cx="35285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E6D65"/>
                  </a:solidFill>
                  <a:latin typeface="Arial"/>
                  <a:ea typeface="Arial"/>
                  <a:cs typeface="Arial"/>
                </a:rPr>
                <a:t>LangChain · LangGraph · DeepAgents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5257800"/>
            <a:ext cx="10972800" cy="1371600"/>
            <a:chOff x="609600" y="5257800"/>
            <a:chExt cx="10972800" cy="1371600"/>
          </a:xfrm>
        </p:grpSpPr>
        <p:sp>
          <p:nvSpPr>
            <p:cNvPr id="22" name="Rectangle 22"/>
            <p:cNvSpPr/>
            <p:nvPr/>
          </p:nvSpPr>
          <p:spPr>
            <a:xfrm>
              <a:off x="609600" y="5257800"/>
              <a:ext cx="10972800" cy="685800"/>
            </a:xfrm>
            <a:prstGeom prst="roundRect">
              <a:avLst>
                <a:gd name="adj" fmla="val 8333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2492" y="5500211"/>
              <a:ext cx="8255841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三条学习线最终交汇为：可交互的界面、可验证的服务、可控的智能化流程。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9595" y="651510"/>
            <a:ext cx="6254782" cy="1251109"/>
            <a:chOff x="569595" y="651510"/>
            <a:chExt cx="6254782" cy="1251109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07A5F"/>
                  </a:solidFill>
                  <a:latin typeface="Arial"/>
                  <a:ea typeface="Microsoft YaHei"/>
                  <a:cs typeface="Arial"/>
                </a:rPr>
                <a:t>学习成果总览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625478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已完成的学习不止停留在知识点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9598" y="1582579"/>
              <a:ext cx="508063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每条学习线都通过一个或多个可运行原型来检验理解。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" y="2381250"/>
            <a:ext cx="3333750" cy="2647950"/>
            <a:chOff x="609600" y="2381250"/>
            <a:chExt cx="3333750" cy="2647950"/>
          </a:xfrm>
        </p:grpSpPr>
        <p:sp>
          <p:nvSpPr>
            <p:cNvPr id="7" name="Rectangle 7"/>
            <p:cNvSpPr/>
            <p:nvPr/>
          </p:nvSpPr>
          <p:spPr>
            <a:xfrm>
              <a:off x="609600" y="2381250"/>
              <a:ext cx="3333750" cy="2647950"/>
            </a:xfrm>
            <a:prstGeom prst="roundRect">
              <a:avLst>
                <a:gd name="adj" fmla="val 2158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6778" y="2775109"/>
              <a:ext cx="1273397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页面交互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3445" y="3298508"/>
              <a:ext cx="145008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15221C"/>
                  </a:solidFill>
                  <a:latin typeface="Arial"/>
                  <a:ea typeface="Arial"/>
                  <a:cs typeface="Arial"/>
                </a:rPr>
                <a:t>Vue Todo List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7255" y="3683318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列表、编辑、筛选、状态切换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7255" y="396906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本地持久化与响应式渲染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29125" y="2381250"/>
            <a:ext cx="3333750" cy="2647950"/>
            <a:chOff x="4429125" y="2381250"/>
            <a:chExt cx="3333750" cy="2647950"/>
          </a:xfrm>
        </p:grpSpPr>
        <p:sp>
          <p:nvSpPr>
            <p:cNvPr id="13" name="Rectangle 13"/>
            <p:cNvSpPr/>
            <p:nvPr/>
          </p:nvSpPr>
          <p:spPr>
            <a:xfrm>
              <a:off x="4429125" y="2381250"/>
              <a:ext cx="3333750" cy="2647950"/>
            </a:xfrm>
            <a:prstGeom prst="roundRect">
              <a:avLst>
                <a:gd name="adj" fmla="val 2158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06302" y="2775109"/>
              <a:ext cx="1273397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服务接口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12970" y="3298508"/>
              <a:ext cx="238520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FastAPI BMI 与 LLM API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16780" y="3683318"/>
              <a:ext cx="25005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参数、规则、JSON 与异常处理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16780" y="396906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前端请求到后端响应的闭环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248650" y="2381250"/>
            <a:ext cx="3333750" cy="2647950"/>
            <a:chOff x="8248650" y="2381250"/>
            <a:chExt cx="3333750" cy="2647950"/>
          </a:xfrm>
        </p:grpSpPr>
        <p:sp>
          <p:nvSpPr>
            <p:cNvPr id="19" name="Rectangle 19"/>
            <p:cNvSpPr/>
            <p:nvPr/>
          </p:nvSpPr>
          <p:spPr>
            <a:xfrm>
              <a:off x="8248650" y="2381250"/>
              <a:ext cx="3333750" cy="2647950"/>
            </a:xfrm>
            <a:prstGeom prst="roundRect">
              <a:avLst>
                <a:gd name="adj" fmla="val 2158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25828" y="2775109"/>
              <a:ext cx="1577935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智能体流程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32495" y="3298508"/>
              <a:ext cx="224218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RAG 与持久记忆 Agent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36305" y="3683318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知识库、工具调用与状态管理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36305" y="396906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多轮对话的流程编排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87692" y="5719286"/>
            <a:ext cx="10762298" cy="910114"/>
            <a:chOff x="587692" y="5719286"/>
            <a:chExt cx="10762298" cy="910114"/>
          </a:xfrm>
        </p:grpSpPr>
        <p:sp>
          <p:nvSpPr>
            <p:cNvPr id="25" name="TextBox 25"/>
            <p:cNvSpPr txBox="1"/>
            <p:nvPr/>
          </p:nvSpPr>
          <p:spPr>
            <a:xfrm>
              <a:off x="587692" y="5719286"/>
              <a:ext cx="680666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学习方式：以小原型验证抽象概念，再将能力迁移到实际项目。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651510"/>
            <a:ext cx="6254782" cy="1020128"/>
            <a:chOff x="569595" y="651510"/>
            <a:chExt cx="6254782" cy="1020128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能力迁移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625478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学习内容如何逐步指向医疗场景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52729" y="2981325"/>
            <a:ext cx="9696271" cy="1569244"/>
            <a:chOff x="1352729" y="2981325"/>
            <a:chExt cx="9696271" cy="1569244"/>
          </a:xfrm>
        </p:grpSpPr>
        <p:sp>
          <p:nvSpPr>
            <p:cNvPr id="6" name="Line 6"/>
            <p:cNvSpPr/>
            <p:nvPr/>
          </p:nvSpPr>
          <p:spPr>
            <a:xfrm>
              <a:off x="1733550" y="3476625"/>
              <a:ext cx="8724900" cy="9525"/>
            </a:xfrm>
            <a:custGeom>
              <a:avLst/>
              <a:gdLst/>
              <a:ahLst/>
              <a:cxnLst/>
              <a:rect l="l" t="t" r="r" b="b"/>
              <a:pathLst>
                <a:path w="8724900" h="9525">
                  <a:moveTo>
                    <a:pt x="0" y="0"/>
                  </a:moveTo>
                  <a:lnTo>
                    <a:pt x="8724900" y="0"/>
                  </a:lnTo>
                </a:path>
              </a:pathLst>
            </a:custGeom>
            <a:noFill/>
            <a:ln w="38100">
              <a:solidFill>
                <a:srgbClr val="C9D7CE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428750" y="2981325"/>
              <a:ext cx="990600" cy="99060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4305300" y="2981325"/>
              <a:ext cx="990600" cy="990600"/>
            </a:xfrm>
            <a:prstGeom prst="ellipse">
              <a:avLst/>
            </a:prstGeom>
            <a:solidFill>
              <a:srgbClr val="4C8C7B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7181850" y="2981325"/>
              <a:ext cx="990600" cy="990600"/>
            </a:xfrm>
            <a:prstGeom prst="ellipse">
              <a:avLst/>
            </a:prstGeom>
            <a:solidFill>
              <a:srgbClr val="E07A5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0058400" y="2981325"/>
              <a:ext cx="990600" cy="99060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49158" y="3377565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交互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25708" y="3377565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接口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02258" y="3377565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智能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78808" y="3377565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服务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52729" y="4230529"/>
              <a:ext cx="114264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输入与反馈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29279" y="4230529"/>
              <a:ext cx="114264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规则与数据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05829" y="4230529"/>
              <a:ext cx="114264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检索与追问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092642" y="4230529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医生核对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5448300"/>
            <a:ext cx="10972800" cy="1181100"/>
            <a:chOff x="609600" y="5448300"/>
            <a:chExt cx="10972800" cy="1181100"/>
          </a:xfrm>
        </p:grpSpPr>
        <p:sp>
          <p:nvSpPr>
            <p:cNvPr id="20" name="Rectangle 20"/>
            <p:cNvSpPr/>
            <p:nvPr/>
          </p:nvSpPr>
          <p:spPr>
            <a:xfrm>
              <a:off x="609600" y="5448300"/>
              <a:ext cx="10972800" cy="533400"/>
            </a:xfrm>
            <a:prstGeom prst="roundRect">
              <a:avLst>
                <a:gd name="adj" fmla="val 10714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94398" y="5630704"/>
              <a:ext cx="659282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前期学习的价值，在于把“能做出原型”推进到“能拆解可靠业务流程”。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9595" y="651510"/>
            <a:ext cx="6812352" cy="1251109"/>
            <a:chOff x="569595" y="651510"/>
            <a:chExt cx="6812352" cy="1251109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前端学习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493161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先理解页面如何响应用户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9598" y="1582579"/>
              <a:ext cx="6792349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以 HTML、CSS、JavaScript 为基础，使用 Vue 组织可维护的交互页面。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45820" y="2741295"/>
            <a:ext cx="10469880" cy="973455"/>
            <a:chOff x="845820" y="2741295"/>
            <a:chExt cx="10469880" cy="973455"/>
          </a:xfrm>
        </p:grpSpPr>
        <p:sp>
          <p:nvSpPr>
            <p:cNvPr id="7" name="TextBox 7"/>
            <p:cNvSpPr txBox="1"/>
            <p:nvPr/>
          </p:nvSpPr>
          <p:spPr>
            <a:xfrm>
              <a:off x="845820" y="2741295"/>
              <a:ext cx="86746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HTML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76300" y="3190875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C9D7CE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7250" y="3409950"/>
              <a:ext cx="1438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页面结构与语义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46270" y="2741295"/>
              <a:ext cx="61542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4C8C7B"/>
                  </a:solidFill>
                  <a:latin typeface="Arial"/>
                  <a:ea typeface="Arial"/>
                  <a:cs typeface="Arial"/>
                </a:rPr>
                <a:t>CSS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4476750" y="3190875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C9D7CE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57700" y="3409950"/>
              <a:ext cx="22383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布局、视觉层级与响应式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46720" y="2741295"/>
              <a:ext cx="182518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E07A5F"/>
                  </a:solidFill>
                  <a:latin typeface="Arial"/>
                  <a:ea typeface="Arial"/>
                  <a:cs typeface="Arial"/>
                </a:rPr>
                <a:t>JavaScript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077200" y="3190875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C9D7C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58150" y="3409950"/>
              <a:ext cx="20383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事件、状态与数据交互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4552950"/>
            <a:ext cx="10972800" cy="2076450"/>
            <a:chOff x="609600" y="4552950"/>
            <a:chExt cx="10972800" cy="2076450"/>
          </a:xfrm>
        </p:grpSpPr>
        <p:sp>
          <p:nvSpPr>
            <p:cNvPr id="17" name="Rectangle 17"/>
            <p:cNvSpPr/>
            <p:nvPr/>
          </p:nvSpPr>
          <p:spPr>
            <a:xfrm>
              <a:off x="609600" y="4552950"/>
              <a:ext cx="10972800" cy="1000125"/>
            </a:xfrm>
            <a:prstGeom prst="roundRect">
              <a:avLst>
                <a:gd name="adj" fmla="val 5714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9635" y="4790122"/>
              <a:ext cx="900504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Vue 3 的作用：将界面状态、用户操作和页面更新组织成清晰的组件逻辑。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7255" y="5159692"/>
              <a:ext cx="51829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同步学习 Vite、TypeScript、Git 和 npm/pnpm 等工程化工具。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651510"/>
            <a:ext cx="7776422" cy="1020128"/>
            <a:chOff x="569595" y="651510"/>
            <a:chExt cx="7776422" cy="1020128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0302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Vue 练习原型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777642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Todo List：用完整交互理解响应式开发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9600" y="2095500"/>
            <a:ext cx="10972800" cy="1745456"/>
            <a:chOff x="609600" y="2095500"/>
            <a:chExt cx="10972800" cy="1745456"/>
          </a:xfrm>
        </p:grpSpPr>
        <p:sp>
          <p:nvSpPr>
            <p:cNvPr id="6" name="Rectangle 6"/>
            <p:cNvSpPr/>
            <p:nvPr/>
          </p:nvSpPr>
          <p:spPr>
            <a:xfrm>
              <a:off x="609600" y="2095500"/>
              <a:ext cx="10972800" cy="590550"/>
            </a:xfrm>
            <a:prstGeom prst="roundRect">
              <a:avLst>
                <a:gd name="adj" fmla="val 9677"/>
              </a:avLst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92492" y="2290286"/>
              <a:ext cx="553862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任务添加 → 编辑 → 完成 → 筛选 → 清除 → 本地持久化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19138" y="3178969"/>
              <a:ext cx="136028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输入与事件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4852" y="3551396"/>
              <a:ext cx="322859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v-model、键盘事件、点击与失焦处理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86238" y="3178969"/>
              <a:ext cx="136028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状态与渲染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91952" y="3551396"/>
              <a:ext cx="268702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ref、computed、v-for、v-if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53338" y="3178969"/>
              <a:ext cx="162282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体验与持久化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59052" y="3551396"/>
              <a:ext cx="290555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编辑聚焦、空状态、localStorage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4714875"/>
            <a:ext cx="10972800" cy="1914525"/>
            <a:chOff x="609600" y="4714875"/>
            <a:chExt cx="10972800" cy="1914525"/>
          </a:xfrm>
        </p:grpSpPr>
        <p:sp>
          <p:nvSpPr>
            <p:cNvPr id="15" name="Rectangle 15"/>
            <p:cNvSpPr/>
            <p:nvPr/>
          </p:nvSpPr>
          <p:spPr>
            <a:xfrm>
              <a:off x="609600" y="4714875"/>
              <a:ext cx="10972800" cy="895350"/>
            </a:xfrm>
            <a:prstGeom prst="roundRect">
              <a:avLst>
                <a:gd name="adj" fmla="val 6383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96302" y="4942046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E07A5F"/>
                  </a:solidFill>
                  <a:latin typeface="Arial"/>
                  <a:ea typeface="Microsoft YaHei"/>
                  <a:cs typeface="Arial"/>
                </a:rPr>
                <a:t>学习收获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2492" y="5252561"/>
              <a:ext cx="857788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把一个“用户操作”拆成状态变化、界面更新与数据保存，为后续业务页面打下基础。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651510"/>
            <a:ext cx="5372672" cy="1020128"/>
            <a:chOff x="569595" y="651510"/>
            <a:chExt cx="5372672" cy="1020128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前端能力沉淀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537267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从练习页面带走的三类能力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48665" y="2248852"/>
            <a:ext cx="2492692" cy="1346836"/>
            <a:chOff x="748665" y="2248852"/>
            <a:chExt cx="2492692" cy="1346836"/>
          </a:xfrm>
        </p:grpSpPr>
        <p:sp>
          <p:nvSpPr>
            <p:cNvPr id="6" name="TextBox 6"/>
            <p:cNvSpPr txBox="1"/>
            <p:nvPr/>
          </p:nvSpPr>
          <p:spPr>
            <a:xfrm>
              <a:off x="748665" y="2248852"/>
              <a:ext cx="1237012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状态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79145" y="2965132"/>
              <a:ext cx="24622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把用户填写、进度和结果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79145" y="3260408"/>
              <a:ext cx="224218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变为可管理的数据状态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349115" y="2248852"/>
            <a:ext cx="2492692" cy="1346836"/>
            <a:chOff x="4349115" y="2248852"/>
            <a:chExt cx="2492692" cy="1346836"/>
          </a:xfrm>
        </p:grpSpPr>
        <p:sp>
          <p:nvSpPr>
            <p:cNvPr id="10" name="TextBox 10"/>
            <p:cNvSpPr txBox="1"/>
            <p:nvPr/>
          </p:nvSpPr>
          <p:spPr>
            <a:xfrm>
              <a:off x="4349115" y="2248852"/>
              <a:ext cx="1237012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4C8C7B"/>
                  </a:solidFill>
                  <a:latin typeface="Arial"/>
                  <a:ea typeface="Microsoft YaHei"/>
                  <a:cs typeface="Arial"/>
                </a:rPr>
                <a:t>渲染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79595" y="2965132"/>
              <a:ext cx="24622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根据状态实时更新页面，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79595" y="3260408"/>
              <a:ext cx="18791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减少手动操作 DOM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949565" y="2248852"/>
            <a:ext cx="2492692" cy="1346836"/>
            <a:chOff x="7949565" y="2248852"/>
            <a:chExt cx="2492692" cy="1346836"/>
          </a:xfrm>
        </p:grpSpPr>
        <p:sp>
          <p:nvSpPr>
            <p:cNvPr id="14" name="TextBox 14"/>
            <p:cNvSpPr txBox="1"/>
            <p:nvPr/>
          </p:nvSpPr>
          <p:spPr>
            <a:xfrm>
              <a:off x="7949565" y="2248852"/>
              <a:ext cx="1237012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E07A5F"/>
                  </a:solidFill>
                  <a:latin typeface="Arial"/>
                  <a:ea typeface="Microsoft YaHei"/>
                  <a:cs typeface="Arial"/>
                </a:rPr>
                <a:t>体验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80045" y="2965132"/>
              <a:ext cx="24622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关注输入、提示、空状态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80045" y="3260408"/>
              <a:ext cx="20221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与异常场景的连续性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4953000"/>
            <a:ext cx="10972800" cy="1676400"/>
            <a:chOff x="609600" y="4953000"/>
            <a:chExt cx="10972800" cy="1676400"/>
          </a:xfrm>
        </p:grpSpPr>
        <p:sp>
          <p:nvSpPr>
            <p:cNvPr id="18" name="Rectangle 18"/>
            <p:cNvSpPr/>
            <p:nvPr/>
          </p:nvSpPr>
          <p:spPr>
            <a:xfrm>
              <a:off x="609600" y="4953000"/>
              <a:ext cx="10972800" cy="762000"/>
            </a:xfrm>
            <a:prstGeom prst="roundRect">
              <a:avLst>
                <a:gd name="adj" fmla="val 7500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91540" y="5225415"/>
              <a:ext cx="785869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迁移到项目：支撑了诊前资料表单、对话历史、流程进度和结果展示。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9595" y="651510"/>
            <a:ext cx="6254782" cy="1251109"/>
            <a:chOff x="569595" y="651510"/>
            <a:chExt cx="6254782" cy="1251109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后端学习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625478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把业务规则封装为可验证的服务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9598" y="1582579"/>
              <a:ext cx="617277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以 FastAPI 为主，练习路由、参数、响应、异常和本地服务启动。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81150" y="2876550"/>
            <a:ext cx="8020050" cy="1295400"/>
            <a:chOff x="1581150" y="2876550"/>
            <a:chExt cx="8020050" cy="1295400"/>
          </a:xfrm>
        </p:grpSpPr>
        <p:sp>
          <p:nvSpPr>
            <p:cNvPr id="7" name="Ellipse 7"/>
            <p:cNvSpPr/>
            <p:nvPr/>
          </p:nvSpPr>
          <p:spPr>
            <a:xfrm>
              <a:off x="1581150" y="2933700"/>
              <a:ext cx="1181100" cy="1181100"/>
            </a:xfrm>
            <a:prstGeom prst="ellipse">
              <a:avLst/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85355" y="3417094"/>
              <a:ext cx="57269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请求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762250" y="3524250"/>
              <a:ext cx="1885950" cy="9525"/>
            </a:xfrm>
            <a:custGeom>
              <a:avLst/>
              <a:gdLst/>
              <a:ahLst/>
              <a:cxnLst/>
              <a:rect l="l" t="t" r="r" b="b"/>
              <a:pathLst>
                <a:path w="1885950" h="9525">
                  <a:moveTo>
                    <a:pt x="0" y="0"/>
                  </a:moveTo>
                  <a:lnTo>
                    <a:pt x="1885950" y="0"/>
                  </a:lnTo>
                </a:path>
              </a:pathLst>
            </a:custGeom>
            <a:noFill/>
            <a:ln w="38100">
              <a:solidFill>
                <a:srgbClr val="4C8C7B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4476750" y="3419475"/>
              <a:ext cx="171450" cy="209550"/>
            </a:xfrm>
            <a:custGeom>
              <a:avLst/>
              <a:gdLst/>
              <a:ahLst/>
              <a:cxnLst/>
              <a:rect l="l" t="t" r="r" b="b"/>
              <a:pathLst>
                <a:path w="171450" h="209550">
                  <a:moveTo>
                    <a:pt x="171450" y="104775"/>
                  </a:moveTo>
                  <a:lnTo>
                    <a:pt x="0" y="0"/>
                  </a:lnTo>
                  <a:lnTo>
                    <a:pt x="0" y="209550"/>
                  </a:lnTo>
                  <a:close/>
                </a:path>
              </a:pathLst>
            </a:custGeom>
            <a:solidFill>
              <a:srgbClr val="4C8C7B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4914900" y="2876550"/>
              <a:ext cx="1295400" cy="129540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99162" y="3261836"/>
              <a:ext cx="52687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规则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99162" y="3538061"/>
              <a:ext cx="52687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服务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210300" y="3524250"/>
              <a:ext cx="1885950" cy="9525"/>
            </a:xfrm>
            <a:custGeom>
              <a:avLst/>
              <a:gdLst/>
              <a:ahLst/>
              <a:cxnLst/>
              <a:rect l="l" t="t" r="r" b="b"/>
              <a:pathLst>
                <a:path w="1885950" h="9525">
                  <a:moveTo>
                    <a:pt x="0" y="0"/>
                  </a:moveTo>
                  <a:lnTo>
                    <a:pt x="1885950" y="0"/>
                  </a:lnTo>
                </a:path>
              </a:pathLst>
            </a:custGeom>
            <a:noFill/>
            <a:ln w="38100">
              <a:solidFill>
                <a:srgbClr val="4C8C7B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7924800" y="3419475"/>
              <a:ext cx="171450" cy="209550"/>
            </a:xfrm>
            <a:custGeom>
              <a:avLst/>
              <a:gdLst/>
              <a:ahLst/>
              <a:cxnLst/>
              <a:rect l="l" t="t" r="r" b="b"/>
              <a:pathLst>
                <a:path w="171450" h="209550">
                  <a:moveTo>
                    <a:pt x="171450" y="104775"/>
                  </a:moveTo>
                  <a:lnTo>
                    <a:pt x="0" y="0"/>
                  </a:lnTo>
                  <a:lnTo>
                    <a:pt x="0" y="209550"/>
                  </a:lnTo>
                  <a:close/>
                </a:path>
              </a:pathLst>
            </a:custGeom>
            <a:solidFill>
              <a:srgbClr val="4C8C7B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8420100" y="2933700"/>
              <a:ext cx="1181100" cy="1181100"/>
            </a:xfrm>
            <a:prstGeom prst="ellipse">
              <a:avLst/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24305" y="3417094"/>
              <a:ext cx="57269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响应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89598" y="4935379"/>
            <a:ext cx="10760392" cy="1694021"/>
            <a:chOff x="589598" y="4935379"/>
            <a:chExt cx="10760392" cy="1694021"/>
          </a:xfrm>
        </p:grpSpPr>
        <p:sp>
          <p:nvSpPr>
            <p:cNvPr id="19" name="TextBox 19"/>
            <p:cNvSpPr txBox="1"/>
            <p:nvPr/>
          </p:nvSpPr>
          <p:spPr>
            <a:xfrm>
              <a:off x="589598" y="4935379"/>
              <a:ext cx="709688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接口承担的三件事：接收可信输入、执行确定性规则、返回结构化数据。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2455" y="5350192"/>
              <a:ext cx="46968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这也是后续把 BMI、流程状态和档案结果交给前端的基础。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651510"/>
            <a:ext cx="6651731" cy="1020128"/>
            <a:chOff x="569595" y="651510"/>
            <a:chExt cx="6651731" cy="1020128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3578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FastAPI 练习原型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665173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BMI 计算器：完成一次前后端闭环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2324100"/>
            <a:ext cx="2647950" cy="2381250"/>
            <a:chOff x="609600" y="2324100"/>
            <a:chExt cx="2647950" cy="2381250"/>
          </a:xfrm>
        </p:grpSpPr>
        <p:sp>
          <p:nvSpPr>
            <p:cNvPr id="6" name="Rectangle 6"/>
            <p:cNvSpPr/>
            <p:nvPr/>
          </p:nvSpPr>
          <p:spPr>
            <a:xfrm>
              <a:off x="609600" y="2324100"/>
              <a:ext cx="2647950" cy="2381250"/>
            </a:xfrm>
            <a:prstGeom prst="roundRect">
              <a:avLst>
                <a:gd name="adj" fmla="val 2400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9635" y="26660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前端输入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93445" y="3174682"/>
              <a:ext cx="4819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身高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3445" y="3546158"/>
              <a:ext cx="4819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体重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7255" y="4045268"/>
              <a:ext cx="13034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fetch 发送请求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772025" y="2324100"/>
            <a:ext cx="2647950" cy="2381250"/>
            <a:chOff x="4772025" y="2324100"/>
            <a:chExt cx="2647950" cy="2381250"/>
          </a:xfrm>
        </p:grpSpPr>
        <p:sp>
          <p:nvSpPr>
            <p:cNvPr id="12" name="Rectangle 12"/>
            <p:cNvSpPr/>
            <p:nvPr/>
          </p:nvSpPr>
          <p:spPr>
            <a:xfrm>
              <a:off x="4772025" y="2324100"/>
              <a:ext cx="2647950" cy="2381250"/>
            </a:xfrm>
            <a:prstGeom prst="roundRect">
              <a:avLst>
                <a:gd name="adj" fmla="val 2400"/>
              </a:avLst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052060" y="2666048"/>
              <a:ext cx="105975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后端 API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55870" y="3174682"/>
              <a:ext cx="90001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计算 BMI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55870" y="3546158"/>
              <a:ext cx="13620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判断体重等级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59680" y="4045268"/>
              <a:ext cx="8803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返回 JSON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934450" y="2324100"/>
            <a:ext cx="2647950" cy="2381250"/>
            <a:chOff x="8934450" y="2324100"/>
            <a:chExt cx="2647950" cy="2381250"/>
          </a:xfrm>
        </p:grpSpPr>
        <p:sp>
          <p:nvSpPr>
            <p:cNvPr id="18" name="Rectangle 18"/>
            <p:cNvSpPr/>
            <p:nvPr/>
          </p:nvSpPr>
          <p:spPr>
            <a:xfrm>
              <a:off x="8934450" y="2324100"/>
              <a:ext cx="2647950" cy="2381250"/>
            </a:xfrm>
            <a:prstGeom prst="roundRect">
              <a:avLst>
                <a:gd name="adj" fmla="val 2400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14485" y="26660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页面反馈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218295" y="3174682"/>
              <a:ext cx="90001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BMI 数值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18295" y="3546158"/>
              <a:ext cx="9220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体重等级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22105" y="404526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动态渲染结果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88645" y="3514725"/>
            <a:ext cx="10761345" cy="3114675"/>
            <a:chOff x="588645" y="3514725"/>
            <a:chExt cx="10761345" cy="3114675"/>
          </a:xfrm>
        </p:grpSpPr>
        <p:sp>
          <p:nvSpPr>
            <p:cNvPr id="24" name="Line 24"/>
            <p:cNvSpPr/>
            <p:nvPr/>
          </p:nvSpPr>
          <p:spPr>
            <a:xfrm>
              <a:off x="3257550" y="3514725"/>
              <a:ext cx="1514475" cy="9525"/>
            </a:xfrm>
            <a:custGeom>
              <a:avLst/>
              <a:gdLst/>
              <a:ahLst/>
              <a:cxnLst/>
              <a:rect l="l" t="t" r="r" b="b"/>
              <a:pathLst>
                <a:path w="1514475" h="9525">
                  <a:moveTo>
                    <a:pt x="0" y="0"/>
                  </a:moveTo>
                  <a:lnTo>
                    <a:pt x="1514475" y="0"/>
                  </a:lnTo>
                </a:path>
              </a:pathLst>
            </a:custGeom>
            <a:noFill/>
            <a:ln w="38100">
              <a:solidFill>
                <a:srgbClr val="4C8C7B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419975" y="3514725"/>
              <a:ext cx="1514475" cy="9525"/>
            </a:xfrm>
            <a:custGeom>
              <a:avLst/>
              <a:gdLst/>
              <a:ahLst/>
              <a:cxnLst/>
              <a:rect l="l" t="t" r="r" b="b"/>
              <a:pathLst>
                <a:path w="1514475" h="9525">
                  <a:moveTo>
                    <a:pt x="0" y="0"/>
                  </a:moveTo>
                  <a:lnTo>
                    <a:pt x="1514475" y="0"/>
                  </a:lnTo>
                </a:path>
              </a:pathLst>
            </a:custGeom>
            <a:noFill/>
            <a:ln w="38100">
              <a:solidFill>
                <a:srgbClr val="4C8C7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8645" y="5403532"/>
              <a:ext cx="7896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收获：理解了页面、接口、确定性规则和结构化响应如何组成一个可用工具。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9595" y="651510"/>
            <a:ext cx="7179898" cy="1251109"/>
            <a:chOff x="569595" y="651510"/>
            <a:chExt cx="7179898" cy="1251109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规则计算的启发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537267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关键数值由确定性规则计算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9598" y="1582579"/>
              <a:ext cx="715989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BMI 原型带来的重要认识：涉及阈值和安全边界的内容，不能交给模型猜测。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28725" y="2667000"/>
            <a:ext cx="5484495" cy="2019300"/>
            <a:chOff x="1228725" y="2667000"/>
            <a:chExt cx="5484495" cy="2019300"/>
          </a:xfrm>
        </p:grpSpPr>
        <p:sp>
          <p:nvSpPr>
            <p:cNvPr id="7" name="TextBox 7"/>
            <p:cNvSpPr txBox="1"/>
            <p:nvPr/>
          </p:nvSpPr>
          <p:spPr>
            <a:xfrm>
              <a:off x="1228725" y="2900362"/>
              <a:ext cx="13173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规则擅长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36345" y="3469958"/>
              <a:ext cx="4819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计算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36345" y="3822382"/>
              <a:ext cx="4819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校验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36345" y="4174808"/>
              <a:ext cx="4819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分级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4514850" y="2667000"/>
              <a:ext cx="9525" cy="2019300"/>
            </a:xfrm>
            <a:custGeom>
              <a:avLst/>
              <a:gdLst/>
              <a:ahLst/>
              <a:cxnLst/>
              <a:rect l="l" t="t" r="r" b="b"/>
              <a:pathLst>
                <a:path w="9525" h="2019300">
                  <a:moveTo>
                    <a:pt x="0" y="0"/>
                  </a:moveTo>
                  <a:lnTo>
                    <a:pt x="0" y="2019300"/>
                  </a:lnTo>
                </a:path>
              </a:pathLst>
            </a:custGeom>
            <a:noFill/>
            <a:ln w="19050">
              <a:solidFill>
                <a:srgbClr val="C9D7CE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343525" y="2900362"/>
              <a:ext cx="13173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E07A5F"/>
                  </a:solidFill>
                  <a:latin typeface="Arial"/>
                  <a:ea typeface="Microsoft YaHei"/>
                  <a:cs typeface="Arial"/>
                </a:rPr>
                <a:t>模型擅长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51145" y="3469958"/>
              <a:ext cx="13620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理解自然语言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51145" y="3822382"/>
              <a:ext cx="9220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解释术语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351145" y="4174808"/>
              <a:ext cx="9220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组织追问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5314950"/>
            <a:ext cx="10972800" cy="1314450"/>
            <a:chOff x="609600" y="5314950"/>
            <a:chExt cx="10972800" cy="1314450"/>
          </a:xfrm>
        </p:grpSpPr>
        <p:sp>
          <p:nvSpPr>
            <p:cNvPr id="17" name="Rectangle 17"/>
            <p:cNvSpPr/>
            <p:nvPr/>
          </p:nvSpPr>
          <p:spPr>
            <a:xfrm>
              <a:off x="609600" y="5314950"/>
              <a:ext cx="10972800" cy="628650"/>
            </a:xfrm>
            <a:prstGeom prst="roundRect">
              <a:avLst>
                <a:gd name="adj" fmla="val 9091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93445" y="5527358"/>
              <a:ext cx="726156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这条分工直接成为当前项目“规则负责判断，AI 负责理解”的设计原则。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10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9595" y="651510"/>
            <a:ext cx="7577947" cy="1251109"/>
            <a:chOff x="569595" y="651510"/>
            <a:chExt cx="7577947" cy="1251109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大模型 API 原型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757794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完成症状信息到结构化结果的接口探索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9598" y="1582579"/>
              <a:ext cx="740142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使用 FastAPI 接收症状与舌象，将提示词发送给兼容 OpenAI 协议的模型服务。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2714625"/>
            <a:ext cx="10972800" cy="1238250"/>
            <a:chOff x="609600" y="2714625"/>
            <a:chExt cx="10972800" cy="1238250"/>
          </a:xfrm>
        </p:grpSpPr>
        <p:sp>
          <p:nvSpPr>
            <p:cNvPr id="7" name="Rectangle 7"/>
            <p:cNvSpPr/>
            <p:nvPr/>
          </p:nvSpPr>
          <p:spPr>
            <a:xfrm>
              <a:off x="609600" y="2714625"/>
              <a:ext cx="2571750" cy="1238250"/>
            </a:xfrm>
            <a:prstGeom prst="roundRect">
              <a:avLst>
                <a:gd name="adj" fmla="val 4615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0588" y="3036094"/>
              <a:ext cx="57269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输入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6302" y="3446621"/>
              <a:ext cx="155638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症状、舌象等资料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810125" y="2714625"/>
              <a:ext cx="2571750" cy="1238250"/>
            </a:xfrm>
            <a:prstGeom prst="roundRect">
              <a:avLst>
                <a:gd name="adj" fmla="val 4615"/>
              </a:avLst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091112" y="3036094"/>
              <a:ext cx="109775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模型调用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96828" y="3446621"/>
              <a:ext cx="155638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提示词与响应解析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010650" y="2714625"/>
              <a:ext cx="2571750" cy="1238250"/>
            </a:xfrm>
            <a:prstGeom prst="roundRect">
              <a:avLst>
                <a:gd name="adj" fmla="val 4615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91638" y="3036094"/>
              <a:ext cx="57269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297352" y="3446621"/>
              <a:ext cx="155638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结构化字段与提示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3181350" y="3333750"/>
              <a:ext cx="1628775" cy="9525"/>
            </a:xfrm>
            <a:custGeom>
              <a:avLst/>
              <a:gdLst/>
              <a:ahLst/>
              <a:cxnLst/>
              <a:rect l="l" t="t" r="r" b="b"/>
              <a:pathLst>
                <a:path w="1628775" h="9525">
                  <a:moveTo>
                    <a:pt x="0" y="0"/>
                  </a:moveTo>
                  <a:lnTo>
                    <a:pt x="1628775" y="0"/>
                  </a:lnTo>
                </a:path>
              </a:pathLst>
            </a:custGeom>
            <a:noFill/>
            <a:ln w="38100">
              <a:solidFill>
                <a:srgbClr val="4C8C7B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7381875" y="3333750"/>
              <a:ext cx="1628775" cy="9525"/>
            </a:xfrm>
            <a:custGeom>
              <a:avLst/>
              <a:gdLst/>
              <a:ahLst/>
              <a:cxnLst/>
              <a:rect l="l" t="t" r="r" b="b"/>
              <a:pathLst>
                <a:path w="1628775" h="9525">
                  <a:moveTo>
                    <a:pt x="0" y="0"/>
                  </a:moveTo>
                  <a:lnTo>
                    <a:pt x="1628775" y="0"/>
                  </a:lnTo>
                </a:path>
              </a:pathLst>
            </a:custGeom>
            <a:noFill/>
            <a:ln w="38100">
              <a:solidFill>
                <a:srgbClr val="4C8C7B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89598" y="5259229"/>
            <a:ext cx="10760392" cy="1370171"/>
            <a:chOff x="589598" y="5259229"/>
            <a:chExt cx="10760392" cy="1370171"/>
          </a:xfrm>
        </p:grpSpPr>
        <p:sp>
          <p:nvSpPr>
            <p:cNvPr id="19" name="TextBox 19"/>
            <p:cNvSpPr txBox="1"/>
            <p:nvPr/>
          </p:nvSpPr>
          <p:spPr>
            <a:xfrm>
              <a:off x="589598" y="5259229"/>
              <a:ext cx="842005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C94A3D"/>
                  </a:solidFill>
                  <a:latin typeface="Arial"/>
                  <a:ea typeface="Microsoft YaHei"/>
                  <a:cs typeface="Arial"/>
                </a:rPr>
                <a:t>定位：这是能力探索原型；当前项目已将对模型的使用收敛到理解、追问与资料整理。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11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651510"/>
            <a:ext cx="6254782" cy="1020128"/>
            <a:chOff x="569595" y="651510"/>
            <a:chExt cx="6254782" cy="1020128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可靠性学习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625478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结构化输出不是只写一个提示词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91515" y="2325052"/>
            <a:ext cx="10102692" cy="1918336"/>
            <a:chOff x="691515" y="2325052"/>
            <a:chExt cx="10102692" cy="1918336"/>
          </a:xfrm>
        </p:grpSpPr>
        <p:sp>
          <p:nvSpPr>
            <p:cNvPr id="6" name="TextBox 6"/>
            <p:cNvSpPr txBox="1"/>
            <p:nvPr/>
          </p:nvSpPr>
          <p:spPr>
            <a:xfrm>
              <a:off x="691515" y="2325052"/>
              <a:ext cx="726648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500188" y="2559844"/>
              <a:ext cx="214788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环境变量管理密钥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06855" y="2921318"/>
              <a:ext cx="20055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避免把 API Key 写入代码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91515" y="3372802"/>
              <a:ext cx="726648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rgbClr val="4C8C7B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00188" y="3607594"/>
              <a:ext cx="319801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多层 JSON 解析与错误兜底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6855" y="396906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处理模型返回代码块、额外文本或字段缺失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87515" y="2325052"/>
              <a:ext cx="726648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rgbClr val="E07A5F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96188" y="2559844"/>
              <a:ext cx="279109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Pydantic 定义接口边界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02855" y="2921318"/>
              <a:ext cx="27346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校验输入输出，自动形成接口文档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87515" y="3372802"/>
              <a:ext cx="726648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96188" y="3607594"/>
              <a:ext cx="319801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服务失败时保持流程可继续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02855" y="3969068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为后续系统降级策略提供经验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5238750"/>
            <a:ext cx="10972800" cy="1390650"/>
            <a:chOff x="609600" y="5238750"/>
            <a:chExt cx="10972800" cy="1390650"/>
          </a:xfrm>
        </p:grpSpPr>
        <p:sp>
          <p:nvSpPr>
            <p:cNvPr id="19" name="Rectangle 19"/>
            <p:cNvSpPr/>
            <p:nvPr/>
          </p:nvSpPr>
          <p:spPr>
            <a:xfrm>
              <a:off x="609600" y="5238750"/>
              <a:ext cx="10972800" cy="609600"/>
            </a:xfrm>
            <a:prstGeom prst="roundRect">
              <a:avLst>
                <a:gd name="adj" fmla="val 9375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93445" y="5451158"/>
              <a:ext cx="771206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从“调用模型”到“让服务在不确定输出下仍可控”，是学习阶段的重要提升。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651510"/>
            <a:ext cx="8768796" cy="1020128"/>
            <a:chOff x="569595" y="651510"/>
            <a:chExt cx="8768796" cy="1020128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3830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Agent 平台级入门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876879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通过 Dify 与 Ollama 建立第一条 Agent 链路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73430" y="2440305"/>
            <a:ext cx="10370820" cy="1093470"/>
            <a:chOff x="773430" y="2440305"/>
            <a:chExt cx="10370820" cy="1093470"/>
          </a:xfrm>
        </p:grpSpPr>
        <p:sp>
          <p:nvSpPr>
            <p:cNvPr id="6" name="TextBox 6"/>
            <p:cNvSpPr txBox="1"/>
            <p:nvPr/>
          </p:nvSpPr>
          <p:spPr>
            <a:xfrm>
              <a:off x="773430" y="244030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部署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81050" y="2886075"/>
              <a:ext cx="134826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部署 Dify 平台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459480" y="244030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4C8C7B"/>
                  </a:solidFill>
                  <a:latin typeface="Arial"/>
                  <a:ea typeface="Microsoft YaHei"/>
                  <a:cs typeface="Arial"/>
                </a:rPr>
                <a:t>模型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67100" y="2886075"/>
              <a:ext cx="207835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Ollama 本地模型与 API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26530" y="244030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07A5F"/>
                  </a:solidFill>
                  <a:latin typeface="Arial"/>
                  <a:ea typeface="Microsoft YaHei"/>
                  <a:cs typeface="Arial"/>
                </a:rPr>
                <a:t>知识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534150" y="2886075"/>
              <a:ext cx="1438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挂载古籍知识库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98330" y="244030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对话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505950" y="2886075"/>
              <a:ext cx="1638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多轮问答与提示词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00100" y="3524250"/>
              <a:ext cx="10248900" cy="9525"/>
            </a:xfrm>
            <a:custGeom>
              <a:avLst/>
              <a:gdLst/>
              <a:ahLst/>
              <a:cxnLst/>
              <a:rect l="l" t="t" r="r" b="b"/>
              <a:pathLst>
                <a:path w="10248900" h="9525">
                  <a:moveTo>
                    <a:pt x="0" y="0"/>
                  </a:moveTo>
                  <a:lnTo>
                    <a:pt x="10248900" y="0"/>
                  </a:lnTo>
                </a:path>
              </a:pathLst>
            </a:custGeom>
            <a:noFill/>
            <a:ln w="28575">
              <a:solidFill>
                <a:srgbClr val="C9D7CE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09600" y="4572000"/>
            <a:ext cx="10972800" cy="2057400"/>
            <a:chOff x="609600" y="4572000"/>
            <a:chExt cx="10972800" cy="2057400"/>
          </a:xfrm>
        </p:grpSpPr>
        <p:sp>
          <p:nvSpPr>
            <p:cNvPr id="16" name="Rectangle 16"/>
            <p:cNvSpPr/>
            <p:nvPr/>
          </p:nvSpPr>
          <p:spPr>
            <a:xfrm>
              <a:off x="609600" y="4572000"/>
              <a:ext cx="10972800" cy="971550"/>
            </a:xfrm>
            <a:prstGeom prst="roundRect">
              <a:avLst>
                <a:gd name="adj" fmla="val 5882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92492" y="4814411"/>
              <a:ext cx="102122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平台实践解决的问题：快速看见“模型、知识库、提示词、工具”如何共同组成一个可交互应用。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7255" y="5159692"/>
              <a:ext cx="67041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随后再进入 LangChain、LangGraph 和 DeepAgents，理解它们背后的模块化实现。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13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651510"/>
            <a:ext cx="6254782" cy="1020128"/>
            <a:chOff x="569595" y="651510"/>
            <a:chExt cx="6254782" cy="1020128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1982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RAG 知识库流程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625478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让模型回答时参考可检索的资料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9600" y="2533650"/>
            <a:ext cx="10972800" cy="838200"/>
            <a:chOff x="609600" y="2533650"/>
            <a:chExt cx="10972800" cy="838200"/>
          </a:xfrm>
        </p:grpSpPr>
        <p:sp>
          <p:nvSpPr>
            <p:cNvPr id="6" name="Rectangle 6"/>
            <p:cNvSpPr/>
            <p:nvPr/>
          </p:nvSpPr>
          <p:spPr>
            <a:xfrm>
              <a:off x="609600" y="2533650"/>
              <a:ext cx="1962150" cy="838200"/>
            </a:xfrm>
            <a:prstGeom prst="roundRect">
              <a:avLst>
                <a:gd name="adj" fmla="val 6818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85707" y="28617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上传资料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2990850" y="2533650"/>
              <a:ext cx="1962150" cy="838200"/>
            </a:xfrm>
            <a:prstGeom prst="roundRect">
              <a:avLst>
                <a:gd name="adj" fmla="val 6818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25427" y="2861786"/>
              <a:ext cx="149299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切分与向量化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372100" y="2533650"/>
              <a:ext cx="1962150" cy="838200"/>
            </a:xfrm>
            <a:prstGeom prst="roundRect">
              <a:avLst>
                <a:gd name="adj" fmla="val 6818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06677" y="2861786"/>
              <a:ext cx="149299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检索相关片段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753350" y="2533650"/>
              <a:ext cx="1962150" cy="838200"/>
            </a:xfrm>
            <a:prstGeom prst="roundRect">
              <a:avLst>
                <a:gd name="adj" fmla="val 6818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08692" y="2861786"/>
              <a:ext cx="125146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拼接提示词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134600" y="2533650"/>
              <a:ext cx="1447800" cy="838200"/>
            </a:xfrm>
            <a:prstGeom prst="roundRect">
              <a:avLst>
                <a:gd name="adj" fmla="val 6818"/>
              </a:avLst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595062" y="2861786"/>
              <a:ext cx="52687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回答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84835" y="4304348"/>
            <a:ext cx="10765155" cy="2325052"/>
            <a:chOff x="584835" y="4304348"/>
            <a:chExt cx="10765155" cy="2325052"/>
          </a:xfrm>
        </p:grpSpPr>
        <p:sp>
          <p:nvSpPr>
            <p:cNvPr id="17" name="TextBox 17"/>
            <p:cNvSpPr txBox="1"/>
            <p:nvPr/>
          </p:nvSpPr>
          <p:spPr>
            <a:xfrm>
              <a:off x="584835" y="4304348"/>
              <a:ext cx="905965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实践内容：创建知识库并上传中医古籍，观察检索内容如何进入模型回答。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0550" y="4791075"/>
              <a:ext cx="76590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学习重点不是“让模型背资料”，而是理解知识来源、检索范围和回答引用之间的关系。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9595" y="651510"/>
            <a:ext cx="8063108" cy="1251109"/>
            <a:chOff x="569595" y="651510"/>
            <a:chExt cx="8063108" cy="1251109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对话原型实践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8063108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“克隆老中医”：用多轮对话练习采集流程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9598" y="1582579"/>
              <a:ext cx="450306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基于 Dify、知识库和模型服务构建的学习原型。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9600" y="2457450"/>
            <a:ext cx="8305800" cy="2514600"/>
            <a:chOff x="609600" y="2457450"/>
            <a:chExt cx="8305800" cy="2514600"/>
          </a:xfrm>
        </p:grpSpPr>
        <p:sp>
          <p:nvSpPr>
            <p:cNvPr id="7" name="Rectangle 7"/>
            <p:cNvSpPr/>
            <p:nvPr/>
          </p:nvSpPr>
          <p:spPr>
            <a:xfrm>
              <a:off x="609600" y="2457450"/>
              <a:ext cx="6667500" cy="685800"/>
            </a:xfrm>
            <a:prstGeom prst="roundRect">
              <a:avLst>
                <a:gd name="adj" fmla="val 8333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5350" y="2733675"/>
              <a:ext cx="2438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患者：描述不适与生活状态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247900" y="3371850"/>
              <a:ext cx="6667500" cy="685800"/>
            </a:xfrm>
            <a:prstGeom prst="roundRect">
              <a:avLst>
                <a:gd name="adj" fmla="val 8333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533650" y="3648075"/>
              <a:ext cx="40386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助手：围绕饮食、睡眠、情绪等维度继续追问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4286250"/>
              <a:ext cx="6667500" cy="685800"/>
            </a:xfrm>
            <a:prstGeom prst="roundRect">
              <a:avLst>
                <a:gd name="adj" fmla="val 8333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95350" y="4562475"/>
              <a:ext cx="4238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系统：汇总为结构化记录，附带知识库检索内容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110538" y="2616994"/>
            <a:ext cx="1622822" cy="2057400"/>
            <a:chOff x="8110538" y="2616994"/>
            <a:chExt cx="1622822" cy="2057400"/>
          </a:xfrm>
        </p:grpSpPr>
        <p:sp>
          <p:nvSpPr>
            <p:cNvPr id="14" name="TextBox 14"/>
            <p:cNvSpPr txBox="1"/>
            <p:nvPr/>
          </p:nvSpPr>
          <p:spPr>
            <a:xfrm>
              <a:off x="8110538" y="2616994"/>
              <a:ext cx="162282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练习到的能力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14348" y="3154204"/>
              <a:ext cx="130016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多轮流程控制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14348" y="3554254"/>
              <a:ext cx="109013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结构化总结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14348" y="3954304"/>
              <a:ext cx="109013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知识库回答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14348" y="4354354"/>
              <a:ext cx="130016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用户表达理解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" y="5667375"/>
            <a:ext cx="10759440" cy="962025"/>
            <a:chOff x="590550" y="5667375"/>
            <a:chExt cx="10759440" cy="962025"/>
          </a:xfrm>
        </p:grpSpPr>
        <p:sp>
          <p:nvSpPr>
            <p:cNvPr id="20" name="TextBox 20"/>
            <p:cNvSpPr txBox="1"/>
            <p:nvPr/>
          </p:nvSpPr>
          <p:spPr>
            <a:xfrm>
              <a:off x="590550" y="5667375"/>
              <a:ext cx="78090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94A3D"/>
                  </a:solidFill>
                  <a:latin typeface="Arial"/>
                  <a:ea typeface="Microsoft YaHei"/>
                  <a:cs typeface="Arial"/>
                </a:rPr>
                <a:t>当前项目对这一原型进行了安全收敛：不在线确诊和开方，重点转为诊前资料整理。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651510"/>
            <a:ext cx="9937592" cy="1020128"/>
            <a:chOff x="569595" y="651510"/>
            <a:chExt cx="9937592" cy="1020128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工具调用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993759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Function Calling 与 MCP：让 Agent 连接外部能力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76375" y="2733675"/>
            <a:ext cx="10013632" cy="1238250"/>
            <a:chOff x="1476375" y="2733675"/>
            <a:chExt cx="10013632" cy="1238250"/>
          </a:xfrm>
        </p:grpSpPr>
        <p:sp>
          <p:nvSpPr>
            <p:cNvPr id="6" name="Ellipse 6"/>
            <p:cNvSpPr/>
            <p:nvPr/>
          </p:nvSpPr>
          <p:spPr>
            <a:xfrm>
              <a:off x="1476375" y="2733675"/>
              <a:ext cx="1238250" cy="1238250"/>
            </a:xfrm>
            <a:prstGeom prst="ellipse">
              <a:avLst/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46622" y="3245644"/>
              <a:ext cx="109775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用户问题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714625" y="3352800"/>
              <a:ext cx="1952625" cy="9525"/>
            </a:xfrm>
            <a:custGeom>
              <a:avLst/>
              <a:gdLst/>
              <a:ahLst/>
              <a:cxnLst/>
              <a:rect l="l" t="t" r="r" b="b"/>
              <a:pathLst>
                <a:path w="1952625" h="9525">
                  <a:moveTo>
                    <a:pt x="0" y="0"/>
                  </a:moveTo>
                  <a:lnTo>
                    <a:pt x="1952625" y="0"/>
                  </a:lnTo>
                </a:path>
              </a:pathLst>
            </a:custGeom>
            <a:noFill/>
            <a:ln w="38100">
              <a:solidFill>
                <a:srgbClr val="4C8C7B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4667250" y="2733675"/>
              <a:ext cx="1238250" cy="123825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901580" y="3245644"/>
              <a:ext cx="76959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75" b="1" dirty="0">
                  <a:solidFill>
                    <a:srgbClr val="F7F9F6"/>
                  </a:solidFill>
                  <a:latin typeface="Arial"/>
                  <a:ea typeface="Arial"/>
                  <a:cs typeface="Arial"/>
                </a:rPr>
                <a:t>Agent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905500" y="3352800"/>
              <a:ext cx="1952625" cy="9525"/>
            </a:xfrm>
            <a:custGeom>
              <a:avLst/>
              <a:gdLst/>
              <a:ahLst/>
              <a:cxnLst/>
              <a:rect l="l" t="t" r="r" b="b"/>
              <a:pathLst>
                <a:path w="1952625" h="9525">
                  <a:moveTo>
                    <a:pt x="0" y="0"/>
                  </a:moveTo>
                  <a:lnTo>
                    <a:pt x="1952625" y="0"/>
                  </a:lnTo>
                </a:path>
              </a:pathLst>
            </a:custGeom>
            <a:noFill/>
            <a:ln w="38100">
              <a:solidFill>
                <a:srgbClr val="4C8C7B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858125" y="2733675"/>
              <a:ext cx="1238250" cy="1238250"/>
            </a:xfrm>
            <a:prstGeom prst="ellipse">
              <a:avLst/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28372" y="3245644"/>
              <a:ext cx="109775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外部工具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9096375" y="3352800"/>
              <a:ext cx="1323975" cy="9525"/>
            </a:xfrm>
            <a:custGeom>
              <a:avLst/>
              <a:gdLst/>
              <a:ahLst/>
              <a:cxnLst/>
              <a:rect l="l" t="t" r="r" b="b"/>
              <a:pathLst>
                <a:path w="1323975" h="9525">
                  <a:moveTo>
                    <a:pt x="0" y="0"/>
                  </a:moveTo>
                  <a:lnTo>
                    <a:pt x="1323975" y="0"/>
                  </a:lnTo>
                </a:path>
              </a:pathLst>
            </a:custGeom>
            <a:noFill/>
            <a:ln w="38100">
              <a:solidFill>
                <a:srgbClr val="4C8C7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550842" y="3090386"/>
              <a:ext cx="52687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结果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555605" y="3445192"/>
              <a:ext cx="9344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再组织回答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5000625"/>
            <a:ext cx="10972800" cy="1628775"/>
            <a:chOff x="609600" y="5000625"/>
            <a:chExt cx="10972800" cy="1628775"/>
          </a:xfrm>
        </p:grpSpPr>
        <p:sp>
          <p:nvSpPr>
            <p:cNvPr id="18" name="Rectangle 18"/>
            <p:cNvSpPr/>
            <p:nvPr/>
          </p:nvSpPr>
          <p:spPr>
            <a:xfrm>
              <a:off x="609600" y="5000625"/>
              <a:ext cx="10972800" cy="742950"/>
            </a:xfrm>
            <a:prstGeom prst="roundRect">
              <a:avLst>
                <a:gd name="adj" fmla="val 7692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93445" y="5260658"/>
              <a:ext cx="815102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实践：为助手增加“查天气”工具，理解模型何时决定调用、工具如何返回结果。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651510"/>
            <a:ext cx="6365046" cy="1020128"/>
            <a:chOff x="569595" y="651510"/>
            <a:chExt cx="6365046" cy="1020128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6602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框架深入：LangChain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636504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脱离平台，理解 RAG 全链路模块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9600" y="2400300"/>
            <a:ext cx="10972800" cy="933450"/>
            <a:chOff x="609600" y="2400300"/>
            <a:chExt cx="10972800" cy="933450"/>
          </a:xfrm>
        </p:grpSpPr>
        <p:sp>
          <p:nvSpPr>
            <p:cNvPr id="6" name="Rectangle 6"/>
            <p:cNvSpPr/>
            <p:nvPr/>
          </p:nvSpPr>
          <p:spPr>
            <a:xfrm>
              <a:off x="609600" y="2400300"/>
              <a:ext cx="2381250" cy="933450"/>
            </a:xfrm>
            <a:prstGeom prst="roundRect">
              <a:avLst>
                <a:gd name="adj" fmla="val 6122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95257" y="27855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文档切分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333750" y="2400300"/>
              <a:ext cx="2381250" cy="933450"/>
            </a:xfrm>
            <a:prstGeom prst="roundRect">
              <a:avLst>
                <a:gd name="adj" fmla="val 6122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910719" y="2785586"/>
              <a:ext cx="1227313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725" b="1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Embedding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57900" y="2400300"/>
              <a:ext cx="2381250" cy="933450"/>
            </a:xfrm>
            <a:prstGeom prst="roundRect">
              <a:avLst>
                <a:gd name="adj" fmla="val 6122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43557" y="27855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向量检索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782050" y="2400300"/>
              <a:ext cx="2800350" cy="933450"/>
            </a:xfrm>
            <a:prstGeom prst="roundRect">
              <a:avLst>
                <a:gd name="adj" fmla="val 6122"/>
              </a:avLst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97585" y="2785586"/>
              <a:ext cx="2169281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Prompt 与模型回答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85788" y="4188619"/>
            <a:ext cx="10764202" cy="2440781"/>
            <a:chOff x="585788" y="4188619"/>
            <a:chExt cx="10764202" cy="2440781"/>
          </a:xfrm>
        </p:grpSpPr>
        <p:sp>
          <p:nvSpPr>
            <p:cNvPr id="15" name="TextBox 15"/>
            <p:cNvSpPr txBox="1"/>
            <p:nvPr/>
          </p:nvSpPr>
          <p:spPr>
            <a:xfrm>
              <a:off x="585788" y="4188619"/>
              <a:ext cx="897374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学习重点：每一环都可以独立替换、调试与评估，而不是把知识库当成黑盒。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0550" y="4724400"/>
              <a:ext cx="589883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实践内容：基于 LangChain 与通义千问 API 的检索增强问答系统。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17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651510"/>
            <a:ext cx="7136892" cy="1020128"/>
            <a:chOff x="569595" y="651510"/>
            <a:chExt cx="7136892" cy="1020128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7022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框架深入：LangGraph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713689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用状态图和持久化记忆承接多轮对话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90650" y="2857500"/>
            <a:ext cx="9525000" cy="1181100"/>
            <a:chOff x="1390650" y="2857500"/>
            <a:chExt cx="9525000" cy="1181100"/>
          </a:xfrm>
        </p:grpSpPr>
        <p:sp>
          <p:nvSpPr>
            <p:cNvPr id="6" name="Ellipse 6"/>
            <p:cNvSpPr/>
            <p:nvPr/>
          </p:nvSpPr>
          <p:spPr>
            <a:xfrm>
              <a:off x="1390650" y="2857500"/>
              <a:ext cx="1181100" cy="1181100"/>
            </a:xfrm>
            <a:prstGeom prst="ellipse">
              <a:avLst/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476232" y="33570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身份确认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4171950" y="2857500"/>
              <a:ext cx="1181100" cy="1181100"/>
            </a:xfrm>
            <a:prstGeom prst="ellipse">
              <a:avLst/>
            </a:prstGeom>
            <a:solidFill>
              <a:srgbClr val="4C8C7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257532" y="33570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查询历史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953250" y="2857500"/>
              <a:ext cx="1181100" cy="1181100"/>
            </a:xfrm>
            <a:prstGeom prst="ellipse">
              <a:avLst/>
            </a:prstGeom>
            <a:solidFill>
              <a:srgbClr val="E07A5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038832" y="33570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本次对话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9734550" y="2857500"/>
              <a:ext cx="1181100" cy="118110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20132" y="33570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保存记录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2571750" y="3448050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38100">
              <a:solidFill>
                <a:srgbClr val="C9D7CE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5353050" y="3448050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38100">
              <a:solidFill>
                <a:srgbClr val="C9D7CE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8134350" y="3448050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38100">
              <a:solidFill>
                <a:srgbClr val="C9D7CE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09600" y="5010150"/>
            <a:ext cx="10972800" cy="1619250"/>
            <a:chOff x="609600" y="5010150"/>
            <a:chExt cx="10972800" cy="1619250"/>
          </a:xfrm>
        </p:grpSpPr>
        <p:sp>
          <p:nvSpPr>
            <p:cNvPr id="18" name="Rectangle 18"/>
            <p:cNvSpPr/>
            <p:nvPr/>
          </p:nvSpPr>
          <p:spPr>
            <a:xfrm>
              <a:off x="609600" y="5010150"/>
              <a:ext cx="10972800" cy="723900"/>
            </a:xfrm>
            <a:prstGeom prst="roundRect">
              <a:avLst>
                <a:gd name="adj" fmla="val 7895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93445" y="5270182"/>
              <a:ext cx="93408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实践：带永久记忆的中医复诊 Agent；核心收获是“流程状态”和“长期记录”应被分开管理。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18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651510"/>
            <a:ext cx="7577947" cy="1020128"/>
            <a:chOff x="569595" y="651510"/>
            <a:chExt cx="7577947" cy="1020128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7947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框架深入：DeepAgents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757794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将工具、记忆和流程编排为智能体原型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" y="2286000"/>
            <a:ext cx="10972800" cy="2114550"/>
            <a:chOff x="609600" y="2286000"/>
            <a:chExt cx="10972800" cy="2114550"/>
          </a:xfrm>
        </p:grpSpPr>
        <p:sp>
          <p:nvSpPr>
            <p:cNvPr id="6" name="Rectangle 6"/>
            <p:cNvSpPr/>
            <p:nvPr/>
          </p:nvSpPr>
          <p:spPr>
            <a:xfrm>
              <a:off x="609600" y="2286000"/>
              <a:ext cx="10972800" cy="552450"/>
            </a:xfrm>
            <a:prstGeom prst="roundRect">
              <a:avLst>
                <a:gd name="adj" fmla="val 10345"/>
              </a:avLst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93445" y="2469832"/>
              <a:ext cx="59215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对话流程：身份确认 → 历史查询 → 信息处理 → 结构化报告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3067050"/>
              <a:ext cx="10972800" cy="552450"/>
            </a:xfrm>
            <a:prstGeom prst="roundRect">
              <a:avLst>
                <a:gd name="adj" fmla="val 10345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3445" y="3250882"/>
              <a:ext cx="443145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工具层：查询历史、保存会话、检索知识库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" y="3848100"/>
              <a:ext cx="10972800" cy="552450"/>
            </a:xfrm>
            <a:prstGeom prst="roundRect">
              <a:avLst>
                <a:gd name="adj" fmla="val 10345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93445" y="4031932"/>
              <a:ext cx="617572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数据层：PostgreSQL 优先，SQLite 回退，支持持久化记录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88645" y="5022532"/>
            <a:ext cx="10761345" cy="1606868"/>
            <a:chOff x="588645" y="5022532"/>
            <a:chExt cx="10761345" cy="1606868"/>
          </a:xfrm>
        </p:grpSpPr>
        <p:sp>
          <p:nvSpPr>
            <p:cNvPr id="13" name="TextBox 13"/>
            <p:cNvSpPr txBox="1"/>
            <p:nvPr/>
          </p:nvSpPr>
          <p:spPr>
            <a:xfrm>
              <a:off x="588645" y="5022532"/>
              <a:ext cx="843981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7A5F"/>
                  </a:solidFill>
                  <a:latin typeface="Arial"/>
                  <a:ea typeface="Microsoft YaHei"/>
                  <a:cs typeface="Arial"/>
                </a:rPr>
                <a:t>学习价值：理解 Agent 不是单轮聊天，而是可组合、可保存、可审查的程序流程。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19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9595" y="651510"/>
            <a:ext cx="6570822" cy="1251109"/>
            <a:chOff x="569595" y="651510"/>
            <a:chExt cx="6570822" cy="1251109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能力转化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449056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从能力探索到安全收敛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9598" y="1582579"/>
              <a:ext cx="6550819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学习原型验证了技术路径，当前项目则根据真实使用场景收敛了边界。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36282" y="2686526"/>
            <a:ext cx="1899356" cy="1706880"/>
            <a:chOff x="736282" y="2686526"/>
            <a:chExt cx="1899356" cy="1706880"/>
          </a:xfrm>
        </p:grpSpPr>
        <p:sp>
          <p:nvSpPr>
            <p:cNvPr id="7" name="TextBox 7"/>
            <p:cNvSpPr txBox="1"/>
            <p:nvPr/>
          </p:nvSpPr>
          <p:spPr>
            <a:xfrm>
              <a:off x="736282" y="2686526"/>
              <a:ext cx="175264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E07A5F"/>
                  </a:solidFill>
                  <a:latin typeface="Arial"/>
                  <a:ea typeface="Microsoft YaHei"/>
                  <a:cs typeface="Arial"/>
                </a:rPr>
                <a:t>前期学习原型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0092" y="3242786"/>
              <a:ext cx="164251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模型调用与 RAG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0092" y="3642836"/>
              <a:ext cx="165401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多轮对话与工具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0092" y="4042886"/>
              <a:ext cx="189554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Agent 记忆与报告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91050" y="3171825"/>
            <a:ext cx="2743200" cy="581025"/>
            <a:chOff x="4591050" y="3171825"/>
            <a:chExt cx="2743200" cy="581025"/>
          </a:xfrm>
        </p:grpSpPr>
        <p:sp>
          <p:nvSpPr>
            <p:cNvPr id="12" name="Line 12"/>
            <p:cNvSpPr/>
            <p:nvPr/>
          </p:nvSpPr>
          <p:spPr>
            <a:xfrm>
              <a:off x="4591050" y="3619500"/>
              <a:ext cx="2743200" cy="9525"/>
            </a:xfrm>
            <a:custGeom>
              <a:avLst/>
              <a:gdLst/>
              <a:ahLst/>
              <a:cxnLst/>
              <a:rect l="l" t="t" r="r" b="b"/>
              <a:pathLst>
                <a:path w="2743200" h="9525">
                  <a:moveTo>
                    <a:pt x="0" y="0"/>
                  </a:moveTo>
                  <a:lnTo>
                    <a:pt x="2743200" y="0"/>
                  </a:lnTo>
                </a:path>
              </a:pathLst>
            </a:custGeom>
            <a:noFill/>
            <a:ln w="47625">
              <a:solidFill>
                <a:srgbClr val="4C8C7B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7124700" y="3486150"/>
              <a:ext cx="209550" cy="266700"/>
            </a:xfrm>
            <a:custGeom>
              <a:avLst/>
              <a:gdLst/>
              <a:ahLst/>
              <a:cxnLst/>
              <a:rect l="l" t="t" r="r" b="b"/>
              <a:pathLst>
                <a:path w="209550" h="266700">
                  <a:moveTo>
                    <a:pt x="209550" y="133350"/>
                  </a:move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4C8C7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103495" y="3171825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面向真实诊前流程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070532" y="2686526"/>
            <a:ext cx="2577941" cy="1706880"/>
            <a:chOff x="8070532" y="2686526"/>
            <a:chExt cx="2577941" cy="1706880"/>
          </a:xfrm>
        </p:grpSpPr>
        <p:sp>
          <p:nvSpPr>
            <p:cNvPr id="16" name="TextBox 16"/>
            <p:cNvSpPr txBox="1"/>
            <p:nvPr/>
          </p:nvSpPr>
          <p:spPr>
            <a:xfrm>
              <a:off x="8070532" y="2686526"/>
              <a:ext cx="175264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当前项目实践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74342" y="3242786"/>
              <a:ext cx="165401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确定性规则计算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74342" y="3642836"/>
              <a:ext cx="165401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结构化资料采集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74342" y="4042886"/>
              <a:ext cx="2574131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患者安全展示与医生核对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9600" y="5429250"/>
            <a:ext cx="10972800" cy="1200150"/>
            <a:chOff x="609600" y="5429250"/>
            <a:chExt cx="10972800" cy="1200150"/>
          </a:xfrm>
        </p:grpSpPr>
        <p:sp>
          <p:nvSpPr>
            <p:cNvPr id="21" name="Rectangle 21"/>
            <p:cNvSpPr/>
            <p:nvPr/>
          </p:nvSpPr>
          <p:spPr>
            <a:xfrm>
              <a:off x="609600" y="5429250"/>
              <a:ext cx="10972800" cy="590550"/>
            </a:xfrm>
            <a:prstGeom prst="roundRect">
              <a:avLst>
                <a:gd name="adj" fmla="val 9677"/>
              </a:avLst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174778" y="5615940"/>
              <a:ext cx="5842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下面进入第二部分：成人肥胖诊前问诊系统项目实践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9600" y="590550"/>
            <a:ext cx="10972800" cy="523875"/>
            <a:chOff x="609600" y="590550"/>
            <a:chExt cx="10972800" cy="523875"/>
          </a:xfrm>
        </p:grpSpPr>
        <p:sp>
          <p:nvSpPr>
            <p:cNvPr id="3" name="Rectangle 3"/>
            <p:cNvSpPr/>
            <p:nvPr/>
          </p:nvSpPr>
          <p:spPr>
            <a:xfrm>
              <a:off x="609600" y="590550"/>
              <a:ext cx="1066800" cy="285750"/>
            </a:xfrm>
            <a:prstGeom prst="roundRect">
              <a:avLst>
                <a:gd name="adj" fmla="val 50000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6765" y="67722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项目进展汇报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425112" y="659606"/>
              <a:ext cx="6061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E6D65"/>
                  </a:solidFill>
                  <a:latin typeface="Arial"/>
                  <a:ea typeface="Arial"/>
                  <a:cs typeface="Arial"/>
                </a:rPr>
                <a:t>2026.08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1104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9D7CE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46735" y="1789748"/>
            <a:ext cx="4912281" cy="2782252"/>
            <a:chOff x="546735" y="1789748"/>
            <a:chExt cx="4912281" cy="2782252"/>
          </a:xfrm>
        </p:grpSpPr>
        <p:sp>
          <p:nvSpPr>
            <p:cNvPr id="8" name="TextBox 8"/>
            <p:cNvSpPr txBox="1"/>
            <p:nvPr/>
          </p:nvSpPr>
          <p:spPr>
            <a:xfrm>
              <a:off x="546735" y="1789748"/>
              <a:ext cx="2898076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9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成人肥胖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46735" y="2561272"/>
              <a:ext cx="428425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95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诊前问诊系统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38175" y="3457575"/>
              <a:ext cx="781050" cy="66675"/>
            </a:xfrm>
            <a:prstGeom prst="rect">
              <a:avLst/>
            </a:prstGeom>
            <a:solidFill>
              <a:srgbClr val="E07A5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788" y="3788569"/>
              <a:ext cx="487322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规则驱动的结构化采集 · AI 辅助理解与追问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0550" y="4267200"/>
              <a:ext cx="4838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目标是为诊中辨证、风险识别和检查决策准备可靠资料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210550" y="1628775"/>
            <a:ext cx="2613660" cy="3438525"/>
            <a:chOff x="8210550" y="1628775"/>
            <a:chExt cx="2613660" cy="3438525"/>
          </a:xfrm>
        </p:grpSpPr>
        <p:sp>
          <p:nvSpPr>
            <p:cNvPr id="14" name="Line 14"/>
            <p:cNvSpPr/>
            <p:nvPr/>
          </p:nvSpPr>
          <p:spPr>
            <a:xfrm>
              <a:off x="8534400" y="1847850"/>
              <a:ext cx="9525" cy="2924175"/>
            </a:xfrm>
            <a:custGeom>
              <a:avLst/>
              <a:gdLst/>
              <a:ahLst/>
              <a:cxnLst/>
              <a:rect l="l" t="t" r="r" b="b"/>
              <a:pathLst>
                <a:path w="9525" h="2924175">
                  <a:moveTo>
                    <a:pt x="0" y="0"/>
                  </a:moveTo>
                  <a:lnTo>
                    <a:pt x="0" y="2924175"/>
                  </a:lnTo>
                </a:path>
              </a:pathLst>
            </a:custGeom>
            <a:noFill/>
            <a:ln w="28575">
              <a:solidFill>
                <a:srgbClr val="C9D7CE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8210550" y="1628775"/>
              <a:ext cx="647700" cy="64770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91727" y="1852136"/>
              <a:ext cx="28534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26842" y="17187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基础资料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33510" y="2051685"/>
              <a:ext cx="15666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BMI、腰围与主诉入口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8210550" y="2552700"/>
              <a:ext cx="647700" cy="647700"/>
            </a:xfrm>
            <a:prstGeom prst="ellipse">
              <a:avLst/>
            </a:prstGeom>
            <a:solidFill>
              <a:srgbClr val="4C8C7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91727" y="2776061"/>
              <a:ext cx="28534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26842" y="2642711"/>
              <a:ext cx="125146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病因与风险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33510" y="29756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分层追问与危险信号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8210550" y="3476625"/>
              <a:ext cx="647700" cy="647700"/>
            </a:xfrm>
            <a:prstGeom prst="ellipse">
              <a:avLst/>
            </a:prstGeom>
            <a:solidFill>
              <a:srgbClr val="E07A5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91727" y="3699986"/>
              <a:ext cx="28534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26842" y="356663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中医资料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33510" y="3899535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症状、舌象与生活方式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8210550" y="4400550"/>
              <a:ext cx="647700" cy="64770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91727" y="4623911"/>
              <a:ext cx="28534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26842" y="4490561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诊前档案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33510" y="482346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患者摘要与医生执行依据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94360" y="6115050"/>
            <a:ext cx="10988040" cy="457200"/>
            <a:chOff x="594360" y="6115050"/>
            <a:chExt cx="10988040" cy="457200"/>
          </a:xfrm>
        </p:grpSpPr>
        <p:sp>
          <p:nvSpPr>
            <p:cNvPr id="32" name="Line 32"/>
            <p:cNvSpPr/>
            <p:nvPr/>
          </p:nvSpPr>
          <p:spPr>
            <a:xfrm>
              <a:off x="609600" y="61150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9D7C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4360" y="6328410"/>
              <a:ext cx="24547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第二部分 · 成人肥胖诊前问诊系统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43488" y="632841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21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9595" y="651510"/>
            <a:ext cx="11012805" cy="1020128"/>
            <a:chOff x="569595" y="651510"/>
            <a:chExt cx="11012805" cy="1020128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080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01 / 项目定位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581372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为诊中服务，而不是在线确诊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638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9D7CE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224915" y="2619375"/>
            <a:ext cx="1474470" cy="2100263"/>
            <a:chOff x="1224915" y="2619375"/>
            <a:chExt cx="1474470" cy="2100263"/>
          </a:xfrm>
        </p:grpSpPr>
        <p:sp>
          <p:nvSpPr>
            <p:cNvPr id="7" name="Ellipse 7"/>
            <p:cNvSpPr/>
            <p:nvPr/>
          </p:nvSpPr>
          <p:spPr>
            <a:xfrm>
              <a:off x="1438275" y="2619375"/>
              <a:ext cx="1047750" cy="1047750"/>
            </a:xfrm>
            <a:prstGeom prst="ellipse">
              <a:avLst/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82258" y="3003709"/>
              <a:ext cx="359783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7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患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13272" y="3836194"/>
              <a:ext cx="109775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患者表达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24915" y="419766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主诉、体重变化、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4926" y="444531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症状与生活方式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867025" y="2476500"/>
            <a:ext cx="4251817" cy="1785938"/>
            <a:chOff x="2867025" y="2476500"/>
            <a:chExt cx="4251817" cy="1785938"/>
          </a:xfrm>
        </p:grpSpPr>
        <p:sp>
          <p:nvSpPr>
            <p:cNvPr id="13" name="Line 13"/>
            <p:cNvSpPr/>
            <p:nvPr/>
          </p:nvSpPr>
          <p:spPr>
            <a:xfrm>
              <a:off x="2867025" y="3143250"/>
              <a:ext cx="1552575" cy="9525"/>
            </a:xfrm>
            <a:custGeom>
              <a:avLst/>
              <a:gdLst/>
              <a:ahLst/>
              <a:cxnLst/>
              <a:rect l="l" t="t" r="r" b="b"/>
              <a:pathLst>
                <a:path w="1552575" h="952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noFill/>
            <a:ln w="28575">
              <a:solidFill>
                <a:srgbClr val="4C8C7B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4257675" y="3048000"/>
              <a:ext cx="161925" cy="190500"/>
            </a:xfrm>
            <a:custGeom>
              <a:avLst/>
              <a:gdLst/>
              <a:ahLst/>
              <a:cxnLst/>
              <a:rect l="l" t="t" r="r" b="b"/>
              <a:pathLst>
                <a:path w="161925" h="190500">
                  <a:moveTo>
                    <a:pt x="161925" y="95250"/>
                  </a:moveTo>
                  <a:lnTo>
                    <a:pt x="0" y="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4C8C7B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057775" y="2476500"/>
              <a:ext cx="1333500" cy="133350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73504" y="2867501"/>
              <a:ext cx="902041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结构化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31737" y="3191351"/>
              <a:ext cx="1185577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诊前资料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30208" y="3988118"/>
              <a:ext cx="27886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规则校验 · 对话追问 · 完整度判断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429375" y="2619375"/>
            <a:ext cx="3746182" cy="2100263"/>
            <a:chOff x="6429375" y="2619375"/>
            <a:chExt cx="3746182" cy="2100263"/>
          </a:xfrm>
        </p:grpSpPr>
        <p:sp>
          <p:nvSpPr>
            <p:cNvPr id="20" name="Line 20"/>
            <p:cNvSpPr/>
            <p:nvPr/>
          </p:nvSpPr>
          <p:spPr>
            <a:xfrm>
              <a:off x="6429375" y="3143250"/>
              <a:ext cx="1552575" cy="9525"/>
            </a:xfrm>
            <a:custGeom>
              <a:avLst/>
              <a:gdLst/>
              <a:ahLst/>
              <a:cxnLst/>
              <a:rect l="l" t="t" r="r" b="b"/>
              <a:pathLst>
                <a:path w="1552575" h="952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noFill/>
            <a:ln w="28575">
              <a:solidFill>
                <a:srgbClr val="4C8C7B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7820025" y="3048000"/>
              <a:ext cx="161925" cy="190500"/>
            </a:xfrm>
            <a:custGeom>
              <a:avLst/>
              <a:gdLst/>
              <a:ahLst/>
              <a:cxnLst/>
              <a:rect l="l" t="t" r="r" b="b"/>
              <a:pathLst>
                <a:path w="161925" h="190500">
                  <a:moveTo>
                    <a:pt x="161925" y="95250"/>
                  </a:moveTo>
                  <a:lnTo>
                    <a:pt x="0" y="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4C8C7B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8734425" y="2619375"/>
              <a:ext cx="1047750" cy="1047750"/>
            </a:xfrm>
            <a:prstGeom prst="ellipse">
              <a:avLst/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78408" y="3003709"/>
              <a:ext cx="359783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7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09422" y="3836194"/>
              <a:ext cx="109775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医生确认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41042" y="41976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诊中辨证、风险判断、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11076" y="444531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检查与治疗决策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" y="5372100"/>
            <a:ext cx="10972800" cy="1257300"/>
            <a:chOff x="609600" y="5372100"/>
            <a:chExt cx="10972800" cy="1257300"/>
          </a:xfrm>
        </p:grpSpPr>
        <p:sp>
          <p:nvSpPr>
            <p:cNvPr id="28" name="Rectangle 28"/>
            <p:cNvSpPr/>
            <p:nvPr/>
          </p:nvSpPr>
          <p:spPr>
            <a:xfrm>
              <a:off x="609600" y="5372100"/>
              <a:ext cx="10972800" cy="723900"/>
            </a:xfrm>
            <a:prstGeom prst="roundRect">
              <a:avLst>
                <a:gd name="adj" fmla="val 7895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9600" y="5372100"/>
              <a:ext cx="66675" cy="723900"/>
            </a:xfrm>
            <a:prstGeom prst="rect">
              <a:avLst/>
            </a:prstGeom>
            <a:solidFill>
              <a:srgbClr val="E07A5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92492" y="5633561"/>
              <a:ext cx="5115949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患者端只呈现安全结果，最终判断由医生确认。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9595" y="651510"/>
            <a:ext cx="7011877" cy="1251109"/>
            <a:chOff x="569595" y="651510"/>
            <a:chExt cx="7011877" cy="1251109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080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07A5F"/>
                  </a:solidFill>
                  <a:latin typeface="Arial"/>
                  <a:ea typeface="Microsoft YaHei"/>
                  <a:cs typeface="Arial"/>
                </a:rPr>
                <a:t>02 / 改造背景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360845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改造前的核心问题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9598" y="1582579"/>
              <a:ext cx="699187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问题不在于“能不能问”，而在于问诊过程是否稳定、可解释、可服务诊中。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7705" y="2225992"/>
            <a:ext cx="2950845" cy="2031683"/>
            <a:chOff x="687705" y="2225992"/>
            <a:chExt cx="2950845" cy="2031683"/>
          </a:xfrm>
        </p:grpSpPr>
        <p:sp>
          <p:nvSpPr>
            <p:cNvPr id="7" name="TextBox 7"/>
            <p:cNvSpPr txBox="1"/>
            <p:nvPr/>
          </p:nvSpPr>
          <p:spPr>
            <a:xfrm>
              <a:off x="687705" y="2225992"/>
              <a:ext cx="780474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350" b="1" dirty="0">
                  <a:solidFill>
                    <a:srgbClr val="E07A5F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42950" y="29527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C9D7CE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16280" y="3211830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固定问答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3900" y="3667125"/>
              <a:ext cx="1638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一次选择无法承接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3900" y="3952875"/>
              <a:ext cx="2438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患者的自由描述与澄清需求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592955" y="2225992"/>
            <a:ext cx="2950845" cy="2031683"/>
            <a:chOff x="4592955" y="2225992"/>
            <a:chExt cx="2950845" cy="2031683"/>
          </a:xfrm>
        </p:grpSpPr>
        <p:sp>
          <p:nvSpPr>
            <p:cNvPr id="13" name="TextBox 13"/>
            <p:cNvSpPr txBox="1"/>
            <p:nvPr/>
          </p:nvSpPr>
          <p:spPr>
            <a:xfrm>
              <a:off x="4592955" y="2225992"/>
              <a:ext cx="780474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350" b="1" dirty="0">
                  <a:solidFill>
                    <a:srgbClr val="E07A5F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648200" y="29527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C9D7C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21530" y="3211830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状态不稳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29150" y="3667125"/>
              <a:ext cx="22383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页面刷新后，追问进度与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29150" y="3952875"/>
              <a:ext cx="20383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历史信息容易出现断开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498205" y="2225992"/>
            <a:ext cx="2950845" cy="2031683"/>
            <a:chOff x="8498205" y="2225992"/>
            <a:chExt cx="2950845" cy="2031683"/>
          </a:xfrm>
        </p:grpSpPr>
        <p:sp>
          <p:nvSpPr>
            <p:cNvPr id="19" name="TextBox 19"/>
            <p:cNvSpPr txBox="1"/>
            <p:nvPr/>
          </p:nvSpPr>
          <p:spPr>
            <a:xfrm>
              <a:off x="8498205" y="2225992"/>
              <a:ext cx="780474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350" b="1" dirty="0">
                  <a:solidFill>
                    <a:srgbClr val="E07A5F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553450" y="29527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C9D7CE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26780" y="3211830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完成不准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34400" y="3667125"/>
              <a:ext cx="22383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单一总分可能在关键资料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34400" y="3952875"/>
              <a:ext cx="20383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未收集时过早生成档案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5010150"/>
            <a:ext cx="10972800" cy="1619250"/>
            <a:chOff x="609600" y="5010150"/>
            <a:chExt cx="10972800" cy="1619250"/>
          </a:xfrm>
        </p:grpSpPr>
        <p:sp>
          <p:nvSpPr>
            <p:cNvPr id="25" name="Rectangle 25"/>
            <p:cNvSpPr/>
            <p:nvPr/>
          </p:nvSpPr>
          <p:spPr>
            <a:xfrm>
              <a:off x="609600" y="5010150"/>
              <a:ext cx="10972800" cy="933450"/>
            </a:xfrm>
            <a:prstGeom prst="roundRect">
              <a:avLst>
                <a:gd name="adj" fmla="val 6122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9600" y="5010150"/>
              <a:ext cx="76200" cy="933450"/>
            </a:xfrm>
            <a:prstGeom prst="rect">
              <a:avLst/>
            </a:prstGeom>
            <a:solidFill>
              <a:srgbClr val="C94A3D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35355" y="52739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94A3D"/>
                  </a:solidFill>
                  <a:latin typeface="Arial"/>
                  <a:ea typeface="Microsoft YaHei"/>
                  <a:cs typeface="Arial"/>
                </a:rPr>
                <a:t>改造方向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9640" y="5558790"/>
              <a:ext cx="785869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将一次性答题改为可恢复的对话式采集，并以分层门槛控制结束时机。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23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9595" y="651510"/>
            <a:ext cx="5438830" cy="1260634"/>
            <a:chOff x="569595" y="651510"/>
            <a:chExt cx="5438830" cy="1260634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080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03 / 改造原则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543883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规则负责判断，AI 负责理解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9598" y="1592104"/>
              <a:ext cx="382047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让停止条件可解释，让对话表达更自然。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9600" y="2286000"/>
            <a:ext cx="4686300" cy="3124200"/>
            <a:chOff x="609600" y="2286000"/>
            <a:chExt cx="4686300" cy="3124200"/>
          </a:xfrm>
        </p:grpSpPr>
        <p:sp>
          <p:nvSpPr>
            <p:cNvPr id="7" name="Rectangle 7"/>
            <p:cNvSpPr/>
            <p:nvPr/>
          </p:nvSpPr>
          <p:spPr>
            <a:xfrm>
              <a:off x="609600" y="2286000"/>
              <a:ext cx="4686300" cy="3124200"/>
            </a:xfrm>
            <a:prstGeom prst="roundRect">
              <a:avLst>
                <a:gd name="adj" fmla="val 1829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3928" y="2641759"/>
              <a:ext cx="1577935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确定性规则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71550" y="3105150"/>
              <a:ext cx="3771900" cy="9525"/>
            </a:xfrm>
            <a:custGeom>
              <a:avLst/>
              <a:gdLst/>
              <a:ahLst/>
              <a:cxnLst/>
              <a:rect l="l" t="t" r="r" b="b"/>
              <a:pathLst>
                <a:path w="3771900" h="9525">
                  <a:moveTo>
                    <a:pt x="0" y="0"/>
                  </a:moveTo>
                  <a:lnTo>
                    <a:pt x="3771900" y="0"/>
                  </a:lnTo>
                </a:path>
              </a:pathLst>
            </a:custGeom>
            <a:noFill/>
            <a:ln w="9525">
              <a:solidFill>
                <a:srgbClr val="C9D7CE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028700" y="3505200"/>
              <a:ext cx="190500" cy="19050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88745" y="3498532"/>
              <a:ext cx="259422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BMI、腰围等客观字段计算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1028700" y="4133850"/>
              <a:ext cx="190500" cy="19050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88745" y="4127182"/>
              <a:ext cx="24622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分层阈值与停止条件判断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1028700" y="4762500"/>
              <a:ext cx="190500" cy="19050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88745" y="4755832"/>
              <a:ext cx="31222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危险信号持续提示而不强制中断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657850" y="2476500"/>
            <a:ext cx="800100" cy="2743200"/>
            <a:chOff x="5657850" y="2476500"/>
            <a:chExt cx="800100" cy="2743200"/>
          </a:xfrm>
        </p:grpSpPr>
        <p:sp>
          <p:nvSpPr>
            <p:cNvPr id="17" name="Line 17"/>
            <p:cNvSpPr/>
            <p:nvPr/>
          </p:nvSpPr>
          <p:spPr>
            <a:xfrm>
              <a:off x="6057900" y="2476500"/>
              <a:ext cx="9525" cy="2743200"/>
            </a:xfrm>
            <a:custGeom>
              <a:avLst/>
              <a:gdLst/>
              <a:ahLst/>
              <a:cxnLst/>
              <a:rect l="l" t="t" r="r" b="b"/>
              <a:pathLst>
                <a:path w="9525" h="2743200">
                  <a:moveTo>
                    <a:pt x="0" y="0"/>
                  </a:moveTo>
                  <a:lnTo>
                    <a:pt x="0" y="2743200"/>
                  </a:lnTo>
                </a:path>
              </a:pathLst>
            </a:custGeom>
            <a:noFill/>
            <a:ln w="19050">
              <a:solidFill>
                <a:srgbClr val="C9D7CE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5657850" y="3448050"/>
              <a:ext cx="800100" cy="800100"/>
            </a:xfrm>
            <a:prstGeom prst="ellipse">
              <a:avLst/>
            </a:prstGeom>
            <a:solidFill>
              <a:srgbClr val="E07A5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771555" y="3740944"/>
              <a:ext cx="57269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协同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819900" y="2286000"/>
            <a:ext cx="4762500" cy="3124200"/>
            <a:chOff x="6819900" y="2286000"/>
            <a:chExt cx="4762500" cy="3124200"/>
          </a:xfrm>
        </p:grpSpPr>
        <p:sp>
          <p:nvSpPr>
            <p:cNvPr id="21" name="Rectangle 21"/>
            <p:cNvSpPr/>
            <p:nvPr/>
          </p:nvSpPr>
          <p:spPr>
            <a:xfrm>
              <a:off x="6819900" y="2286000"/>
              <a:ext cx="4762500" cy="3124200"/>
            </a:xfrm>
            <a:prstGeom prst="roundRect">
              <a:avLst>
                <a:gd name="adj" fmla="val 1829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154228" y="2641759"/>
              <a:ext cx="1623616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AI 辅助能力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7181850" y="3105150"/>
              <a:ext cx="3848100" cy="9525"/>
            </a:xfrm>
            <a:custGeom>
              <a:avLst/>
              <a:gdLst/>
              <a:ahLst/>
              <a:cxnLst/>
              <a:rect l="l" t="t" r="r" b="b"/>
              <a:pathLst>
                <a:path w="3848100" h="9525">
                  <a:moveTo>
                    <a:pt x="0" y="0"/>
                  </a:moveTo>
                  <a:lnTo>
                    <a:pt x="3848100" y="0"/>
                  </a:lnTo>
                </a:path>
              </a:pathLst>
            </a:custGeom>
            <a:noFill/>
            <a:ln w="9525">
              <a:solidFill>
                <a:srgbClr val="C9D7CE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239000" y="3505200"/>
              <a:ext cx="190500" cy="190500"/>
            </a:xfrm>
            <a:prstGeom prst="ellipse">
              <a:avLst/>
            </a:prstGeom>
            <a:solidFill>
              <a:srgbClr val="4C8C7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99045" y="3498532"/>
              <a:ext cx="26822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从患者原话中提取字段证据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239000" y="4133850"/>
              <a:ext cx="190500" cy="190500"/>
            </a:xfrm>
            <a:prstGeom prst="ellipse">
              <a:avLst/>
            </a:prstGeom>
            <a:solidFill>
              <a:srgbClr val="4C8C7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99045" y="4127182"/>
              <a:ext cx="26822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围绕缺失字段组织自然追问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239000" y="4762500"/>
              <a:ext cx="190500" cy="190500"/>
            </a:xfrm>
            <a:prstGeom prst="ellipse">
              <a:avLst/>
            </a:prstGeom>
            <a:solidFill>
              <a:srgbClr val="4C8C7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99045" y="4755832"/>
              <a:ext cx="26822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解释患者不理解的医学术语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750909" y="5915025"/>
            <a:ext cx="7599081" cy="714375"/>
            <a:chOff x="3750909" y="5915025"/>
            <a:chExt cx="7599081" cy="714375"/>
          </a:xfrm>
        </p:grpSpPr>
        <p:sp>
          <p:nvSpPr>
            <p:cNvPr id="31" name="TextBox 31"/>
            <p:cNvSpPr txBox="1"/>
            <p:nvPr/>
          </p:nvSpPr>
          <p:spPr>
            <a:xfrm>
              <a:off x="3750909" y="5915025"/>
              <a:ext cx="469018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C94A3D"/>
                  </a:solidFill>
                  <a:latin typeface="Arial"/>
                  <a:ea typeface="Microsoft YaHei"/>
                  <a:cs typeface="Arial"/>
                </a:rPr>
                <a:t>边界：AI 不直接诊断、开方或修改系统停止条件。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24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9595" y="651510"/>
            <a:ext cx="5310664" cy="1251109"/>
            <a:chOff x="569595" y="651510"/>
            <a:chExt cx="5310664" cy="1251109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080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04 / 当前方案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272634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当前完整流程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9598" y="1582579"/>
              <a:ext cx="529066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从可量化的基础资料开始，以可解释的完整度门槛结束。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95400" y="3257550"/>
            <a:ext cx="9601200" cy="209550"/>
            <a:chOff x="1295400" y="3257550"/>
            <a:chExt cx="9601200" cy="209550"/>
          </a:xfrm>
        </p:grpSpPr>
        <p:sp>
          <p:nvSpPr>
            <p:cNvPr id="7" name="Line 7"/>
            <p:cNvSpPr/>
            <p:nvPr/>
          </p:nvSpPr>
          <p:spPr>
            <a:xfrm>
              <a:off x="1295400" y="3362325"/>
              <a:ext cx="9601200" cy="9525"/>
            </a:xfrm>
            <a:custGeom>
              <a:avLst/>
              <a:gdLst/>
              <a:ahLst/>
              <a:cxnLst/>
              <a:rect l="l" t="t" r="r" b="b"/>
              <a:pathLst>
                <a:path w="9601200" h="9525">
                  <a:moveTo>
                    <a:pt x="0" y="0"/>
                  </a:moveTo>
                  <a:lnTo>
                    <a:pt x="9601200" y="0"/>
                  </a:lnTo>
                </a:path>
              </a:pathLst>
            </a:custGeom>
            <a:noFill/>
            <a:ln w="47625">
              <a:solidFill>
                <a:srgbClr val="C9D7CE"/>
              </a:solidFill>
            </a:ln>
          </p:spPr>
        </p:sp>
        <p:sp>
          <p:nvSpPr>
            <p:cNvPr id="8" name="Polygon 8"/>
            <p:cNvSpPr/>
            <p:nvPr/>
          </p:nvSpPr>
          <p:spPr>
            <a:xfrm>
              <a:off x="10725150" y="3257550"/>
              <a:ext cx="171450" cy="209550"/>
            </a:xfrm>
            <a:custGeom>
              <a:avLst/>
              <a:gdLst/>
              <a:ahLst/>
              <a:cxnLst/>
              <a:rect l="l" t="t" r="r" b="b"/>
              <a:pathLst>
                <a:path w="171450" h="209550">
                  <a:moveTo>
                    <a:pt x="171450" y="104775"/>
                  </a:moveTo>
                  <a:lnTo>
                    <a:pt x="0" y="0"/>
                  </a:lnTo>
                  <a:lnTo>
                    <a:pt x="0" y="209550"/>
                  </a:lnTo>
                  <a:close/>
                </a:path>
              </a:pathLst>
            </a:custGeom>
            <a:solidFill>
              <a:srgbClr val="4C8C7B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35330" y="2962275"/>
            <a:ext cx="1310640" cy="1590675"/>
            <a:chOff x="735330" y="2962275"/>
            <a:chExt cx="1310640" cy="1590675"/>
          </a:xfrm>
        </p:grpSpPr>
        <p:sp>
          <p:nvSpPr>
            <p:cNvPr id="10" name="Ellipse 10"/>
            <p:cNvSpPr/>
            <p:nvPr/>
          </p:nvSpPr>
          <p:spPr>
            <a:xfrm>
              <a:off x="990600" y="2962275"/>
              <a:ext cx="800100" cy="80010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98481" y="3263265"/>
              <a:ext cx="1843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7F9F6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637" y="39747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基础资料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5330" y="430911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年龄、身高、体重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091815" y="2962275"/>
            <a:ext cx="1150620" cy="1590675"/>
            <a:chOff x="3091815" y="2962275"/>
            <a:chExt cx="1150620" cy="1590675"/>
          </a:xfrm>
        </p:grpSpPr>
        <p:sp>
          <p:nvSpPr>
            <p:cNvPr id="15" name="Ellipse 15"/>
            <p:cNvSpPr/>
            <p:nvPr/>
          </p:nvSpPr>
          <p:spPr>
            <a:xfrm>
              <a:off x="3267075" y="2962275"/>
              <a:ext cx="800100" cy="800100"/>
            </a:xfrm>
            <a:prstGeom prst="ellipse">
              <a:avLst/>
            </a:prstGeom>
            <a:solidFill>
              <a:srgbClr val="4C8C7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574956" y="3263265"/>
              <a:ext cx="1843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7F9F6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84112" y="39747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开放描述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91815" y="430911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当前诉求与变化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128260" y="2962275"/>
            <a:ext cx="1630680" cy="1590675"/>
            <a:chOff x="5128260" y="2962275"/>
            <a:chExt cx="1630680" cy="1590675"/>
          </a:xfrm>
        </p:grpSpPr>
        <p:sp>
          <p:nvSpPr>
            <p:cNvPr id="20" name="Ellipse 20"/>
            <p:cNvSpPr/>
            <p:nvPr/>
          </p:nvSpPr>
          <p:spPr>
            <a:xfrm>
              <a:off x="5543550" y="2962275"/>
              <a:ext cx="800100" cy="800100"/>
            </a:xfrm>
            <a:prstGeom prst="ellipse">
              <a:avLst/>
            </a:prstGeom>
            <a:solidFill>
              <a:srgbClr val="E07A5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851431" y="3263265"/>
              <a:ext cx="1843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7F9F6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60587" y="39747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分层追问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28260" y="43091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病因、风险、中医资料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564755" y="2962275"/>
            <a:ext cx="1310640" cy="1590675"/>
            <a:chOff x="7564755" y="2962275"/>
            <a:chExt cx="1310640" cy="1590675"/>
          </a:xfrm>
        </p:grpSpPr>
        <p:sp>
          <p:nvSpPr>
            <p:cNvPr id="25" name="Ellipse 25"/>
            <p:cNvSpPr/>
            <p:nvPr/>
          </p:nvSpPr>
          <p:spPr>
            <a:xfrm>
              <a:off x="7820025" y="2962275"/>
              <a:ext cx="800100" cy="800100"/>
            </a:xfrm>
            <a:prstGeom prst="ellipse">
              <a:avLst/>
            </a:prstGeom>
            <a:solidFill>
              <a:srgbClr val="4C8C7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127906" y="3263265"/>
              <a:ext cx="1843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7F9F6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37062" y="39747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资料汇总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64755" y="430911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字段、证据与矛盾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921240" y="2962275"/>
            <a:ext cx="1150620" cy="1590675"/>
            <a:chOff x="9921240" y="2962275"/>
            <a:chExt cx="1150620" cy="1590675"/>
          </a:xfrm>
        </p:grpSpPr>
        <p:sp>
          <p:nvSpPr>
            <p:cNvPr id="30" name="Ellipse 30"/>
            <p:cNvSpPr/>
            <p:nvPr/>
          </p:nvSpPr>
          <p:spPr>
            <a:xfrm>
              <a:off x="10096500" y="2962275"/>
              <a:ext cx="800100" cy="80010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404381" y="3263265"/>
              <a:ext cx="1843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7F9F6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013537" y="39747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输出档案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921240" y="430911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检查候选与交接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5314950"/>
            <a:ext cx="10972800" cy="1314450"/>
            <a:chOff x="609600" y="5314950"/>
            <a:chExt cx="10972800" cy="1314450"/>
          </a:xfrm>
        </p:grpSpPr>
        <p:sp>
          <p:nvSpPr>
            <p:cNvPr id="35" name="Rectangle 35"/>
            <p:cNvSpPr/>
            <p:nvPr/>
          </p:nvSpPr>
          <p:spPr>
            <a:xfrm>
              <a:off x="609600" y="5314950"/>
              <a:ext cx="10972800" cy="638175"/>
            </a:xfrm>
            <a:prstGeom prst="roundRect">
              <a:avLst>
                <a:gd name="adj" fmla="val 8955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94398" y="5535454"/>
              <a:ext cx="781097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患者端隐藏内部执行度；医生端保留缺失项、证据来源和冲突信息，便于诊中核对。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25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9595" y="651510"/>
            <a:ext cx="6254782" cy="1251109"/>
            <a:chOff x="569595" y="651510"/>
            <a:chExt cx="6254782" cy="1251109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080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05 / 当前页面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625478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基础资料：先把客观起点问清楚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9598" y="1582579"/>
              <a:ext cx="550068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将年龄、性别、身高和体重作为成人肥胖问诊的前置资料。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2209800"/>
            <a:ext cx="6858000" cy="3009900"/>
            <a:chOff x="609600" y="2209800"/>
            <a:chExt cx="6858000" cy="3009900"/>
          </a:xfrm>
        </p:grpSpPr>
        <p:sp>
          <p:nvSpPr>
            <p:cNvPr id="7" name="Rectangle 7"/>
            <p:cNvSpPr/>
            <p:nvPr/>
          </p:nvSpPr>
          <p:spPr>
            <a:xfrm>
              <a:off x="609600" y="2209800"/>
              <a:ext cx="6858000" cy="3009900"/>
            </a:xfrm>
            <a:prstGeom prst="roundRect">
              <a:avLst>
                <a:gd name="adj" fmla="val 1899"/>
              </a:avLst>
            </a:prstGeom>
            <a:solidFill>
              <a:srgbClr val="EAF2EB"/>
            </a:solidFill>
            <a:ln w="19050">
              <a:solidFill>
                <a:srgbClr val="C9D7CE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2209800"/>
              <a:ext cx="6858000" cy="3009900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781050" y="4810125"/>
              <a:ext cx="1466850" cy="257175"/>
            </a:xfrm>
            <a:prstGeom prst="roundRect">
              <a:avLst>
                <a:gd name="adj" fmla="val 50000"/>
              </a:avLst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60085" y="487775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真实系统页面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48638" y="2407444"/>
            <a:ext cx="3085624" cy="3095625"/>
            <a:chOff x="8148638" y="2407444"/>
            <a:chExt cx="3085624" cy="3095625"/>
          </a:xfrm>
        </p:grpSpPr>
        <p:sp>
          <p:nvSpPr>
            <p:cNvPr id="12" name="TextBox 12"/>
            <p:cNvSpPr txBox="1"/>
            <p:nvPr/>
          </p:nvSpPr>
          <p:spPr>
            <a:xfrm>
              <a:off x="8148638" y="2407444"/>
              <a:ext cx="162282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前置采集规则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8172450" y="28384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C9D7CE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153400" y="32194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E07A5F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46795" y="3203258"/>
              <a:ext cx="20221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仅进入成人肥胖流程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51558" y="3529489"/>
              <a:ext cx="25827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年龄条件先校验，再进入后续问诊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53400" y="407670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E07A5F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46795" y="4060508"/>
              <a:ext cx="180213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四项基础资料必填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51558" y="4386739"/>
              <a:ext cx="25827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年龄、性别、身高、体重缺一不可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53400" y="4933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E07A5F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46795" y="4917758"/>
              <a:ext cx="244021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BMI 和腰围由服务端计算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51558" y="5243989"/>
              <a:ext cx="24126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避免由模型对数值做不确定推断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93408" y="5853589"/>
            <a:ext cx="10756582" cy="775811"/>
            <a:chOff x="593408" y="5853589"/>
            <a:chExt cx="10756582" cy="775811"/>
          </a:xfrm>
        </p:grpSpPr>
        <p:sp>
          <p:nvSpPr>
            <p:cNvPr id="24" name="TextBox 24"/>
            <p:cNvSpPr txBox="1"/>
            <p:nvPr/>
          </p:nvSpPr>
          <p:spPr>
            <a:xfrm>
              <a:off x="593408" y="5853589"/>
              <a:ext cx="445293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页面支持自然语言主诉输入，为后续分层追问提供上下文。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26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9595" y="651510"/>
            <a:ext cx="8460057" cy="1251109"/>
            <a:chOff x="569595" y="651510"/>
            <a:chExt cx="8460057" cy="1251109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2486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08 / 对话式追问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846005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对话式追问：围绕缺失信息，而不是凑轮次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9598" y="1582579"/>
              <a:ext cx="571071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每次只推进一个信息目标，历史对话持续保留并可滚动查看。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85788" y="2235994"/>
            <a:ext cx="3935730" cy="3343275"/>
            <a:chOff x="585788" y="2235994"/>
            <a:chExt cx="3935730" cy="3343275"/>
          </a:xfrm>
        </p:grpSpPr>
        <p:sp>
          <p:nvSpPr>
            <p:cNvPr id="7" name="TextBox 7"/>
            <p:cNvSpPr txBox="1"/>
            <p:nvPr/>
          </p:nvSpPr>
          <p:spPr>
            <a:xfrm>
              <a:off x="585788" y="2235994"/>
              <a:ext cx="109775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追问约束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6670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rgbClr val="C9D7CE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666750" y="3057525"/>
              <a:ext cx="247650" cy="24765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84898" y="3087529"/>
              <a:ext cx="193024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澄清不作为医学证据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88708" y="3396139"/>
              <a:ext cx="29227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患者不理解时先解释，不消耗追问机会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666750" y="4019550"/>
              <a:ext cx="247650" cy="247650"/>
            </a:xfrm>
            <a:prstGeom prst="ellipse">
              <a:avLst/>
            </a:prstGeom>
            <a:solidFill>
              <a:srgbClr val="4C8C7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84898" y="4049554"/>
              <a:ext cx="256032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同一字段最多委婉重问一次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8708" y="4358164"/>
              <a:ext cx="29227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避免机械重复，保留患者拒答或不确定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66750" y="4981575"/>
              <a:ext cx="247650" cy="247650"/>
            </a:xfrm>
            <a:prstGeom prst="ellipse">
              <a:avLst/>
            </a:prstGeom>
            <a:solidFill>
              <a:srgbClr val="E07A5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84898" y="5011579"/>
              <a:ext cx="238179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AI 不可用时仍可继续采集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8708" y="5320189"/>
              <a:ext cx="343281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降级为固定问题，保证流程不被服务故障阻断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495800" y="2266950"/>
            <a:ext cx="7086600" cy="3105150"/>
            <a:chOff x="4495800" y="2266950"/>
            <a:chExt cx="7086600" cy="3105150"/>
          </a:xfrm>
        </p:grpSpPr>
        <p:sp>
          <p:nvSpPr>
            <p:cNvPr id="19" name="Rectangle 19"/>
            <p:cNvSpPr/>
            <p:nvPr/>
          </p:nvSpPr>
          <p:spPr>
            <a:xfrm>
              <a:off x="4495800" y="2266950"/>
              <a:ext cx="7086600" cy="3105150"/>
            </a:xfrm>
            <a:prstGeom prst="roundRect">
              <a:avLst>
                <a:gd name="adj" fmla="val 1840"/>
              </a:avLst>
            </a:prstGeom>
            <a:solidFill>
              <a:srgbClr val="EAF2EB"/>
            </a:solidFill>
            <a:ln w="19050">
              <a:solidFill>
                <a:srgbClr val="C9D7CE"/>
              </a:solidFill>
            </a:ln>
          </p:spPr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99229" y="2266950"/>
              <a:ext cx="7079742" cy="3105150"/>
            </a:xfrm>
            <a:prstGeom prst="rect">
              <a:avLst/>
            </a:prstGeom>
          </p:spPr>
        </p:pic>
        <p:sp>
          <p:nvSpPr>
            <p:cNvPr id="21" name="Rectangle 21"/>
            <p:cNvSpPr/>
            <p:nvPr/>
          </p:nvSpPr>
          <p:spPr>
            <a:xfrm>
              <a:off x="4686300" y="4972050"/>
              <a:ext cx="1390650" cy="257175"/>
            </a:xfrm>
            <a:prstGeom prst="roundRect">
              <a:avLst>
                <a:gd name="adj" fmla="val 50000"/>
              </a:avLst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927235" y="503967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真实系统页面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91502" y="5953125"/>
            <a:ext cx="10990898" cy="676275"/>
            <a:chOff x="591502" y="5953125"/>
            <a:chExt cx="10990898" cy="676275"/>
          </a:xfrm>
        </p:grpSpPr>
        <p:sp>
          <p:nvSpPr>
            <p:cNvPr id="24" name="Rectangle 24"/>
            <p:cNvSpPr/>
            <p:nvPr/>
          </p:nvSpPr>
          <p:spPr>
            <a:xfrm>
              <a:off x="609600" y="5953125"/>
              <a:ext cx="10972800" cy="9525"/>
            </a:xfrm>
            <a:prstGeom prst="rect">
              <a:avLst/>
            </a:prstGeom>
            <a:solidFill>
              <a:srgbClr val="C9D7C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1502" y="6189821"/>
              <a:ext cx="496446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停止条件由完整度模型决定，不再依赖固定 12 轮上限。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29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9595" y="651510"/>
            <a:ext cx="8019002" cy="1251109"/>
            <a:chOff x="569595" y="651510"/>
            <a:chExt cx="8019002" cy="1251109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080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06 / 核心机制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801900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完整度模型：四层门槛共同决定何时问够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9598" y="1582579"/>
              <a:ext cx="697087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系统不依赖固定轮次，而是依据资料层级、字段证据与安全条件持续判断。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2266950"/>
            <a:ext cx="10972800" cy="685800"/>
            <a:chOff x="609600" y="2266950"/>
            <a:chExt cx="10972800" cy="685800"/>
          </a:xfrm>
        </p:grpSpPr>
        <p:sp>
          <p:nvSpPr>
            <p:cNvPr id="7" name="Rectangle 7"/>
            <p:cNvSpPr/>
            <p:nvPr/>
          </p:nvSpPr>
          <p:spPr>
            <a:xfrm>
              <a:off x="609600" y="2266950"/>
              <a:ext cx="10972800" cy="685800"/>
            </a:xfrm>
            <a:prstGeom prst="roundRect">
              <a:avLst>
                <a:gd name="adj" fmla="val 8333"/>
              </a:avLst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1540" y="2510790"/>
              <a:ext cx="126807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1 基础资料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05200" y="2543175"/>
              <a:ext cx="34785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年龄、性别、身高、体重与 BMI 已校验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28160" y="25593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硬性前提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9600" y="3086100"/>
            <a:ext cx="10972800" cy="685800"/>
            <a:chOff x="609600" y="3086100"/>
            <a:chExt cx="10972800" cy="685800"/>
          </a:xfrm>
        </p:grpSpPr>
        <p:sp>
          <p:nvSpPr>
            <p:cNvPr id="12" name="Rectangle 12"/>
            <p:cNvSpPr/>
            <p:nvPr/>
          </p:nvSpPr>
          <p:spPr>
            <a:xfrm>
              <a:off x="609600" y="3086100"/>
              <a:ext cx="10972800" cy="685800"/>
            </a:xfrm>
            <a:prstGeom prst="roundRect">
              <a:avLst>
                <a:gd name="adj" fmla="val 8333"/>
              </a:avLst>
            </a:prstGeom>
            <a:solidFill>
              <a:srgbClr val="EAF2EB"/>
            </a:solidFill>
            <a:ln w="9525">
              <a:solidFill>
                <a:srgbClr val="C9D7CE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1540" y="3329940"/>
              <a:ext cx="152010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2 病因与风险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05200" y="3362325"/>
              <a:ext cx="46386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体重变化、诱因、既往减重、代谢风险和继发性线索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39137" y="33785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4C8C7B"/>
                  </a:solidFill>
                  <a:latin typeface="Arial"/>
                  <a:ea typeface="Microsoft YaHei"/>
                  <a:cs typeface="Arial"/>
                </a:rPr>
                <a:t>按分层阈值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3905250"/>
            <a:ext cx="10972800" cy="685800"/>
            <a:chOff x="609600" y="3905250"/>
            <a:chExt cx="10972800" cy="685800"/>
          </a:xfrm>
        </p:grpSpPr>
        <p:sp>
          <p:nvSpPr>
            <p:cNvPr id="17" name="Rectangle 17"/>
            <p:cNvSpPr/>
            <p:nvPr/>
          </p:nvSpPr>
          <p:spPr>
            <a:xfrm>
              <a:off x="609600" y="3905250"/>
              <a:ext cx="10972800" cy="685800"/>
            </a:xfrm>
            <a:prstGeom prst="roundRect">
              <a:avLst>
                <a:gd name="adj" fmla="val 8333"/>
              </a:avLst>
            </a:prstGeom>
            <a:solidFill>
              <a:srgbClr val="EAF2EB"/>
            </a:solidFill>
            <a:ln w="9525">
              <a:solidFill>
                <a:srgbClr val="C9D7CE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91540" y="4149090"/>
              <a:ext cx="126807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3 中医资料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05200" y="4181475"/>
              <a:ext cx="44386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寒热汗出、二便、睡眠、情绪、乏力、浮肿与舌象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39137" y="41976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4C8C7B"/>
                  </a:solidFill>
                  <a:latin typeface="Arial"/>
                  <a:ea typeface="Microsoft YaHei"/>
                  <a:cs typeface="Arial"/>
                </a:rPr>
                <a:t>按分层阈值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9600" y="4724400"/>
            <a:ext cx="10972800" cy="685800"/>
            <a:chOff x="609600" y="4724400"/>
            <a:chExt cx="10972800" cy="685800"/>
          </a:xfrm>
        </p:grpSpPr>
        <p:sp>
          <p:nvSpPr>
            <p:cNvPr id="22" name="Rectangle 22"/>
            <p:cNvSpPr/>
            <p:nvPr/>
          </p:nvSpPr>
          <p:spPr>
            <a:xfrm>
              <a:off x="609600" y="4724400"/>
              <a:ext cx="10972800" cy="685800"/>
            </a:xfrm>
            <a:prstGeom prst="roundRect">
              <a:avLst>
                <a:gd name="adj" fmla="val 8333"/>
              </a:avLst>
            </a:prstGeom>
            <a:solidFill>
              <a:srgbClr val="EAF2EB"/>
            </a:solidFill>
            <a:ln w="9525">
              <a:solidFill>
                <a:srgbClr val="C9D7C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1540" y="4968240"/>
              <a:ext cx="126807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4 安全信息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05200" y="5000625"/>
              <a:ext cx="44386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危险信号、当前用药、过敏史和妊娠生育相关情况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428160" y="50168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C94A3D"/>
                  </a:solidFill>
                  <a:latin typeface="Arial"/>
                  <a:ea typeface="Microsoft YaHei"/>
                  <a:cs typeface="Arial"/>
                </a:rPr>
                <a:t>持续提示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060118" y="5794058"/>
            <a:ext cx="8289872" cy="835342"/>
            <a:chOff x="3060118" y="5794058"/>
            <a:chExt cx="8289872" cy="835342"/>
          </a:xfrm>
        </p:grpSpPr>
        <p:sp>
          <p:nvSpPr>
            <p:cNvPr id="27" name="TextBox 27"/>
            <p:cNvSpPr txBox="1"/>
            <p:nvPr/>
          </p:nvSpPr>
          <p:spPr>
            <a:xfrm>
              <a:off x="3060118" y="5794058"/>
              <a:ext cx="607176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只有四层均达到要求，系统才生成“正常完成”的诊前档案。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27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9595" y="651510"/>
            <a:ext cx="6695837" cy="1251109"/>
            <a:chOff x="569595" y="651510"/>
            <a:chExt cx="6695837" cy="1251109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080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07 / 结束判断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669583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什么时候问够了？由停止条件决定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9598" y="1582579"/>
              <a:ext cx="634079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不按固定轮次结束，而是判断当前资料是否已经可以交给医生核对。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47725" y="3019425"/>
            <a:ext cx="1200150" cy="1666875"/>
            <a:chOff x="847725" y="3019425"/>
            <a:chExt cx="1200150" cy="1666875"/>
          </a:xfrm>
        </p:grpSpPr>
        <p:sp>
          <p:nvSpPr>
            <p:cNvPr id="7" name="Ellipse 7"/>
            <p:cNvSpPr/>
            <p:nvPr/>
          </p:nvSpPr>
          <p:spPr>
            <a:xfrm>
              <a:off x="847725" y="3019425"/>
              <a:ext cx="1200150" cy="120015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63613" y="3248978"/>
              <a:ext cx="568373" cy="1127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5550" b="1" dirty="0">
                  <a:solidFill>
                    <a:srgbClr val="F7F9F6"/>
                  </a:solidFill>
                  <a:latin typeface="Arial"/>
                  <a:ea typeface="Arial"/>
                  <a:cs typeface="Arial"/>
                </a:rPr>
                <a:t>?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08698" y="438150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结束判断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266950" y="2461736"/>
            <a:ext cx="4808697" cy="593408"/>
            <a:chOff x="2266950" y="2461736"/>
            <a:chExt cx="4808697" cy="593408"/>
          </a:xfrm>
        </p:grpSpPr>
        <p:sp>
          <p:nvSpPr>
            <p:cNvPr id="11" name="Line 11"/>
            <p:cNvSpPr/>
            <p:nvPr/>
          </p:nvSpPr>
          <p:spPr>
            <a:xfrm>
              <a:off x="2266950" y="2714625"/>
              <a:ext cx="895350" cy="9525"/>
            </a:xfrm>
            <a:custGeom>
              <a:avLst/>
              <a:gdLst/>
              <a:ahLst/>
              <a:cxnLst/>
              <a:rect l="l" t="t" r="r" b="b"/>
              <a:pathLst>
                <a:path w="895350" h="9525">
                  <a:moveTo>
                    <a:pt x="0" y="0"/>
                  </a:moveTo>
                  <a:lnTo>
                    <a:pt x="895350" y="0"/>
                  </a:lnTo>
                </a:path>
              </a:pathLst>
            </a:custGeom>
            <a:noFill/>
            <a:ln w="28575">
              <a:solidFill>
                <a:srgbClr val="C9D7CE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3209925" y="2495550"/>
              <a:ext cx="438150" cy="43815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359874" y="264509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7F9F6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07142" y="2461736"/>
              <a:ext cx="149299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必需字段齐全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12858" y="2796064"/>
              <a:ext cx="326278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年龄、性别、身高、体重等硬性前提已完成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266950" y="3318986"/>
            <a:ext cx="5148739" cy="593408"/>
            <a:chOff x="2266950" y="3318986"/>
            <a:chExt cx="5148739" cy="593408"/>
          </a:xfrm>
        </p:grpSpPr>
        <p:sp>
          <p:nvSpPr>
            <p:cNvPr id="17" name="Line 17"/>
            <p:cNvSpPr/>
            <p:nvPr/>
          </p:nvSpPr>
          <p:spPr>
            <a:xfrm>
              <a:off x="2266950" y="3571875"/>
              <a:ext cx="895350" cy="9525"/>
            </a:xfrm>
            <a:custGeom>
              <a:avLst/>
              <a:gdLst/>
              <a:ahLst/>
              <a:cxnLst/>
              <a:rect l="l" t="t" r="r" b="b"/>
              <a:pathLst>
                <a:path w="895350" h="9525">
                  <a:moveTo>
                    <a:pt x="0" y="0"/>
                  </a:moveTo>
                  <a:lnTo>
                    <a:pt x="895350" y="0"/>
                  </a:lnTo>
                </a:path>
              </a:pathLst>
            </a:custGeom>
            <a:noFill/>
            <a:ln w="28575">
              <a:solidFill>
                <a:srgbClr val="C9D7CE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209925" y="3352800"/>
              <a:ext cx="438150" cy="438150"/>
            </a:xfrm>
            <a:prstGeom prst="ellipse">
              <a:avLst/>
            </a:prstGeom>
            <a:solidFill>
              <a:srgbClr val="4C8C7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359874" y="350234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7F9F6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07142" y="3318986"/>
              <a:ext cx="318370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当前场景的信息覆盖达到门槛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12858" y="3653314"/>
              <a:ext cx="36028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病因风险、中医资料和安全信息已达到对应要求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266950" y="4176236"/>
            <a:ext cx="4978718" cy="593408"/>
            <a:chOff x="2266950" y="4176236"/>
            <a:chExt cx="4978718" cy="593408"/>
          </a:xfrm>
        </p:grpSpPr>
        <p:sp>
          <p:nvSpPr>
            <p:cNvPr id="23" name="Line 23"/>
            <p:cNvSpPr/>
            <p:nvPr/>
          </p:nvSpPr>
          <p:spPr>
            <a:xfrm>
              <a:off x="2266950" y="4429125"/>
              <a:ext cx="895350" cy="9525"/>
            </a:xfrm>
            <a:custGeom>
              <a:avLst/>
              <a:gdLst/>
              <a:ahLst/>
              <a:cxnLst/>
              <a:rect l="l" t="t" r="r" b="b"/>
              <a:pathLst>
                <a:path w="895350" h="9525">
                  <a:moveTo>
                    <a:pt x="0" y="0"/>
                  </a:moveTo>
                  <a:lnTo>
                    <a:pt x="895350" y="0"/>
                  </a:lnTo>
                </a:path>
              </a:pathLst>
            </a:custGeom>
            <a:noFill/>
            <a:ln w="28575">
              <a:solidFill>
                <a:srgbClr val="C9D7CE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3209925" y="4210050"/>
              <a:ext cx="438150" cy="438150"/>
            </a:xfrm>
            <a:prstGeom prst="ellipse">
              <a:avLst/>
            </a:prstGeom>
            <a:solidFill>
              <a:srgbClr val="E07A5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359874" y="435959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7F9F6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807142" y="4176236"/>
              <a:ext cx="318370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没有未处理的关键风险或矛盾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12858" y="4510564"/>
              <a:ext cx="343281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危险信号持续提示，关键冲突需要进一步核对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266950" y="5033486"/>
            <a:ext cx="5148739" cy="593408"/>
            <a:chOff x="2266950" y="5033486"/>
            <a:chExt cx="5148739" cy="593408"/>
          </a:xfrm>
        </p:grpSpPr>
        <p:sp>
          <p:nvSpPr>
            <p:cNvPr id="29" name="Line 29"/>
            <p:cNvSpPr/>
            <p:nvPr/>
          </p:nvSpPr>
          <p:spPr>
            <a:xfrm>
              <a:off x="2266950" y="5286375"/>
              <a:ext cx="895350" cy="9525"/>
            </a:xfrm>
            <a:custGeom>
              <a:avLst/>
              <a:gdLst/>
              <a:ahLst/>
              <a:cxnLst/>
              <a:rect l="l" t="t" r="r" b="b"/>
              <a:pathLst>
                <a:path w="895350" h="9525">
                  <a:moveTo>
                    <a:pt x="0" y="0"/>
                  </a:moveTo>
                  <a:lnTo>
                    <a:pt x="895350" y="0"/>
                  </a:lnTo>
                </a:path>
              </a:pathLst>
            </a:custGeom>
            <a:noFill/>
            <a:ln w="28575">
              <a:solidFill>
                <a:srgbClr val="C9D7CE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3209925" y="5067300"/>
              <a:ext cx="438150" cy="43815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359874" y="521684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7F9F6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07142" y="5033486"/>
              <a:ext cx="318370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不知道或拒答已完成一次澄清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12858" y="5367814"/>
              <a:ext cx="36028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记录真实状态，不为了凑完整度而无限重复提问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77200" y="2447925"/>
            <a:ext cx="3505200" cy="2895600"/>
            <a:chOff x="8077200" y="2447925"/>
            <a:chExt cx="3505200" cy="2895600"/>
          </a:xfrm>
        </p:grpSpPr>
        <p:sp>
          <p:nvSpPr>
            <p:cNvPr id="35" name="Rectangle 35"/>
            <p:cNvSpPr/>
            <p:nvPr/>
          </p:nvSpPr>
          <p:spPr>
            <a:xfrm>
              <a:off x="8077200" y="2447925"/>
              <a:ext cx="3505200" cy="1285875"/>
            </a:xfrm>
            <a:prstGeom prst="roundRect">
              <a:avLst>
                <a:gd name="adj" fmla="val 4444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82000" y="275272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四项全部满足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77238" y="3093244"/>
              <a:ext cx="109775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结束追问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84858" y="3424714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生成可供诊中核对的档案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077200" y="4057650"/>
              <a:ext cx="3505200" cy="1285875"/>
            </a:xfrm>
            <a:prstGeom prst="roundRect">
              <a:avLst>
                <a:gd name="adj" fmla="val 4444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382000" y="4362450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07A5F"/>
                  </a:solidFill>
                  <a:latin typeface="Arial"/>
                  <a:ea typeface="Microsoft YaHei"/>
                  <a:cs typeface="Arial"/>
                </a:rPr>
                <a:t>任一条件尚未满足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77238" y="4702969"/>
              <a:ext cx="109775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继续追问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84858" y="5034439"/>
              <a:ext cx="224266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优先补当前最关键的缺失字段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91502" y="6189821"/>
            <a:ext cx="10758488" cy="439579"/>
            <a:chOff x="591502" y="6189821"/>
            <a:chExt cx="10758488" cy="439579"/>
          </a:xfrm>
        </p:grpSpPr>
        <p:sp>
          <p:nvSpPr>
            <p:cNvPr id="44" name="TextBox 44"/>
            <p:cNvSpPr txBox="1"/>
            <p:nvPr/>
          </p:nvSpPr>
          <p:spPr>
            <a:xfrm>
              <a:off x="591502" y="6189821"/>
              <a:ext cx="604189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“问够”不是信息越多越好，而是足以让医生高效、安全地进入诊中。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28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9595" y="651510"/>
            <a:ext cx="7136892" cy="1251109"/>
            <a:chOff x="569595" y="651510"/>
            <a:chExt cx="7136892" cy="1251109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080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09 / 结果输出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713689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双端结果：患者可理解，医生可追溯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9598" y="1582579"/>
              <a:ext cx="508063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同一份问诊数据，按使用者的任务分成不同信息层次。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86740" y="1977390"/>
            <a:ext cx="5204460" cy="3525679"/>
            <a:chOff x="586740" y="1977390"/>
            <a:chExt cx="5204460" cy="3525679"/>
          </a:xfrm>
        </p:grpSpPr>
        <p:sp>
          <p:nvSpPr>
            <p:cNvPr id="7" name="TextBox 7"/>
            <p:cNvSpPr txBox="1"/>
            <p:nvPr/>
          </p:nvSpPr>
          <p:spPr>
            <a:xfrm>
              <a:off x="586740" y="197739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患者端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2343150"/>
              <a:ext cx="5181600" cy="2266950"/>
            </a:xfrm>
            <a:prstGeom prst="roundRect">
              <a:avLst>
                <a:gd name="adj" fmla="val 2521"/>
              </a:avLst>
            </a:prstGeom>
            <a:solidFill>
              <a:srgbClr val="EAF2EB"/>
            </a:solidFill>
            <a:ln w="19050">
              <a:solidFill>
                <a:srgbClr val="C9D7CE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6077" y="2343150"/>
              <a:ext cx="5168646" cy="2266950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589598" y="4916329"/>
              <a:ext cx="420797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安全文案、BMI 提示、诊前档案与检查建议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3408" y="5243989"/>
              <a:ext cx="36028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不展示内部完整度、字段优先级和医学判断过程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77940" y="1977390"/>
            <a:ext cx="5204460" cy="3525679"/>
            <a:chOff x="6377940" y="1977390"/>
            <a:chExt cx="5204460" cy="3525679"/>
          </a:xfrm>
        </p:grpSpPr>
        <p:sp>
          <p:nvSpPr>
            <p:cNvPr id="13" name="TextBox 13"/>
            <p:cNvSpPr txBox="1"/>
            <p:nvPr/>
          </p:nvSpPr>
          <p:spPr>
            <a:xfrm>
              <a:off x="6377940" y="197739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医生端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400800" y="2343150"/>
              <a:ext cx="5181600" cy="2266950"/>
            </a:xfrm>
            <a:prstGeom prst="roundRect">
              <a:avLst>
                <a:gd name="adj" fmla="val 2521"/>
              </a:avLst>
            </a:prstGeom>
            <a:solidFill>
              <a:srgbClr val="EAF2EB"/>
            </a:solidFill>
            <a:ln w="19050">
              <a:solidFill>
                <a:srgbClr val="C9D7CE"/>
              </a:solidFill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7277" y="2343150"/>
              <a:ext cx="5168646" cy="226695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6380798" y="4916329"/>
              <a:ext cx="400950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分层执行度、字段证据、冲突和检查候选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84608" y="5243989"/>
              <a:ext cx="37728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帮助医生在诊中快速核对资料，而非替代医生判断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" y="5924550"/>
            <a:ext cx="10991850" cy="704850"/>
            <a:chOff x="590550" y="5924550"/>
            <a:chExt cx="10991850" cy="704850"/>
          </a:xfrm>
        </p:grpSpPr>
        <p:sp>
          <p:nvSpPr>
            <p:cNvPr id="19" name="Line 19"/>
            <p:cNvSpPr/>
            <p:nvPr/>
          </p:nvSpPr>
          <p:spPr>
            <a:xfrm>
              <a:off x="609600" y="5924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9D7C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0550" y="6191250"/>
              <a:ext cx="5438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核心结果：数据采集、完整度判断与医生核对形成一条闭环。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30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9595" y="651510"/>
            <a:ext cx="5310664" cy="1251109"/>
            <a:chOff x="569595" y="651510"/>
            <a:chExt cx="5310664" cy="1251109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4166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10 / 总结与下一步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360845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当前成果与下一步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9598" y="1582579"/>
              <a:ext cx="529066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从单次答题页面，迭代为面向诊中服务的诊前采集闭环。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88645" y="2279332"/>
            <a:ext cx="4878705" cy="2664143"/>
            <a:chOff x="588645" y="2279332"/>
            <a:chExt cx="4878705" cy="2664143"/>
          </a:xfrm>
        </p:grpSpPr>
        <p:sp>
          <p:nvSpPr>
            <p:cNvPr id="7" name="TextBox 7"/>
            <p:cNvSpPr txBox="1"/>
            <p:nvPr/>
          </p:nvSpPr>
          <p:spPr>
            <a:xfrm>
              <a:off x="588645" y="22793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本周已完成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2676525"/>
              <a:ext cx="4857750" cy="2266950"/>
            </a:xfrm>
            <a:prstGeom prst="roundRect">
              <a:avLst>
                <a:gd name="adj" fmla="val 2521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29640" y="3015615"/>
              <a:ext cx="392700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01 流程从固定问答改为对话式追问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9640" y="3463290"/>
              <a:ext cx="342294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02 建立四层完整度与停止条件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9640" y="3910965"/>
              <a:ext cx="367497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03 完善患者端与医生端结果分层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5355" y="4426268"/>
              <a:ext cx="41748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基础资料、追问、档案与检查建议已形成可演示链路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282690" y="2279332"/>
            <a:ext cx="5299710" cy="2421256"/>
            <a:chOff x="6282690" y="2279332"/>
            <a:chExt cx="5299710" cy="2421256"/>
          </a:xfrm>
        </p:grpSpPr>
        <p:sp>
          <p:nvSpPr>
            <p:cNvPr id="14" name="TextBox 14"/>
            <p:cNvSpPr txBox="1"/>
            <p:nvPr/>
          </p:nvSpPr>
          <p:spPr>
            <a:xfrm>
              <a:off x="6284595" y="22793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7A5F"/>
                  </a:solidFill>
                  <a:latin typeface="Arial"/>
                  <a:ea typeface="Microsoft YaHei"/>
                  <a:cs typeface="Arial"/>
                </a:rPr>
                <a:t>下一步收口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305550" y="2676525"/>
              <a:ext cx="5276850" cy="9525"/>
            </a:xfrm>
            <a:custGeom>
              <a:avLst/>
              <a:gdLst/>
              <a:ahLst/>
              <a:cxnLst/>
              <a:rect l="l" t="t" r="r" b="b"/>
              <a:pathLst>
                <a:path w="5276850" h="9525">
                  <a:moveTo>
                    <a:pt x="0" y="0"/>
                  </a:moveTo>
                  <a:lnTo>
                    <a:pt x="5276850" y="0"/>
                  </a:lnTo>
                </a:path>
              </a:pathLst>
            </a:custGeom>
            <a:noFill/>
            <a:ln w="9525">
              <a:solidFill>
                <a:srgbClr val="C9D7CE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2690" y="3015615"/>
              <a:ext cx="392700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01 补充真实浏览器端到端流程测试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82690" y="3463290"/>
              <a:ext cx="392700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02 继续打磨医生端访问控制与隐私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82690" y="3910965"/>
              <a:ext cx="41790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03 补足文档，收口旧接口与演示路径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88405" y="4426268"/>
              <a:ext cx="38507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把“可演示”推进到“可稳定验证、可持续迭代”。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9600" y="5505450"/>
            <a:ext cx="10972800" cy="1123950"/>
            <a:chOff x="609600" y="5505450"/>
            <a:chExt cx="10972800" cy="1123950"/>
          </a:xfrm>
        </p:grpSpPr>
        <p:sp>
          <p:nvSpPr>
            <p:cNvPr id="21" name="Rectangle 21"/>
            <p:cNvSpPr/>
            <p:nvPr/>
          </p:nvSpPr>
          <p:spPr>
            <a:xfrm>
              <a:off x="609600" y="5505450"/>
              <a:ext cx="10972800" cy="600075"/>
            </a:xfrm>
            <a:prstGeom prst="roundRect">
              <a:avLst>
                <a:gd name="adj" fmla="val 9524"/>
              </a:avLst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053060" y="5684044"/>
              <a:ext cx="608588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采集更完整，交接更清楚，服务于医生的最终判断。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31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5442</Words>
  <Application>Microsoft Office PowerPoint</Application>
  <PresentationFormat>宽屏</PresentationFormat>
  <Paragraphs>459</Paragraphs>
  <Slides>31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其贵 马</cp:lastModifiedBy>
  <cp:revision>2</cp:revision>
  <dcterms:created xsi:type="dcterms:W3CDTF">2026-08-20T09:49:00Z</dcterms:created>
  <dcterms:modified xsi:type="dcterms:W3CDTF">2026-08-20T09:56:24Z</dcterms:modified>
  <cp:category/>
  <cp:contentStatus/>
  <dc:language/>
</cp:coreProperties>
</file>