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0ACBC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0ACBC"/>
                </a:solidFill>
              </a:defRPr>
            </a:pPr>
            <a:r>
              <a:t>成人肥胖诊前问诊系统 · 组会汇报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00400"/>
            <a:ext cx="57908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4200" b="1">
                <a:solidFill>
                  <a:srgbClr val="ECF0F4"/>
                </a:solidFill>
              </a:defRPr>
            </a:pPr>
            <a:r>
              <a:t>成人肥胖诊前问诊系统</a:t>
            </a:r>
          </a:p>
          <a:p>
            <a:pPr algn="ctr">
              <a:defRPr sz="2000" b="0">
                <a:solidFill>
                  <a:srgbClr val="A0ACBC"/>
                </a:solidFill>
              </a:defRPr>
            </a:pPr>
            <a:r>
              <a:t>中医智能助手 · 组会汇报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0ACBC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0ACBC"/>
                </a:solidFill>
              </a:defRPr>
            </a:pPr>
            <a:r>
              <a:t>成人肥胖诊前问诊系统 · 组会汇报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8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  <a:defRPr sz="2000" b="0">
                <a:solidFill>
                  <a:srgbClr val="ECF0F4"/>
                </a:solidFill>
              </a:defRPr>
            </a:pPr>
            <a:r>
              <a:t>01  项目背景与定位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ECF0F4"/>
                </a:solidFill>
              </a:defRPr>
            </a:pPr>
            <a:r>
              <a:t>02  核心设计理念</a:t>
            </a:r>
          </a:p>
          <a:p>
            <a:pPr algn="l">
              <a:spcAft>
                <a:spcPts val="1400"/>
              </a:spcAft>
              <a:defRPr sz="2000" b="1">
                <a:solidFill>
                  <a:srgbClr val="00C896"/>
                </a:solidFill>
              </a:defRPr>
            </a:pPr>
            <a:r>
              <a:t>03  完整度判定机制（重点）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ECF0F4"/>
                </a:solidFill>
              </a:defRPr>
            </a:pPr>
            <a:r>
              <a:t>04  系统架构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ECF0F4"/>
                </a:solidFill>
              </a:defRPr>
            </a:pPr>
            <a:r>
              <a:t>05  问诊流程演示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ECF0F4"/>
                </a:solidFill>
              </a:defRPr>
            </a:pPr>
            <a:r>
              <a:t>06  安全护栏与成果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0ACBC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0ACBC"/>
                </a:solidFill>
              </a:defRPr>
            </a:pPr>
            <a:r>
              <a:t>成人肥胖诊前问诊系统 · 组会汇报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8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项目背景与定位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CF0F4"/>
                </a:solidFill>
              </a:defRPr>
            </a:pPr>
            <a:r>
              <a:t>定位：面向成人单纯性肥胖的 AI 中医诊前问诊系统，为医生准备好诊前资料</a:t>
            </a:r>
          </a:p>
          <a:p>
            <a:pPr>
              <a:spcAft>
                <a:spcPts val="900"/>
              </a:spcAft>
              <a:defRPr sz="1700" b="0">
                <a:solidFill>
                  <a:srgbClr val="ECF0F4"/>
                </a:solidFill>
              </a:defRPr>
            </a:pPr>
            <a:r>
              <a:t>痛点：诊前信息碎片化、问诊耗时、关键信息（过敏/用药/危险信号）易遗漏</a:t>
            </a:r>
          </a:p>
          <a:p>
            <a:pPr>
              <a:spcAft>
                <a:spcPts val="900"/>
              </a:spcAft>
              <a:defRPr sz="1700" b="0">
                <a:solidFill>
                  <a:srgbClr val="ECF0F4"/>
                </a:solidFill>
              </a:defRPr>
            </a:pPr>
            <a:r>
              <a:t>能力：结构化采集 → 生成「四诊档案」+ 分层执行度 + 检查建议</a:t>
            </a:r>
          </a:p>
          <a:p>
            <a:pPr>
              <a:spcAft>
                <a:spcPts val="900"/>
              </a:spcAft>
              <a:defRPr sz="1700" b="0">
                <a:solidFill>
                  <a:srgbClr val="ECF0F4"/>
                </a:solidFill>
              </a:defRPr>
            </a:pPr>
            <a:r>
              <a:t>边界：只做诊前整理，不诊断、不开方，最终由医生诊中确认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0ACBC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0ACBC"/>
                </a:solidFill>
              </a:defRPr>
            </a:pPr>
            <a:r>
              <a:t>成人肥胖诊前问诊系统 · 组会汇报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8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核心设计理念：规则权威，AI 只提取证据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18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CF0F4"/>
                </a:solidFill>
              </a:defRPr>
            </a:pPr>
            <a:r>
              <a:t>AI（LLM）负责</a:t>
            </a:r>
          </a:p>
          <a:p>
            <a:pPr>
              <a:spcAft>
                <a:spcPts val="700"/>
              </a:spcAft>
              <a:defRPr sz="1500" b="0">
                <a:solidFill>
                  <a:srgbClr val="ECF0F4"/>
                </a:solidFill>
              </a:defRPr>
            </a:pPr>
            <a:r>
              <a:t>把患者原话映射到 34 个字段</a:t>
            </a:r>
          </a:p>
          <a:p>
            <a:pPr>
              <a:spcAft>
                <a:spcPts val="700"/>
              </a:spcAft>
              <a:defRPr sz="1500" b="0">
                <a:solidFill>
                  <a:srgbClr val="ECF0F4"/>
                </a:solidFill>
              </a:defRPr>
            </a:pPr>
            <a:r>
              <a:t>生成自然、温和、一次一问的追问</a:t>
            </a:r>
          </a:p>
          <a:p>
            <a:pPr>
              <a:spcAft>
                <a:spcPts val="700"/>
              </a:spcAft>
              <a:defRPr sz="1500" b="0">
                <a:solidFill>
                  <a:srgbClr val="ECF0F4"/>
                </a:solidFill>
              </a:defRPr>
            </a:pPr>
            <a:r>
              <a:t>识别前后矛盾与危险信号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CF0F4"/>
                </a:solidFill>
              </a:defRPr>
            </a:pPr>
            <a:r>
              <a:t>确定性规则引擎负责</a:t>
            </a:r>
          </a:p>
          <a:p>
            <a:pPr>
              <a:spcAft>
                <a:spcPts val="700"/>
              </a:spcAft>
              <a:defRPr sz="1500" b="0">
                <a:solidFill>
                  <a:srgbClr val="ECF0F4"/>
                </a:solidFill>
              </a:defRPr>
            </a:pPr>
            <a:r>
              <a:t>计分与阈值（risk 80% / tcm 70% / safety 100%）</a:t>
            </a:r>
          </a:p>
          <a:p>
            <a:pPr>
              <a:spcAft>
                <a:spcPts val="700"/>
              </a:spcAft>
              <a:defRPr sz="1500" b="0">
                <a:solidFill>
                  <a:srgbClr val="ECF0F4"/>
                </a:solidFill>
              </a:defRPr>
            </a:pPr>
            <a:r>
              <a:t>停止决策与字段状态机</a:t>
            </a:r>
          </a:p>
          <a:p>
            <a:pPr>
              <a:spcAft>
                <a:spcPts val="700"/>
              </a:spcAft>
              <a:defRPr sz="1500" b="0">
                <a:solidFill>
                  <a:srgbClr val="ECF0F4"/>
                </a:solidFill>
              </a:defRPr>
            </a:pPr>
            <a:r>
              <a:t>检查推荐，规则不可被 AI 修改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0ACBC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0ACBC"/>
                </a:solidFill>
              </a:defRPr>
            </a:pPr>
            <a:r>
              <a:t>成人肥胖诊前问诊系统 · 组会汇报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8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完整度判定 ① · 字段状态与得分系数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字段状态</a:t>
                      </a:r>
                    </a:p>
                  </a:txBody>
                  <a:tcPr>
                    <a:solidFill>
                      <a:srgbClr val="18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18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得分系数</a:t>
                      </a:r>
                    </a:p>
                  </a:txBody>
                  <a:tcPr>
                    <a:solidFill>
                      <a:srgbClr val="181E2A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患者明确表达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部分表达 / 前后矛盾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unavailable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明确不知道 / 拒绝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not_asked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尚未询问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0ACBC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0ACBC"/>
                </a:solidFill>
              </a:defRPr>
            </a:pPr>
            <a:r>
              <a:t>成人肥胖诊前问诊系统 · 组会汇报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8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完整度判定 ② · 四层计分与阈值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分层</a:t>
                      </a:r>
                    </a:p>
                  </a:txBody>
                  <a:tcPr>
                    <a:solidFill>
                      <a:srgbClr val="18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覆盖内容</a:t>
                      </a:r>
                    </a:p>
                  </a:txBody>
                  <a:tcPr>
                    <a:solidFill>
                      <a:srgbClr val="18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完成门槛</a:t>
                      </a:r>
                    </a:p>
                  </a:txBody>
                  <a:tcPr>
                    <a:solidFill>
                      <a:srgbClr val="181E2A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baseline 基础测量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年龄·性别·身高·体重 → BMI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硬性就绪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risk 病因与风险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主诉·体重变化·生活方式·近期检查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tcm 中医症状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食欲·寒热·二便·睡眠·舌象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safety 安全（硬必问）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过敏·用药·既往史·危险信号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0ACBC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0ACBC"/>
                </a:solidFill>
              </a:defRPr>
            </a:pPr>
            <a:r>
              <a:t>成人肥胖诊前问诊系统 · 组会汇报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8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完整度判定 ③ · 何时追问、何时停止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ECF0F4"/>
                </a:solidFill>
              </a:defRPr>
            </a:pPr>
            <a:r>
              <a:t>计分公式：某层完成度 = 该层 Σ(字段权重 × 系数) ÷ Σ(字段权重) × 100</a:t>
            </a:r>
          </a:p>
          <a:p>
            <a:pPr>
              <a:spcAft>
                <a:spcPts val="900"/>
              </a:spcAft>
              <a:defRPr sz="1700" b="0">
                <a:solidFill>
                  <a:srgbClr val="ECF0F4"/>
                </a:solidFill>
              </a:defRPr>
            </a:pPr>
            <a:r>
              <a:t>完成需同时满足：基础测量就绪 + 三层过线 + 硬必问字段全部确认 + 无未解决矛盾</a:t>
            </a:r>
          </a:p>
          <a:p>
            <a:pPr>
              <a:spcAft>
                <a:spcPts val="900"/>
              </a:spcAft>
              <a:defRPr sz="1700" b="0">
                <a:solidFill>
                  <a:srgbClr val="ECF0F4"/>
                </a:solidFill>
              </a:defRPr>
            </a:pPr>
            <a:r>
              <a:t>硬必问字段（过敏/用药/既往史/危险信号）缺失即阻塞，永远到不了 completed</a:t>
            </a:r>
          </a:p>
          <a:p>
            <a:pPr>
              <a:spcAft>
                <a:spcPts val="900"/>
              </a:spcAft>
              <a:defRPr sz="1700" b="0">
                <a:solidFill>
                  <a:srgbClr val="ECF0F4"/>
                </a:solidFill>
              </a:defRPr>
            </a:pPr>
            <a:r>
              <a:t>追问优先级：安全层 &gt; 风险层 &gt; 中医层；每轮只问一个字段，每个字段最多问 2 次</a:t>
            </a:r>
          </a:p>
          <a:p>
            <a:pPr>
              <a:spcAft>
                <a:spcPts val="900"/>
              </a:spcAft>
              <a:defRPr sz="1700" b="0">
                <a:solidFill>
                  <a:srgbClr val="ECF0F4"/>
                </a:solidFill>
              </a:defRPr>
            </a:pPr>
            <a:r>
              <a:t>澄清请求（“什么意思”）不计入证据与次数，先解释再重问同一字段</a:t>
            </a:r>
          </a:p>
          <a:p>
            <a:pPr>
              <a:spcAft>
                <a:spcPts val="900"/>
              </a:spcAft>
              <a:defRPr sz="1700" b="0">
                <a:solidFill>
                  <a:srgbClr val="ECF0F4"/>
                </a:solidFill>
              </a:defRPr>
            </a:pPr>
            <a:r>
              <a:t>三种终态：completed（达标）/ incomplete（问不下去，留诊中补充）/ escalated（危险信号转线下）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0ACBC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0ACBC"/>
                </a:solidFill>
              </a:defRPr>
            </a:pPr>
            <a:r>
              <a:t>成人肥胖诊前问诊系统 · 组会汇报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8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系统架构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18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技术选型</a:t>
                      </a:r>
                    </a:p>
                  </a:txBody>
                  <a:tcPr>
                    <a:solidFill>
                      <a:srgbClr val="181E2A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前端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Vue 3 + Vite + TailwindCSS（患者端 + 医生端双视图）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后端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Python FastAPI + 状态机 + 规则计分引擎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DeepSeek（deepseek-v4-flash），可回退本地 Ollama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规则库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CF0F4"/>
                          </a:solidFill>
                        </a:defRPr>
                      </a:pPr>
                      <a:r>
                        <a:t>34 个问诊字段 · 4 分层（baseline/risk/tcm/safety）</a:t>
                      </a:r>
                    </a:p>
                  </a:txBody>
                  <a:tcPr>
                    <a:solidFill>
                      <a:srgbClr val="181C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0ACBC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0ACBC"/>
                </a:solidFill>
              </a:defRPr>
            </a:pPr>
            <a:r>
              <a:t>成人肥胖诊前问诊系统 · 组会汇报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8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问诊流程 · 基础测量</a:t>
            </a:r>
          </a:p>
        </p:txBody>
      </p:sp>
      <p:pic>
        <p:nvPicPr>
          <p:cNvPr id="7" name="Picture 6" descr="shot-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0ACBC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0ACBC"/>
                </a:solidFill>
              </a:defRPr>
            </a:pPr>
            <a:r>
              <a:t>成人肥胖诊前问诊系统 · 组会汇报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8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补充问诊 · 一次只问一个信息点</a:t>
            </a:r>
          </a:p>
        </p:txBody>
      </p:sp>
      <p:pic>
        <p:nvPicPr>
          <p:cNvPr id="7" name="Picture 6" descr="shot-follow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0ACBC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0ACBC"/>
                </a:solidFill>
              </a:defRPr>
            </a:pPr>
            <a:r>
              <a:t>成人肥胖诊前问诊系统 · 组会汇报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8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诊前档案 · 结果页与检查建议</a:t>
            </a:r>
          </a:p>
        </p:txBody>
      </p:sp>
      <p:pic>
        <p:nvPicPr>
          <p:cNvPr id="7" name="Picture 6" descr="shot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0ACBC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0ACBC"/>
                </a:solidFill>
              </a:defRPr>
            </a:pPr>
            <a:r>
              <a:t>成人肥胖诊前问诊系统 · 组会汇报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8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医生视图 · 分层执行度与字段档案</a:t>
            </a:r>
          </a:p>
        </p:txBody>
      </p:sp>
      <p:pic>
        <p:nvPicPr>
          <p:cNvPr id="7" name="Picture 6" descr="shot-d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A0ACBC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0ACBC"/>
                </a:solidFill>
              </a:defRPr>
            </a:pPr>
            <a:r>
              <a:t>成人肥胖诊前问诊系统 · 组会汇报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8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安全护栏与成果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CF0F4"/>
                </a:solidFill>
              </a:defRPr>
            </a:pPr>
            <a:r>
              <a:t>不输出诊断、证型、处方、患病概率；患者端只显示「达到成人肥胖范围，待医生确认」</a:t>
            </a:r>
          </a:p>
          <a:p>
            <a:pPr>
              <a:spcAft>
                <a:spcPts val="1000"/>
              </a:spcAft>
              <a:defRPr sz="1700" b="0">
                <a:solidFill>
                  <a:srgbClr val="ECF0F4"/>
                </a:solidFill>
              </a:defRPr>
            </a:pPr>
            <a:r>
              <a:t>危险信号（胸痛 / 呼吸困难 / 晕厥 / 意识异常）→ 转线下就医，但不阻断资料采集</a:t>
            </a:r>
          </a:p>
          <a:p>
            <a:pPr>
              <a:spcAft>
                <a:spcPts val="1000"/>
              </a:spcAft>
              <a:defRPr sz="1700" b="0">
                <a:solidFill>
                  <a:srgbClr val="ECF0F4"/>
                </a:solidFill>
              </a:defRPr>
            </a:pPr>
            <a:r>
              <a:t>证据过滤：模型声称必须能在患者原话中找到支撑；每个字段最多追问 2 次</a:t>
            </a:r>
          </a:p>
          <a:p>
            <a:pPr>
              <a:spcAft>
                <a:spcPts val="1000"/>
              </a:spcAft>
              <a:defRPr sz="1700" b="0">
                <a:solidFill>
                  <a:srgbClr val="ECF0F4"/>
                </a:solidFill>
              </a:defRPr>
            </a:pPr>
            <a:r>
              <a:t>成果：后端 143 项 + 前端 29 项测试通过，34 字段 · 4 分层 · 3 阈值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324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「规则权威、AI 只提取证据」让 AI 在医疗场景中可控、可审计，下一步可扩展到更多专病诊前路径。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