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本次汇报介绍中医诊前问诊系统的阶段进展。本轮工作不是简单增加问卷题目，而是重新定义信息完整度，引入动态补问，并把分析结果收敛到信息完整度和检查建议两个方向。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本轮首先调整了项目目标。过去更接近固定问卷，容易把题目答完等同于信息完整。现在改为结合十问歌框架和中医问诊经验判断缺口，最终形成后续诊中能够继续使用的信息档案，同时明确分析边界。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新的流程以基础问诊为起点。完整度 Skill 负责识别缺失内容，系统选择一个优先级最高的问题进行动态补问，追问 Skill 负责生成自然、准确的表达。用户回答后再次评估，满足条件后形成档案和检查建议。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两个 Skill 的职责被明确拆开。第一个回答应该问什么，输出必问项、选问项和完整度状态；第二个回答应该怎么问，控制一次一问、通俗表达、避免诱导和不重复。这样便于规则独立维护，也减少模型职责混杂。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动态补问的核心是每轮只处理一个关键缺口。回答完成后系统重新评估，而不是一次生成大量追问。当前最多补问五轮，补问内容会回填到最终档案，既控制问诊长度，也保证信息能够逐步补齐。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智能分析不再提供辨证、诊断或处方方向，只保留信息完整度、安全提示和推荐检查项目。检查建议使用结构化字段，包括名称、类型、科室、临床意义、优先级和注意事项，参考体检项目资料，但不提供价格和医疗结论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工程上将分析 Agent 与普通问诊流程分离，把两个 Skill 内容合并到一次模型调用中，并放入后台线程执行。系统设置四十五秒超时和重试入口，结构化保存基础回答、补问和分析结果。目前后端二十二项测试通过，前端构建和接口健康检查也已通过。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目前核心方向已经落地：完整度规则重构、两个 Skill 拆分、动态补问闭环、分析范围收敛、检查建议结构化和稳定性优化。下一步重点是继续细化字段与规则，引入临床审核，并通过更多真实场景验证系统表现。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5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2F6B4F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591800" y="266700"/>
              <a:ext cx="914400" cy="914400"/>
            </a:xfrm>
            <a:prstGeom prst="ellipse">
              <a:avLst/>
            </a:prstGeom>
            <a:solidFill>
              <a:srgbClr val="D6A84B">
                <a:alpha val="14000"/>
              </a:srgbClr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762000" y="594360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19050">
              <a:solidFill>
                <a:srgbClr val="DCE5DC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31520" y="1066800"/>
            <a:ext cx="4467606" cy="2607469"/>
            <a:chOff x="731520" y="1066800"/>
            <a:chExt cx="4467606" cy="2607469"/>
          </a:xfrm>
        </p:grpSpPr>
        <p:sp>
          <p:nvSpPr>
            <p:cNvPr id="7" name="Rectangle 7"/>
            <p:cNvSpPr/>
            <p:nvPr/>
          </p:nvSpPr>
          <p:spPr>
            <a:xfrm>
              <a:off x="781050" y="1066800"/>
              <a:ext cx="1524000" cy="323850"/>
            </a:xfrm>
            <a:prstGeom prst="roundRect">
              <a:avLst>
                <a:gd name="adj" fmla="val 50000"/>
              </a:avLst>
            </a:prstGeom>
            <a:solidFill>
              <a:srgbClr val="EAF2E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3747" y="11658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6B4F"/>
                  </a:solidFill>
                  <a:latin typeface="Arial"/>
                  <a:ea typeface="Microsoft YaHei"/>
                  <a:cs typeface="Arial"/>
                </a:rPr>
                <a:t>项目进展汇报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31520" y="1826895"/>
              <a:ext cx="4467606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中医诊前问诊系统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2475" y="2576512"/>
              <a:ext cx="395763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2F6B4F"/>
                  </a:solidFill>
                  <a:latin typeface="Arial"/>
                  <a:ea typeface="Microsoft YaHei"/>
                  <a:cs typeface="Arial"/>
                </a:rPr>
                <a:t>从固定问卷走向动态信息闭环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1048" y="3354229"/>
              <a:ext cx="430353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本轮迭代：完整度判断 · 动态补问 · 检查建议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81050" y="4210050"/>
            <a:ext cx="5105400" cy="457200"/>
            <a:chOff x="781050" y="4210050"/>
            <a:chExt cx="5105400" cy="457200"/>
          </a:xfrm>
        </p:grpSpPr>
        <p:sp>
          <p:nvSpPr>
            <p:cNvPr id="13" name="Rectangle 13"/>
            <p:cNvSpPr/>
            <p:nvPr/>
          </p:nvSpPr>
          <p:spPr>
            <a:xfrm>
              <a:off x="781050" y="4210050"/>
              <a:ext cx="1600200" cy="457200"/>
            </a:xfrm>
            <a:prstGeom prst="roundRect">
              <a:avLst>
                <a:gd name="adj" fmla="val 29167"/>
              </a:avLst>
            </a:prstGeom>
            <a:solidFill>
              <a:srgbClr val="FFFFFF"/>
            </a:solidFill>
            <a:ln w="9525">
              <a:solidFill>
                <a:srgbClr val="DCE5DC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000125" y="4352925"/>
              <a:ext cx="133350" cy="171450"/>
              <a:chOff x="1000125" y="4352925"/>
              <a:chExt cx="133350" cy="17145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000125" y="4371975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38100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133350"/>
                    </a:lnTo>
                    <a:cubicBezTo>
                      <a:pt x="0" y="143871"/>
                      <a:pt x="8529" y="152400"/>
                      <a:pt x="19050" y="152400"/>
                    </a:cubicBezTo>
                    <a:lnTo>
                      <a:pt x="114300" y="152400"/>
                    </a:lnTo>
                    <a:cubicBezTo>
                      <a:pt x="124821" y="152400"/>
                      <a:pt x="133350" y="143871"/>
                      <a:pt x="133350" y="133350"/>
                    </a:cubicBezTo>
                    <a:lnTo>
                      <a:pt x="133350" y="19050"/>
                    </a:lnTo>
                    <a:cubicBezTo>
                      <a:pt x="133350" y="8529"/>
                      <a:pt x="124821" y="0"/>
                      <a:pt x="114300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38225" y="435292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38100" y="0"/>
                    </a:lnTo>
                    <a:cubicBezTo>
                      <a:pt x="48621" y="0"/>
                      <a:pt x="57150" y="8529"/>
                      <a:pt x="57150" y="19050"/>
                    </a:cubicBezTo>
                    <a:cubicBezTo>
                      <a:pt x="57150" y="29571"/>
                      <a:pt x="48621" y="38100"/>
                      <a:pt x="38100" y="38100"/>
                    </a:cubicBezTo>
                    <a:lnTo>
                      <a:pt x="19050" y="38100"/>
                    </a:lnTo>
                    <a:cubicBezTo>
                      <a:pt x="8529" y="38100"/>
                      <a:pt x="0" y="29571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38225" y="443865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278255" y="4369118"/>
              <a:ext cx="9344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完整度规则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533650" y="4210050"/>
              <a:ext cx="1600200" cy="457200"/>
            </a:xfrm>
            <a:prstGeom prst="roundRect">
              <a:avLst>
                <a:gd name="adj" fmla="val 29167"/>
              </a:avLst>
            </a:prstGeom>
            <a:solidFill>
              <a:srgbClr val="FFFFFF"/>
            </a:solidFill>
            <a:ln w="9525">
              <a:solidFill>
                <a:srgbClr val="DCE5DC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2733675" y="4362450"/>
              <a:ext cx="172949" cy="180975"/>
              <a:chOff x="2733675" y="4362450"/>
              <a:chExt cx="172949" cy="18097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2781300" y="4410075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781300" y="444817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2733675" y="4362450"/>
                <a:ext cx="17145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61925">
                    <a:moveTo>
                      <a:pt x="104775" y="133350"/>
                    </a:moveTo>
                    <a:lnTo>
                      <a:pt x="95250" y="133350"/>
                    </a:lnTo>
                    <a:lnTo>
                      <a:pt x="47625" y="161925"/>
                    </a:lnTo>
                    <a:lnTo>
                      <a:pt x="47625" y="133350"/>
                    </a:lnTo>
                    <a:lnTo>
                      <a:pt x="28575" y="133350"/>
                    </a:lnTo>
                    <a:cubicBezTo>
                      <a:pt x="12793" y="133350"/>
                      <a:pt x="0" y="120557"/>
                      <a:pt x="0" y="1047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71438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2886075" y="4533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2871788" y="4465305"/>
                <a:ext cx="34836" cy="40020"/>
              </a:xfrm>
              <a:custGeom>
                <a:avLst/>
                <a:gdLst/>
                <a:ahLst/>
                <a:cxnLst/>
                <a:rect l="l" t="t" r="r" b="b"/>
                <a:pathLst>
                  <a:path w="34836" h="40020">
                    <a:moveTo>
                      <a:pt x="14288" y="40020"/>
                    </a:moveTo>
                    <a:cubicBezTo>
                      <a:pt x="23075" y="39992"/>
                      <a:pt x="30707" y="33965"/>
                      <a:pt x="32771" y="25424"/>
                    </a:cubicBezTo>
                    <a:cubicBezTo>
                      <a:pt x="34836" y="16882"/>
                      <a:pt x="30798" y="8035"/>
                      <a:pt x="22993" y="3997"/>
                    </a:cubicBezTo>
                    <a:cubicBezTo>
                      <a:pt x="15191" y="0"/>
                      <a:pt x="5664" y="1906"/>
                      <a:pt x="0" y="8597"/>
                    </a:cubicBez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3030855" y="43691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动态追问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286250" y="4210050"/>
              <a:ext cx="1600200" cy="457200"/>
            </a:xfrm>
            <a:prstGeom prst="roundRect">
              <a:avLst>
                <a:gd name="adj" fmla="val 29167"/>
              </a:avLst>
            </a:prstGeom>
            <a:solidFill>
              <a:srgbClr val="FFFFFF"/>
            </a:solidFill>
            <a:ln w="9525">
              <a:solidFill>
                <a:srgbClr val="DCE5DC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4513918" y="4352925"/>
              <a:ext cx="116163" cy="171450"/>
              <a:chOff x="4513918" y="4352925"/>
              <a:chExt cx="116163" cy="17145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4543425" y="435292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D6A84B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552950" y="441007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D6A84B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513918" y="4352925"/>
                <a:ext cx="1161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6163" h="171450">
                    <a:moveTo>
                      <a:pt x="39032" y="0"/>
                    </a:moveTo>
                    <a:lnTo>
                      <a:pt x="39032" y="57150"/>
                    </a:lnTo>
                    <a:lnTo>
                      <a:pt x="932" y="161925"/>
                    </a:lnTo>
                    <a:cubicBezTo>
                      <a:pt x="0" y="163799"/>
                      <a:pt x="3" y="166002"/>
                      <a:pt x="939" y="167875"/>
                    </a:cubicBezTo>
                    <a:cubicBezTo>
                      <a:pt x="1875" y="169747"/>
                      <a:pt x="3636" y="171071"/>
                      <a:pt x="5694" y="171450"/>
                    </a:cubicBezTo>
                    <a:lnTo>
                      <a:pt x="110469" y="171450"/>
                    </a:lnTo>
                    <a:cubicBezTo>
                      <a:pt x="112528" y="171071"/>
                      <a:pt x="114289" y="169747"/>
                      <a:pt x="115225" y="167875"/>
                    </a:cubicBezTo>
                    <a:cubicBezTo>
                      <a:pt x="116161" y="166002"/>
                      <a:pt x="116163" y="163799"/>
                      <a:pt x="115232" y="161925"/>
                    </a:cubicBezTo>
                    <a:lnTo>
                      <a:pt x="77132" y="57150"/>
                    </a:lnTo>
                    <a:lnTo>
                      <a:pt x="77132" y="0"/>
                    </a:lnTo>
                  </a:path>
                </a:pathLst>
              </a:custGeom>
              <a:noFill/>
              <a:ln w="19050">
                <a:solidFill>
                  <a:srgbClr val="D6A84B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4783455" y="43691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检查建议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896100" y="933450"/>
            <a:ext cx="4724400" cy="4667250"/>
            <a:chOff x="6896100" y="933450"/>
            <a:chExt cx="4724400" cy="4667250"/>
          </a:xfrm>
        </p:grpSpPr>
        <p:sp>
          <p:nvSpPr>
            <p:cNvPr id="34" name="Rectangle 34"/>
            <p:cNvSpPr/>
            <p:nvPr/>
          </p:nvSpPr>
          <p:spPr>
            <a:xfrm>
              <a:off x="6896100" y="933450"/>
              <a:ext cx="4724400" cy="4667250"/>
            </a:xfrm>
            <a:prstGeom prst="roundRect">
              <a:avLst>
                <a:gd name="adj" fmla="val 4082"/>
              </a:avLst>
            </a:prstGeom>
            <a:solidFill>
              <a:srgbClr val="FFFFFF"/>
            </a:solidFill>
            <a:ln w="19050">
              <a:solidFill>
                <a:srgbClr val="DCE5DC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086600" y="1123950"/>
              <a:ext cx="4343400" cy="514350"/>
            </a:xfrm>
            <a:prstGeom prst="roundRect">
              <a:avLst>
                <a:gd name="adj" fmla="val 25926"/>
              </a:avLst>
            </a:prstGeom>
            <a:solidFill>
              <a:srgbClr val="EAF2E8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05675" y="1295400"/>
              <a:ext cx="180975" cy="171450"/>
              <a:chOff x="7305675" y="1295400"/>
              <a:chExt cx="180975" cy="17145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05675" y="1304925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28575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52388"/>
                    </a:lnTo>
                    <a:cubicBezTo>
                      <a:pt x="0" y="81320"/>
                      <a:pt x="23455" y="104775"/>
                      <a:pt x="52388" y="104775"/>
                    </a:cubicBezTo>
                    <a:cubicBezTo>
                      <a:pt x="81320" y="104775"/>
                      <a:pt x="104775" y="81320"/>
                      <a:pt x="104775" y="52388"/>
                    </a:cubicBezTo>
                    <a:lnTo>
                      <a:pt x="104775" y="19050"/>
                    </a:lnTo>
                    <a:cubicBezTo>
                      <a:pt x="104775" y="8529"/>
                      <a:pt x="96246" y="0"/>
                      <a:pt x="85725" y="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353300" y="1381125"/>
                <a:ext cx="1143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85725">
                    <a:moveTo>
                      <a:pt x="0" y="28575"/>
                    </a:moveTo>
                    <a:cubicBezTo>
                      <a:pt x="0" y="60138"/>
                      <a:pt x="25587" y="85725"/>
                      <a:pt x="57150" y="85725"/>
                    </a:cubicBezTo>
                    <a:cubicBezTo>
                      <a:pt x="88713" y="85725"/>
                      <a:pt x="114300" y="60138"/>
                      <a:pt x="114300" y="28575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381875" y="129540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334250" y="129540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448550" y="134302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7620000" y="129540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诊前信息检查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086600" y="1828800"/>
              <a:ext cx="2667000" cy="914400"/>
            </a:xfrm>
            <a:prstGeom prst="roundRect">
              <a:avLst>
                <a:gd name="adj" fmla="val 14583"/>
              </a:avLst>
            </a:prstGeom>
            <a:solidFill>
              <a:srgbClr val="F7F9F5"/>
            </a:solidFill>
            <a:ln w="9525">
              <a:solidFill>
                <a:srgbClr val="DCE5DC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299960" y="200406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当前完整度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79005" y="2225992"/>
              <a:ext cx="81063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2F6B4F"/>
                  </a:solidFill>
                  <a:latin typeface="Arial"/>
                  <a:ea typeface="Arial"/>
                  <a:cs typeface="Arial"/>
                </a:rPr>
                <a:t>72%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944100" y="1828800"/>
              <a:ext cx="1485900" cy="914400"/>
            </a:xfrm>
            <a:prstGeom prst="roundRect">
              <a:avLst>
                <a:gd name="adj" fmla="val 14583"/>
              </a:avLst>
            </a:prstGeom>
            <a:solidFill>
              <a:srgbClr val="F6EFD9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138410" y="200406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待补关键项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117455" y="2225992"/>
              <a:ext cx="291867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D6A84B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086600" y="2933700"/>
              <a:ext cx="4343400" cy="1676400"/>
            </a:xfrm>
            <a:prstGeom prst="roundRect">
              <a:avLst>
                <a:gd name="adj" fmla="val 7955"/>
              </a:avLst>
            </a:prstGeom>
            <a:solidFill>
              <a:srgbClr val="F7F9F5"/>
            </a:solidFill>
            <a:ln w="9525">
              <a:solidFill>
                <a:srgbClr val="DCE5DC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99008" y="3119914"/>
              <a:ext cx="128204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下一步动态补问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315200" y="3467100"/>
              <a:ext cx="3886200" cy="533400"/>
            </a:xfrm>
            <a:prstGeom prst="roundRect">
              <a:avLst>
                <a:gd name="adj" fmla="val 21429"/>
              </a:avLst>
            </a:prstGeom>
            <a:solidFill>
              <a:srgbClr val="FFFFFF"/>
            </a:solidFill>
            <a:ln w="9525">
              <a:solidFill>
                <a:srgbClr val="DCE5DC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515225" y="3657600"/>
              <a:ext cx="172949" cy="180975"/>
              <a:chOff x="7515225" y="3657600"/>
              <a:chExt cx="172949" cy="18097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562850" y="3705225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562850" y="374332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515225" y="3657600"/>
                <a:ext cx="17145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61925">
                    <a:moveTo>
                      <a:pt x="104775" y="133350"/>
                    </a:moveTo>
                    <a:lnTo>
                      <a:pt x="95250" y="133350"/>
                    </a:lnTo>
                    <a:lnTo>
                      <a:pt x="47625" y="161925"/>
                    </a:lnTo>
                    <a:lnTo>
                      <a:pt x="47625" y="133350"/>
                    </a:lnTo>
                    <a:lnTo>
                      <a:pt x="28575" y="133350"/>
                    </a:lnTo>
                    <a:cubicBezTo>
                      <a:pt x="12793" y="133350"/>
                      <a:pt x="0" y="120557"/>
                      <a:pt x="0" y="1047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71438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667625" y="3829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653338" y="3760455"/>
                <a:ext cx="34836" cy="40020"/>
              </a:xfrm>
              <a:custGeom>
                <a:avLst/>
                <a:gdLst/>
                <a:ahLst/>
                <a:cxnLst/>
                <a:rect l="l" t="t" r="r" b="b"/>
                <a:pathLst>
                  <a:path w="34836" h="40020">
                    <a:moveTo>
                      <a:pt x="14288" y="40020"/>
                    </a:moveTo>
                    <a:cubicBezTo>
                      <a:pt x="23075" y="39992"/>
                      <a:pt x="30707" y="33965"/>
                      <a:pt x="32771" y="25424"/>
                    </a:cubicBezTo>
                    <a:cubicBezTo>
                      <a:pt x="34836" y="16882"/>
                      <a:pt x="30798" y="8035"/>
                      <a:pt x="22993" y="3997"/>
                    </a:cubicBezTo>
                    <a:cubicBezTo>
                      <a:pt x="15191" y="0"/>
                      <a:pt x="5664" y="1906"/>
                      <a:pt x="0" y="8597"/>
                    </a:cubicBez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7832408" y="3662839"/>
              <a:ext cx="25827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选择最重要的信息缺口，一次一问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315200" y="4133850"/>
              <a:ext cx="1847850" cy="285750"/>
            </a:xfrm>
            <a:prstGeom prst="roundRect">
              <a:avLst>
                <a:gd name="adj" fmla="val 50000"/>
              </a:avLst>
            </a:prstGeom>
            <a:solidFill>
              <a:srgbClr val="EAF2E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711226" y="4220528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4F"/>
                  </a:solidFill>
                  <a:latin typeface="Arial"/>
                  <a:ea typeface="Microsoft YaHei"/>
                  <a:cs typeface="Arial"/>
                </a:rPr>
                <a:t>回答后重新评估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086600" y="4838700"/>
              <a:ext cx="4343400" cy="457200"/>
            </a:xfrm>
            <a:prstGeom prst="roundRect">
              <a:avLst>
                <a:gd name="adj" fmla="val 29167"/>
              </a:avLst>
            </a:prstGeom>
            <a:solidFill>
              <a:srgbClr val="2F6B4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107013" y="4988242"/>
              <a:ext cx="23025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形成结构化档案与检查建议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67715" y="6230302"/>
            <a:ext cx="10675620" cy="213360"/>
            <a:chOff x="767715" y="6230302"/>
            <a:chExt cx="10675620" cy="213360"/>
          </a:xfrm>
        </p:grpSpPr>
        <p:sp>
          <p:nvSpPr>
            <p:cNvPr id="64" name="TextBox 64"/>
            <p:cNvSpPr txBox="1"/>
            <p:nvPr/>
          </p:nvSpPr>
          <p:spPr>
            <a:xfrm>
              <a:off x="767715" y="62303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2026.08 · 阶段进展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62646" y="623030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57269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5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15315" y="467678"/>
            <a:ext cx="10928985" cy="818197"/>
            <a:chOff x="615315" y="467678"/>
            <a:chExt cx="10928985" cy="818197"/>
          </a:xfrm>
        </p:grpSpPr>
        <p:sp>
          <p:nvSpPr>
            <p:cNvPr id="3" name="TextBox 3"/>
            <p:cNvSpPr txBox="1"/>
            <p:nvPr/>
          </p:nvSpPr>
          <p:spPr>
            <a:xfrm>
              <a:off x="615315" y="467678"/>
              <a:ext cx="327817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组会反馈与目标调整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30555" y="911542"/>
              <a:ext cx="36707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从“答完题”转向“能否支撑后续诊中信息使用”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47700" y="1257300"/>
              <a:ext cx="10896600" cy="28575"/>
            </a:xfrm>
            <a:prstGeom prst="roundRect">
              <a:avLst>
                <a:gd name="adj" fmla="val 50000"/>
              </a:avLst>
            </a:prstGeom>
            <a:solidFill>
              <a:srgbClr val="DCE5DC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47700" y="1600200"/>
            <a:ext cx="5219700" cy="1790700"/>
            <a:chOff x="647700" y="1600200"/>
            <a:chExt cx="5219700" cy="1790700"/>
          </a:xfrm>
        </p:grpSpPr>
        <p:sp>
          <p:nvSpPr>
            <p:cNvPr id="7" name="Rectangle 7"/>
            <p:cNvSpPr/>
            <p:nvPr/>
          </p:nvSpPr>
          <p:spPr>
            <a:xfrm>
              <a:off x="647700" y="1600200"/>
              <a:ext cx="5219700" cy="1790700"/>
            </a:xfrm>
            <a:prstGeom prst="roundRect">
              <a:avLst>
                <a:gd name="adj" fmla="val 8511"/>
              </a:avLst>
            </a:prstGeom>
            <a:solidFill>
              <a:srgbClr val="FFFFFF"/>
            </a:solidFill>
            <a:ln w="9525">
              <a:solidFill>
                <a:srgbClr val="DCE5DC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38200" y="1809750"/>
              <a:ext cx="457200" cy="457200"/>
            </a:xfrm>
            <a:prstGeom prst="ellipse">
              <a:avLst/>
            </a:prstGeom>
            <a:solidFill>
              <a:srgbClr val="EAF2E8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985838" y="1966912"/>
              <a:ext cx="157162" cy="138113"/>
              <a:chOff x="985838" y="1966912"/>
              <a:chExt cx="157162" cy="13811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85838" y="1966912"/>
                <a:ext cx="38100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3812">
                    <a:moveTo>
                      <a:pt x="0" y="9525"/>
                    </a:moveTo>
                    <a:lnTo>
                      <a:pt x="14288" y="23812"/>
                    </a:ln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85838" y="2024062"/>
                <a:ext cx="38100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3812">
                    <a:moveTo>
                      <a:pt x="0" y="9525"/>
                    </a:moveTo>
                    <a:lnTo>
                      <a:pt x="14288" y="23812"/>
                    </a:ln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85838" y="2081212"/>
                <a:ext cx="38100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3812">
                    <a:moveTo>
                      <a:pt x="0" y="9525"/>
                    </a:moveTo>
                    <a:lnTo>
                      <a:pt x="14288" y="23812"/>
                    </a:ln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57275" y="198120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57275" y="203835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57275" y="209550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406842" y="1909286"/>
              <a:ext cx="173452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完整度判断标准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8202" y="2436971"/>
              <a:ext cx="25065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不再仅判断固定题目是否完成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8202" y="2779871"/>
              <a:ext cx="345662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结合</a:t>
              </a:r>
              <a:r>
                <a:rPr lang="zh-CN" sz="1425" b="1" dirty="0">
                  <a:solidFill>
                    <a:srgbClr val="2F6B4F"/>
                  </a:solidFill>
                  <a:latin typeface="Arial"/>
                  <a:ea typeface="Microsoft YaHei"/>
                  <a:cs typeface="Arial"/>
                </a:rPr>
                <a:t>十问歌框架</a:t>
              </a:r>
              <a:r>
                <a:rPr lang="zh-CN" sz="1425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与临床问诊经验评估缺口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57900" y="1600200"/>
            <a:ext cx="5486400" cy="1790700"/>
            <a:chOff x="6057900" y="1600200"/>
            <a:chExt cx="5486400" cy="1790700"/>
          </a:xfrm>
        </p:grpSpPr>
        <p:sp>
          <p:nvSpPr>
            <p:cNvPr id="20" name="Rectangle 20"/>
            <p:cNvSpPr/>
            <p:nvPr/>
          </p:nvSpPr>
          <p:spPr>
            <a:xfrm>
              <a:off x="6057900" y="1600200"/>
              <a:ext cx="5486400" cy="1790700"/>
            </a:xfrm>
            <a:prstGeom prst="roundRect">
              <a:avLst>
                <a:gd name="adj" fmla="val 8511"/>
              </a:avLst>
            </a:prstGeom>
            <a:solidFill>
              <a:srgbClr val="FFFFFF"/>
            </a:solidFill>
            <a:ln w="9525">
              <a:solidFill>
                <a:srgbClr val="DCE5DC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6248400" y="1809750"/>
              <a:ext cx="457200" cy="457200"/>
            </a:xfrm>
            <a:prstGeom prst="ellipse">
              <a:avLst/>
            </a:prstGeom>
            <a:solidFill>
              <a:srgbClr val="EAF2E8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391275" y="1952625"/>
              <a:ext cx="171450" cy="171450"/>
              <a:chOff x="6391275" y="1952625"/>
              <a:chExt cx="171450" cy="17145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391275" y="20859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524625" y="195262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19050" y="38100"/>
                    </a:move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  <a:cubicBezTo>
                      <a:pt x="0" y="29571"/>
                      <a:pt x="8529" y="38100"/>
                      <a:pt x="19050" y="38100"/>
                    </a:cubicBez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410325" y="1971675"/>
                <a:ext cx="1428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33350">
                    <a:moveTo>
                      <a:pt x="57150" y="133350"/>
                    </a:moveTo>
                    <a:lnTo>
                      <a:pt x="109538" y="133350"/>
                    </a:lnTo>
                    <a:cubicBezTo>
                      <a:pt x="127949" y="133350"/>
                      <a:pt x="142875" y="118424"/>
                      <a:pt x="142875" y="100012"/>
                    </a:cubicBezTo>
                    <a:cubicBezTo>
                      <a:pt x="142875" y="81601"/>
                      <a:pt x="127949" y="66675"/>
                      <a:pt x="109538" y="66675"/>
                    </a:cubicBezTo>
                    <a:lnTo>
                      <a:pt x="33338" y="66675"/>
                    </a:lnTo>
                    <a:cubicBezTo>
                      <a:pt x="14926" y="66675"/>
                      <a:pt x="0" y="51749"/>
                      <a:pt x="0" y="33338"/>
                    </a:cubicBezTo>
                    <a:cubicBezTo>
                      <a:pt x="0" y="14926"/>
                      <a:pt x="14926" y="0"/>
                      <a:pt x="33338" y="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817042" y="1909286"/>
              <a:ext cx="149299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面向后续诊中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68402" y="2436971"/>
              <a:ext cx="212645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诊前问诊的结果不是终点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68402" y="2779871"/>
              <a:ext cx="288655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目标是形成</a:t>
              </a:r>
              <a:r>
                <a:rPr lang="zh-CN" sz="1425" b="1" dirty="0">
                  <a:solidFill>
                    <a:srgbClr val="2F6B4F"/>
                  </a:solidFill>
                  <a:latin typeface="Arial"/>
                  <a:ea typeface="Microsoft YaHei"/>
                  <a:cs typeface="Arial"/>
                </a:rPr>
                <a:t>可继续使用的信息档案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47700" y="3619500"/>
            <a:ext cx="5219700" cy="1790700"/>
            <a:chOff x="647700" y="3619500"/>
            <a:chExt cx="5219700" cy="1790700"/>
          </a:xfrm>
        </p:grpSpPr>
        <p:sp>
          <p:nvSpPr>
            <p:cNvPr id="30" name="Rectangle 30"/>
            <p:cNvSpPr/>
            <p:nvPr/>
          </p:nvSpPr>
          <p:spPr>
            <a:xfrm>
              <a:off x="647700" y="3619500"/>
              <a:ext cx="5219700" cy="1790700"/>
            </a:xfrm>
            <a:prstGeom prst="roundRect">
              <a:avLst>
                <a:gd name="adj" fmla="val 8511"/>
              </a:avLst>
            </a:prstGeom>
            <a:solidFill>
              <a:srgbClr val="FFFFFF"/>
            </a:solidFill>
            <a:ln w="9525">
              <a:solidFill>
                <a:srgbClr val="DCE5DC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38200" y="3829050"/>
              <a:ext cx="457200" cy="457200"/>
            </a:xfrm>
            <a:prstGeom prst="ellipse">
              <a:avLst/>
            </a:prstGeom>
            <a:solidFill>
              <a:srgbClr val="F6EFD9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968221" y="3971925"/>
              <a:ext cx="186006" cy="171450"/>
              <a:chOff x="968221" y="3971925"/>
              <a:chExt cx="186006" cy="17145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968221" y="3971925"/>
                <a:ext cx="186006" cy="169983"/>
              </a:xfrm>
              <a:custGeom>
                <a:avLst/>
                <a:gdLst/>
                <a:ahLst/>
                <a:cxnLst/>
                <a:rect l="l" t="t" r="r" b="b"/>
                <a:pathLst>
                  <a:path w="186006" h="169983">
                    <a:moveTo>
                      <a:pt x="93436" y="169983"/>
                    </a:moveTo>
                    <a:cubicBezTo>
                      <a:pt x="33766" y="151487"/>
                      <a:pt x="0" y="88510"/>
                      <a:pt x="17617" y="28575"/>
                    </a:cubicBezTo>
                    <a:cubicBezTo>
                      <a:pt x="47292" y="29933"/>
                      <a:pt x="76331" y="19684"/>
                      <a:pt x="98579" y="0"/>
                    </a:cubicBezTo>
                    <a:cubicBezTo>
                      <a:pt x="120828" y="19684"/>
                      <a:pt x="149867" y="29933"/>
                      <a:pt x="179542" y="28575"/>
                    </a:cubicBezTo>
                    <a:cubicBezTo>
                      <a:pt x="186006" y="50569"/>
                      <a:pt x="185708" y="73999"/>
                      <a:pt x="178685" y="95822"/>
                    </a:cubicBezTo>
                  </a:path>
                </a:pathLst>
              </a:custGeom>
              <a:noFill/>
              <a:ln w="19050">
                <a:solidFill>
                  <a:srgbClr val="D6A84B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95375" y="410527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D6A84B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406842" y="3928586"/>
              <a:ext cx="149299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分析边界收敛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8202" y="4456271"/>
              <a:ext cx="193643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删除辨证参考相关展示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8202" y="4799171"/>
              <a:ext cx="288655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只保留</a:t>
              </a:r>
              <a:r>
                <a:rPr lang="zh-CN" sz="1425" b="1" dirty="0">
                  <a:solidFill>
                    <a:srgbClr val="D6A84B"/>
                  </a:solidFill>
                  <a:latin typeface="Arial"/>
                  <a:ea typeface="Microsoft YaHei"/>
                  <a:cs typeface="Arial"/>
                </a:rPr>
                <a:t>信息完整度</a:t>
              </a:r>
              <a:r>
                <a:rPr lang="zh-CN" sz="1425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与</a:t>
              </a:r>
              <a:r>
                <a:rPr lang="zh-CN" sz="1425" b="1" dirty="0">
                  <a:solidFill>
                    <a:srgbClr val="D6A84B"/>
                  </a:solidFill>
                  <a:latin typeface="Arial"/>
                  <a:ea typeface="Microsoft YaHei"/>
                  <a:cs typeface="Arial"/>
                </a:rPr>
                <a:t>推荐检查项目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57900" y="3619500"/>
            <a:ext cx="5486400" cy="1790700"/>
            <a:chOff x="6057900" y="3619500"/>
            <a:chExt cx="5486400" cy="1790700"/>
          </a:xfrm>
        </p:grpSpPr>
        <p:sp>
          <p:nvSpPr>
            <p:cNvPr id="39" name="Rectangle 39"/>
            <p:cNvSpPr/>
            <p:nvPr/>
          </p:nvSpPr>
          <p:spPr>
            <a:xfrm>
              <a:off x="6057900" y="3619500"/>
              <a:ext cx="5486400" cy="1790700"/>
            </a:xfrm>
            <a:prstGeom prst="roundRect">
              <a:avLst>
                <a:gd name="adj" fmla="val 8511"/>
              </a:avLst>
            </a:prstGeom>
            <a:solidFill>
              <a:srgbClr val="2F6B4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248400" y="3829050"/>
              <a:ext cx="457200" cy="4572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400800" y="3981450"/>
              <a:ext cx="161925" cy="161925"/>
              <a:chOff x="6400800" y="3981450"/>
              <a:chExt cx="161925" cy="1619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400800" y="40195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419850" y="39814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419850" y="405765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456973" y="4075694"/>
                <a:ext cx="37392" cy="37458"/>
              </a:xfrm>
              <a:custGeom>
                <a:avLst/>
                <a:gdLst/>
                <a:ahLst/>
                <a:cxnLst/>
                <a:rect l="l" t="t" r="r" b="b"/>
                <a:pathLst>
                  <a:path w="37392" h="37458">
                    <a:moveTo>
                      <a:pt x="37392" y="12207"/>
                    </a:moveTo>
                    <a:cubicBezTo>
                      <a:pt x="33893" y="4482"/>
                      <a:pt x="25709" y="0"/>
                      <a:pt x="17316" y="1212"/>
                    </a:cubicBezTo>
                    <a:cubicBezTo>
                      <a:pt x="8923" y="2424"/>
                      <a:pt x="2341" y="9038"/>
                      <a:pt x="1171" y="17437"/>
                    </a:cubicBezTo>
                    <a:cubicBezTo>
                      <a:pt x="0" y="25836"/>
                      <a:pt x="4522" y="33998"/>
                      <a:pt x="12265" y="3745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477000" y="3981450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15100" y="39909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534150" y="3981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534150" y="4029075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505575" y="410527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817042" y="3928586"/>
              <a:ext cx="212097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两个 Skill 明确分工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68402" y="4456271"/>
              <a:ext cx="247800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FFFFF">
                      <a:alphaMod val="78000"/>
                    </a:srgbClr>
                  </a:solidFill>
                  <a:latin typeface="Arial"/>
                  <a:ea typeface="Microsoft YaHei"/>
                  <a:cs typeface="Arial"/>
                </a:rPr>
                <a:t>Skill 1：确认必问项与选问项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68402" y="4799171"/>
              <a:ext cx="247800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Skill 2：决定追问表达与顺序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47700" y="5657850"/>
            <a:ext cx="10896600" cy="552450"/>
            <a:chOff x="647700" y="5657850"/>
            <a:chExt cx="10896600" cy="552450"/>
          </a:xfrm>
        </p:grpSpPr>
        <p:sp>
          <p:nvSpPr>
            <p:cNvPr id="55" name="Rectangle 55"/>
            <p:cNvSpPr/>
            <p:nvPr/>
          </p:nvSpPr>
          <p:spPr>
            <a:xfrm>
              <a:off x="647700" y="5657850"/>
              <a:ext cx="10896600" cy="552450"/>
            </a:xfrm>
            <a:prstGeom prst="roundRect">
              <a:avLst>
                <a:gd name="adj" fmla="val 24138"/>
              </a:avLst>
            </a:prstGeom>
            <a:solidFill>
              <a:srgbClr val="EAF2E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57250" y="5848350"/>
              <a:ext cx="57088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6B4F"/>
                  </a:solidFill>
                  <a:latin typeface="Arial"/>
                  <a:ea typeface="Microsoft YaHei"/>
                  <a:cs typeface="Arial"/>
                </a:rPr>
                <a:t>本轮改造主线：标准重定义、流程闭环、能力拆分、边界收敛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1376946" y="63827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5726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5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15315" y="505778"/>
            <a:ext cx="4064032" cy="727710"/>
            <a:chOff x="615315" y="505778"/>
            <a:chExt cx="4064032" cy="727710"/>
          </a:xfrm>
        </p:grpSpPr>
        <p:sp>
          <p:nvSpPr>
            <p:cNvPr id="3" name="TextBox 3"/>
            <p:cNvSpPr txBox="1"/>
            <p:nvPr/>
          </p:nvSpPr>
          <p:spPr>
            <a:xfrm>
              <a:off x="615315" y="505778"/>
              <a:ext cx="292112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新的诊前问诊流程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30555" y="959168"/>
              <a:ext cx="40487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固定问卷负责起点，Skill 负责判断缺口与动态补问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43050" y="3162300"/>
            <a:ext cx="9105900" cy="1"/>
            <a:chOff x="1543050" y="3162300"/>
            <a:chExt cx="9105900" cy="1"/>
          </a:xfrm>
        </p:grpSpPr>
        <p:sp>
          <p:nvSpPr>
            <p:cNvPr id="6" name="Line 6"/>
            <p:cNvSpPr/>
            <p:nvPr/>
          </p:nvSpPr>
          <p:spPr>
            <a:xfrm>
              <a:off x="1543050" y="3162300"/>
              <a:ext cx="9105900" cy="1"/>
            </a:xfrm>
            <a:prstGeom prst="line">
              <a:avLst/>
            </a:prstGeom>
            <a:noFill/>
            <a:ln w="38100">
              <a:solidFill>
                <a:srgbClr val="4C8C7A"/>
              </a:solidFill>
              <a:tailEnd type="triangle" w="lg" len="lg"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853678" y="2571750"/>
            <a:ext cx="1378744" cy="1897856"/>
            <a:chOff x="853678" y="2571750"/>
            <a:chExt cx="1378744" cy="1897856"/>
          </a:xfrm>
        </p:grpSpPr>
        <p:sp>
          <p:nvSpPr>
            <p:cNvPr id="8" name="Ellipse 8"/>
            <p:cNvSpPr/>
            <p:nvPr/>
          </p:nvSpPr>
          <p:spPr>
            <a:xfrm>
              <a:off x="952500" y="2571750"/>
              <a:ext cx="1181100" cy="11811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CE5DC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409700" y="2990850"/>
              <a:ext cx="266700" cy="342900"/>
              <a:chOff x="1409700" y="2990850"/>
              <a:chExt cx="266700" cy="3429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09700" y="3028950"/>
                <a:ext cx="2667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04800">
                    <a:moveTo>
                      <a:pt x="76200" y="0"/>
                    </a:moveTo>
                    <a:lnTo>
                      <a:pt x="38100" y="0"/>
                    </a:lnTo>
                    <a:cubicBezTo>
                      <a:pt x="17058" y="0"/>
                      <a:pt x="0" y="17058"/>
                      <a:pt x="0" y="38100"/>
                    </a:cubicBezTo>
                    <a:lnTo>
                      <a:pt x="0" y="266700"/>
                    </a:lnTo>
                    <a:cubicBezTo>
                      <a:pt x="0" y="287742"/>
                      <a:pt x="17058" y="304800"/>
                      <a:pt x="38100" y="304800"/>
                    </a:cubicBezTo>
                    <a:lnTo>
                      <a:pt x="228600" y="304800"/>
                    </a:lnTo>
                    <a:cubicBezTo>
                      <a:pt x="249642" y="304800"/>
                      <a:pt x="266700" y="287742"/>
                      <a:pt x="266700" y="266700"/>
                    </a:cubicBezTo>
                    <a:lnTo>
                      <a:pt x="266700" y="38100"/>
                    </a:lnTo>
                    <a:cubicBezTo>
                      <a:pt x="266700" y="17058"/>
                      <a:pt x="249642" y="0"/>
                      <a:pt x="228600" y="0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485900" y="299085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76200" y="0"/>
                    </a:lnTo>
                    <a:cubicBezTo>
                      <a:pt x="97242" y="0"/>
                      <a:pt x="114300" y="17058"/>
                      <a:pt x="114300" y="38100"/>
                    </a:cubicBezTo>
                    <a:cubicBezTo>
                      <a:pt x="114300" y="59142"/>
                      <a:pt x="97242" y="76200"/>
                      <a:pt x="7620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485900" y="316230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38100"/>
                    </a:moveTo>
                    <a:lnTo>
                      <a:pt x="38100" y="76200"/>
                    </a:ln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081992" y="3887629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基础问诊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3678" y="42410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采集主诉与基础信息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139678" y="2571750"/>
            <a:ext cx="1378744" cy="1897856"/>
            <a:chOff x="3139678" y="2571750"/>
            <a:chExt cx="1378744" cy="1897856"/>
          </a:xfrm>
        </p:grpSpPr>
        <p:sp>
          <p:nvSpPr>
            <p:cNvPr id="16" name="Ellipse 16"/>
            <p:cNvSpPr/>
            <p:nvPr/>
          </p:nvSpPr>
          <p:spPr>
            <a:xfrm>
              <a:off x="3238500" y="2571750"/>
              <a:ext cx="1181100" cy="1181100"/>
            </a:xfrm>
            <a:prstGeom prst="ellipse">
              <a:avLst/>
            </a:prstGeom>
            <a:solidFill>
              <a:srgbClr val="EAF2E8"/>
            </a:solidFill>
            <a:ln w="19050">
              <a:solidFill>
                <a:srgbClr val="2F6B4F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3667125" y="3019425"/>
              <a:ext cx="314325" cy="276225"/>
              <a:chOff x="3667125" y="3019425"/>
              <a:chExt cx="314325" cy="27622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3667125" y="3019425"/>
                <a:ext cx="762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7625">
                    <a:moveTo>
                      <a:pt x="0" y="19050"/>
                    </a:moveTo>
                    <a:lnTo>
                      <a:pt x="28575" y="47625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667125" y="3133725"/>
                <a:ext cx="762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7625">
                    <a:moveTo>
                      <a:pt x="0" y="19050"/>
                    </a:moveTo>
                    <a:lnTo>
                      <a:pt x="28575" y="47625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667125" y="3248025"/>
                <a:ext cx="762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7625">
                    <a:moveTo>
                      <a:pt x="0" y="19050"/>
                    </a:moveTo>
                    <a:lnTo>
                      <a:pt x="28575" y="47625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810000" y="3048000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810000" y="3162300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810000" y="3276600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3224649" y="3887629"/>
              <a:ext cx="120880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完整度 Skill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39678" y="42410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识别必问与选问缺口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448300" y="2495550"/>
            <a:ext cx="1333500" cy="2069306"/>
            <a:chOff x="5448300" y="2495550"/>
            <a:chExt cx="1333500" cy="2069306"/>
          </a:xfrm>
        </p:grpSpPr>
        <p:sp>
          <p:nvSpPr>
            <p:cNvPr id="27" name="Ellipse 27"/>
            <p:cNvSpPr/>
            <p:nvPr/>
          </p:nvSpPr>
          <p:spPr>
            <a:xfrm>
              <a:off x="5448300" y="2495550"/>
              <a:ext cx="1333500" cy="1333500"/>
            </a:xfrm>
            <a:prstGeom prst="ellipse">
              <a:avLst/>
            </a:prstGeom>
            <a:solidFill>
              <a:srgbClr val="2F6B4F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5915025" y="2984500"/>
              <a:ext cx="403545" cy="409574"/>
              <a:chOff x="5915025" y="2984500"/>
              <a:chExt cx="403545" cy="409574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026150" y="3095625"/>
                <a:ext cx="17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9525">
                    <a:moveTo>
                      <a:pt x="0" y="0"/>
                    </a:move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026150" y="3184525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915025" y="2984500"/>
                <a:ext cx="400049" cy="377824"/>
              </a:xfrm>
              <a:custGeom>
                <a:avLst/>
                <a:gdLst/>
                <a:ahLst/>
                <a:cxnLst/>
                <a:rect l="l" t="t" r="r" b="b"/>
                <a:pathLst>
                  <a:path w="400049" h="377824">
                    <a:moveTo>
                      <a:pt x="244475" y="311150"/>
                    </a:moveTo>
                    <a:lnTo>
                      <a:pt x="222250" y="311150"/>
                    </a:lnTo>
                    <a:lnTo>
                      <a:pt x="111125" y="377824"/>
                    </a:lnTo>
                    <a:lnTo>
                      <a:pt x="111125" y="311150"/>
                    </a:lnTo>
                    <a:lnTo>
                      <a:pt x="66675" y="311150"/>
                    </a:lnTo>
                    <a:cubicBezTo>
                      <a:pt x="29851" y="311150"/>
                      <a:pt x="0" y="281298"/>
                      <a:pt x="0" y="244475"/>
                    </a:cubicBezTo>
                    <a:lnTo>
                      <a:pt x="0" y="66675"/>
                    </a:lnTo>
                    <a:cubicBezTo>
                      <a:pt x="0" y="29851"/>
                      <a:pt x="29851" y="0"/>
                      <a:pt x="66675" y="0"/>
                    </a:cubicBezTo>
                    <a:lnTo>
                      <a:pt x="333375" y="0"/>
                    </a:lnTo>
                    <a:cubicBezTo>
                      <a:pt x="370198" y="0"/>
                      <a:pt x="400049" y="29851"/>
                      <a:pt x="400049" y="66675"/>
                    </a:cubicBezTo>
                    <a:lnTo>
                      <a:pt x="400049" y="166687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270624" y="338454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22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237287" y="3224494"/>
                <a:ext cx="81283" cy="93381"/>
              </a:xfrm>
              <a:custGeom>
                <a:avLst/>
                <a:gdLst/>
                <a:ahLst/>
                <a:cxnLst/>
                <a:rect l="l" t="t" r="r" b="b"/>
                <a:pathLst>
                  <a:path w="81283" h="93381">
                    <a:moveTo>
                      <a:pt x="33337" y="93381"/>
                    </a:moveTo>
                    <a:cubicBezTo>
                      <a:pt x="53842" y="93315"/>
                      <a:pt x="71649" y="79252"/>
                      <a:pt x="76466" y="59322"/>
                    </a:cubicBezTo>
                    <a:cubicBezTo>
                      <a:pt x="81283" y="39391"/>
                      <a:pt x="71863" y="18748"/>
                      <a:pt x="53651" y="9326"/>
                    </a:cubicBezTo>
                    <a:cubicBezTo>
                      <a:pt x="35446" y="0"/>
                      <a:pt x="13215" y="4448"/>
                      <a:pt x="0" y="2006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5632037" y="39557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F6B4F"/>
                  </a:solidFill>
                  <a:latin typeface="Arial"/>
                  <a:ea typeface="Microsoft YaHei"/>
                  <a:cs typeface="Arial"/>
                </a:rPr>
                <a:t>动态补问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00688" y="43362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每轮一个关键问题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636669" y="2571750"/>
            <a:ext cx="1528762" cy="1897856"/>
            <a:chOff x="7636669" y="2571750"/>
            <a:chExt cx="1528762" cy="1897856"/>
          </a:xfrm>
        </p:grpSpPr>
        <p:sp>
          <p:nvSpPr>
            <p:cNvPr id="37" name="Ellipse 37"/>
            <p:cNvSpPr/>
            <p:nvPr/>
          </p:nvSpPr>
          <p:spPr>
            <a:xfrm>
              <a:off x="7810500" y="2571750"/>
              <a:ext cx="1181100" cy="1181100"/>
            </a:xfrm>
            <a:prstGeom prst="ellipse">
              <a:avLst/>
            </a:prstGeom>
            <a:solidFill>
              <a:srgbClr val="F6EFD9"/>
            </a:solidFill>
            <a:ln w="19050">
              <a:solidFill>
                <a:srgbClr val="D6A84B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8229600" y="2990850"/>
              <a:ext cx="342900" cy="342900"/>
              <a:chOff x="8229600" y="2990850"/>
              <a:chExt cx="342900" cy="3429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401050" y="318135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66675" y="0"/>
                    </a:moveTo>
                    <a:cubicBezTo>
                      <a:pt x="29851" y="0"/>
                      <a:pt x="0" y="29851"/>
                      <a:pt x="0" y="66675"/>
                    </a:cubicBezTo>
                    <a:lnTo>
                      <a:pt x="0" y="85725"/>
                    </a:lnTo>
                    <a:cubicBezTo>
                      <a:pt x="0" y="122549"/>
                      <a:pt x="29851" y="152400"/>
                      <a:pt x="66675" y="152400"/>
                    </a:cubicBezTo>
                    <a:cubicBezTo>
                      <a:pt x="103499" y="152400"/>
                      <a:pt x="133350" y="122549"/>
                      <a:pt x="133350" y="85725"/>
                    </a:cubicBezTo>
                    <a:lnTo>
                      <a:pt x="133350" y="51435"/>
                    </a:lnTo>
                  </a:path>
                </a:pathLst>
              </a:custGeom>
              <a:noFill/>
              <a:ln w="19050">
                <a:solidFill>
                  <a:srgbClr val="D6A84B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267700" y="318135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66675" y="0"/>
                    </a:moveTo>
                    <a:cubicBezTo>
                      <a:pt x="103499" y="0"/>
                      <a:pt x="133350" y="29851"/>
                      <a:pt x="133350" y="66675"/>
                    </a:cubicBezTo>
                    <a:lnTo>
                      <a:pt x="133350" y="85725"/>
                    </a:lnTo>
                    <a:cubicBezTo>
                      <a:pt x="133350" y="122549"/>
                      <a:pt x="103499" y="152400"/>
                      <a:pt x="66675" y="152400"/>
                    </a:cubicBezTo>
                    <a:cubicBezTo>
                      <a:pt x="29851" y="152400"/>
                      <a:pt x="0" y="122549"/>
                      <a:pt x="0" y="85725"/>
                    </a:cubicBezTo>
                    <a:lnTo>
                      <a:pt x="0" y="51435"/>
                    </a:lnTo>
                  </a:path>
                </a:pathLst>
              </a:custGeom>
              <a:noFill/>
              <a:ln w="19050">
                <a:solidFill>
                  <a:srgbClr val="D6A84B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496300" y="3105150"/>
                <a:ext cx="762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33350">
                    <a:moveTo>
                      <a:pt x="9525" y="133350"/>
                    </a:moveTo>
                    <a:cubicBezTo>
                      <a:pt x="46349" y="133350"/>
                      <a:pt x="76200" y="103499"/>
                      <a:pt x="76200" y="66675"/>
                    </a:cubicBezTo>
                    <a:cubicBezTo>
                      <a:pt x="76200" y="29851"/>
                      <a:pt x="46349" y="0"/>
                      <a:pt x="9525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6A84B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401050" y="2990850"/>
                <a:ext cx="133350" cy="12001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20015">
                    <a:moveTo>
                      <a:pt x="133350" y="120015"/>
                    </a:moveTo>
                    <a:lnTo>
                      <a:pt x="133350" y="66675"/>
                    </a:lnTo>
                    <a:cubicBezTo>
                      <a:pt x="133350" y="29851"/>
                      <a:pt x="103499" y="0"/>
                      <a:pt x="66675" y="0"/>
                    </a:cubicBezTo>
                    <a:cubicBezTo>
                      <a:pt x="29851" y="0"/>
                      <a:pt x="0" y="29851"/>
                      <a:pt x="0" y="66675"/>
                    </a:cubicBezTo>
                  </a:path>
                </a:pathLst>
              </a:custGeom>
              <a:noFill/>
              <a:ln w="19050">
                <a:solidFill>
                  <a:srgbClr val="D6A84B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29600" y="3105150"/>
                <a:ext cx="762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33350">
                    <a:moveTo>
                      <a:pt x="66675" y="133350"/>
                    </a:moveTo>
                    <a:cubicBezTo>
                      <a:pt x="29851" y="133350"/>
                      <a:pt x="0" y="103499"/>
                      <a:pt x="0" y="66675"/>
                    </a:cubicBezTo>
                    <a:cubicBezTo>
                      <a:pt x="0" y="29851"/>
                      <a:pt x="29851" y="0"/>
                      <a:pt x="66675" y="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D6A84B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267700" y="2990850"/>
                <a:ext cx="133350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257175">
                    <a:moveTo>
                      <a:pt x="0" y="120015"/>
                    </a:moveTo>
                    <a:lnTo>
                      <a:pt x="0" y="66675"/>
                    </a:lnTo>
                    <a:cubicBezTo>
                      <a:pt x="0" y="29851"/>
                      <a:pt x="29851" y="0"/>
                      <a:pt x="66675" y="0"/>
                    </a:cubicBezTo>
                    <a:cubicBezTo>
                      <a:pt x="103499" y="0"/>
                      <a:pt x="133350" y="29851"/>
                      <a:pt x="133350" y="66675"/>
                    </a:cubicBezTo>
                    <a:lnTo>
                      <a:pt x="133350" y="257175"/>
                    </a:lnTo>
                  </a:path>
                </a:pathLst>
              </a:custGeom>
              <a:noFill/>
              <a:ln w="19050">
                <a:solidFill>
                  <a:srgbClr val="D6A84B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906913" y="3887629"/>
              <a:ext cx="98827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追问 Skill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36669" y="424100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控制语气、顺序与安全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058400" y="2571750"/>
            <a:ext cx="1181100" cy="1897856"/>
            <a:chOff x="10058400" y="2571750"/>
            <a:chExt cx="1181100" cy="1897856"/>
          </a:xfrm>
        </p:grpSpPr>
        <p:sp>
          <p:nvSpPr>
            <p:cNvPr id="48" name="Ellipse 48"/>
            <p:cNvSpPr/>
            <p:nvPr/>
          </p:nvSpPr>
          <p:spPr>
            <a:xfrm>
              <a:off x="10058400" y="2571750"/>
              <a:ext cx="1181100" cy="11811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CE5DC"/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10515600" y="2990850"/>
              <a:ext cx="266700" cy="342900"/>
              <a:chOff x="10515600" y="2990850"/>
              <a:chExt cx="266700" cy="3429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10687050" y="29908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86721"/>
                      <a:pt x="8529" y="95250"/>
                      <a:pt x="19050" y="95250"/>
                    </a:cubicBezTo>
                    <a:lnTo>
                      <a:pt x="95250" y="95250"/>
                    </a:lnTo>
                  </a:path>
                </a:pathLst>
              </a:custGeom>
              <a:noFill/>
              <a:ln w="19050">
                <a:solidFill>
                  <a:srgbClr val="4C8C7A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0515600" y="2990850"/>
                <a:ext cx="2667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42900">
                    <a:moveTo>
                      <a:pt x="228600" y="342900"/>
                    </a:moveTo>
                    <a:lnTo>
                      <a:pt x="38100" y="342900"/>
                    </a:lnTo>
                    <a:cubicBezTo>
                      <a:pt x="17058" y="342900"/>
                      <a:pt x="0" y="325842"/>
                      <a:pt x="0" y="3048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71450" y="0"/>
                    </a:lnTo>
                    <a:lnTo>
                      <a:pt x="266700" y="95250"/>
                    </a:lnTo>
                    <a:lnTo>
                      <a:pt x="266700" y="304800"/>
                    </a:lnTo>
                    <a:cubicBezTo>
                      <a:pt x="266700" y="325842"/>
                      <a:pt x="249642" y="342900"/>
                      <a:pt x="228600" y="342900"/>
                    </a:cubicBezTo>
                  </a:path>
                </a:pathLst>
              </a:custGeom>
              <a:noFill/>
              <a:ln w="19050">
                <a:solidFill>
                  <a:srgbClr val="4C8C7A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0591800" y="32575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4C8C7A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0591800" y="31813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4C8C7A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077629" y="3887629"/>
              <a:ext cx="114264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档案与建议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109597" y="424100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供后续诊中参考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115050" y="1466850"/>
            <a:ext cx="2286000" cy="876300"/>
            <a:chOff x="6115050" y="1466850"/>
            <a:chExt cx="2286000" cy="876300"/>
          </a:xfrm>
        </p:grpSpPr>
        <p:sp>
          <p:nvSpPr>
            <p:cNvPr id="57" name="Freeform 57"/>
            <p:cNvSpPr/>
            <p:nvPr/>
          </p:nvSpPr>
          <p:spPr>
            <a:xfrm>
              <a:off x="6115050" y="148590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2286000" y="857250"/>
                  </a:moveTo>
                  <a:cubicBezTo>
                    <a:pt x="1885950" y="57150"/>
                    <a:pt x="400050" y="0"/>
                    <a:pt x="0" y="838200"/>
                  </a:cubicBezTo>
                </a:path>
              </a:pathLst>
            </a:custGeom>
            <a:noFill/>
            <a:ln w="28575">
              <a:solidFill>
                <a:srgbClr val="D6A84B"/>
              </a:solidFill>
              <a:prstDash val="lgDash"/>
              <a:tailEnd type="triangle" w="lg" len="lg"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505575" y="1466850"/>
              <a:ext cx="16192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rgbClr val="DCE5DC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11886" y="1594485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6A84B"/>
                  </a:solidFill>
                  <a:latin typeface="Arial"/>
                  <a:ea typeface="Microsoft YaHei"/>
                  <a:cs typeface="Arial"/>
                </a:rPr>
                <a:t>回答后重新评估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2057400" y="5219700"/>
            <a:ext cx="8077200" cy="609600"/>
            <a:chOff x="2057400" y="5219700"/>
            <a:chExt cx="8077200" cy="609600"/>
          </a:xfrm>
        </p:grpSpPr>
        <p:sp>
          <p:nvSpPr>
            <p:cNvPr id="61" name="Rectangle 61"/>
            <p:cNvSpPr/>
            <p:nvPr/>
          </p:nvSpPr>
          <p:spPr>
            <a:xfrm>
              <a:off x="2057400" y="5219700"/>
              <a:ext cx="8077200" cy="609600"/>
            </a:xfrm>
            <a:prstGeom prst="roundRect">
              <a:avLst>
                <a:gd name="adj" fmla="val 25000"/>
              </a:avLst>
            </a:prstGeom>
            <a:solidFill>
              <a:srgbClr val="EAF2E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209139" y="5430679"/>
              <a:ext cx="577372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2F6B4F"/>
                  </a:solidFill>
                  <a:latin typeface="Arial"/>
                  <a:ea typeface="Microsoft YaHei"/>
                  <a:cs typeface="Arial"/>
                </a:rPr>
                <a:t>流程升级重点：不是增加问题数量，而是优先补齐关键缺口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11376946" y="63827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5726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5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15315" y="467678"/>
            <a:ext cx="3135354" cy="727710"/>
            <a:chOff x="615315" y="467678"/>
            <a:chExt cx="3135354" cy="727710"/>
          </a:xfrm>
        </p:grpSpPr>
        <p:sp>
          <p:nvSpPr>
            <p:cNvPr id="3" name="TextBox 3"/>
            <p:cNvSpPr txBox="1"/>
            <p:nvPr/>
          </p:nvSpPr>
          <p:spPr>
            <a:xfrm>
              <a:off x="615315" y="467678"/>
              <a:ext cx="313535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两个 Skill 如何分工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30555" y="92106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一个定义内容范围，一个控制提问方式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7700" y="1466850"/>
            <a:ext cx="5219700" cy="4286250"/>
            <a:chOff x="647700" y="1466850"/>
            <a:chExt cx="5219700" cy="4286250"/>
          </a:xfrm>
        </p:grpSpPr>
        <p:sp>
          <p:nvSpPr>
            <p:cNvPr id="6" name="Rectangle 6"/>
            <p:cNvSpPr/>
            <p:nvPr/>
          </p:nvSpPr>
          <p:spPr>
            <a:xfrm>
              <a:off x="647700" y="1466850"/>
              <a:ext cx="5219700" cy="4286250"/>
            </a:xfrm>
            <a:prstGeom prst="roundRect">
              <a:avLst>
                <a:gd name="adj" fmla="val 3556"/>
              </a:avLst>
            </a:prstGeom>
            <a:solidFill>
              <a:srgbClr val="FFFFFF"/>
            </a:solidFill>
            <a:ln w="9525">
              <a:solidFill>
                <a:srgbClr val="DCE5DC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47700" y="1466850"/>
              <a:ext cx="5219700" cy="838200"/>
            </a:xfrm>
            <a:prstGeom prst="roundRect">
              <a:avLst>
                <a:gd name="adj" fmla="val 18182"/>
              </a:avLst>
            </a:prstGeom>
            <a:solidFill>
              <a:srgbClr val="EAF2E8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57250" y="1619250"/>
              <a:ext cx="533400" cy="533400"/>
            </a:xfrm>
            <a:prstGeom prst="ellipse">
              <a:avLst/>
            </a:prstGeom>
            <a:solidFill>
              <a:srgbClr val="2F6B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31781" y="1777365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19238" y="1616869"/>
              <a:ext cx="241042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必问项与选问项确认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7810" y="1975485"/>
              <a:ext cx="13266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F6B4F"/>
                  </a:solidFill>
                  <a:latin typeface="Arial"/>
                  <a:ea typeface="Microsoft YaHei"/>
                  <a:cs typeface="Arial"/>
                </a:rPr>
                <a:t>回答“应该问什么”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953294" y="2736056"/>
              <a:ext cx="183357" cy="161132"/>
              <a:chOff x="953294" y="2736056"/>
              <a:chExt cx="183357" cy="16113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953294" y="2736056"/>
                <a:ext cx="44450" cy="27781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7781">
                    <a:moveTo>
                      <a:pt x="0" y="11113"/>
                    </a:moveTo>
                    <a:lnTo>
                      <a:pt x="16669" y="27781"/>
                    </a:ln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53294" y="2802732"/>
                <a:ext cx="44450" cy="27781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7781">
                    <a:moveTo>
                      <a:pt x="0" y="11113"/>
                    </a:moveTo>
                    <a:lnTo>
                      <a:pt x="16669" y="27781"/>
                    </a:ln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53294" y="2869407"/>
                <a:ext cx="44450" cy="27781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7781">
                    <a:moveTo>
                      <a:pt x="0" y="11113"/>
                    </a:moveTo>
                    <a:lnTo>
                      <a:pt x="16669" y="27781"/>
                    </a:ln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36638" y="2752725"/>
                <a:ext cx="1000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3" h="9525">
                    <a:moveTo>
                      <a:pt x="0" y="0"/>
                    </a:moveTo>
                    <a:lnTo>
                      <a:pt x="100013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36638" y="2819400"/>
                <a:ext cx="1000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3" h="9525">
                    <a:moveTo>
                      <a:pt x="0" y="0"/>
                    </a:moveTo>
                    <a:lnTo>
                      <a:pt x="100013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36638" y="2886076"/>
                <a:ext cx="1000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3" h="9525">
                    <a:moveTo>
                      <a:pt x="0" y="0"/>
                    </a:moveTo>
                    <a:lnTo>
                      <a:pt x="100013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333500" y="27336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依据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35405" y="3083242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十问歌框架、基础安全项、老中医问诊经验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969963" y="3671888"/>
              <a:ext cx="155575" cy="200026"/>
              <a:chOff x="969963" y="3671888"/>
              <a:chExt cx="155575" cy="20002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969963" y="3694113"/>
                <a:ext cx="155575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77801">
                    <a:moveTo>
                      <a:pt x="44450" y="0"/>
                    </a:moveTo>
                    <a:lnTo>
                      <a:pt x="22225" y="0"/>
                    </a:lnTo>
                    <a:cubicBezTo>
                      <a:pt x="9950" y="0"/>
                      <a:pt x="0" y="9950"/>
                      <a:pt x="0" y="22225"/>
                    </a:cubicBezTo>
                    <a:lnTo>
                      <a:pt x="0" y="155575"/>
                    </a:lnTo>
                    <a:cubicBezTo>
                      <a:pt x="0" y="167850"/>
                      <a:pt x="9950" y="177801"/>
                      <a:pt x="22225" y="177801"/>
                    </a:cubicBezTo>
                    <a:lnTo>
                      <a:pt x="133350" y="177801"/>
                    </a:lnTo>
                    <a:cubicBezTo>
                      <a:pt x="145625" y="177801"/>
                      <a:pt x="155575" y="167850"/>
                      <a:pt x="155575" y="155575"/>
                    </a:cubicBezTo>
                    <a:lnTo>
                      <a:pt x="155575" y="22225"/>
                    </a:lnTo>
                    <a:cubicBezTo>
                      <a:pt x="155575" y="9950"/>
                      <a:pt x="145625" y="0"/>
                      <a:pt x="133350" y="0"/>
                    </a:cubicBez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014413" y="367188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44450" y="0"/>
                    </a:lnTo>
                    <a:cubicBezTo>
                      <a:pt x="56725" y="0"/>
                      <a:pt x="66675" y="9950"/>
                      <a:pt x="66675" y="22225"/>
                    </a:cubicBezTo>
                    <a:cubicBezTo>
                      <a:pt x="66675" y="34500"/>
                      <a:pt x="56725" y="44450"/>
                      <a:pt x="44450" y="44450"/>
                    </a:cubicBezTo>
                    <a:lnTo>
                      <a:pt x="22225" y="44450"/>
                    </a:lnTo>
                    <a:cubicBezTo>
                      <a:pt x="9950" y="44450"/>
                      <a:pt x="0" y="3450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014413" y="377190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333500" y="36861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35405" y="4035742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缺失必问项、可选补充项、当前完整度状态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4400" y="4686300"/>
              <a:ext cx="4686300" cy="723900"/>
            </a:xfrm>
            <a:prstGeom prst="roundRect">
              <a:avLst>
                <a:gd name="adj" fmla="val 18421"/>
              </a:avLst>
            </a:prstGeom>
            <a:solidFill>
              <a:srgbClr val="EAF2E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07758" y="4843939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F6B4F"/>
                  </a:solidFill>
                  <a:latin typeface="Arial"/>
                  <a:ea typeface="Microsoft YaHei"/>
                  <a:cs typeface="Arial"/>
                </a:rPr>
                <a:t>核心原则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5852" y="5094446"/>
              <a:ext cx="16323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缺什么，才问什么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057900" y="1466850"/>
            <a:ext cx="5486400" cy="4286250"/>
            <a:chOff x="6057900" y="1466850"/>
            <a:chExt cx="5486400" cy="4286250"/>
          </a:xfrm>
        </p:grpSpPr>
        <p:sp>
          <p:nvSpPr>
            <p:cNvPr id="31" name="Rectangle 31"/>
            <p:cNvSpPr/>
            <p:nvPr/>
          </p:nvSpPr>
          <p:spPr>
            <a:xfrm>
              <a:off x="6057900" y="1466850"/>
              <a:ext cx="5486400" cy="4286250"/>
            </a:xfrm>
            <a:prstGeom prst="roundRect">
              <a:avLst>
                <a:gd name="adj" fmla="val 3556"/>
              </a:avLst>
            </a:prstGeom>
            <a:solidFill>
              <a:srgbClr val="FFFFFF"/>
            </a:solidFill>
            <a:ln w="9525">
              <a:solidFill>
                <a:srgbClr val="DCE5DC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57900" y="1466850"/>
              <a:ext cx="5486400" cy="838200"/>
            </a:xfrm>
            <a:prstGeom prst="roundRect">
              <a:avLst>
                <a:gd name="adj" fmla="val 18182"/>
              </a:avLst>
            </a:prstGeom>
            <a:solidFill>
              <a:srgbClr val="F6EFD9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6267450" y="1619250"/>
              <a:ext cx="533400" cy="533400"/>
            </a:xfrm>
            <a:prstGeom prst="ellipse">
              <a:avLst/>
            </a:prstGeom>
            <a:solidFill>
              <a:srgbClr val="D6A84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41981" y="1777365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29438" y="1616869"/>
              <a:ext cx="241042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问题表达与追问策略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38010" y="1975485"/>
              <a:ext cx="13266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6A84B"/>
                  </a:solidFill>
                  <a:latin typeface="Arial"/>
                  <a:ea typeface="Microsoft YaHei"/>
                  <a:cs typeface="Arial"/>
                </a:rPr>
                <a:t>回答“应该怎么问”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6357938" y="2730500"/>
              <a:ext cx="201773" cy="209551"/>
              <a:chOff x="6357938" y="2730500"/>
              <a:chExt cx="201773" cy="209551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413500" y="2786063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D6A84B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413500" y="283051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D6A84B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357938" y="2730500"/>
                <a:ext cx="200026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88913">
                    <a:moveTo>
                      <a:pt x="122238" y="155575"/>
                    </a:moveTo>
                    <a:lnTo>
                      <a:pt x="111125" y="155575"/>
                    </a:lnTo>
                    <a:lnTo>
                      <a:pt x="55563" y="188913"/>
                    </a:lnTo>
                    <a:lnTo>
                      <a:pt x="55563" y="155575"/>
                    </a:lnTo>
                    <a:lnTo>
                      <a:pt x="33338" y="155575"/>
                    </a:lnTo>
                    <a:cubicBezTo>
                      <a:pt x="14926" y="155575"/>
                      <a:pt x="0" y="140650"/>
                      <a:pt x="0" y="122238"/>
                    </a:cubicBezTo>
                    <a:lnTo>
                      <a:pt x="0" y="33338"/>
                    </a:ln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83344"/>
                    </a:lnTo>
                  </a:path>
                </a:pathLst>
              </a:custGeom>
              <a:noFill/>
              <a:ln w="19050">
                <a:solidFill>
                  <a:srgbClr val="D6A84B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535738" y="293052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D6A84B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519069" y="2850498"/>
                <a:ext cx="40642" cy="46690"/>
              </a:xfrm>
              <a:custGeom>
                <a:avLst/>
                <a:gdLst/>
                <a:ahLst/>
                <a:cxnLst/>
                <a:rect l="l" t="t" r="r" b="b"/>
                <a:pathLst>
                  <a:path w="40642" h="46690">
                    <a:moveTo>
                      <a:pt x="16669" y="46690"/>
                    </a:moveTo>
                    <a:cubicBezTo>
                      <a:pt x="26921" y="46658"/>
                      <a:pt x="35825" y="39626"/>
                      <a:pt x="38233" y="29661"/>
                    </a:cubicBezTo>
                    <a:cubicBezTo>
                      <a:pt x="40642" y="19695"/>
                      <a:pt x="35932" y="9374"/>
                      <a:pt x="26826" y="4663"/>
                    </a:cubicBezTo>
                    <a:cubicBezTo>
                      <a:pt x="17723" y="0"/>
                      <a:pt x="6608" y="2224"/>
                      <a:pt x="0" y="10030"/>
                    </a:cubicBezTo>
                  </a:path>
                </a:pathLst>
              </a:custGeom>
              <a:noFill/>
              <a:ln w="19050">
                <a:solidFill>
                  <a:srgbClr val="D6A84B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743700" y="27336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策略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45605" y="3083242"/>
              <a:ext cx="38147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一次一问、通俗表达、结合已知信息、避免诱导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6342941" y="3671888"/>
              <a:ext cx="217008" cy="200025"/>
              <a:chOff x="6342941" y="3671888"/>
              <a:chExt cx="217008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342941" y="3671888"/>
                <a:ext cx="217008" cy="198314"/>
              </a:xfrm>
              <a:custGeom>
                <a:avLst/>
                <a:gdLst/>
                <a:ahLst/>
                <a:cxnLst/>
                <a:rect l="l" t="t" r="r" b="b"/>
                <a:pathLst>
                  <a:path w="217008" h="198314">
                    <a:moveTo>
                      <a:pt x="109009" y="198314"/>
                    </a:moveTo>
                    <a:cubicBezTo>
                      <a:pt x="39394" y="176735"/>
                      <a:pt x="0" y="103262"/>
                      <a:pt x="20553" y="33338"/>
                    </a:cubicBezTo>
                    <a:cubicBezTo>
                      <a:pt x="55175" y="34922"/>
                      <a:pt x="89053" y="22965"/>
                      <a:pt x="115010" y="0"/>
                    </a:cubicBezTo>
                    <a:cubicBezTo>
                      <a:pt x="140967" y="22965"/>
                      <a:pt x="174845" y="34922"/>
                      <a:pt x="209466" y="33338"/>
                    </a:cubicBezTo>
                    <a:cubicBezTo>
                      <a:pt x="217008" y="58998"/>
                      <a:pt x="216660" y="86333"/>
                      <a:pt x="208466" y="111792"/>
                    </a:cubicBezTo>
                  </a:path>
                </a:pathLst>
              </a:custGeom>
              <a:noFill/>
              <a:ln w="19050">
                <a:solidFill>
                  <a:srgbClr val="D6A84B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491288" y="382746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D6A84B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743700" y="36861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约束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45605" y="4035742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不重复已答内容，不做诊断，不暗示处方结论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324600" y="4686300"/>
              <a:ext cx="4953000" cy="723900"/>
            </a:xfrm>
            <a:prstGeom prst="roundRect">
              <a:avLst>
                <a:gd name="adj" fmla="val 18421"/>
              </a:avLst>
            </a:prstGeom>
            <a:solidFill>
              <a:srgbClr val="F6EFD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17958" y="4843939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D6A84B"/>
                  </a:solidFill>
                  <a:latin typeface="Arial"/>
                  <a:ea typeface="Microsoft YaHei"/>
                  <a:cs typeface="Arial"/>
                </a:rPr>
                <a:t>核心原则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16052" y="5094446"/>
              <a:ext cx="223096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问得自然、准确、可回答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524375" y="5924550"/>
            <a:ext cx="3143250" cy="438150"/>
            <a:chOff x="4524375" y="5924550"/>
            <a:chExt cx="3143250" cy="438150"/>
          </a:xfrm>
        </p:grpSpPr>
        <p:sp>
          <p:nvSpPr>
            <p:cNvPr id="54" name="Rectangle 54"/>
            <p:cNvSpPr/>
            <p:nvPr/>
          </p:nvSpPr>
          <p:spPr>
            <a:xfrm>
              <a:off x="4524375" y="5924550"/>
              <a:ext cx="3143250" cy="438150"/>
            </a:xfrm>
            <a:prstGeom prst="roundRect">
              <a:avLst>
                <a:gd name="adj" fmla="val 50000"/>
              </a:avLst>
            </a:prstGeom>
            <a:solidFill>
              <a:srgbClr val="2F6B4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727336" y="6064568"/>
              <a:ext cx="27373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内容判断 → 提问生成 → 回答回填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1376946" y="63827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5726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5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15315" y="467678"/>
            <a:ext cx="10928985" cy="818197"/>
            <a:chOff x="615315" y="467678"/>
            <a:chExt cx="10928985" cy="818197"/>
          </a:xfrm>
        </p:grpSpPr>
        <p:sp>
          <p:nvSpPr>
            <p:cNvPr id="3" name="TextBox 3"/>
            <p:cNvSpPr txBox="1"/>
            <p:nvPr/>
          </p:nvSpPr>
          <p:spPr>
            <a:xfrm>
              <a:off x="615315" y="46767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动态补问闭环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30555" y="921068"/>
              <a:ext cx="43548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每轮只补一个关键缺口，回答后重新评估是否需要继续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47700" y="1257300"/>
              <a:ext cx="10896600" cy="28575"/>
            </a:xfrm>
            <a:prstGeom prst="roundRect">
              <a:avLst>
                <a:gd name="adj" fmla="val 50000"/>
              </a:avLst>
            </a:prstGeom>
            <a:solidFill>
              <a:srgbClr val="DCE5DC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667250" y="1619250"/>
            <a:ext cx="2857500" cy="685800"/>
            <a:chOff x="4667250" y="1619250"/>
            <a:chExt cx="2857500" cy="685800"/>
          </a:xfrm>
        </p:grpSpPr>
        <p:sp>
          <p:nvSpPr>
            <p:cNvPr id="7" name="Rectangle 7"/>
            <p:cNvSpPr/>
            <p:nvPr/>
          </p:nvSpPr>
          <p:spPr>
            <a:xfrm>
              <a:off x="4667250" y="1619250"/>
              <a:ext cx="2857500" cy="6858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9050">
              <a:solidFill>
                <a:srgbClr val="DCE5DC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4921250" y="1847850"/>
              <a:ext cx="177800" cy="228599"/>
              <a:chOff x="4921250" y="1847850"/>
              <a:chExt cx="177800" cy="22859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4921250" y="1873250"/>
                <a:ext cx="1778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03199">
                    <a:moveTo>
                      <a:pt x="50800" y="0"/>
                    </a:moveTo>
                    <a:lnTo>
                      <a:pt x="25400" y="0"/>
                    </a:lnTo>
                    <a:cubicBezTo>
                      <a:pt x="11372" y="0"/>
                      <a:pt x="0" y="11372"/>
                      <a:pt x="0" y="25400"/>
                    </a:cubicBezTo>
                    <a:lnTo>
                      <a:pt x="0" y="177800"/>
                    </a:lnTo>
                    <a:cubicBezTo>
                      <a:pt x="0" y="191828"/>
                      <a:pt x="11372" y="203199"/>
                      <a:pt x="25400" y="203199"/>
                    </a:cubicBezTo>
                    <a:lnTo>
                      <a:pt x="152400" y="203199"/>
                    </a:lnTo>
                    <a:cubicBezTo>
                      <a:pt x="166428" y="203199"/>
                      <a:pt x="177800" y="191828"/>
                      <a:pt x="177800" y="177800"/>
                    </a:cubicBezTo>
                    <a:lnTo>
                      <a:pt x="177800" y="25400"/>
                    </a:lnTo>
                    <a:cubicBezTo>
                      <a:pt x="177800" y="11372"/>
                      <a:pt x="166428" y="0"/>
                      <a:pt x="152400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4972050" y="18478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50800" y="0"/>
                    </a:lnTo>
                    <a:cubicBezTo>
                      <a:pt x="64828" y="0"/>
                      <a:pt x="76200" y="11372"/>
                      <a:pt x="76200" y="25400"/>
                    </a:cubicBezTo>
                    <a:cubicBezTo>
                      <a:pt x="76200" y="39428"/>
                      <a:pt x="64828" y="50800"/>
                      <a:pt x="50800" y="50800"/>
                    </a:cubicBezTo>
                    <a:lnTo>
                      <a:pt x="25400" y="50800"/>
                    </a:lnTo>
                    <a:cubicBezTo>
                      <a:pt x="11372" y="50800"/>
                      <a:pt x="0" y="39428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4972050" y="19621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5315902" y="1751171"/>
              <a:ext cx="123334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固定问答完成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20665" y="20393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不等于信息已经完整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858000" y="2895600"/>
            <a:ext cx="2857500" cy="685800"/>
            <a:chOff x="6858000" y="2895600"/>
            <a:chExt cx="2857500" cy="685800"/>
          </a:xfrm>
        </p:grpSpPr>
        <p:sp>
          <p:nvSpPr>
            <p:cNvPr id="15" name="Rectangle 15"/>
            <p:cNvSpPr/>
            <p:nvPr/>
          </p:nvSpPr>
          <p:spPr>
            <a:xfrm>
              <a:off x="6858000" y="2895600"/>
              <a:ext cx="2857500" cy="685800"/>
            </a:xfrm>
            <a:prstGeom prst="roundRect">
              <a:avLst>
                <a:gd name="adj" fmla="val 27778"/>
              </a:avLst>
            </a:prstGeom>
            <a:solidFill>
              <a:srgbClr val="EAF2E8"/>
            </a:solidFill>
            <a:ln w="19050">
              <a:solidFill>
                <a:srgbClr val="2F6B4F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092950" y="3143250"/>
              <a:ext cx="209550" cy="184149"/>
              <a:chOff x="7092950" y="3143250"/>
              <a:chExt cx="209550" cy="18414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092950" y="3143250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092950" y="3219450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092950" y="3295649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188200" y="31623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188200" y="32385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188200" y="3314699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7506652" y="3027521"/>
              <a:ext cx="155258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完整度 Skill 判断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11415" y="331565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识别当前最关键信息缺口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667250" y="4171950"/>
            <a:ext cx="2857500" cy="685800"/>
            <a:chOff x="4667250" y="4171950"/>
            <a:chExt cx="2857500" cy="685800"/>
          </a:xfrm>
        </p:grpSpPr>
        <p:sp>
          <p:nvSpPr>
            <p:cNvPr id="26" name="Rectangle 26"/>
            <p:cNvSpPr/>
            <p:nvPr/>
          </p:nvSpPr>
          <p:spPr>
            <a:xfrm>
              <a:off x="4667250" y="4171950"/>
              <a:ext cx="2857500" cy="685800"/>
            </a:xfrm>
            <a:prstGeom prst="roundRect">
              <a:avLst>
                <a:gd name="adj" fmla="val 27778"/>
              </a:avLst>
            </a:prstGeom>
            <a:solidFill>
              <a:srgbClr val="2F6B4F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4895850" y="4413250"/>
              <a:ext cx="230596" cy="238124"/>
              <a:chOff x="4895850" y="4413250"/>
              <a:chExt cx="230596" cy="23812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4959350" y="4476750"/>
                <a:ext cx="10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9525">
                    <a:moveTo>
                      <a:pt x="0" y="0"/>
                    </a:move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959350" y="452755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895850" y="4413250"/>
                <a:ext cx="228599" cy="2158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15899">
                    <a:moveTo>
                      <a:pt x="139700" y="177800"/>
                    </a:moveTo>
                    <a:lnTo>
                      <a:pt x="127000" y="177800"/>
                    </a:lnTo>
                    <a:lnTo>
                      <a:pt x="63500" y="215899"/>
                    </a:lnTo>
                    <a:lnTo>
                      <a:pt x="63500" y="177800"/>
                    </a:lnTo>
                    <a:lnTo>
                      <a:pt x="38100" y="177800"/>
                    </a:lnTo>
                    <a:cubicBezTo>
                      <a:pt x="17058" y="177800"/>
                      <a:pt x="0" y="160742"/>
                      <a:pt x="0" y="1397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599" y="17058"/>
                      <a:pt x="228599" y="38100"/>
                    </a:cubicBezTo>
                    <a:lnTo>
                      <a:pt x="228599" y="952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099049" y="464184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079999" y="4550389"/>
                <a:ext cx="46447" cy="53360"/>
              </a:xfrm>
              <a:custGeom>
                <a:avLst/>
                <a:gdLst/>
                <a:ahLst/>
                <a:cxnLst/>
                <a:rect l="l" t="t" r="r" b="b"/>
                <a:pathLst>
                  <a:path w="46447" h="53360">
                    <a:moveTo>
                      <a:pt x="19050" y="53360"/>
                    </a:moveTo>
                    <a:cubicBezTo>
                      <a:pt x="30767" y="53323"/>
                      <a:pt x="40943" y="45287"/>
                      <a:pt x="43695" y="33898"/>
                    </a:cubicBezTo>
                    <a:cubicBezTo>
                      <a:pt x="46447" y="22509"/>
                      <a:pt x="41064" y="10713"/>
                      <a:pt x="30658" y="5329"/>
                    </a:cubicBezTo>
                    <a:cubicBezTo>
                      <a:pt x="20255" y="0"/>
                      <a:pt x="7552" y="2542"/>
                      <a:pt x="0" y="11463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5315902" y="4303871"/>
              <a:ext cx="175210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追问 Skill 生成问题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320665" y="459200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2000"/>
                    </a:srgbClr>
                  </a:solidFill>
                  <a:latin typeface="Arial"/>
                  <a:ea typeface="Microsoft YaHei"/>
                  <a:cs typeface="Arial"/>
                </a:rPr>
                <a:t>一次一问、通俗自然、不诱导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952750" y="2895600"/>
            <a:ext cx="2476500" cy="685800"/>
            <a:chOff x="2952750" y="2895600"/>
            <a:chExt cx="2476500" cy="685800"/>
          </a:xfrm>
        </p:grpSpPr>
        <p:sp>
          <p:nvSpPr>
            <p:cNvPr id="36" name="Rectangle 36"/>
            <p:cNvSpPr/>
            <p:nvPr/>
          </p:nvSpPr>
          <p:spPr>
            <a:xfrm>
              <a:off x="2952750" y="2895600"/>
              <a:ext cx="2476500" cy="6858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9050">
              <a:solidFill>
                <a:srgbClr val="DCE5DC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3206750" y="3162300"/>
              <a:ext cx="177800" cy="152400"/>
              <a:chOff x="3206750" y="3162300"/>
              <a:chExt cx="177800" cy="1524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3206750" y="3238500"/>
                <a:ext cx="17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9525">
                    <a:moveTo>
                      <a:pt x="0" y="0"/>
                    </a:move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4C8C7A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3308350" y="32385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4C8C7A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3308350" y="31623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76200" y="76200"/>
                    </a:lnTo>
                  </a:path>
                </a:pathLst>
              </a:custGeom>
              <a:noFill/>
              <a:ln w="19050">
                <a:solidFill>
                  <a:srgbClr val="4C8C7A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3601402" y="302752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用户回答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606165" y="33156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回答写入信息档案</a:t>
              </a:r>
            </a:p>
          </p:txBody>
        </p:sp>
      </p:grpSp>
      <p:sp>
        <p:nvSpPr>
          <p:cNvPr id="44" name="Line 44"/>
          <p:cNvSpPr/>
          <p:nvPr/>
        </p:nvSpPr>
        <p:spPr>
          <a:xfrm>
            <a:off x="6667500" y="2305050"/>
            <a:ext cx="990600" cy="590550"/>
          </a:xfrm>
          <a:prstGeom prst="line">
            <a:avLst/>
          </a:prstGeom>
          <a:noFill/>
          <a:ln w="28575">
            <a:solidFill>
              <a:srgbClr val="2F6B4F"/>
            </a:solidFill>
            <a:tailEnd type="triangle" w="lg" len="lg"/>
          </a:ln>
        </p:spPr>
      </p:sp>
      <p:sp>
        <p:nvSpPr>
          <p:cNvPr id="45" name="Line 45"/>
          <p:cNvSpPr/>
          <p:nvPr/>
        </p:nvSpPr>
        <p:spPr>
          <a:xfrm flipH="1">
            <a:off x="6667500" y="3581400"/>
            <a:ext cx="952500" cy="590550"/>
          </a:xfrm>
          <a:prstGeom prst="line">
            <a:avLst/>
          </a:prstGeom>
          <a:noFill/>
          <a:ln w="28575">
            <a:solidFill>
              <a:srgbClr val="2F6B4F"/>
            </a:solidFill>
            <a:tailEnd type="triangle" w="lg" len="lg"/>
          </a:ln>
        </p:spPr>
      </p:sp>
      <p:sp>
        <p:nvSpPr>
          <p:cNvPr id="46" name="Line 46"/>
          <p:cNvSpPr/>
          <p:nvPr/>
        </p:nvSpPr>
        <p:spPr>
          <a:xfrm flipH="1" flipV="1">
            <a:off x="4476750" y="3581400"/>
            <a:ext cx="666750" cy="590550"/>
          </a:xfrm>
          <a:prstGeom prst="line">
            <a:avLst/>
          </a:prstGeom>
          <a:noFill/>
          <a:ln w="28575">
            <a:solidFill>
              <a:srgbClr val="2F6B4F"/>
            </a:solidFill>
            <a:tailEnd type="triangle" w="lg" len="lg"/>
          </a:ln>
        </p:spPr>
      </p:sp>
      <p:sp>
        <p:nvSpPr>
          <p:cNvPr id="47" name="Freeform 47"/>
          <p:cNvSpPr/>
          <p:nvPr/>
        </p:nvSpPr>
        <p:spPr>
          <a:xfrm>
            <a:off x="4191000" y="2476500"/>
            <a:ext cx="4095750" cy="419100"/>
          </a:xfrm>
          <a:custGeom>
            <a:avLst/>
            <a:gdLst/>
            <a:ahLst/>
            <a:cxnLst/>
            <a:rect l="l" t="t" r="r" b="b"/>
            <a:pathLst>
              <a:path w="4095750" h="419100">
                <a:moveTo>
                  <a:pt x="0" y="419100"/>
                </a:moveTo>
                <a:lnTo>
                  <a:pt x="0" y="0"/>
                </a:lnTo>
                <a:lnTo>
                  <a:pt x="4095750" y="0"/>
                </a:lnTo>
                <a:lnTo>
                  <a:pt x="4095750" y="419100"/>
                </a:lnTo>
              </a:path>
            </a:pathLst>
          </a:custGeom>
          <a:noFill/>
          <a:ln w="28575">
            <a:solidFill>
              <a:srgbClr val="D6A84B"/>
            </a:solidFill>
            <a:custDash>
              <a:ds d="333333" sp="166666"/>
            </a:custDash>
            <a:tailEnd type="triangle" w="lg" len="lg"/>
          </a:ln>
        </p:spPr>
      </p:sp>
      <p:grpSp>
        <p:nvGrpSpPr>
          <p:cNvPr id="50" name="Group 50"/>
          <p:cNvGrpSpPr/>
          <p:nvPr/>
        </p:nvGrpSpPr>
        <p:grpSpPr>
          <a:xfrm>
            <a:off x="5381625" y="2209800"/>
            <a:ext cx="1714500" cy="342900"/>
            <a:chOff x="5381625" y="2209800"/>
            <a:chExt cx="1714500" cy="342900"/>
          </a:xfrm>
        </p:grpSpPr>
        <p:sp>
          <p:nvSpPr>
            <p:cNvPr id="48" name="Rectangle 48"/>
            <p:cNvSpPr/>
            <p:nvPr/>
          </p:nvSpPr>
          <p:spPr>
            <a:xfrm>
              <a:off x="5381625" y="2209800"/>
              <a:ext cx="1714500" cy="34290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9525">
              <a:solidFill>
                <a:srgbClr val="DCE5DC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673269" y="2316956"/>
              <a:ext cx="11312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D6A84B"/>
                  </a:solidFill>
                  <a:latin typeface="Arial"/>
                  <a:ea typeface="Microsoft YaHei"/>
                  <a:cs typeface="Arial"/>
                </a:rPr>
                <a:t>回答后重新评估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47700" y="1619250"/>
            <a:ext cx="2321314" cy="685800"/>
            <a:chOff x="647700" y="1619250"/>
            <a:chExt cx="2321314" cy="685800"/>
          </a:xfrm>
        </p:grpSpPr>
        <p:sp>
          <p:nvSpPr>
            <p:cNvPr id="51" name="Rectangle 51"/>
            <p:cNvSpPr/>
            <p:nvPr/>
          </p:nvSpPr>
          <p:spPr>
            <a:xfrm>
              <a:off x="647700" y="1619250"/>
              <a:ext cx="2095500" cy="685800"/>
            </a:xfrm>
            <a:prstGeom prst="roundRect">
              <a:avLst>
                <a:gd name="adj" fmla="val 22222"/>
              </a:avLst>
            </a:prstGeom>
            <a:solidFill>
              <a:srgbClr val="F6EFD9"/>
            </a:solidFill>
            <a:ln w="14288">
              <a:solidFill>
                <a:srgbClr val="D6A84B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871538" y="1843088"/>
              <a:ext cx="200026" cy="200026"/>
              <a:chOff x="871538" y="1843088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871538" y="18430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19050">
                <a:solidFill>
                  <a:srgbClr val="D6A84B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71550" y="1887538"/>
                <a:ext cx="3333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88900">
                    <a:moveTo>
                      <a:pt x="0" y="0"/>
                    </a:moveTo>
                    <a:lnTo>
                      <a:pt x="0" y="55563"/>
                    </a:lnTo>
                    <a:lnTo>
                      <a:pt x="33338" y="88900"/>
                    </a:lnTo>
                  </a:path>
                </a:pathLst>
              </a:custGeom>
              <a:noFill/>
              <a:ln w="19050">
                <a:solidFill>
                  <a:srgbClr val="D6A84B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223010" y="17754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补问轮次上限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219200" y="1990725"/>
              <a:ext cx="17498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6A84B"/>
                  </a:solidFill>
                  <a:latin typeface="Arial"/>
                  <a:ea typeface="Microsoft YaHei"/>
                  <a:cs typeface="Arial"/>
                </a:rPr>
                <a:t>最多 5 轮动态补问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47700" y="2667000"/>
            <a:ext cx="2095500" cy="2717006"/>
            <a:chOff x="647700" y="2667000"/>
            <a:chExt cx="2095500" cy="2717006"/>
          </a:xfrm>
        </p:grpSpPr>
        <p:sp>
          <p:nvSpPr>
            <p:cNvPr id="58" name="Rectangle 58"/>
            <p:cNvSpPr/>
            <p:nvPr/>
          </p:nvSpPr>
          <p:spPr>
            <a:xfrm>
              <a:off x="647700" y="2667000"/>
              <a:ext cx="2095500" cy="26670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DCE5DC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60108" y="28532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F6B4F"/>
                  </a:solidFill>
                  <a:latin typeface="Arial"/>
                  <a:ea typeface="Microsoft YaHei"/>
                  <a:cs typeface="Arial"/>
                </a:rPr>
                <a:t>补问原则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76300" y="3124200"/>
              <a:ext cx="1638300" cy="19050"/>
            </a:xfrm>
            <a:prstGeom prst="roundRect">
              <a:avLst>
                <a:gd name="adj" fmla="val 50000"/>
              </a:avLst>
            </a:prstGeom>
            <a:solidFill>
              <a:srgbClr val="DCE5DC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914400" y="3352800"/>
              <a:ext cx="76200" cy="76200"/>
            </a:xfrm>
            <a:prstGeom prst="ellipse">
              <a:avLst/>
            </a:prstGeom>
            <a:solidFill>
              <a:srgbClr val="4C8C7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90612" y="33266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每轮只选一个最关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90612" y="351710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键的信息缺口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914400" y="3886200"/>
              <a:ext cx="76200" cy="76200"/>
            </a:xfrm>
            <a:prstGeom prst="ellipse">
              <a:avLst/>
            </a:prstGeom>
            <a:solidFill>
              <a:srgbClr val="4C8C7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90612" y="38600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不重复已回答内容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914400" y="4267200"/>
              <a:ext cx="76200" cy="76200"/>
            </a:xfrm>
            <a:prstGeom prst="ellipse">
              <a:avLst/>
            </a:prstGeom>
            <a:solidFill>
              <a:srgbClr val="4C8C7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90612" y="424100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不做诊断结论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914400" y="4648200"/>
              <a:ext cx="76200" cy="76200"/>
            </a:xfrm>
            <a:prstGeom prst="ellipse">
              <a:avLst/>
            </a:prstGeom>
            <a:solidFill>
              <a:srgbClr val="4C8C7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90612" y="462200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回答后重新评估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914400" y="5029200"/>
              <a:ext cx="76200" cy="76200"/>
            </a:xfrm>
            <a:prstGeom prst="ellipse">
              <a:avLst/>
            </a:prstGeom>
            <a:solidFill>
              <a:srgbClr val="4C8C7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090612" y="5003006"/>
              <a:ext cx="12512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满 5 轮或无缺口时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90612" y="515540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自动停止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9906000" y="1619250"/>
            <a:ext cx="1714500" cy="3619500"/>
            <a:chOff x="9906000" y="1619250"/>
            <a:chExt cx="1714500" cy="3619500"/>
          </a:xfrm>
        </p:grpSpPr>
        <p:sp>
          <p:nvSpPr>
            <p:cNvPr id="74" name="Rectangle 74"/>
            <p:cNvSpPr/>
            <p:nvPr/>
          </p:nvSpPr>
          <p:spPr>
            <a:xfrm>
              <a:off x="9906000" y="1619250"/>
              <a:ext cx="1714500" cy="3619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4288">
              <a:solidFill>
                <a:srgbClr val="DCE5DC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118408" y="18054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F6B4F"/>
                  </a:solidFill>
                  <a:latin typeface="Arial"/>
                  <a:ea typeface="Microsoft YaHei"/>
                  <a:cs typeface="Arial"/>
                </a:rPr>
                <a:t>最终产出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10134600" y="2076450"/>
              <a:ext cx="1257300" cy="19050"/>
            </a:xfrm>
            <a:prstGeom prst="roundRect">
              <a:avLst>
                <a:gd name="adj" fmla="val 50000"/>
              </a:avLst>
            </a:prstGeom>
            <a:solidFill>
              <a:srgbClr val="DCE5DC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10334625" y="2390775"/>
              <a:ext cx="133350" cy="171450"/>
              <a:chOff x="10334625" y="2390775"/>
              <a:chExt cx="133350" cy="17145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10420350" y="23907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0" y="38100"/>
                    </a:lnTo>
                    <a:cubicBezTo>
                      <a:pt x="0" y="43361"/>
                      <a:pt x="4264" y="47625"/>
                      <a:pt x="9525" y="47625"/>
                    </a:cubicBezTo>
                    <a:lnTo>
                      <a:pt x="47625" y="47625"/>
                    </a:lnTo>
                  </a:path>
                </a:pathLst>
              </a:custGeom>
              <a:noFill/>
              <a:ln w="19050">
                <a:solidFill>
                  <a:srgbClr val="4C8C7A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10334625" y="239077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14300" y="171450"/>
                    </a:moveTo>
                    <a:lnTo>
                      <a:pt x="19050" y="171450"/>
                    </a:lnTo>
                    <a:cubicBezTo>
                      <a:pt x="8529" y="171450"/>
                      <a:pt x="0" y="162921"/>
                      <a:pt x="0" y="1524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85725" y="0"/>
                    </a:lnTo>
                    <a:lnTo>
                      <a:pt x="133350" y="47625"/>
                    </a:lnTo>
                    <a:lnTo>
                      <a:pt x="133350" y="152400"/>
                    </a:lnTo>
                    <a:cubicBezTo>
                      <a:pt x="133350" y="162921"/>
                      <a:pt x="124821" y="171450"/>
                      <a:pt x="114300" y="171450"/>
                    </a:cubicBezTo>
                  </a:path>
                </a:pathLst>
              </a:custGeom>
              <a:noFill/>
              <a:ln w="19050">
                <a:solidFill>
                  <a:srgbClr val="4C8C7A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10372725" y="252412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4C8C7A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10372725" y="248602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4C8C7A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0615612" y="24122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信息档案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350818" y="26760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基础回答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350818" y="2866549"/>
              <a:ext cx="6553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+ 补问结果</a:t>
              </a:r>
            </a:p>
          </p:txBody>
        </p:sp>
        <p:grpSp>
          <p:nvGrpSpPr>
            <p:cNvPr id="88" name="Group 88"/>
            <p:cNvGrpSpPr/>
            <p:nvPr/>
          </p:nvGrpSpPr>
          <p:grpSpPr>
            <a:xfrm>
              <a:off x="10334625" y="3362325"/>
              <a:ext cx="133350" cy="171450"/>
              <a:chOff x="10334625" y="3362325"/>
              <a:chExt cx="133350" cy="171450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10334625" y="3381375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38100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133350"/>
                    </a:lnTo>
                    <a:cubicBezTo>
                      <a:pt x="0" y="143871"/>
                      <a:pt x="8529" y="152400"/>
                      <a:pt x="19050" y="152400"/>
                    </a:cubicBezTo>
                    <a:lnTo>
                      <a:pt x="114300" y="152400"/>
                    </a:lnTo>
                    <a:cubicBezTo>
                      <a:pt x="124821" y="152400"/>
                      <a:pt x="133350" y="143871"/>
                      <a:pt x="133350" y="133350"/>
                    </a:cubicBezTo>
                    <a:lnTo>
                      <a:pt x="133350" y="19050"/>
                    </a:lnTo>
                    <a:cubicBezTo>
                      <a:pt x="133350" y="8529"/>
                      <a:pt x="124821" y="0"/>
                      <a:pt x="114300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10372725" y="336232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38100" y="0"/>
                    </a:lnTo>
                    <a:cubicBezTo>
                      <a:pt x="48621" y="0"/>
                      <a:pt x="57150" y="8529"/>
                      <a:pt x="57150" y="19050"/>
                    </a:cubicBezTo>
                    <a:cubicBezTo>
                      <a:pt x="57150" y="29571"/>
                      <a:pt x="48621" y="38100"/>
                      <a:pt x="38100" y="38100"/>
                    </a:cubicBezTo>
                    <a:lnTo>
                      <a:pt x="19050" y="38100"/>
                    </a:lnTo>
                    <a:cubicBezTo>
                      <a:pt x="8529" y="38100"/>
                      <a:pt x="0" y="29571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10372725" y="344805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10615612" y="33837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完整度报告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350818" y="364759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缺口分析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350818" y="3838099"/>
              <a:ext cx="6553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+ 检查建议</a:t>
              </a:r>
            </a:p>
          </p:txBody>
        </p:sp>
        <p:grpSp>
          <p:nvGrpSpPr>
            <p:cNvPr id="95" name="Group 95"/>
            <p:cNvGrpSpPr/>
            <p:nvPr/>
          </p:nvGrpSpPr>
          <p:grpSpPr>
            <a:xfrm>
              <a:off x="10315575" y="4333875"/>
              <a:ext cx="171450" cy="171450"/>
              <a:chOff x="10315575" y="4333875"/>
              <a:chExt cx="171450" cy="171450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10315575" y="446722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D6A84B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10448925" y="43338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19050" y="38100"/>
                    </a:move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  <a:cubicBezTo>
                      <a:pt x="0" y="29571"/>
                      <a:pt x="8529" y="38100"/>
                      <a:pt x="19050" y="38100"/>
                    </a:cubicBezTo>
                  </a:path>
                </a:pathLst>
              </a:custGeom>
              <a:noFill/>
              <a:ln w="19050">
                <a:solidFill>
                  <a:srgbClr val="D6A84B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10334625" y="4352925"/>
                <a:ext cx="1428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33350">
                    <a:moveTo>
                      <a:pt x="57150" y="133350"/>
                    </a:moveTo>
                    <a:lnTo>
                      <a:pt x="109538" y="133350"/>
                    </a:lnTo>
                    <a:cubicBezTo>
                      <a:pt x="127949" y="133350"/>
                      <a:pt x="142875" y="118424"/>
                      <a:pt x="142875" y="100012"/>
                    </a:cubicBezTo>
                    <a:cubicBezTo>
                      <a:pt x="142875" y="81601"/>
                      <a:pt x="127949" y="66675"/>
                      <a:pt x="109538" y="66675"/>
                    </a:cubicBezTo>
                    <a:lnTo>
                      <a:pt x="33338" y="66675"/>
                    </a:lnTo>
                    <a:cubicBezTo>
                      <a:pt x="14926" y="66675"/>
                      <a:pt x="0" y="51749"/>
                      <a:pt x="0" y="33338"/>
                    </a:cubicBezTo>
                    <a:cubicBezTo>
                      <a:pt x="0" y="14926"/>
                      <a:pt x="14926" y="0"/>
                      <a:pt x="33338" y="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D6A84B"/>
                </a:solidFill>
              </a:ln>
            </p:spPr>
          </p:sp>
        </p:grpSp>
        <p:sp>
          <p:nvSpPr>
            <p:cNvPr id="96" name="TextBox 96"/>
            <p:cNvSpPr txBox="1"/>
            <p:nvPr/>
          </p:nvSpPr>
          <p:spPr>
            <a:xfrm>
              <a:off x="10615612" y="43553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诊中可用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350818" y="46191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结构化数据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0350818" y="48096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可供后续引用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3028950" y="5410200"/>
            <a:ext cx="6134100" cy="552450"/>
            <a:chOff x="3028950" y="5410200"/>
            <a:chExt cx="6134100" cy="552450"/>
          </a:xfrm>
        </p:grpSpPr>
        <p:sp>
          <p:nvSpPr>
            <p:cNvPr id="100" name="Rectangle 100"/>
            <p:cNvSpPr/>
            <p:nvPr/>
          </p:nvSpPr>
          <p:spPr>
            <a:xfrm>
              <a:off x="3028950" y="5410200"/>
              <a:ext cx="6134100" cy="552450"/>
            </a:xfrm>
            <a:prstGeom prst="roundRect">
              <a:avLst>
                <a:gd name="adj" fmla="val 27586"/>
              </a:avLst>
            </a:prstGeom>
            <a:solidFill>
              <a:srgbClr val="EAF2E8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3400886" y="5574982"/>
              <a:ext cx="53902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F6B4F"/>
                  </a:solidFill>
                  <a:latin typeface="Arial"/>
                  <a:ea typeface="Microsoft YaHei"/>
                  <a:cs typeface="Arial"/>
                </a:rPr>
                <a:t>每补一问，重新评估 — 不浪费轮次、不纠缠次要信息</a:t>
              </a:r>
            </a:p>
          </p:txBody>
        </p:sp>
      </p:grpSp>
      <p:sp>
        <p:nvSpPr>
          <p:cNvPr id="103" name="TextBox 103"/>
          <p:cNvSpPr txBox="1"/>
          <p:nvPr/>
        </p:nvSpPr>
        <p:spPr>
          <a:xfrm>
            <a:off x="11376946" y="63827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5726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5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15315" y="467678"/>
            <a:ext cx="10928985" cy="818197"/>
            <a:chOff x="615315" y="467678"/>
            <a:chExt cx="10928985" cy="818197"/>
          </a:xfrm>
        </p:grpSpPr>
        <p:sp>
          <p:nvSpPr>
            <p:cNvPr id="3" name="TextBox 3"/>
            <p:cNvSpPr txBox="1"/>
            <p:nvPr/>
          </p:nvSpPr>
          <p:spPr>
            <a:xfrm>
              <a:off x="615315" y="467678"/>
              <a:ext cx="292112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智能分析内容收敛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30555" y="921068"/>
              <a:ext cx="45348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明确边界：只输出信息完整度与检查建议，不做辨证诊断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47700" y="1257300"/>
              <a:ext cx="10896600" cy="28575"/>
            </a:xfrm>
            <a:prstGeom prst="roundRect">
              <a:avLst>
                <a:gd name="adj" fmla="val 50000"/>
              </a:avLst>
            </a:prstGeom>
            <a:solidFill>
              <a:srgbClr val="DCE5DC"/>
            </a:solidFill>
            <a:ln>
              <a:noFill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647700" y="1524000"/>
            <a:ext cx="4953000" cy="4191000"/>
            <a:chOff x="647700" y="1524000"/>
            <a:chExt cx="4953000" cy="4191000"/>
          </a:xfrm>
        </p:grpSpPr>
        <p:sp>
          <p:nvSpPr>
            <p:cNvPr id="7" name="Rectangle 7"/>
            <p:cNvSpPr/>
            <p:nvPr/>
          </p:nvSpPr>
          <p:spPr>
            <a:xfrm>
              <a:off x="647700" y="1524000"/>
              <a:ext cx="4953000" cy="4191000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ln w="19050">
              <a:solidFill>
                <a:srgbClr val="DCE5DC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47700" y="1524000"/>
              <a:ext cx="4953000" cy="533400"/>
            </a:xfrm>
            <a:prstGeom prst="roundRect">
              <a:avLst>
                <a:gd name="adj" fmla="val 28571"/>
              </a:avLst>
            </a:prstGeom>
            <a:solidFill>
              <a:srgbClr val="EAF2E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47700" y="1905000"/>
              <a:ext cx="4953000" cy="152400"/>
            </a:xfrm>
            <a:prstGeom prst="rect">
              <a:avLst/>
            </a:prstGeom>
            <a:solidFill>
              <a:srgbClr val="EAF2E8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52500" y="1676400"/>
              <a:ext cx="228599" cy="228599"/>
              <a:chOff x="952500" y="1676400"/>
              <a:chExt cx="228599" cy="22859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952500" y="167640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28700" y="17653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330642" y="16806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2F6B4F"/>
                  </a:solidFill>
                  <a:latin typeface="Arial"/>
                  <a:ea typeface="Microsoft YaHei"/>
                  <a:cs typeface="Arial"/>
                </a:rPr>
                <a:t>保留内容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914400" y="2247900"/>
              <a:ext cx="4419600" cy="2095500"/>
              <a:chOff x="914400" y="2247900"/>
              <a:chExt cx="4419600" cy="20955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914400" y="2247900"/>
                <a:ext cx="4419600" cy="438150"/>
              </a:xfrm>
              <a:prstGeom prst="roundRect">
                <a:avLst>
                  <a:gd name="adj" fmla="val 26087"/>
                </a:avLst>
              </a:prstGeom>
              <a:solidFill>
                <a:srgbClr val="F7F9F5"/>
              </a:solidFill>
              <a:ln>
                <a:noFill/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1129506" y="2388394"/>
                <a:ext cx="122238" cy="157162"/>
                <a:chOff x="1129506" y="2388394"/>
                <a:chExt cx="122238" cy="157162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1129506" y="2405856"/>
                  <a:ext cx="122238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139700">
                      <a:moveTo>
                        <a:pt x="34925" y="0"/>
                      </a:moveTo>
                      <a:lnTo>
                        <a:pt x="17463" y="0"/>
                      </a:lnTo>
                      <a:cubicBezTo>
                        <a:pt x="7818" y="0"/>
                        <a:pt x="0" y="7818"/>
                        <a:pt x="0" y="17463"/>
                      </a:cubicBezTo>
                      <a:lnTo>
                        <a:pt x="0" y="122238"/>
                      </a:lnTo>
                      <a:cubicBezTo>
                        <a:pt x="0" y="131882"/>
                        <a:pt x="7818" y="139700"/>
                        <a:pt x="17463" y="139700"/>
                      </a:cubicBezTo>
                      <a:lnTo>
                        <a:pt x="104775" y="139700"/>
                      </a:lnTo>
                      <a:cubicBezTo>
                        <a:pt x="114419" y="139700"/>
                        <a:pt x="122238" y="131882"/>
                        <a:pt x="122238" y="122238"/>
                      </a:cubicBezTo>
                      <a:lnTo>
                        <a:pt x="122238" y="17463"/>
                      </a:lnTo>
                      <a:cubicBezTo>
                        <a:pt x="122238" y="7818"/>
                        <a:pt x="114419" y="0"/>
                        <a:pt x="104775" y="0"/>
                      </a:cubicBezTo>
                      <a:lnTo>
                        <a:pt x="87313" y="0"/>
                      </a:lnTo>
                    </a:path>
                  </a:pathLst>
                </a:custGeom>
                <a:noFill/>
                <a:ln w="19050">
                  <a:solidFill>
                    <a:srgbClr val="2F6B4F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164431" y="2388394"/>
                  <a:ext cx="52388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34925">
                      <a:moveTo>
                        <a:pt x="0" y="17463"/>
                      </a:moveTo>
                      <a:cubicBezTo>
                        <a:pt x="0" y="7818"/>
                        <a:pt x="7818" y="0"/>
                        <a:pt x="17463" y="0"/>
                      </a:cubicBezTo>
                      <a:lnTo>
                        <a:pt x="34925" y="0"/>
                      </a:lnTo>
                      <a:cubicBezTo>
                        <a:pt x="44569" y="0"/>
                        <a:pt x="52388" y="7818"/>
                        <a:pt x="52388" y="17463"/>
                      </a:cubicBezTo>
                      <a:cubicBezTo>
                        <a:pt x="52388" y="27107"/>
                        <a:pt x="44569" y="34925"/>
                        <a:pt x="34925" y="34925"/>
                      </a:cubicBezTo>
                      <a:lnTo>
                        <a:pt x="17463" y="34925"/>
                      </a:lnTo>
                      <a:cubicBezTo>
                        <a:pt x="7818" y="34925"/>
                        <a:pt x="0" y="27107"/>
                        <a:pt x="0" y="17463"/>
                      </a:cubicBezTo>
                    </a:path>
                  </a:pathLst>
                </a:custGeom>
                <a:noFill/>
                <a:ln w="19050">
                  <a:solidFill>
                    <a:srgbClr val="2F6B4F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164431" y="2466975"/>
                  <a:ext cx="52388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34925">
                      <a:moveTo>
                        <a:pt x="0" y="17463"/>
                      </a:moveTo>
                      <a:lnTo>
                        <a:pt x="17463" y="34925"/>
                      </a:lnTo>
                      <a:lnTo>
                        <a:pt x="52388" y="0"/>
                      </a:lnTo>
                    </a:path>
                  </a:pathLst>
                </a:custGeom>
                <a:noFill/>
                <a:ln w="19050">
                  <a:solidFill>
                    <a:srgbClr val="2F6B4F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392555" y="2387918"/>
                <a:ext cx="183451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A24"/>
                    </a:solidFill>
                    <a:latin typeface="Arial"/>
                    <a:ea typeface="Microsoft YaHei"/>
                    <a:cs typeface="Arial"/>
                  </a:rPr>
                  <a:t>信息完整度状态与摘要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914400" y="2800350"/>
                <a:ext cx="4419600" cy="438150"/>
              </a:xfrm>
              <a:prstGeom prst="roundRect">
                <a:avLst>
                  <a:gd name="adj" fmla="val 26087"/>
                </a:avLst>
              </a:prstGeom>
              <a:solidFill>
                <a:srgbClr val="F7F9F5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1116409" y="2953941"/>
                <a:ext cx="144066" cy="127397"/>
                <a:chOff x="1116409" y="2953941"/>
                <a:chExt cx="144066" cy="127397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1116409" y="2953941"/>
                  <a:ext cx="34925" cy="21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21828">
                      <a:moveTo>
                        <a:pt x="0" y="8731"/>
                      </a:moveTo>
                      <a:lnTo>
                        <a:pt x="13097" y="21828"/>
                      </a:lnTo>
                      <a:lnTo>
                        <a:pt x="34925" y="0"/>
                      </a:lnTo>
                    </a:path>
                  </a:pathLst>
                </a:custGeom>
                <a:noFill/>
                <a:ln w="19050">
                  <a:solidFill>
                    <a:srgbClr val="2F6B4F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1116409" y="3006328"/>
                  <a:ext cx="34925" cy="21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21828">
                      <a:moveTo>
                        <a:pt x="0" y="8731"/>
                      </a:moveTo>
                      <a:lnTo>
                        <a:pt x="13097" y="21828"/>
                      </a:lnTo>
                      <a:lnTo>
                        <a:pt x="34925" y="0"/>
                      </a:lnTo>
                    </a:path>
                  </a:pathLst>
                </a:custGeom>
                <a:noFill/>
                <a:ln w="19050">
                  <a:solidFill>
                    <a:srgbClr val="2F6B4F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1116409" y="3058716"/>
                  <a:ext cx="34925" cy="21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21828">
                      <a:moveTo>
                        <a:pt x="0" y="8731"/>
                      </a:moveTo>
                      <a:lnTo>
                        <a:pt x="13097" y="21828"/>
                      </a:lnTo>
                      <a:lnTo>
                        <a:pt x="34925" y="0"/>
                      </a:lnTo>
                    </a:path>
                  </a:pathLst>
                </a:custGeom>
                <a:noFill/>
                <a:ln w="19050">
                  <a:solidFill>
                    <a:srgbClr val="2F6B4F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181894" y="2967038"/>
                  <a:ext cx="7858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9525">
                      <a:moveTo>
                        <a:pt x="0" y="0"/>
                      </a:moveTo>
                      <a:lnTo>
                        <a:pt x="78581" y="0"/>
                      </a:lnTo>
                    </a:path>
                  </a:pathLst>
                </a:custGeom>
                <a:noFill/>
                <a:ln w="19050">
                  <a:solidFill>
                    <a:srgbClr val="2F6B4F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181894" y="3019425"/>
                  <a:ext cx="7858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9525">
                      <a:moveTo>
                        <a:pt x="0" y="0"/>
                      </a:moveTo>
                      <a:lnTo>
                        <a:pt x="78581" y="0"/>
                      </a:lnTo>
                    </a:path>
                  </a:pathLst>
                </a:custGeom>
                <a:noFill/>
                <a:ln w="19050">
                  <a:solidFill>
                    <a:srgbClr val="2F6B4F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181894" y="3071813"/>
                  <a:ext cx="7858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9525">
                      <a:moveTo>
                        <a:pt x="0" y="0"/>
                      </a:moveTo>
                      <a:lnTo>
                        <a:pt x="78581" y="0"/>
                      </a:lnTo>
                    </a:path>
                  </a:pathLst>
                </a:custGeom>
                <a:noFill/>
                <a:ln w="19050">
                  <a:solidFill>
                    <a:srgbClr val="2F6B4F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1392555" y="2940368"/>
                <a:ext cx="129444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A24"/>
                    </a:solidFill>
                    <a:latin typeface="Arial"/>
                    <a:ea typeface="Microsoft YaHei"/>
                    <a:cs typeface="Arial"/>
                  </a:rPr>
                  <a:t>缺失必问项列表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914400" y="3352800"/>
                <a:ext cx="4419600" cy="438150"/>
              </a:xfrm>
              <a:prstGeom prst="roundRect">
                <a:avLst>
                  <a:gd name="adj" fmla="val 26087"/>
                </a:avLst>
              </a:prstGeom>
              <a:solidFill>
                <a:srgbClr val="F7F9F5"/>
              </a:solidFill>
              <a:ln>
                <a:noFill/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1112044" y="3502025"/>
                <a:ext cx="158536" cy="166688"/>
                <a:chOff x="1112044" y="3502025"/>
                <a:chExt cx="158536" cy="166688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1155700" y="3545681"/>
                  <a:ext cx="698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9525">
                      <a:moveTo>
                        <a:pt x="0" y="0"/>
                      </a:moveTo>
                      <a:lnTo>
                        <a:pt x="69850" y="0"/>
                      </a:lnTo>
                    </a:path>
                  </a:pathLst>
                </a:custGeom>
                <a:noFill/>
                <a:ln w="19050">
                  <a:solidFill>
                    <a:srgbClr val="2F6B4F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1155700" y="3580606"/>
                  <a:ext cx="5238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9525">
                      <a:moveTo>
                        <a:pt x="0" y="0"/>
                      </a:moveTo>
                      <a:lnTo>
                        <a:pt x="52388" y="0"/>
                      </a:lnTo>
                    </a:path>
                  </a:pathLst>
                </a:custGeom>
                <a:noFill/>
                <a:ln w="19050">
                  <a:solidFill>
                    <a:srgbClr val="2F6B4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112044" y="3502025"/>
                  <a:ext cx="157163" cy="148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3" h="148431">
                      <a:moveTo>
                        <a:pt x="96044" y="122238"/>
                      </a:moveTo>
                      <a:lnTo>
                        <a:pt x="87313" y="122238"/>
                      </a:lnTo>
                      <a:lnTo>
                        <a:pt x="43656" y="148431"/>
                      </a:lnTo>
                      <a:lnTo>
                        <a:pt x="43656" y="122238"/>
                      </a:lnTo>
                      <a:lnTo>
                        <a:pt x="26194" y="122238"/>
                      </a:lnTo>
                      <a:cubicBezTo>
                        <a:pt x="11727" y="122238"/>
                        <a:pt x="0" y="110510"/>
                        <a:pt x="0" y="96044"/>
                      </a:cubicBezTo>
                      <a:lnTo>
                        <a:pt x="0" y="26194"/>
                      </a:lnTo>
                      <a:cubicBezTo>
                        <a:pt x="0" y="11727"/>
                        <a:pt x="11727" y="0"/>
                        <a:pt x="26194" y="0"/>
                      </a:cubicBezTo>
                      <a:lnTo>
                        <a:pt x="130969" y="0"/>
                      </a:lnTo>
                      <a:cubicBezTo>
                        <a:pt x="145435" y="0"/>
                        <a:pt x="157163" y="11727"/>
                        <a:pt x="157163" y="26194"/>
                      </a:cubicBezTo>
                      <a:lnTo>
                        <a:pt x="157163" y="65484"/>
                      </a:lnTo>
                    </a:path>
                  </a:pathLst>
                </a:custGeom>
                <a:noFill/>
                <a:ln w="19050">
                  <a:solidFill>
                    <a:srgbClr val="2F6B4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1251744" y="365918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87"/>
                      </a:lnTo>
                    </a:path>
                  </a:pathLst>
                </a:custGeom>
                <a:noFill/>
                <a:ln w="19050">
                  <a:solidFill>
                    <a:srgbClr val="2F6B4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1238647" y="3596309"/>
                  <a:ext cx="31933" cy="366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33" h="36685">
                      <a:moveTo>
                        <a:pt x="13097" y="36685"/>
                      </a:moveTo>
                      <a:cubicBezTo>
                        <a:pt x="21152" y="36660"/>
                        <a:pt x="28148" y="31135"/>
                        <a:pt x="30040" y="23305"/>
                      </a:cubicBezTo>
                      <a:cubicBezTo>
                        <a:pt x="31933" y="15475"/>
                        <a:pt x="28232" y="7365"/>
                        <a:pt x="21077" y="3664"/>
                      </a:cubicBezTo>
                      <a:cubicBezTo>
                        <a:pt x="13925" y="0"/>
                        <a:pt x="5192" y="1747"/>
                        <a:pt x="0" y="7881"/>
                      </a:cubicBezTo>
                    </a:path>
                  </a:pathLst>
                </a:custGeom>
                <a:noFill/>
                <a:ln w="19050">
                  <a:solidFill>
                    <a:srgbClr val="2F6B4F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1392555" y="3492818"/>
                <a:ext cx="129444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A24"/>
                    </a:solidFill>
                    <a:latin typeface="Arial"/>
                    <a:ea typeface="Microsoft YaHei"/>
                    <a:cs typeface="Arial"/>
                  </a:rPr>
                  <a:t>可选补充项建议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914400" y="3905250"/>
                <a:ext cx="4419600" cy="438150"/>
              </a:xfrm>
              <a:prstGeom prst="roundRect">
                <a:avLst>
                  <a:gd name="adj" fmla="val 26087"/>
                </a:avLst>
              </a:prstGeom>
              <a:solidFill>
                <a:srgbClr val="F7F9F5"/>
              </a:solidFill>
              <a:ln>
                <a:noFill/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1100260" y="4045744"/>
                <a:ext cx="170506" cy="157162"/>
                <a:chOff x="1100260" y="4045744"/>
                <a:chExt cx="170506" cy="157162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1100260" y="4045744"/>
                  <a:ext cx="170506" cy="155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506" h="155818">
                      <a:moveTo>
                        <a:pt x="85650" y="155818"/>
                      </a:moveTo>
                      <a:cubicBezTo>
                        <a:pt x="30952" y="138863"/>
                        <a:pt x="0" y="81134"/>
                        <a:pt x="16149" y="26194"/>
                      </a:cubicBezTo>
                      <a:cubicBezTo>
                        <a:pt x="43351" y="27439"/>
                        <a:pt x="69970" y="18044"/>
                        <a:pt x="90365" y="0"/>
                      </a:cubicBezTo>
                      <a:cubicBezTo>
                        <a:pt x="110759" y="18044"/>
                        <a:pt x="137378" y="27439"/>
                        <a:pt x="164580" y="26194"/>
                      </a:cubicBezTo>
                      <a:cubicBezTo>
                        <a:pt x="170506" y="46355"/>
                        <a:pt x="170232" y="67833"/>
                        <a:pt x="163794" y="87836"/>
                      </a:cubicBezTo>
                    </a:path>
                  </a:pathLst>
                </a:custGeom>
                <a:noFill/>
                <a:ln w="19050">
                  <a:solidFill>
                    <a:srgbClr val="D6A84B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1216819" y="4167981"/>
                  <a:ext cx="52388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34925">
                      <a:moveTo>
                        <a:pt x="0" y="17463"/>
                      </a:moveTo>
                      <a:lnTo>
                        <a:pt x="17463" y="34925"/>
                      </a:lnTo>
                      <a:lnTo>
                        <a:pt x="52388" y="0"/>
                      </a:lnTo>
                    </a:path>
                  </a:pathLst>
                </a:custGeom>
                <a:noFill/>
                <a:ln w="19050">
                  <a:solidFill>
                    <a:srgbClr val="D6A84B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1392555" y="4045268"/>
                <a:ext cx="183451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A24"/>
                    </a:solidFill>
                    <a:latin typeface="Arial"/>
                    <a:ea typeface="Microsoft YaHei"/>
                    <a:cs typeface="Arial"/>
                  </a:rPr>
                  <a:t>安全提示（红旗信号）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914400" y="4495800"/>
              <a:ext cx="4419600" cy="1047750"/>
              <a:chOff x="914400" y="4495800"/>
              <a:chExt cx="4419600" cy="104775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914400" y="4495800"/>
                <a:ext cx="4419600" cy="1047750"/>
              </a:xfrm>
              <a:prstGeom prst="roundRect">
                <a:avLst>
                  <a:gd name="adj" fmla="val 10909"/>
                </a:avLst>
              </a:prstGeom>
              <a:solidFill>
                <a:srgbClr val="F6EFD9"/>
              </a:solidFill>
              <a:ln w="14288">
                <a:solidFill>
                  <a:srgbClr val="D6A84B"/>
                </a:solidFill>
              </a:ln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1173956" y="4698206"/>
                <a:ext cx="196056" cy="185737"/>
                <a:chOff x="1173956" y="4698206"/>
                <a:chExt cx="196056" cy="185737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1173956" y="4708525"/>
                  <a:ext cx="113506" cy="113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506" h="113506">
                      <a:moveTo>
                        <a:pt x="30956" y="0"/>
                      </a:moveTo>
                      <a:lnTo>
                        <a:pt x="20637" y="0"/>
                      </a:lnTo>
                      <a:cubicBezTo>
                        <a:pt x="9240" y="0"/>
                        <a:pt x="0" y="9240"/>
                        <a:pt x="0" y="20637"/>
                      </a:cubicBezTo>
                      <a:lnTo>
                        <a:pt x="0" y="56753"/>
                      </a:lnTo>
                      <a:cubicBezTo>
                        <a:pt x="0" y="88097"/>
                        <a:pt x="25409" y="113506"/>
                        <a:pt x="56753" y="113506"/>
                      </a:cubicBezTo>
                      <a:cubicBezTo>
                        <a:pt x="88097" y="113506"/>
                        <a:pt x="113506" y="88097"/>
                        <a:pt x="113506" y="56753"/>
                      </a:cubicBezTo>
                      <a:lnTo>
                        <a:pt x="113506" y="20637"/>
                      </a:lnTo>
                      <a:cubicBezTo>
                        <a:pt x="113506" y="9240"/>
                        <a:pt x="104266" y="0"/>
                        <a:pt x="92868" y="0"/>
                      </a:cubicBezTo>
                      <a:lnTo>
                        <a:pt x="82550" y="0"/>
                      </a:lnTo>
                    </a:path>
                  </a:pathLst>
                </a:custGeom>
                <a:noFill/>
                <a:ln w="19050">
                  <a:solidFill>
                    <a:srgbClr val="D6A84B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1225550" y="4791075"/>
                  <a:ext cx="123825" cy="92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92868">
                      <a:moveTo>
                        <a:pt x="0" y="30956"/>
                      </a:moveTo>
                      <a:cubicBezTo>
                        <a:pt x="0" y="65149"/>
                        <a:pt x="27719" y="92868"/>
                        <a:pt x="61912" y="92868"/>
                      </a:cubicBezTo>
                      <a:cubicBezTo>
                        <a:pt x="96106" y="92868"/>
                        <a:pt x="123825" y="65149"/>
                        <a:pt x="123825" y="30956"/>
                      </a:cubicBezTo>
                      <a:lnTo>
                        <a:pt x="123825" y="0"/>
                      </a:lnTo>
                    </a:path>
                  </a:pathLst>
                </a:custGeom>
                <a:noFill/>
                <a:ln w="19050">
                  <a:solidFill>
                    <a:srgbClr val="D6A84B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1256506" y="4698206"/>
                  <a:ext cx="9525" cy="20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7">
                      <a:moveTo>
                        <a:pt x="0" y="0"/>
                      </a:moveTo>
                      <a:lnTo>
                        <a:pt x="0" y="20637"/>
                      </a:lnTo>
                    </a:path>
                  </a:pathLst>
                </a:custGeom>
                <a:noFill/>
                <a:ln w="19050">
                  <a:solidFill>
                    <a:srgbClr val="D6A84B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1204912" y="4698206"/>
                  <a:ext cx="9525" cy="20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7">
                      <a:moveTo>
                        <a:pt x="0" y="0"/>
                      </a:moveTo>
                      <a:lnTo>
                        <a:pt x="0" y="20637"/>
                      </a:lnTo>
                    </a:path>
                  </a:pathLst>
                </a:custGeom>
                <a:noFill/>
                <a:ln w="19050">
                  <a:solidFill>
                    <a:srgbClr val="D6A84B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1328737" y="4749800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7"/>
                      </a:moveTo>
                      <a:cubicBezTo>
                        <a:pt x="0" y="32035"/>
                        <a:pt x="9240" y="41275"/>
                        <a:pt x="20637" y="41275"/>
                      </a:cubicBezTo>
                      <a:cubicBezTo>
                        <a:pt x="32035" y="41275"/>
                        <a:pt x="41275" y="32035"/>
                        <a:pt x="41275" y="20637"/>
                      </a:cubicBezTo>
                      <a:cubicBezTo>
                        <a:pt x="41275" y="9240"/>
                        <a:pt x="32035" y="0"/>
                        <a:pt x="20637" y="0"/>
                      </a:cubicBezTo>
                      <a:cubicBezTo>
                        <a:pt x="9240" y="0"/>
                        <a:pt x="0" y="9240"/>
                        <a:pt x="0" y="20637"/>
                      </a:cubicBezTo>
                    </a:path>
                  </a:pathLst>
                </a:custGeom>
                <a:noFill/>
                <a:ln w="19050">
                  <a:solidFill>
                    <a:srgbClr val="D6A84B"/>
                  </a:solidFill>
                </a:ln>
              </p:spPr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1468755" y="471201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2A24"/>
                    </a:solidFill>
                    <a:latin typeface="Arial"/>
                    <a:ea typeface="Microsoft YaHei"/>
                    <a:cs typeface="Arial"/>
                  </a:rPr>
                  <a:t>推荐检查项目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471612" y="4983956"/>
                <a:ext cx="209883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57269"/>
                    </a:solidFill>
                    <a:latin typeface="Arial"/>
                    <a:ea typeface="Microsoft YaHei"/>
                    <a:cs typeface="Arial"/>
                  </a:rPr>
                  <a:t>项目名称 | 检查类型 | 推荐科室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1471612" y="5212556"/>
                <a:ext cx="269890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57269"/>
                    </a:solidFill>
                    <a:latin typeface="Arial"/>
                    <a:ea typeface="Microsoft YaHei"/>
                    <a:cs typeface="Arial"/>
                  </a:rPr>
                  <a:t>临床意义 | 推荐优先级 | 检查前注意事项</a:t>
                </a: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5829300" y="1524000"/>
            <a:ext cx="5715000" cy="4191000"/>
            <a:chOff x="5829300" y="1524000"/>
            <a:chExt cx="5715000" cy="4191000"/>
          </a:xfrm>
        </p:grpSpPr>
        <p:sp>
          <p:nvSpPr>
            <p:cNvPr id="55" name="Rectangle 55"/>
            <p:cNvSpPr/>
            <p:nvPr/>
          </p:nvSpPr>
          <p:spPr>
            <a:xfrm>
              <a:off x="5829300" y="1524000"/>
              <a:ext cx="5715000" cy="4191000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ln w="19050">
              <a:solidFill>
                <a:srgbClr val="DCE5DC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5829300" y="1524000"/>
              <a:ext cx="5715000" cy="533400"/>
            </a:xfrm>
            <a:prstGeom prst="roundRect">
              <a:avLst>
                <a:gd name="adj" fmla="val 28571"/>
              </a:avLst>
            </a:prstGeom>
            <a:solidFill>
              <a:srgbClr val="F7F9F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829300" y="1905000"/>
              <a:ext cx="5715000" cy="152400"/>
            </a:xfrm>
            <a:prstGeom prst="rect">
              <a:avLst/>
            </a:prstGeom>
            <a:solidFill>
              <a:srgbClr val="F7F9F5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116961" y="1676400"/>
              <a:ext cx="248008" cy="228599"/>
              <a:chOff x="6116961" y="1676400"/>
              <a:chExt cx="248008" cy="228599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116961" y="1676400"/>
                <a:ext cx="248008" cy="226644"/>
              </a:xfrm>
              <a:custGeom>
                <a:avLst/>
                <a:gdLst/>
                <a:ahLst/>
                <a:cxnLst/>
                <a:rect l="l" t="t" r="r" b="b"/>
                <a:pathLst>
                  <a:path w="248008" h="226644">
                    <a:moveTo>
                      <a:pt x="124581" y="226644"/>
                    </a:moveTo>
                    <a:cubicBezTo>
                      <a:pt x="45021" y="201982"/>
                      <a:pt x="0" y="118013"/>
                      <a:pt x="23489" y="38100"/>
                    </a:cubicBezTo>
                    <a:cubicBezTo>
                      <a:pt x="63056" y="39910"/>
                      <a:pt x="101774" y="26245"/>
                      <a:pt x="131439" y="0"/>
                    </a:cubicBezTo>
                    <a:cubicBezTo>
                      <a:pt x="161104" y="26245"/>
                      <a:pt x="199822" y="39910"/>
                      <a:pt x="239389" y="38100"/>
                    </a:cubicBezTo>
                    <a:cubicBezTo>
                      <a:pt x="248008" y="67426"/>
                      <a:pt x="247610" y="98665"/>
                      <a:pt x="238246" y="127762"/>
                    </a:cubicBezTo>
                  </a:path>
                </a:pathLst>
              </a:custGeom>
              <a:noFill/>
              <a:ln w="19050">
                <a:solidFill>
                  <a:srgbClr val="B65A4A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286500" y="1854199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B65A4A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512242" y="1680686"/>
              <a:ext cx="125146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B65A4A"/>
                  </a:solidFill>
                  <a:latin typeface="Arial"/>
                  <a:ea typeface="Microsoft YaHei"/>
                  <a:cs typeface="Arial"/>
                </a:rPr>
                <a:t>已删除内容</a:t>
              </a:r>
            </a:p>
          </p:txBody>
        </p:sp>
        <p:grpSp>
          <p:nvGrpSpPr>
            <p:cNvPr id="70" name="Group 70"/>
            <p:cNvGrpSpPr/>
            <p:nvPr/>
          </p:nvGrpSpPr>
          <p:grpSpPr>
            <a:xfrm>
              <a:off x="6096000" y="2247900"/>
              <a:ext cx="5181600" cy="1885950"/>
              <a:chOff x="6096000" y="2247900"/>
              <a:chExt cx="5181600" cy="1885950"/>
            </a:xfrm>
          </p:grpSpPr>
          <p:sp>
            <p:nvSpPr>
              <p:cNvPr id="62" name="Rectangle 62"/>
              <p:cNvSpPr/>
              <p:nvPr/>
            </p:nvSpPr>
            <p:spPr>
              <a:xfrm>
                <a:off x="6096000" y="2247900"/>
                <a:ext cx="5181600" cy="400050"/>
              </a:xfrm>
              <a:prstGeom prst="roundRect">
                <a:avLst>
                  <a:gd name="adj" fmla="val 23810"/>
                </a:avLst>
              </a:prstGeom>
              <a:solidFill>
                <a:srgbClr val="F7F9F5"/>
              </a:solidFill>
              <a:ln w="9525">
                <a:solidFill>
                  <a:srgbClr val="DCE5DC"/>
                </a:solidFill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6346508" y="2367439"/>
                <a:ext cx="158807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strike="sngStrike" dirty="0">
                    <a:solidFill>
                      <a:srgbClr val="B65A4A"/>
                    </a:solidFill>
                    <a:latin typeface="Arial"/>
                    <a:ea typeface="Microsoft YaHei"/>
                    <a:cs typeface="Arial"/>
                  </a:rPr>
                  <a:t>辨证参考 / 证型推断</a:t>
                </a:r>
              </a:p>
            </p:txBody>
          </p:sp>
          <p:sp>
            <p:nvSpPr>
              <p:cNvPr id="64" name="Rectangle 64"/>
              <p:cNvSpPr/>
              <p:nvPr/>
            </p:nvSpPr>
            <p:spPr>
              <a:xfrm>
                <a:off x="6096000" y="2743200"/>
                <a:ext cx="5181600" cy="400050"/>
              </a:xfrm>
              <a:prstGeom prst="roundRect">
                <a:avLst>
                  <a:gd name="adj" fmla="val 23810"/>
                </a:avLst>
              </a:prstGeom>
              <a:solidFill>
                <a:srgbClr val="F7F9F5"/>
              </a:solidFill>
              <a:ln w="9525">
                <a:solidFill>
                  <a:srgbClr val="DCE5DC"/>
                </a:solidFill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6346508" y="2862739"/>
                <a:ext cx="105251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strike="sngStrike" dirty="0">
                    <a:solidFill>
                      <a:srgbClr val="B65A4A"/>
                    </a:solidFill>
                    <a:latin typeface="Arial"/>
                    <a:ea typeface="Microsoft YaHei"/>
                    <a:cs typeface="Arial"/>
                  </a:rPr>
                  <a:t>疾病诊断结论</a:t>
                </a:r>
              </a:p>
            </p:txBody>
          </p:sp>
          <p:sp>
            <p:nvSpPr>
              <p:cNvPr id="66" name="Rectangle 66"/>
              <p:cNvSpPr/>
              <p:nvPr/>
            </p:nvSpPr>
            <p:spPr>
              <a:xfrm>
                <a:off x="6096000" y="3238500"/>
                <a:ext cx="5181600" cy="400050"/>
              </a:xfrm>
              <a:prstGeom prst="roundRect">
                <a:avLst>
                  <a:gd name="adj" fmla="val 23810"/>
                </a:avLst>
              </a:prstGeom>
              <a:solidFill>
                <a:srgbClr val="F7F9F5"/>
              </a:solidFill>
              <a:ln w="9525">
                <a:solidFill>
                  <a:srgbClr val="DCE5DC"/>
                </a:solidFill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6346508" y="3358039"/>
                <a:ext cx="158807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strike="sngStrike" dirty="0">
                    <a:solidFill>
                      <a:srgbClr val="B65A4A"/>
                    </a:solidFill>
                    <a:latin typeface="Arial"/>
                    <a:ea typeface="Microsoft YaHei"/>
                    <a:cs typeface="Arial"/>
                  </a:rPr>
                  <a:t>处方建议 / 用药推荐</a:t>
                </a:r>
              </a:p>
            </p:txBody>
          </p:sp>
          <p:sp>
            <p:nvSpPr>
              <p:cNvPr id="68" name="Rectangle 68"/>
              <p:cNvSpPr/>
              <p:nvPr/>
            </p:nvSpPr>
            <p:spPr>
              <a:xfrm>
                <a:off x="6096000" y="3733800"/>
                <a:ext cx="5181600" cy="400050"/>
              </a:xfrm>
              <a:prstGeom prst="roundRect">
                <a:avLst>
                  <a:gd name="adj" fmla="val 23810"/>
                </a:avLst>
              </a:prstGeom>
              <a:solidFill>
                <a:srgbClr val="F7F9F5"/>
              </a:solidFill>
              <a:ln w="9525">
                <a:solidFill>
                  <a:srgbClr val="DCE5DC"/>
                </a:solidFill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6346508" y="3853339"/>
                <a:ext cx="139255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strike="sngStrike" dirty="0">
                    <a:solidFill>
                      <a:srgbClr val="B65A4A"/>
                    </a:solidFill>
                    <a:latin typeface="Arial"/>
                    <a:ea typeface="Microsoft YaHei"/>
                    <a:cs typeface="Arial"/>
                  </a:rPr>
                  <a:t>检查项目价格信息</a:t>
                </a:r>
              </a:p>
            </p:txBody>
          </p:sp>
        </p:grpSp>
        <p:sp>
          <p:nvSpPr>
            <p:cNvPr id="71" name="Rectangle 71"/>
            <p:cNvSpPr/>
            <p:nvPr/>
          </p:nvSpPr>
          <p:spPr>
            <a:xfrm>
              <a:off x="6096000" y="4362450"/>
              <a:ext cx="5181600" cy="1181100"/>
            </a:xfrm>
            <a:prstGeom prst="roundRect">
              <a:avLst>
                <a:gd name="adj" fmla="val 11290"/>
              </a:avLst>
            </a:prstGeom>
            <a:solidFill>
              <a:srgbClr val="EAF2E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346508" y="45105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F6B4F"/>
                  </a:solidFill>
                  <a:latin typeface="Arial"/>
                  <a:ea typeface="Microsoft YaHei"/>
                  <a:cs typeface="Arial"/>
                </a:rPr>
                <a:t>删除原因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348412" y="4812506"/>
              <a:ext cx="3629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诊前问诊阶段信息不完整，无法做出可靠的辨证诊断。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348412" y="5060156"/>
              <a:ext cx="3629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将诊断和处方统一留给诊中环节，避免过早给出结论。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348412" y="5326856"/>
              <a:ext cx="34790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价格信息随医院和地区变化，不属于系统输出范围。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647700" y="5886450"/>
            <a:ext cx="10896600" cy="438150"/>
            <a:chOff x="647700" y="5886450"/>
            <a:chExt cx="10896600" cy="438150"/>
          </a:xfrm>
        </p:grpSpPr>
        <p:sp>
          <p:nvSpPr>
            <p:cNvPr id="77" name="Rectangle 77"/>
            <p:cNvSpPr/>
            <p:nvPr/>
          </p:nvSpPr>
          <p:spPr>
            <a:xfrm>
              <a:off x="647700" y="5886450"/>
              <a:ext cx="10896600" cy="438150"/>
            </a:xfrm>
            <a:prstGeom prst="roundRect">
              <a:avLst>
                <a:gd name="adj" fmla="val 30435"/>
              </a:avLst>
            </a:prstGeom>
            <a:solidFill>
              <a:srgbClr val="F6EFD9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3401973" y="6034564"/>
              <a:ext cx="53880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D6A84B"/>
                  </a:solidFill>
                  <a:latin typeface="Arial"/>
                  <a:ea typeface="Microsoft YaHei"/>
                  <a:cs typeface="Arial"/>
                </a:rPr>
                <a:t>免责声明：分析结果仅供参考，不能替代执业医师的诊断和临床判断</a:t>
              </a:r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11376946" y="63827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5726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5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15315" y="467678"/>
            <a:ext cx="10928985" cy="818197"/>
            <a:chOff x="615315" y="467678"/>
            <a:chExt cx="10928985" cy="818197"/>
          </a:xfrm>
        </p:grpSpPr>
        <p:sp>
          <p:nvSpPr>
            <p:cNvPr id="3" name="TextBox 3"/>
            <p:cNvSpPr txBox="1"/>
            <p:nvPr/>
          </p:nvSpPr>
          <p:spPr>
            <a:xfrm>
              <a:off x="615315" y="467678"/>
              <a:ext cx="292112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工程实现与稳定性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30555" y="921068"/>
              <a:ext cx="43548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分析链路解耦、单次模型调用、超时重试、结构化存储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47700" y="1257300"/>
              <a:ext cx="10896600" cy="28575"/>
            </a:xfrm>
            <a:prstGeom prst="roundRect">
              <a:avLst>
                <a:gd name="adj" fmla="val 50000"/>
              </a:avLst>
            </a:prstGeom>
            <a:solidFill>
              <a:srgbClr val="DCE5DC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47700" y="1485900"/>
            <a:ext cx="10896600" cy="781050"/>
            <a:chOff x="647700" y="1485900"/>
            <a:chExt cx="10896600" cy="781050"/>
          </a:xfrm>
        </p:grpSpPr>
        <p:sp>
          <p:nvSpPr>
            <p:cNvPr id="7" name="Rectangle 7"/>
            <p:cNvSpPr/>
            <p:nvPr/>
          </p:nvSpPr>
          <p:spPr>
            <a:xfrm>
              <a:off x="647700" y="1485900"/>
              <a:ext cx="10896600" cy="7810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14288">
              <a:solidFill>
                <a:srgbClr val="DCE5DC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38200" y="1685925"/>
              <a:ext cx="1809750" cy="400050"/>
            </a:xfrm>
            <a:prstGeom prst="roundRect">
              <a:avLst>
                <a:gd name="adj" fmla="val 33333"/>
              </a:avLst>
            </a:prstGeom>
            <a:solidFill>
              <a:srgbClr val="EAF2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23772" y="18135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6B4F"/>
                  </a:solidFill>
                  <a:latin typeface="Arial"/>
                  <a:ea typeface="Microsoft YaHei"/>
                  <a:cs typeface="Arial"/>
                </a:rPr>
                <a:t>问诊完成触发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800350" y="1781175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4C8C7A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048000" y="1685925"/>
              <a:ext cx="1809750" cy="400050"/>
            </a:xfrm>
            <a:prstGeom prst="roundRect">
              <a:avLst>
                <a:gd name="adj" fmla="val 33333"/>
              </a:avLst>
            </a:prstGeom>
            <a:solidFill>
              <a:srgbClr val="F6EFD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433572" y="18135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6A84B"/>
                  </a:solidFill>
                  <a:latin typeface="Arial"/>
                  <a:ea typeface="Microsoft YaHei"/>
                  <a:cs typeface="Arial"/>
                </a:rPr>
                <a:t>后台线程启动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10150" y="1781175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4C8C7A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257800" y="1685925"/>
              <a:ext cx="2095500" cy="400050"/>
            </a:xfrm>
            <a:prstGeom prst="roundRect">
              <a:avLst>
                <a:gd name="adj" fmla="val 33333"/>
              </a:avLst>
            </a:prstGeom>
            <a:solidFill>
              <a:srgbClr val="2F6B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567820" y="1813560"/>
              <a:ext cx="14754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两个 Skill 合并注入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05700" y="1781175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4C8C7A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753350" y="1685925"/>
              <a:ext cx="1809750" cy="400050"/>
            </a:xfrm>
            <a:prstGeom prst="roundRect">
              <a:avLst>
                <a:gd name="adj" fmla="val 33333"/>
              </a:avLst>
            </a:prstGeom>
            <a:solidFill>
              <a:srgbClr val="EAF2E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38922" y="18135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6B4F"/>
                  </a:solidFill>
                  <a:latin typeface="Arial"/>
                  <a:ea typeface="Microsoft YaHei"/>
                  <a:cs typeface="Arial"/>
                </a:rPr>
                <a:t>千问单次调用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15500" y="1781175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4C8C7A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944100" y="1685925"/>
              <a:ext cx="1409700" cy="4000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9525">
              <a:solidFill>
                <a:srgbClr val="DCE5D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213658" y="181356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结构化结果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47700" y="2495550"/>
            <a:ext cx="2514600" cy="1905000"/>
            <a:chOff x="647700" y="2495550"/>
            <a:chExt cx="2514600" cy="1905000"/>
          </a:xfrm>
        </p:grpSpPr>
        <p:sp>
          <p:nvSpPr>
            <p:cNvPr id="23" name="Rectangle 23"/>
            <p:cNvSpPr/>
            <p:nvPr/>
          </p:nvSpPr>
          <p:spPr>
            <a:xfrm>
              <a:off x="647700" y="2495550"/>
              <a:ext cx="25146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DCE5DC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819150" y="2667000"/>
              <a:ext cx="419100" cy="419100"/>
            </a:xfrm>
            <a:prstGeom prst="ellipse">
              <a:avLst/>
            </a:prstGeom>
            <a:solidFill>
              <a:srgbClr val="EAF2E8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942975" y="2790825"/>
              <a:ext cx="171450" cy="171450"/>
              <a:chOff x="942975" y="2790825"/>
              <a:chExt cx="171450" cy="17145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942975" y="27908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028700" y="2828925"/>
                <a:ext cx="2857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76200">
                    <a:moveTo>
                      <a:pt x="0" y="0"/>
                    </a:moveTo>
                    <a:lnTo>
                      <a:pt x="0" y="47625"/>
                    </a:lnTo>
                    <a:lnTo>
                      <a:pt x="28575" y="7620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335405" y="27879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超时保护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1060" y="31661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后台线程执行分析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1060" y="34518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超时时间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7725" y="3643312"/>
              <a:ext cx="81324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D6A84B"/>
                  </a:solidFill>
                  <a:latin typeface="Arial"/>
                  <a:ea typeface="Microsoft YaHei"/>
                  <a:cs typeface="Arial"/>
                </a:rPr>
                <a:t>45 秒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61160" y="37566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自动返回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1060" y="40805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超时返回可重试结果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352800" y="2495550"/>
            <a:ext cx="2514600" cy="1905000"/>
            <a:chOff x="3352800" y="2495550"/>
            <a:chExt cx="2514600" cy="1905000"/>
          </a:xfrm>
        </p:grpSpPr>
        <p:sp>
          <p:nvSpPr>
            <p:cNvPr id="35" name="Rectangle 35"/>
            <p:cNvSpPr/>
            <p:nvPr/>
          </p:nvSpPr>
          <p:spPr>
            <a:xfrm>
              <a:off x="3352800" y="2495550"/>
              <a:ext cx="25146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DCE5DC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3524250" y="2667000"/>
              <a:ext cx="419100" cy="419100"/>
            </a:xfrm>
            <a:prstGeom prst="ellipse">
              <a:avLst/>
            </a:prstGeom>
            <a:solidFill>
              <a:srgbClr val="EAF2E8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3657600" y="2796675"/>
              <a:ext cx="152400" cy="159750"/>
              <a:chOff x="3657600" y="2796675"/>
              <a:chExt cx="152400" cy="15975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3657600" y="2796675"/>
                <a:ext cx="152400" cy="703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0350">
                    <a:moveTo>
                      <a:pt x="152400" y="70350"/>
                    </a:moveTo>
                    <a:cubicBezTo>
                      <a:pt x="147612" y="35894"/>
                      <a:pt x="120357" y="8904"/>
                      <a:pt x="85855" y="4452"/>
                    </a:cubicBezTo>
                    <a:cubicBezTo>
                      <a:pt x="51354" y="0"/>
                      <a:pt x="18140" y="19188"/>
                      <a:pt x="4762" y="51300"/>
                    </a:cubicBezTo>
                    <a:moveTo>
                      <a:pt x="0" y="13200"/>
                    </a:moveTo>
                    <a:lnTo>
                      <a:pt x="0" y="51300"/>
                    </a:lnTo>
                    <a:lnTo>
                      <a:pt x="38100" y="5130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3657600" y="2886075"/>
                <a:ext cx="152400" cy="703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0350">
                    <a:moveTo>
                      <a:pt x="0" y="0"/>
                    </a:moveTo>
                    <a:cubicBezTo>
                      <a:pt x="4788" y="34456"/>
                      <a:pt x="32043" y="61446"/>
                      <a:pt x="66545" y="65898"/>
                    </a:cubicBezTo>
                    <a:cubicBezTo>
                      <a:pt x="101046" y="70350"/>
                      <a:pt x="134260" y="51162"/>
                      <a:pt x="147638" y="19050"/>
                    </a:cubicBezTo>
                    <a:moveTo>
                      <a:pt x="152400" y="57150"/>
                    </a:moveTo>
                    <a:lnTo>
                      <a:pt x="152400" y="19050"/>
                    </a:lnTo>
                    <a:lnTo>
                      <a:pt x="114300" y="1905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4040505" y="27879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失败重试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66160" y="31661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分析不可用时前端显示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66160" y="34518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「重新分析」按钮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581400" y="3790950"/>
              <a:ext cx="2057400" cy="381000"/>
            </a:xfrm>
            <a:prstGeom prst="roundRect">
              <a:avLst>
                <a:gd name="adj" fmla="val 30000"/>
              </a:avLst>
            </a:prstGeom>
            <a:solidFill>
              <a:srgbClr val="2F6B4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258818" y="39185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重新分析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057900" y="2495550"/>
            <a:ext cx="2514600" cy="1905000"/>
            <a:chOff x="6057900" y="2495550"/>
            <a:chExt cx="2514600" cy="1905000"/>
          </a:xfrm>
        </p:grpSpPr>
        <p:sp>
          <p:nvSpPr>
            <p:cNvPr id="46" name="Rectangle 46"/>
            <p:cNvSpPr/>
            <p:nvPr/>
          </p:nvSpPr>
          <p:spPr>
            <a:xfrm>
              <a:off x="6057900" y="2495550"/>
              <a:ext cx="25146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DCE5DC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6229350" y="2667000"/>
              <a:ext cx="419100" cy="419100"/>
            </a:xfrm>
            <a:prstGeom prst="ellipse">
              <a:avLst/>
            </a:prstGeom>
            <a:solidFill>
              <a:srgbClr val="EAF2E8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362700" y="2790825"/>
              <a:ext cx="152400" cy="171450"/>
              <a:chOff x="6362700" y="2790825"/>
              <a:chExt cx="152400" cy="17145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362700" y="2790825"/>
                <a:ext cx="1524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57150">
                    <a:moveTo>
                      <a:pt x="0" y="28575"/>
                    </a:moveTo>
                    <a:cubicBezTo>
                      <a:pt x="0" y="44357"/>
                      <a:pt x="34116" y="57150"/>
                      <a:pt x="76200" y="57150"/>
                    </a:cubicBezTo>
                    <a:cubicBezTo>
                      <a:pt x="118284" y="57150"/>
                      <a:pt x="152400" y="44357"/>
                      <a:pt x="152400" y="28575"/>
                    </a:cubicBezTo>
                    <a:cubicBezTo>
                      <a:pt x="152400" y="12793"/>
                      <a:pt x="118284" y="0"/>
                      <a:pt x="76200" y="0"/>
                    </a:cubicBezTo>
                    <a:cubicBezTo>
                      <a:pt x="34116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362700" y="281940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362700" y="287655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745605" y="2787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结构化存储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72212" y="31932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三部分独立保存：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86500" y="3486150"/>
              <a:ext cx="2057400" cy="247650"/>
            </a:xfrm>
            <a:prstGeom prst="roundRect">
              <a:avLst>
                <a:gd name="adj" fmla="val 23077"/>
              </a:avLst>
            </a:prstGeom>
            <a:solidFill>
              <a:srgbClr val="EAF2E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406515" y="3544252"/>
              <a:ext cx="14408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F6B4F"/>
                  </a:solidFill>
                  <a:latin typeface="Arial"/>
                  <a:ea typeface="Arial"/>
                  <a:cs typeface="Arial"/>
                </a:rPr>
                <a:t>structured_answers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86500" y="3800475"/>
              <a:ext cx="2057400" cy="247650"/>
            </a:xfrm>
            <a:prstGeom prst="roundRect">
              <a:avLst>
                <a:gd name="adj" fmla="val 23077"/>
              </a:avLst>
            </a:prstGeom>
            <a:solidFill>
              <a:srgbClr val="EAF2E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406515" y="3858578"/>
              <a:ext cx="13218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F6B4F"/>
                  </a:solidFill>
                  <a:latin typeface="Arial"/>
                  <a:ea typeface="Arial"/>
                  <a:cs typeface="Arial"/>
                </a:rPr>
                <a:t>follow_up_answers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86500" y="4114800"/>
              <a:ext cx="2057400" cy="247650"/>
            </a:xfrm>
            <a:prstGeom prst="roundRect">
              <a:avLst>
                <a:gd name="adj" fmla="val 23077"/>
              </a:avLst>
            </a:prstGeom>
            <a:solidFill>
              <a:srgbClr val="F6EFD9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406515" y="4172902"/>
              <a:ext cx="9297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D6A84B"/>
                  </a:solidFill>
                  <a:latin typeface="Arial"/>
                  <a:ea typeface="Arial"/>
                  <a:cs typeface="Arial"/>
                </a:rPr>
                <a:t>skill_analysis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763000" y="2495550"/>
            <a:ext cx="2781300" cy="1905000"/>
            <a:chOff x="8763000" y="2495550"/>
            <a:chExt cx="2781300" cy="1905000"/>
          </a:xfrm>
        </p:grpSpPr>
        <p:sp>
          <p:nvSpPr>
            <p:cNvPr id="61" name="Rectangle 61"/>
            <p:cNvSpPr/>
            <p:nvPr/>
          </p:nvSpPr>
          <p:spPr>
            <a:xfrm>
              <a:off x="8763000" y="2495550"/>
              <a:ext cx="27813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DCE5DC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8934450" y="2667000"/>
              <a:ext cx="419100" cy="419100"/>
            </a:xfrm>
            <a:prstGeom prst="ellipse">
              <a:avLst/>
            </a:prstGeom>
            <a:solidFill>
              <a:srgbClr val="EAF2E8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9067800" y="2800350"/>
              <a:ext cx="161925" cy="161925"/>
              <a:chOff x="9067800" y="2800350"/>
              <a:chExt cx="161925" cy="1619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9067800" y="28384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9086850" y="28003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9086850" y="287655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9123973" y="2894594"/>
                <a:ext cx="37392" cy="37458"/>
              </a:xfrm>
              <a:custGeom>
                <a:avLst/>
                <a:gdLst/>
                <a:ahLst/>
                <a:cxnLst/>
                <a:rect l="l" t="t" r="r" b="b"/>
                <a:pathLst>
                  <a:path w="37392" h="37458">
                    <a:moveTo>
                      <a:pt x="37392" y="12207"/>
                    </a:moveTo>
                    <a:cubicBezTo>
                      <a:pt x="33893" y="4482"/>
                      <a:pt x="25709" y="0"/>
                      <a:pt x="17316" y="1212"/>
                    </a:cubicBezTo>
                    <a:cubicBezTo>
                      <a:pt x="8923" y="2424"/>
                      <a:pt x="2341" y="9038"/>
                      <a:pt x="1171" y="17437"/>
                    </a:cubicBezTo>
                    <a:cubicBezTo>
                      <a:pt x="0" y="25836"/>
                      <a:pt x="4522" y="33998"/>
                      <a:pt x="12265" y="37458"/>
                    </a:cubicBez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9144000" y="2800350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9182100" y="28098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9201150" y="2800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9201150" y="2847975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9172575" y="292417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9450705" y="2787968"/>
              <a:ext cx="13669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Agent 职责分离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977312" y="3174206"/>
              <a:ext cx="18363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对话 Agent：驱动问诊流程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977312" y="3459956"/>
              <a:ext cx="18363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分析 Agent：仅执行完整度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977312" y="365045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判断和检查建议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8991600" y="3962400"/>
              <a:ext cx="2362200" cy="285750"/>
            </a:xfrm>
            <a:prstGeom prst="roundRect">
              <a:avLst>
                <a:gd name="adj" fmla="val 26667"/>
              </a:avLst>
            </a:prstGeom>
            <a:solidFill>
              <a:srgbClr val="EAF2E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298257" y="4049078"/>
              <a:ext cx="17488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F6B4F"/>
                  </a:solidFill>
                  <a:latin typeface="Arial"/>
                  <a:ea typeface="Microsoft YaHei"/>
                  <a:cs typeface="Arial"/>
                </a:rPr>
                <a:t>独立 thread_id 隔离上下文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628650" y="4695825"/>
            <a:ext cx="878205" cy="304800"/>
            <a:chOff x="628650" y="4695825"/>
            <a:chExt cx="878205" cy="304800"/>
          </a:xfrm>
        </p:grpSpPr>
        <p:sp>
          <p:nvSpPr>
            <p:cNvPr id="80" name="TextBox 80"/>
            <p:cNvSpPr txBox="1"/>
            <p:nvPr/>
          </p:nvSpPr>
          <p:spPr>
            <a:xfrm>
              <a:off x="628650" y="4695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验证结果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433185" y="5029200"/>
            <a:ext cx="2943630" cy="1028700"/>
            <a:chOff x="433185" y="5029200"/>
            <a:chExt cx="2943630" cy="1028700"/>
          </a:xfrm>
        </p:grpSpPr>
        <p:sp>
          <p:nvSpPr>
            <p:cNvPr id="82" name="Rectangle 82"/>
            <p:cNvSpPr/>
            <p:nvPr/>
          </p:nvSpPr>
          <p:spPr>
            <a:xfrm>
              <a:off x="647700" y="5029200"/>
              <a:ext cx="2514600" cy="1028700"/>
            </a:xfrm>
            <a:prstGeom prst="roundRect">
              <a:avLst>
                <a:gd name="adj" fmla="val 14815"/>
              </a:avLst>
            </a:prstGeom>
            <a:solidFill>
              <a:srgbClr val="2F6B4F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622415" y="5070158"/>
              <a:ext cx="56517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22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67765" y="5616892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后端测试全部通过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433185" y="5857399"/>
              <a:ext cx="29436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dirty="0">
                  <a:solidFill>
                    <a:srgbClr val="FFFFFF">
                      <a:alphaMod val="60000"/>
                    </a:srgbClr>
                  </a:solidFill>
                  <a:latin typeface="Arial"/>
                  <a:ea typeface="Arial"/>
                  <a:cs typeface="Arial"/>
                </a:rPr>
                <a:t>pytest test_intake_flow + test_skill_analysis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3352800" y="5029200"/>
            <a:ext cx="2514600" cy="1028700"/>
            <a:chOff x="3352800" y="5029200"/>
            <a:chExt cx="2514600" cy="1028700"/>
          </a:xfrm>
        </p:grpSpPr>
        <p:sp>
          <p:nvSpPr>
            <p:cNvPr id="87" name="Rectangle 87"/>
            <p:cNvSpPr/>
            <p:nvPr/>
          </p:nvSpPr>
          <p:spPr>
            <a:xfrm>
              <a:off x="3352800" y="5029200"/>
              <a:ext cx="2514600" cy="1028700"/>
            </a:xfrm>
            <a:prstGeom prst="roundRect">
              <a:avLst>
                <a:gd name="adj" fmla="val 14815"/>
              </a:avLst>
            </a:prstGeom>
            <a:solidFill>
              <a:srgbClr val="4C8C7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4283409" y="5070158"/>
              <a:ext cx="65338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OK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3872865" y="5616892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前端生产构建通过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3970389" y="5857399"/>
              <a:ext cx="12794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60000"/>
                    </a:srgbClr>
                  </a:solidFill>
                  <a:latin typeface="Arial"/>
                  <a:ea typeface="Microsoft YaHei"/>
                  <a:cs typeface="Arial"/>
                </a:rPr>
                <a:t>npm run build 无错误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6057900" y="5029200"/>
            <a:ext cx="2514600" cy="1028700"/>
            <a:chOff x="6057900" y="5029200"/>
            <a:chExt cx="2514600" cy="1028700"/>
          </a:xfrm>
        </p:grpSpPr>
        <p:sp>
          <p:nvSpPr>
            <p:cNvPr id="92" name="Rectangle 92"/>
            <p:cNvSpPr/>
            <p:nvPr/>
          </p:nvSpPr>
          <p:spPr>
            <a:xfrm>
              <a:off x="6057900" y="5029200"/>
              <a:ext cx="2514600" cy="1028700"/>
            </a:xfrm>
            <a:prstGeom prst="roundRect">
              <a:avLst>
                <a:gd name="adj" fmla="val 14815"/>
              </a:avLst>
            </a:prstGeom>
            <a:solidFill>
              <a:srgbClr val="4C8C7A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988509" y="5070158"/>
              <a:ext cx="65338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OK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487954" y="5616892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前后端健康检查通过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542222" y="5857399"/>
              <a:ext cx="1545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60000"/>
                    </a:srgbClr>
                  </a:solidFill>
                  <a:latin typeface="Arial"/>
                  <a:ea typeface="Microsoft YaHei"/>
                  <a:cs typeface="Arial"/>
                </a:rPr>
                <a:t>API 连通性与服务状态正常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8763000" y="5029200"/>
            <a:ext cx="2781300" cy="1033462"/>
            <a:chOff x="8763000" y="5029200"/>
            <a:chExt cx="2781300" cy="1033462"/>
          </a:xfrm>
        </p:grpSpPr>
        <p:sp>
          <p:nvSpPr>
            <p:cNvPr id="97" name="Rectangle 97"/>
            <p:cNvSpPr/>
            <p:nvPr/>
          </p:nvSpPr>
          <p:spPr>
            <a:xfrm>
              <a:off x="8763000" y="5029200"/>
              <a:ext cx="2781300" cy="10287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19050">
              <a:solidFill>
                <a:srgbClr val="DCE5DC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9663872" y="5183505"/>
              <a:ext cx="97955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F6B4F"/>
                  </a:solidFill>
                  <a:latin typeface="Arial"/>
                  <a:ea typeface="Microsoft YaHei"/>
                  <a:cs typeface="Arial"/>
                </a:rPr>
                <a:t>UI 清理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9338310" y="5633085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删除右侧基础问项列表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212699" y="5849302"/>
              <a:ext cx="18819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panel.required-card 已移除</a:t>
              </a:r>
            </a:p>
          </p:txBody>
        </p:sp>
      </p:grpSp>
      <p:sp>
        <p:nvSpPr>
          <p:cNvPr id="102" name="TextBox 102"/>
          <p:cNvSpPr txBox="1"/>
          <p:nvPr/>
        </p:nvSpPr>
        <p:spPr>
          <a:xfrm>
            <a:off x="11376946" y="63827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5726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5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2F6B4F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591800" y="266700"/>
              <a:ext cx="914400" cy="914400"/>
            </a:xfrm>
            <a:prstGeom prst="ellipse">
              <a:avLst/>
            </a:prstGeom>
            <a:solidFill>
              <a:srgbClr val="D6A84B">
                <a:alpha val="14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15315" y="467678"/>
            <a:ext cx="10928985" cy="818197"/>
            <a:chOff x="615315" y="467678"/>
            <a:chExt cx="10928985" cy="818197"/>
          </a:xfrm>
        </p:grpSpPr>
        <p:sp>
          <p:nvSpPr>
            <p:cNvPr id="6" name="TextBox 6"/>
            <p:cNvSpPr txBox="1"/>
            <p:nvPr/>
          </p:nvSpPr>
          <p:spPr>
            <a:xfrm>
              <a:off x="615315" y="467678"/>
              <a:ext cx="292112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当前结论与下一步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0555" y="921068"/>
              <a:ext cx="45348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核心改造已完成，下一阶段进入规则细化和真实场景验证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47700" y="1257300"/>
              <a:ext cx="10896600" cy="28575"/>
            </a:xfrm>
            <a:prstGeom prst="roundRect">
              <a:avLst>
                <a:gd name="adj" fmla="val 50000"/>
              </a:avLst>
            </a:prstGeom>
            <a:solidFill>
              <a:srgbClr val="DCE5DC"/>
            </a:solidFill>
            <a:ln>
              <a:noFill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647700" y="1524000"/>
            <a:ext cx="6221230" cy="4000500"/>
            <a:chOff x="647700" y="1524000"/>
            <a:chExt cx="6221230" cy="4000500"/>
          </a:xfrm>
        </p:grpSpPr>
        <p:sp>
          <p:nvSpPr>
            <p:cNvPr id="10" name="Rectangle 10"/>
            <p:cNvSpPr/>
            <p:nvPr/>
          </p:nvSpPr>
          <p:spPr>
            <a:xfrm>
              <a:off x="647700" y="1524000"/>
              <a:ext cx="5334000" cy="4000500"/>
            </a:xfrm>
            <a:prstGeom prst="roundRect">
              <a:avLst>
                <a:gd name="adj" fmla="val 3810"/>
              </a:avLst>
            </a:prstGeom>
            <a:solidFill>
              <a:srgbClr val="FFFFFF"/>
            </a:solidFill>
            <a:ln w="19050">
              <a:solidFill>
                <a:srgbClr val="DCE5DC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47700" y="1524000"/>
              <a:ext cx="5334000" cy="571500"/>
            </a:xfrm>
            <a:prstGeom prst="roundRect">
              <a:avLst>
                <a:gd name="adj" fmla="val 26667"/>
              </a:avLst>
            </a:prstGeom>
            <a:solidFill>
              <a:srgbClr val="EAF2E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47700" y="1943100"/>
              <a:ext cx="5334000" cy="152400"/>
            </a:xfrm>
            <a:prstGeom prst="rect">
              <a:avLst/>
            </a:prstGeom>
            <a:solidFill>
              <a:srgbClr val="EAF2E8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952500" y="1714500"/>
              <a:ext cx="228599" cy="228599"/>
              <a:chOff x="952500" y="1714500"/>
              <a:chExt cx="228599" cy="22859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952500" y="171450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28700" y="18034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2F6B4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330642" y="1699736"/>
              <a:ext cx="76840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2F6B4F"/>
                  </a:solidFill>
                  <a:latin typeface="Arial"/>
                  <a:ea typeface="Microsoft YaHei"/>
                  <a:cs typeface="Arial"/>
                </a:rPr>
                <a:t>已完成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914400" y="2247900"/>
              <a:ext cx="4800600" cy="419100"/>
              <a:chOff x="914400" y="2247900"/>
              <a:chExt cx="4800600" cy="4191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914400" y="2247900"/>
                <a:ext cx="4800600" cy="419100"/>
              </a:xfrm>
              <a:prstGeom prst="roundRect">
                <a:avLst>
                  <a:gd name="adj" fmla="val 27273"/>
                </a:avLst>
              </a:prstGeom>
              <a:solidFill>
                <a:srgbClr val="F7F9F5"/>
              </a:solidFill>
              <a:ln>
                <a:noFill/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1066800" y="2381250"/>
                <a:ext cx="152400" cy="152400"/>
              </a:xfrm>
              <a:prstGeom prst="ellipse">
                <a:avLst/>
              </a:prstGeom>
              <a:solidFill>
                <a:srgbClr val="2F6B4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93075" y="2409349"/>
                <a:ext cx="998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75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1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336358" y="2376964"/>
                <a:ext cx="396837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A24"/>
                    </a:solidFill>
                    <a:latin typeface="Arial"/>
                    <a:ea typeface="Microsoft YaHei"/>
                    <a:cs typeface="Arial"/>
                  </a:rPr>
                  <a:t>完整度判断逻辑重构 — 从题目计数到十问歌框架评估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914400" y="2762250"/>
              <a:ext cx="5954530" cy="419100"/>
              <a:chOff x="914400" y="2762250"/>
              <a:chExt cx="5954530" cy="4191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914400" y="2762250"/>
                <a:ext cx="4800600" cy="419100"/>
              </a:xfrm>
              <a:prstGeom prst="roundRect">
                <a:avLst>
                  <a:gd name="adj" fmla="val 27273"/>
                </a:avLst>
              </a:prstGeom>
              <a:solidFill>
                <a:srgbClr val="F7F9F5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1066800" y="2895600"/>
                <a:ext cx="152400" cy="152400"/>
              </a:xfrm>
              <a:prstGeom prst="ellipse">
                <a:avLst/>
              </a:prstGeom>
              <a:solidFill>
                <a:srgbClr val="2F6B4F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93075" y="2923699"/>
                <a:ext cx="998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75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2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336358" y="2891314"/>
                <a:ext cx="553257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A24"/>
                    </a:solidFill>
                    <a:latin typeface="Arial"/>
                    <a:ea typeface="Microsoft YaHei"/>
                    <a:cs typeface="Arial"/>
                  </a:rPr>
                  <a:t>两个 Skill 职责拆分 — tcm-intake-checklist + tcm-questioning-guide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914400" y="3276600"/>
              <a:ext cx="4800600" cy="419100"/>
              <a:chOff x="914400" y="3276600"/>
              <a:chExt cx="4800600" cy="4191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914400" y="3276600"/>
                <a:ext cx="4800600" cy="419100"/>
              </a:xfrm>
              <a:prstGeom prst="roundRect">
                <a:avLst>
                  <a:gd name="adj" fmla="val 27273"/>
                </a:avLst>
              </a:prstGeom>
              <a:solidFill>
                <a:srgbClr val="F7F9F5"/>
              </a:solidFill>
              <a:ln>
                <a:noFill/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1066800" y="3409950"/>
                <a:ext cx="152400" cy="152400"/>
              </a:xfrm>
              <a:prstGeom prst="ellipse">
                <a:avLst/>
              </a:prstGeom>
              <a:solidFill>
                <a:srgbClr val="2F6B4F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093075" y="3438049"/>
                <a:ext cx="998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75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3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336358" y="3405664"/>
                <a:ext cx="331379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A24"/>
                    </a:solidFill>
                    <a:latin typeface="Arial"/>
                    <a:ea typeface="Microsoft YaHei"/>
                    <a:cs typeface="Arial"/>
                  </a:rPr>
                  <a:t>动态补问闭环 — 回答后重新评估，最多 5 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914400" y="3790950"/>
              <a:ext cx="4900399" cy="419100"/>
              <a:chOff x="914400" y="3790950"/>
              <a:chExt cx="4900399" cy="4191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914400" y="3790950"/>
                <a:ext cx="4800600" cy="419100"/>
              </a:xfrm>
              <a:prstGeom prst="roundRect">
                <a:avLst>
                  <a:gd name="adj" fmla="val 27273"/>
                </a:avLst>
              </a:prstGeom>
              <a:solidFill>
                <a:srgbClr val="F7F9F5"/>
              </a:solidFill>
              <a:ln>
                <a:noFill/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1066800" y="3924300"/>
                <a:ext cx="152400" cy="152400"/>
              </a:xfrm>
              <a:prstGeom prst="ellipse">
                <a:avLst/>
              </a:prstGeom>
              <a:solidFill>
                <a:srgbClr val="2F6B4F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093075" y="3952399"/>
                <a:ext cx="998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75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4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336358" y="3920014"/>
                <a:ext cx="44784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A24"/>
                    </a:solidFill>
                    <a:latin typeface="Arial"/>
                    <a:ea typeface="Microsoft YaHei"/>
                    <a:cs typeface="Arial"/>
                  </a:rPr>
                  <a:t>智能分析范围收敛 — 删除辨证参考，保留完整度和检查建议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914400" y="4305300"/>
              <a:ext cx="4800600" cy="419100"/>
              <a:chOff x="914400" y="4305300"/>
              <a:chExt cx="4800600" cy="4191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914400" y="4305300"/>
                <a:ext cx="4800600" cy="419100"/>
              </a:xfrm>
              <a:prstGeom prst="roundRect">
                <a:avLst>
                  <a:gd name="adj" fmla="val 27273"/>
                </a:avLst>
              </a:prstGeom>
              <a:solidFill>
                <a:srgbClr val="F7F9F5"/>
              </a:solidFill>
              <a:ln>
                <a:noFill/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1066800" y="4438650"/>
                <a:ext cx="152400" cy="152400"/>
              </a:xfrm>
              <a:prstGeom prst="ellipse">
                <a:avLst/>
              </a:prstGeom>
              <a:solidFill>
                <a:srgbClr val="2F6B4F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093075" y="4466749"/>
                <a:ext cx="998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75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5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336358" y="4434364"/>
                <a:ext cx="292274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A24"/>
                    </a:solidFill>
                    <a:latin typeface="Arial"/>
                    <a:ea typeface="Microsoft YaHei"/>
                    <a:cs typeface="Arial"/>
                  </a:rPr>
                  <a:t>检查建议结构化 — 6 个字段标准化输出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914400" y="4819650"/>
              <a:ext cx="4800600" cy="419100"/>
              <a:chOff x="914400" y="4819650"/>
              <a:chExt cx="4800600" cy="4191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914400" y="4819650"/>
                <a:ext cx="4800600" cy="419100"/>
              </a:xfrm>
              <a:prstGeom prst="roundRect">
                <a:avLst>
                  <a:gd name="adj" fmla="val 27273"/>
                </a:avLst>
              </a:prstGeom>
              <a:solidFill>
                <a:srgbClr val="F7F9F5"/>
              </a:solidFill>
              <a:ln>
                <a:noFill/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1066800" y="4953000"/>
                <a:ext cx="152400" cy="152400"/>
              </a:xfrm>
              <a:prstGeom prst="ellipse">
                <a:avLst/>
              </a:prstGeom>
              <a:solidFill>
                <a:srgbClr val="2F6B4F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093075" y="4981099"/>
                <a:ext cx="998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75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6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336358" y="4948714"/>
                <a:ext cx="402788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A24"/>
                    </a:solidFill>
                    <a:latin typeface="Arial"/>
                    <a:ea typeface="Microsoft YaHei"/>
                    <a:cs typeface="Arial"/>
                  </a:rPr>
                  <a:t>稳定性优化与测试 — 45s 超时、重试、22 项测试通过</a:t>
                </a: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6210300" y="1524000"/>
            <a:ext cx="5334000" cy="4000500"/>
            <a:chOff x="6210300" y="1524000"/>
            <a:chExt cx="5334000" cy="4000500"/>
          </a:xfrm>
        </p:grpSpPr>
        <p:sp>
          <p:nvSpPr>
            <p:cNvPr id="48" name="Rectangle 48"/>
            <p:cNvSpPr/>
            <p:nvPr/>
          </p:nvSpPr>
          <p:spPr>
            <a:xfrm>
              <a:off x="6210300" y="1524000"/>
              <a:ext cx="5334000" cy="4000500"/>
            </a:xfrm>
            <a:prstGeom prst="roundRect">
              <a:avLst>
                <a:gd name="adj" fmla="val 3810"/>
              </a:avLst>
            </a:prstGeom>
            <a:solidFill>
              <a:srgbClr val="FFFFFF"/>
            </a:solidFill>
            <a:ln w="19050">
              <a:solidFill>
                <a:srgbClr val="DCE5DC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10300" y="1524000"/>
              <a:ext cx="5334000" cy="571500"/>
            </a:xfrm>
            <a:prstGeom prst="roundRect">
              <a:avLst>
                <a:gd name="adj" fmla="val 26667"/>
              </a:avLst>
            </a:prstGeom>
            <a:solidFill>
              <a:srgbClr val="F6EFD9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10300" y="1943100"/>
              <a:ext cx="5334000" cy="152400"/>
            </a:xfrm>
            <a:prstGeom prst="rect">
              <a:avLst/>
            </a:prstGeom>
            <a:solidFill>
              <a:srgbClr val="F6EFD9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515100" y="1714500"/>
              <a:ext cx="228599" cy="228599"/>
              <a:chOff x="6515100" y="1714500"/>
              <a:chExt cx="228599" cy="228599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515100" y="189229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D6A84B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692899" y="17145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 w="19050">
                <a:solidFill>
                  <a:srgbClr val="D6A84B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540500" y="1739900"/>
                <a:ext cx="1905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77800">
                    <a:moveTo>
                      <a:pt x="76200" y="177800"/>
                    </a:moveTo>
                    <a:lnTo>
                      <a:pt x="146050" y="177800"/>
                    </a:lnTo>
                    <a:cubicBezTo>
                      <a:pt x="170599" y="177800"/>
                      <a:pt x="190500" y="157899"/>
                      <a:pt x="190500" y="133350"/>
                    </a:cubicBezTo>
                    <a:cubicBezTo>
                      <a:pt x="190500" y="108801"/>
                      <a:pt x="170599" y="88900"/>
                      <a:pt x="146050" y="88900"/>
                    </a:cubicBezTo>
                    <a:lnTo>
                      <a:pt x="44450" y="88900"/>
                    </a:ln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D6A84B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893242" y="1699736"/>
              <a:ext cx="76840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F2A24"/>
                  </a:solidFill>
                  <a:latin typeface="Arial"/>
                  <a:ea typeface="Microsoft YaHei"/>
                  <a:cs typeface="Arial"/>
                </a:rPr>
                <a:t>下一步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6477000" y="2247900"/>
              <a:ext cx="4800600" cy="419100"/>
              <a:chOff x="6477000" y="2247900"/>
              <a:chExt cx="4800600" cy="4191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6477000" y="2247900"/>
                <a:ext cx="4800600" cy="419100"/>
              </a:xfrm>
              <a:prstGeom prst="roundRect">
                <a:avLst>
                  <a:gd name="adj" fmla="val 27273"/>
                </a:avLst>
              </a:prstGeom>
              <a:solidFill>
                <a:srgbClr val="F7F9F5"/>
              </a:solidFill>
              <a:ln>
                <a:noFill/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6629400" y="2381250"/>
                <a:ext cx="152400" cy="152400"/>
              </a:xfrm>
              <a:prstGeom prst="ellipse">
                <a:avLst/>
              </a:prstGeom>
              <a:solidFill>
                <a:srgbClr val="D6A84B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6898958" y="2376964"/>
                <a:ext cx="275272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A24"/>
                    </a:solidFill>
                    <a:latin typeface="Arial"/>
                    <a:ea typeface="Microsoft YaHei"/>
                    <a:cs typeface="Arial"/>
                  </a:rPr>
                  <a:t>继续细化必问项、选问项和判断规则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6477000" y="2762250"/>
              <a:ext cx="4800600" cy="419100"/>
              <a:chOff x="6477000" y="2762250"/>
              <a:chExt cx="4800600" cy="419100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6477000" y="2762250"/>
                <a:ext cx="4800600" cy="419100"/>
              </a:xfrm>
              <a:prstGeom prst="roundRect">
                <a:avLst>
                  <a:gd name="adj" fmla="val 27273"/>
                </a:avLst>
              </a:prstGeom>
              <a:solidFill>
                <a:srgbClr val="F7F9F5"/>
              </a:solidFill>
              <a:ln>
                <a:noFill/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6629400" y="2895600"/>
                <a:ext cx="152400" cy="152400"/>
              </a:xfrm>
              <a:prstGeom prst="ellipse">
                <a:avLst/>
              </a:prstGeom>
              <a:solidFill>
                <a:srgbClr val="D6A84B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6898958" y="2891314"/>
                <a:ext cx="343281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A24"/>
                    </a:solidFill>
                    <a:latin typeface="Arial"/>
                    <a:ea typeface="Microsoft YaHei"/>
                    <a:cs typeface="Arial"/>
                  </a:rPr>
                  <a:t>补充年龄、过敏史、症状严重程度等采集字段</a:t>
                </a: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6477000" y="3276600"/>
              <a:ext cx="4800600" cy="419100"/>
              <a:chOff x="6477000" y="3276600"/>
              <a:chExt cx="4800600" cy="41910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6477000" y="3276600"/>
                <a:ext cx="4800600" cy="419100"/>
              </a:xfrm>
              <a:prstGeom prst="roundRect">
                <a:avLst>
                  <a:gd name="adj" fmla="val 27273"/>
                </a:avLst>
              </a:prstGeom>
              <a:solidFill>
                <a:srgbClr val="F7F9F5"/>
              </a:solidFill>
              <a:ln>
                <a:noFill/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6629400" y="3409950"/>
                <a:ext cx="152400" cy="152400"/>
              </a:xfrm>
              <a:prstGeom prst="ellipse">
                <a:avLst/>
              </a:prstGeom>
              <a:solidFill>
                <a:srgbClr val="D6A84B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6898958" y="3405664"/>
                <a:ext cx="224266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A24"/>
                    </a:solidFill>
                    <a:latin typeface="Arial"/>
                    <a:ea typeface="Microsoft YaHei"/>
                    <a:cs typeface="Arial"/>
                  </a:rPr>
                  <a:t>由临床人员审核检查推荐规则</a:t>
                </a: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6477000" y="3790950"/>
              <a:ext cx="4800600" cy="419100"/>
              <a:chOff x="6477000" y="3790950"/>
              <a:chExt cx="4800600" cy="419100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6477000" y="3790950"/>
                <a:ext cx="4800600" cy="419100"/>
              </a:xfrm>
              <a:prstGeom prst="roundRect">
                <a:avLst>
                  <a:gd name="adj" fmla="val 27273"/>
                </a:avLst>
              </a:prstGeom>
              <a:solidFill>
                <a:srgbClr val="F7F9F5"/>
              </a:solidFill>
              <a:ln>
                <a:noFill/>
              </a:ln>
            </p:spPr>
          </p:sp>
          <p:sp>
            <p:nvSpPr>
              <p:cNvPr id="69" name="Ellipse 69"/>
              <p:cNvSpPr/>
              <p:nvPr/>
            </p:nvSpPr>
            <p:spPr>
              <a:xfrm>
                <a:off x="6629400" y="3924300"/>
                <a:ext cx="152400" cy="152400"/>
              </a:xfrm>
              <a:prstGeom prst="ellipse">
                <a:avLst/>
              </a:prstGeom>
              <a:solidFill>
                <a:srgbClr val="D6A84B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6898958" y="3920014"/>
                <a:ext cx="418090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A24"/>
                    </a:solidFill>
                    <a:latin typeface="Arial"/>
                    <a:ea typeface="Microsoft YaHei"/>
                    <a:cs typeface="Arial"/>
                  </a:rPr>
                  <a:t>删除遗留且未使用的辨证代码（tcm-zhengxing skill）</a:t>
                </a: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6477000" y="4305300"/>
              <a:ext cx="4800600" cy="419100"/>
              <a:chOff x="6477000" y="4305300"/>
              <a:chExt cx="4800600" cy="419100"/>
            </a:xfrm>
          </p:grpSpPr>
          <p:sp>
            <p:nvSpPr>
              <p:cNvPr id="72" name="Rectangle 72"/>
              <p:cNvSpPr/>
              <p:nvPr/>
            </p:nvSpPr>
            <p:spPr>
              <a:xfrm>
                <a:off x="6477000" y="4305300"/>
                <a:ext cx="4800600" cy="419100"/>
              </a:xfrm>
              <a:prstGeom prst="roundRect">
                <a:avLst>
                  <a:gd name="adj" fmla="val 27273"/>
                </a:avLst>
              </a:prstGeom>
              <a:solidFill>
                <a:srgbClr val="F7F9F5"/>
              </a:solidFill>
              <a:ln>
                <a:noFill/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6629400" y="4438650"/>
                <a:ext cx="152400" cy="152400"/>
              </a:xfrm>
              <a:prstGeom prst="ellipse">
                <a:avLst/>
              </a:prstGeom>
              <a:solidFill>
                <a:srgbClr val="D6A84B"/>
              </a:solidFill>
              <a:ln>
                <a:noFill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6898958" y="4434364"/>
                <a:ext cx="24126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A24"/>
                    </a:solidFill>
                    <a:latin typeface="Arial"/>
                    <a:ea typeface="Microsoft YaHei"/>
                    <a:cs typeface="Arial"/>
                  </a:rPr>
                  <a:t>使用更多真实问诊场景进行测试</a:t>
                </a:r>
              </a:p>
            </p:txBody>
          </p:sp>
        </p:grpSp>
      </p:grpSp>
      <p:grpSp>
        <p:nvGrpSpPr>
          <p:cNvPr id="79" name="Group 79"/>
          <p:cNvGrpSpPr/>
          <p:nvPr/>
        </p:nvGrpSpPr>
        <p:grpSpPr>
          <a:xfrm>
            <a:off x="647700" y="5715000"/>
            <a:ext cx="10896600" cy="552450"/>
            <a:chOff x="647700" y="5715000"/>
            <a:chExt cx="10896600" cy="552450"/>
          </a:xfrm>
        </p:grpSpPr>
        <p:sp>
          <p:nvSpPr>
            <p:cNvPr id="77" name="Rectangle 77"/>
            <p:cNvSpPr/>
            <p:nvPr/>
          </p:nvSpPr>
          <p:spPr>
            <a:xfrm>
              <a:off x="647700" y="5715000"/>
              <a:ext cx="10896600" cy="552450"/>
            </a:xfrm>
            <a:prstGeom prst="roundRect">
              <a:avLst>
                <a:gd name="adj" fmla="val 27586"/>
              </a:avLst>
            </a:prstGeom>
            <a:solidFill>
              <a:srgbClr val="2F6B4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2956155" y="5879782"/>
              <a:ext cx="627969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系统已从固定问卷升级为可动态补齐关键缺口的诊前信息工具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767715" y="6382702"/>
            <a:ext cx="10789920" cy="213360"/>
            <a:chOff x="767715" y="6382702"/>
            <a:chExt cx="10789920" cy="213360"/>
          </a:xfrm>
        </p:grpSpPr>
        <p:sp>
          <p:nvSpPr>
            <p:cNvPr id="80" name="TextBox 80"/>
            <p:cNvSpPr txBox="1"/>
            <p:nvPr/>
          </p:nvSpPr>
          <p:spPr>
            <a:xfrm>
              <a:off x="767715" y="6382702"/>
              <a:ext cx="1846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57269"/>
                  </a:solidFill>
                  <a:latin typeface="Arial"/>
                  <a:ea typeface="Microsoft YaHei"/>
                  <a:cs typeface="Arial"/>
                </a:rPr>
                <a:t>中医诊前问诊系统 · 2026.08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376946" y="638270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57269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2026-08-06T10:26:42Z</dcterms:created>
  <dcterms:modified xsi:type="dcterms:W3CDTF">2026-08-06T10:26:42Z</dcterms:modified>
  <cp:category/>
  <cp:contentStatus/>
</cp:coreProperties>
</file>