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主要介绍中医诊前问诊系统近期完成的改进，以及目前从基础问诊到结果输出的完整使用流程。改进的核心是把原来偏表单式、容易中断的追问，升级为连续的对话式信息采集，并形成可供后续诊中使用的诊前档案和检查建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来的版本主要有四个问题。第一，追问更像逐题切换，不像自然聊天；第二，部分情况下需要刷新或重新进入才能继续，问诊上下文容易中断；第三，信息完整度、缺失必问项和建议选问项等后台判断直接显示给用户，增加了理解负担；第四，追问缺少明确的结束机制，极端情况下可能连续询问很多轮仍不结束。</a:t>
            </a:r>
          </a:p>
          <a:p>
            <a:endParaRPr lang="en-US" dirty="0"/>
          </a:p>
          <a:p>
            <a:r>
              <a:rPr lang="zh-CN" dirty="0"/>
              <a:t>因此本次改进的目标，是让系统在后台完成判断，用户只看到自然、连续并且能够适时结束的问诊过程。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主要完成了四项改进。第一，把补充追问改成一问一答的连续对话；第二，删除不需要用户看到的内部判断内容；第三，保留问诊上下文，无需刷新页面即可继续；第四，加入追问结束策略，避免询问轮次失控。</a:t>
            </a:r>
          </a:p>
          <a:p>
            <a:endParaRPr lang="en-US" dirty="0"/>
          </a:p>
          <a:p>
            <a:r>
              <a:rPr lang="zh-CN" dirty="0"/>
              <a:t>右侧是当前实际页面，可以看到患者回答后，系统会在同一对话中继续提出下一问。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的完整流程分为五步。先完成十个必问项，建立基础信息；后台的必问项确认技能检查信息完整度；如果还需要补充，就由提问策略技能生成一个最有价值的问题进行对话式追问；信息满足条件后形成结构化诊前档案；最后根据已采集信息给出建议检查项目。</a:t>
            </a:r>
          </a:p>
          <a:p>
            <a:endParaRPr lang="en-US" dirty="0"/>
          </a:p>
          <a:p>
            <a:r>
              <a:rPr lang="zh-CN" dirty="0"/>
              <a:t>追问不是固定五问，而是动态决定。系统在关键信息达到阈值、连续追问信息增益较低、发现重复问题或达到最大轮次时结束追问。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第一阶段固定完成十个必问项，覆盖主诉、病程、寒热、出汗、头身、二便、饮食、胸腹、睡眠以及旧病用药等基础方向。这样可以先形成统一、稳定的信息骨架。</a:t>
            </a:r>
          </a:p>
          <a:p>
            <a:endParaRPr lang="en-US" dirty="0"/>
          </a:p>
          <a:p>
            <a:r>
              <a:rPr lang="zh-CN" dirty="0"/>
              <a:t>问诊清单技能在后台确认必问项是否完成，并标记后续可能需要追问的方向。这些内部判断不会直接展示给用户。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第二阶段进入对话式补充追问。提问策略技能先读取患者刚才的回答，再选择当前最高优先级的信息缺口，每次只生成一个清晰问题。患者回答后，系统更新档案并重新判断下一步。</a:t>
            </a:r>
          </a:p>
          <a:p>
            <a:endParaRPr lang="en-US" dirty="0"/>
          </a:p>
          <a:p>
            <a:r>
              <a:rPr lang="zh-CN" dirty="0"/>
              <a:t>追问数量根据病情动态变化，不限制为固定五个问题。同时通过完整度判断、重复检测、信息增益判断和最大轮次共同控制结束，解决之前询问三十轮仍不结束的问题。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整个流程最终形成两类结果。第一类是完整诊前档案，把十个必问项和补充追问按照问诊维度结构化整理；第二类是建议检查项目，根据已采集的症状和风险信息推荐相关检查，并说明临床意义和注意事项。</a:t>
            </a:r>
          </a:p>
          <a:p>
            <a:endParaRPr lang="en-US" dirty="0"/>
          </a:p>
          <a:p>
            <a:r>
              <a:rPr lang="zh-CN" dirty="0"/>
              <a:t>这些结果用于诊前信息整理和检查参考，为后续诊中决策提供基础，但不能替代医生诊断。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0ade462c8d5d75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0ade462c8d5d752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1cab0dc9d1c5fcf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9bea2b0405ae0c2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919ee0733860b99.png"/>
  <Relationship Id="rId3" Type="http://schemas.openxmlformats.org/officeDocument/2006/relationships/image" Target="../media/image_9f84b96359fc3c03.png"/>
  <Relationship Id="rId4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23900" y="666750"/>
            <a:ext cx="609600" cy="609600"/>
          </a:xfrm>
          <a:prstGeom prst="ellipse">
            <a:avLst/>
          </a:prstGeom>
          <a:solidFill>
            <a:srgbClr val="E6F4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2605" y="833438"/>
            <a:ext cx="3721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3040" y="7200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中医智能助手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2565" y="10677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诊前问诊流程改进汇报</a:t>
            </a:r>
          </a:p>
        </p:txBody>
      </p:sp>
      <p:sp>
        <p:nvSpPr>
          <p:cNvPr id="8" name="Rectangle 8"/>
          <p:cNvSpPr/>
          <p:nvPr/>
        </p:nvSpPr>
        <p:spPr>
          <a:xfrm>
            <a:off x="723900" y="1847850"/>
            <a:ext cx="895350" cy="323850"/>
          </a:xfrm>
          <a:prstGeom prst="roundRect">
            <a:avLst>
              <a:gd name="adj" fmla="val 50000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2248" y="19359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阶段进展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6750" y="237172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中医诊前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750" y="307657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问诊系统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230" y="3869055"/>
            <a:ext cx="38758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问题改进与当前完整使用流程</a:t>
            </a:r>
          </a:p>
        </p:txBody>
      </p:sp>
      <p:sp>
        <p:nvSpPr>
          <p:cNvPr id="13" name="Line 13"/>
          <p:cNvSpPr/>
          <p:nvPr/>
        </p:nvSpPr>
        <p:spPr>
          <a:xfrm>
            <a:off x="723900" y="4476750"/>
            <a:ext cx="4800600" cy="9525"/>
          </a:xfrm>
          <a:custGeom>
            <a:avLst/>
            <a:gdLst/>
            <a:ahLst/>
            <a:cxnLst/>
            <a:rect l="l" t="t" r="r" b="b"/>
            <a:pathLst>
              <a:path w="4800600" h="9525">
                <a:moveTo>
                  <a:pt x="0" y="0"/>
                </a:moveTo>
                <a:lnTo>
                  <a:pt x="4800600" y="0"/>
                </a:lnTo>
              </a:path>
            </a:pathLst>
          </a:custGeom>
          <a:noFill/>
          <a:ln w="19050">
            <a:solidFill>
              <a:srgbClr val="DCE5D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04850" y="4724400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从固定追问，升级为连续的对话式信息采集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4850" y="5057775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形成诊前档案，并给出建议检查项目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534150" y="666750"/>
            <a:ext cx="5334000" cy="4762500"/>
          </a:xfrm>
          <a:prstGeom prst="roundRect">
            <a:avLst>
              <a:gd name="adj" fmla="val 4800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819900" y="952500"/>
            <a:ext cx="4762500" cy="4000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952500"/>
            <a:ext cx="4762500" cy="4000500"/>
          </a:xfrm>
          <a:prstGeom prst="roundRect">
            <a:avLst>
              <a:gd name="adj" fmla="val 4285"/>
            </a:avLst>
          </a:prstGeom>
        </p:spPr>
      </p:pic>
      <p:sp>
        <p:nvSpPr>
          <p:cNvPr id="19" name="Ellipse 19"/>
          <p:cNvSpPr/>
          <p:nvPr/>
        </p:nvSpPr>
        <p:spPr>
          <a:xfrm>
            <a:off x="7067550" y="5143500"/>
            <a:ext cx="114300" cy="11430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262812" y="51363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当前对话式追问界面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" y="5981700"/>
            <a:ext cx="10744200" cy="9525"/>
          </a:xfrm>
          <a:prstGeom prst="rect">
            <a:avLst/>
          </a:prstGeom>
          <a:solidFill>
            <a:srgbClr val="DCE5D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0565" y="622077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工作进展汇报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4669" y="6220778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C7A70"/>
                </a:solidFill>
                <a:latin typeface="Arial"/>
                <a:ea typeface="Arial"/>
                <a:cs typeface="Arial"/>
              </a:rPr>
              <a:t>2026.08.14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52387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D95D4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2010" y="5467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原来存在的问题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0108" y="1024414"/>
            <a:ext cx="49630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流程能完成基础采集，但连续性、信息呈现和结束机制仍不够成熟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562100"/>
            <a:ext cx="5276850" cy="1790700"/>
          </a:xfrm>
          <a:prstGeom prst="roundRect">
            <a:avLst>
              <a:gd name="adj" fmla="val 8511"/>
            </a:avLst>
          </a:prstGeom>
          <a:solidFill>
            <a:srgbClr val="FCEDEA"/>
          </a:solidFill>
          <a:ln w="19050">
            <a:solidFill>
              <a:srgbClr val="DCE5DD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19150" y="1771650"/>
            <a:ext cx="457200" cy="457200"/>
          </a:xfrm>
          <a:prstGeom prst="ellipse">
            <a:avLst/>
          </a:prstGeom>
          <a:solidFill>
            <a:srgbClr val="D95D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642" y="19307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5890" y="1853565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追问不像聊天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8202" y="2360771"/>
            <a:ext cx="383667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以单题切换或静态展示为主，患者难以感受到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8202" y="266557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“回答后继续追问”的自然问诊节奏。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6300" y="3028950"/>
            <a:ext cx="1847850" cy="47625"/>
          </a:xfrm>
          <a:prstGeom prst="roundRect">
            <a:avLst>
              <a:gd name="adj" fmla="val 50000"/>
            </a:avLst>
          </a:prstGeom>
          <a:solidFill>
            <a:srgbClr val="D95D4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305550" y="1562100"/>
            <a:ext cx="5276850" cy="1790700"/>
          </a:xfrm>
          <a:prstGeom prst="roundRect">
            <a:avLst>
              <a:gd name="adj" fmla="val 8511"/>
            </a:avLst>
          </a:prstGeom>
          <a:solidFill>
            <a:srgbClr val="FCEDEA"/>
          </a:solidFill>
          <a:ln w="19050">
            <a:solidFill>
              <a:srgbClr val="DCE5DD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515100" y="1771650"/>
            <a:ext cx="457200" cy="457200"/>
          </a:xfrm>
          <a:prstGeom prst="ellipse">
            <a:avLst/>
          </a:prstGeom>
          <a:solidFill>
            <a:srgbClr val="D95D4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22592" y="19307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01840" y="1853565"/>
            <a:ext cx="23140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需要刷新或重新进入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4152" y="2360771"/>
            <a:ext cx="421671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状态衔接不稳定，继续问诊时可能需要刷新页面，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54152" y="2665571"/>
            <a:ext cx="269652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中断了已经建立的问诊上下文。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72250" y="3028950"/>
            <a:ext cx="2114550" cy="47625"/>
          </a:xfrm>
          <a:prstGeom prst="roundRect">
            <a:avLst>
              <a:gd name="adj" fmla="val 50000"/>
            </a:avLst>
          </a:prstGeom>
          <a:solidFill>
            <a:srgbClr val="D95D4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09600" y="3581400"/>
            <a:ext cx="5276850" cy="1790700"/>
          </a:xfrm>
          <a:prstGeom prst="roundRect">
            <a:avLst>
              <a:gd name="adj" fmla="val 8511"/>
            </a:avLst>
          </a:prstGeom>
          <a:solidFill>
            <a:srgbClr val="FCEDEA"/>
          </a:solidFill>
          <a:ln w="19050">
            <a:solidFill>
              <a:srgbClr val="DCE5DD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19150" y="3790950"/>
            <a:ext cx="457200" cy="457200"/>
          </a:xfrm>
          <a:prstGeom prst="ellipse">
            <a:avLst/>
          </a:prstGeom>
          <a:solidFill>
            <a:srgbClr val="D95D4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26642" y="39500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5890" y="3872865"/>
            <a:ext cx="20619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内部判断直接展示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155" y="4359592"/>
            <a:ext cx="36527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“信息完整度、缺失必问项、建议选问项”属于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9155" y="4664392"/>
            <a:ext cx="3274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系统决策信息，不应增加患者理解负担。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6300" y="5029200"/>
            <a:ext cx="2362200" cy="47625"/>
          </a:xfrm>
          <a:prstGeom prst="roundRect">
            <a:avLst>
              <a:gd name="adj" fmla="val 50000"/>
            </a:avLst>
          </a:prstGeom>
          <a:solidFill>
            <a:srgbClr val="D95D4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305550" y="3581400"/>
            <a:ext cx="5276850" cy="1790700"/>
          </a:xfrm>
          <a:prstGeom prst="roundRect">
            <a:avLst>
              <a:gd name="adj" fmla="val 8511"/>
            </a:avLst>
          </a:prstGeom>
          <a:solidFill>
            <a:srgbClr val="FCEDEA"/>
          </a:solidFill>
          <a:ln w="19050">
            <a:solidFill>
              <a:srgbClr val="DCE5DD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6515100" y="3790950"/>
            <a:ext cx="457200" cy="457200"/>
          </a:xfrm>
          <a:prstGeom prst="ellipse">
            <a:avLst/>
          </a:prstGeom>
          <a:solidFill>
            <a:srgbClr val="D95D4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22592" y="39500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01840" y="3872865"/>
            <a:ext cx="20619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追问缺少结束机制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4152" y="4351496"/>
            <a:ext cx="364664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缺少轮次上限、重复判断和信息收益判断，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54152" y="4656296"/>
            <a:ext cx="320959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极端情况下连续追问 30 轮仍未结束。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572250" y="5029200"/>
            <a:ext cx="2628900" cy="47625"/>
          </a:xfrm>
          <a:prstGeom prst="roundRect">
            <a:avLst>
              <a:gd name="adj" fmla="val 50000"/>
            </a:avLst>
          </a:prstGeom>
          <a:solidFill>
            <a:srgbClr val="D95D4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09600" y="5734050"/>
            <a:ext cx="10972800" cy="628650"/>
          </a:xfrm>
          <a:prstGeom prst="roundRect">
            <a:avLst>
              <a:gd name="adj" fmla="val 21212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57250" y="5962650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改进目标：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47850" y="5962650"/>
            <a:ext cx="68389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让系统内部完成判断，让用户只看到自然、连续、能够适时结束的问诊对话。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546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5B0A8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52387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2010" y="5467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主要改进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0108" y="1024414"/>
            <a:ext cx="4792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用户看到的是自然问诊，系统在后台完成完整度判断和追问决策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428750"/>
            <a:ext cx="3257550" cy="3581400"/>
          </a:xfrm>
          <a:prstGeom prst="roundRect">
            <a:avLst>
              <a:gd name="adj" fmla="val 5263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00100" y="1695450"/>
            <a:ext cx="381000" cy="38100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9154" y="182308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545" y="1764982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改成对话式追问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" y="2127885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一问一答，回答后自动衔接下一问</a:t>
            </a:r>
          </a:p>
        </p:txBody>
      </p:sp>
      <p:sp>
        <p:nvSpPr>
          <p:cNvPr id="11" name="Line 11"/>
          <p:cNvSpPr/>
          <p:nvPr/>
        </p:nvSpPr>
        <p:spPr>
          <a:xfrm>
            <a:off x="990600" y="2514600"/>
            <a:ext cx="2495550" cy="9525"/>
          </a:xfrm>
          <a:custGeom>
            <a:avLst/>
            <a:gdLst/>
            <a:ahLst/>
            <a:cxnLst/>
            <a:rect l="l" t="t" r="r" b="b"/>
            <a:pathLst>
              <a:path w="2495550" h="9525">
                <a:moveTo>
                  <a:pt x="0" y="0"/>
                </a:moveTo>
                <a:lnTo>
                  <a:pt x="2495550" y="0"/>
                </a:lnTo>
              </a:path>
            </a:pathLst>
          </a:custGeom>
          <a:noFill/>
          <a:ln w="19050">
            <a:solidFill>
              <a:srgbClr val="DCE5DD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00100" y="2705100"/>
            <a:ext cx="381000" cy="38100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29154" y="28327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2545" y="2774632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删除不必要内容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5360" y="3137535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内部判断不再直接展示给用户</a:t>
            </a:r>
          </a:p>
        </p:txBody>
      </p:sp>
      <p:sp>
        <p:nvSpPr>
          <p:cNvPr id="16" name="Line 16"/>
          <p:cNvSpPr/>
          <p:nvPr/>
        </p:nvSpPr>
        <p:spPr>
          <a:xfrm>
            <a:off x="990600" y="3524250"/>
            <a:ext cx="2495550" cy="9525"/>
          </a:xfrm>
          <a:custGeom>
            <a:avLst/>
            <a:gdLst/>
            <a:ahLst/>
            <a:cxnLst/>
            <a:rect l="l" t="t" r="r" b="b"/>
            <a:pathLst>
              <a:path w="2495550" h="9525">
                <a:moveTo>
                  <a:pt x="0" y="0"/>
                </a:moveTo>
                <a:lnTo>
                  <a:pt x="2495550" y="0"/>
                </a:lnTo>
              </a:path>
            </a:pathLst>
          </a:custGeom>
          <a:noFill/>
          <a:ln w="19050">
            <a:solidFill>
              <a:srgbClr val="DCE5DD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800100" y="3714750"/>
            <a:ext cx="381000" cy="38100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9154" y="384238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2545" y="378428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无需刷新即可继续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5360" y="414718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保留上下文，页面状态连续推进</a:t>
            </a:r>
          </a:p>
        </p:txBody>
      </p:sp>
      <p:sp>
        <p:nvSpPr>
          <p:cNvPr id="21" name="Line 21"/>
          <p:cNvSpPr/>
          <p:nvPr/>
        </p:nvSpPr>
        <p:spPr>
          <a:xfrm>
            <a:off x="990600" y="4533900"/>
            <a:ext cx="2495550" cy="9525"/>
          </a:xfrm>
          <a:custGeom>
            <a:avLst/>
            <a:gdLst/>
            <a:ahLst/>
            <a:cxnLst/>
            <a:rect l="l" t="t" r="r" b="b"/>
            <a:pathLst>
              <a:path w="2495550" h="9525">
                <a:moveTo>
                  <a:pt x="0" y="0"/>
                </a:moveTo>
                <a:lnTo>
                  <a:pt x="2495550" y="0"/>
                </a:lnTo>
              </a:path>
            </a:pathLst>
          </a:custGeom>
          <a:noFill/>
          <a:ln w="19050">
            <a:solidFill>
              <a:srgbClr val="DCE5DD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800100" y="4591050"/>
            <a:ext cx="381000" cy="381000"/>
          </a:xfrm>
          <a:prstGeom prst="ellipse">
            <a:avLst/>
          </a:prstGeom>
          <a:solidFill>
            <a:srgbClr val="D6A74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29154" y="471868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45" y="466058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加入结束策略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057650" y="1314450"/>
            <a:ext cx="7639050" cy="4038600"/>
          </a:xfrm>
          <a:prstGeom prst="roundRect">
            <a:avLst>
              <a:gd name="adj" fmla="val 5189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71950" y="1428750"/>
            <a:ext cx="7410450" cy="3581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7" name="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1428750"/>
            <a:ext cx="7410450" cy="3581400"/>
          </a:xfrm>
          <a:prstGeom prst="roundRect">
            <a:avLst>
              <a:gd name="adj" fmla="val 4255"/>
            </a:avLst>
          </a:prstGeom>
        </p:spPr>
      </p:pic>
      <p:sp>
        <p:nvSpPr>
          <p:cNvPr id="28" name="Ellipse 28"/>
          <p:cNvSpPr/>
          <p:nvPr/>
        </p:nvSpPr>
        <p:spPr>
          <a:xfrm>
            <a:off x="4276725" y="5133975"/>
            <a:ext cx="95250" cy="952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444365" y="51254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当前页面：连续对话式补充问诊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" y="5619750"/>
            <a:ext cx="10972800" cy="742950"/>
          </a:xfrm>
          <a:prstGeom prst="roundRect">
            <a:avLst>
              <a:gd name="adj" fmla="val 20513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60108" y="578691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本次变化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7250" y="6029325"/>
            <a:ext cx="68789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界面从“展示系统判断”转为“承载自然问诊”，追问逻辑由后台技能协同完成。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546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5B0A8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52387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2010" y="54673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当前完整使用流程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0108" y="1024414"/>
            <a:ext cx="51330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先完成十个必问项，再按完整度动态追问，最终形成档案和检查建议</a:t>
            </a:r>
          </a:p>
        </p:txBody>
      </p:sp>
      <p:sp>
        <p:nvSpPr>
          <p:cNvPr id="6" name="Line 6"/>
          <p:cNvSpPr/>
          <p:nvPr/>
        </p:nvSpPr>
        <p:spPr>
          <a:xfrm>
            <a:off x="1409700" y="2857500"/>
            <a:ext cx="9391650" cy="9525"/>
          </a:xfrm>
          <a:custGeom>
            <a:avLst/>
            <a:gdLst/>
            <a:ahLst/>
            <a:cxnLst/>
            <a:rect l="l" t="t" r="r" b="b"/>
            <a:pathLst>
              <a:path w="9391650" h="9525">
                <a:moveTo>
                  <a:pt x="0" y="0"/>
                </a:moveTo>
                <a:lnTo>
                  <a:pt x="9391650" y="0"/>
                </a:lnTo>
              </a:path>
            </a:pathLst>
          </a:custGeom>
          <a:noFill/>
          <a:ln w="57150">
            <a:solidFill>
              <a:srgbClr val="DCE5DD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10706100" y="2752725"/>
            <a:ext cx="171450" cy="209550"/>
          </a:xfrm>
          <a:custGeom>
            <a:avLst/>
            <a:gdLst/>
            <a:ahLst/>
            <a:cxnLst/>
            <a:rect l="l" t="t" r="r" b="b"/>
            <a:pathLst>
              <a:path w="171450" h="209550">
                <a:moveTo>
                  <a:pt x="0" y="0"/>
                </a:moveTo>
                <a:lnTo>
                  <a:pt x="171450" y="104775"/>
                </a:lnTo>
                <a:lnTo>
                  <a:pt x="0" y="209550"/>
                </a:lnTo>
                <a:close/>
              </a:path>
            </a:pathLst>
          </a:custGeom>
          <a:solidFill>
            <a:srgbClr val="2F8F4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9600" y="1790700"/>
            <a:ext cx="1952625" cy="2133600"/>
          </a:xfrm>
          <a:prstGeom prst="roundRect">
            <a:avLst>
              <a:gd name="adj" fmla="val 8780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9" name="Ellipse 9"/>
          <p:cNvSpPr/>
          <p:nvPr/>
        </p:nvSpPr>
        <p:spPr>
          <a:xfrm>
            <a:off x="1285875" y="2028825"/>
            <a:ext cx="590550" cy="5905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96662" y="2231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71550" y="2647950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95733" y="27236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用户可见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623" y="30794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十个必问项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5830" y="344233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采集基础病情信息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67025" y="1790700"/>
            <a:ext cx="1952625" cy="2133600"/>
          </a:xfrm>
          <a:prstGeom prst="roundRect">
            <a:avLst>
              <a:gd name="adj" fmla="val 8780"/>
            </a:avLst>
          </a:prstGeom>
          <a:solidFill>
            <a:srgbClr val="E6F4E8"/>
          </a:solidFill>
          <a:ln w="19050">
            <a:solidFill>
              <a:srgbClr val="DCE5DD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3543300" y="2028825"/>
            <a:ext cx="590550" cy="590550"/>
          </a:xfrm>
          <a:prstGeom prst="ellipse">
            <a:avLst/>
          </a:prstGeom>
          <a:solidFill>
            <a:srgbClr val="1D57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54087" y="2231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228975" y="2647950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553158" y="27236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后台判断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0048" y="30794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完整度检查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63265" y="34423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必问项确认技能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24450" y="1790700"/>
            <a:ext cx="1952625" cy="2133600"/>
          </a:xfrm>
          <a:prstGeom prst="roundRect">
            <a:avLst>
              <a:gd name="adj" fmla="val 8780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800725" y="2028825"/>
            <a:ext cx="590550" cy="5905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11512" y="2231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486400" y="2647950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810583" y="27236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用户可见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97473" y="30794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对话式追问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00700" y="344233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提问策略技能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1790700"/>
            <a:ext cx="1952625" cy="2133600"/>
          </a:xfrm>
          <a:prstGeom prst="roundRect">
            <a:avLst>
              <a:gd name="adj" fmla="val 8780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8058150" y="2028825"/>
            <a:ext cx="590550" cy="5905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68937" y="2231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743825" y="2647950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068008" y="27236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系统输出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70412" y="30794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诊前档案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8115" y="34423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结构化整理信息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639300" y="1790700"/>
            <a:ext cx="1952625" cy="2133600"/>
          </a:xfrm>
          <a:prstGeom prst="roundRect">
            <a:avLst>
              <a:gd name="adj" fmla="val 8780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0315575" y="2028825"/>
            <a:ext cx="590550" cy="590550"/>
          </a:xfrm>
          <a:prstGeom prst="ellipse">
            <a:avLst/>
          </a:prstGeom>
          <a:solidFill>
            <a:srgbClr val="D6A74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526362" y="2231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0001250" y="2647950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FBF4D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325433" y="27236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系统输出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127837" y="30794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检查建议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35540" y="34423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按病情推荐项目</a:t>
            </a:r>
          </a:p>
        </p:txBody>
      </p:sp>
      <p:sp>
        <p:nvSpPr>
          <p:cNvPr id="43" name="Freeform 43"/>
          <p:cNvSpPr/>
          <p:nvPr/>
        </p:nvSpPr>
        <p:spPr>
          <a:xfrm>
            <a:off x="4086225" y="4010025"/>
            <a:ext cx="1990725" cy="676275"/>
          </a:xfrm>
          <a:custGeom>
            <a:avLst/>
            <a:gdLst/>
            <a:ahLst/>
            <a:cxnLst/>
            <a:rect l="l" t="t" r="r" b="b"/>
            <a:pathLst>
              <a:path w="1990725" h="676275">
                <a:moveTo>
                  <a:pt x="1990725" y="76200"/>
                </a:moveTo>
                <a:cubicBezTo>
                  <a:pt x="1990725" y="542925"/>
                  <a:pt x="1295400" y="676275"/>
                  <a:pt x="609600" y="533400"/>
                </a:cubicBezTo>
                <a:cubicBezTo>
                  <a:pt x="209550" y="447675"/>
                  <a:pt x="0" y="247650"/>
                  <a:pt x="0" y="0"/>
                </a:cubicBezTo>
              </a:path>
            </a:pathLst>
          </a:custGeom>
          <a:noFill/>
          <a:ln w="28575">
            <a:solidFill>
              <a:srgbClr val="D6A74B"/>
            </a:solidFill>
            <a:custDash>
              <a:ds d="266666" sp="233333"/>
            </a:custDash>
          </a:ln>
        </p:spPr>
      </p:sp>
      <p:sp>
        <p:nvSpPr>
          <p:cNvPr id="44" name="Freeform 44"/>
          <p:cNvSpPr/>
          <p:nvPr/>
        </p:nvSpPr>
        <p:spPr>
          <a:xfrm>
            <a:off x="4010025" y="3933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71450"/>
                </a:moveTo>
                <a:lnTo>
                  <a:pt x="76200" y="0"/>
                </a:lnTo>
                <a:lnTo>
                  <a:pt x="171450" y="161925"/>
                </a:lnTo>
                <a:close/>
              </a:path>
            </a:pathLst>
          </a:custGeom>
          <a:solidFill>
            <a:srgbClr val="D6A74B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495800" y="4305300"/>
            <a:ext cx="1504950" cy="285750"/>
          </a:xfrm>
          <a:prstGeom prst="roundRect">
            <a:avLst>
              <a:gd name="adj" fmla="val 50000"/>
            </a:avLst>
          </a:prstGeom>
          <a:solidFill>
            <a:srgbClr val="FBF4D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573357" y="43824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信息不足，继续追问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09600" y="5010150"/>
            <a:ext cx="10972800" cy="1123950"/>
          </a:xfrm>
          <a:prstGeom prst="roundRect">
            <a:avLst>
              <a:gd name="adj" fmla="val 15254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59155" y="51692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追问结束条件</a:t>
            </a:r>
          </a:p>
        </p:txBody>
      </p:sp>
      <p:sp>
        <p:nvSpPr>
          <p:cNvPr id="49" name="Ellipse 49"/>
          <p:cNvSpPr/>
          <p:nvPr/>
        </p:nvSpPr>
        <p:spPr>
          <a:xfrm>
            <a:off x="990600" y="5629275"/>
            <a:ext cx="133350" cy="1333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221105" y="5616892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关键信息达到完整度阈值</a:t>
            </a:r>
          </a:p>
        </p:txBody>
      </p:sp>
      <p:sp>
        <p:nvSpPr>
          <p:cNvPr id="51" name="Ellipse 51"/>
          <p:cNvSpPr/>
          <p:nvPr/>
        </p:nvSpPr>
        <p:spPr>
          <a:xfrm>
            <a:off x="4086225" y="5629275"/>
            <a:ext cx="133350" cy="1333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316730" y="5616892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连续追问的信息增益较低</a:t>
            </a:r>
          </a:p>
        </p:txBody>
      </p:sp>
      <p:sp>
        <p:nvSpPr>
          <p:cNvPr id="53" name="Ellipse 53"/>
          <p:cNvSpPr/>
          <p:nvPr/>
        </p:nvSpPr>
        <p:spPr>
          <a:xfrm>
            <a:off x="7343775" y="5629275"/>
            <a:ext cx="133350" cy="1333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574280" y="5616892"/>
            <a:ext cx="23745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命中重复问题或达到最大轮次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546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5B0A8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52387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2010" y="546735"/>
            <a:ext cx="42271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阶段一：完成十个必问项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0108" y="1024414"/>
            <a:ext cx="4792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先建立稳定的基础信息骨架，再进入按病情动态生成的补充追问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466850"/>
            <a:ext cx="3219450" cy="3629025"/>
          </a:xfrm>
          <a:prstGeom prst="roundRect">
            <a:avLst>
              <a:gd name="adj" fmla="val 5325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838200" y="1695450"/>
            <a:ext cx="1619250" cy="304800"/>
          </a:xfrm>
          <a:prstGeom prst="roundRect">
            <a:avLst>
              <a:gd name="adj" fmla="val 50000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60978" y="1783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基础采集范围</a:t>
            </a:r>
          </a:p>
        </p:txBody>
      </p:sp>
      <p:sp>
        <p:nvSpPr>
          <p:cNvPr id="9" name="Ellipse 9"/>
          <p:cNvSpPr/>
          <p:nvPr/>
        </p:nvSpPr>
        <p:spPr>
          <a:xfrm>
            <a:off x="828675" y="2219325"/>
            <a:ext cx="247650" cy="2476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416" y="2303145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858" y="2262664"/>
            <a:ext cx="8824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主诉与病程</a:t>
            </a:r>
          </a:p>
        </p:txBody>
      </p:sp>
      <p:sp>
        <p:nvSpPr>
          <p:cNvPr id="12" name="Ellipse 12"/>
          <p:cNvSpPr/>
          <p:nvPr/>
        </p:nvSpPr>
        <p:spPr>
          <a:xfrm>
            <a:off x="828675" y="2609850"/>
            <a:ext cx="247650" cy="2476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6416" y="2693670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858" y="2653189"/>
            <a:ext cx="8824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寒热与出汗</a:t>
            </a:r>
          </a:p>
        </p:txBody>
      </p:sp>
      <p:sp>
        <p:nvSpPr>
          <p:cNvPr id="15" name="Ellipse 15"/>
          <p:cNvSpPr/>
          <p:nvPr/>
        </p:nvSpPr>
        <p:spPr>
          <a:xfrm>
            <a:off x="828675" y="3000375"/>
            <a:ext cx="247650" cy="2476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6416" y="3084195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858" y="3043714"/>
            <a:ext cx="8824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头身与二便</a:t>
            </a:r>
          </a:p>
        </p:txBody>
      </p:sp>
      <p:sp>
        <p:nvSpPr>
          <p:cNvPr id="18" name="Ellipse 18"/>
          <p:cNvSpPr/>
          <p:nvPr/>
        </p:nvSpPr>
        <p:spPr>
          <a:xfrm>
            <a:off x="828675" y="3390900"/>
            <a:ext cx="247650" cy="2476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06416" y="3474720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5858" y="3434239"/>
            <a:ext cx="8824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饮食与胸腹</a:t>
            </a:r>
          </a:p>
        </p:txBody>
      </p:sp>
      <p:sp>
        <p:nvSpPr>
          <p:cNvPr id="21" name="Ellipse 21"/>
          <p:cNvSpPr/>
          <p:nvPr/>
        </p:nvSpPr>
        <p:spPr>
          <a:xfrm>
            <a:off x="828675" y="3781425"/>
            <a:ext cx="247650" cy="2476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06416" y="3865245"/>
            <a:ext cx="92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858" y="3824764"/>
            <a:ext cx="12225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睡眠与旧病用药</a:t>
            </a:r>
          </a:p>
        </p:txBody>
      </p:sp>
      <p:sp>
        <p:nvSpPr>
          <p:cNvPr id="24" name="Line 24"/>
          <p:cNvSpPr/>
          <p:nvPr/>
        </p:nvSpPr>
        <p:spPr>
          <a:xfrm>
            <a:off x="838200" y="424815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19050">
            <a:solidFill>
              <a:srgbClr val="DCE5D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22960" y="44234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后台：问诊清单技能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3912" y="470773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确认必问项是否完成，并标记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912" y="491728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需要进一步判断的选问方向。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019550" y="1352550"/>
            <a:ext cx="7677150" cy="4086225"/>
          </a:xfrm>
          <a:prstGeom prst="roundRect">
            <a:avLst>
              <a:gd name="adj" fmla="val 5128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133850" y="1466850"/>
            <a:ext cx="7448550" cy="3629025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0" name="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1466850"/>
            <a:ext cx="7448550" cy="3629025"/>
          </a:xfrm>
          <a:prstGeom prst="roundRect">
            <a:avLst>
              <a:gd name="adj" fmla="val 3674"/>
            </a:avLst>
          </a:prstGeom>
        </p:spPr>
      </p:pic>
      <p:sp>
        <p:nvSpPr>
          <p:cNvPr id="31" name="Ellipse 31"/>
          <p:cNvSpPr/>
          <p:nvPr/>
        </p:nvSpPr>
        <p:spPr>
          <a:xfrm>
            <a:off x="4238625" y="5210175"/>
            <a:ext cx="95250" cy="952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06265" y="5201602"/>
            <a:ext cx="2364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基础问诊界面：固定完成 10 个必问项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09600" y="5676900"/>
            <a:ext cx="10972800" cy="666750"/>
          </a:xfrm>
          <a:prstGeom prst="roundRect">
            <a:avLst>
              <a:gd name="adj" fmla="val 21429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1060" y="5823585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这一阶段的结果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8202" y="6046946"/>
            <a:ext cx="516683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形成统一的基础问诊记录，为后续动态追问提供可靠上下文。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546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5B0A8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52387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2010" y="546735"/>
            <a:ext cx="42271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阶段二：对话式补充追问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0108" y="1024414"/>
            <a:ext cx="42829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每次只问一个最有价值的问题，根据回答实时更新下一步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466850"/>
            <a:ext cx="3219450" cy="3562350"/>
          </a:xfrm>
          <a:prstGeom prst="roundRect">
            <a:avLst>
              <a:gd name="adj" fmla="val 5325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838200" y="1695450"/>
            <a:ext cx="1695450" cy="304800"/>
          </a:xfrm>
          <a:prstGeom prst="roundRect">
            <a:avLst>
              <a:gd name="adj" fmla="val 50000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99078" y="1783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F8F4E"/>
                </a:solidFill>
                <a:latin typeface="Arial"/>
                <a:ea typeface="Microsoft YaHei"/>
                <a:cs typeface="Arial"/>
              </a:rPr>
              <a:t>提问策略技能</a:t>
            </a:r>
          </a:p>
        </p:txBody>
      </p:sp>
      <p:sp>
        <p:nvSpPr>
          <p:cNvPr id="9" name="Ellipse 9"/>
          <p:cNvSpPr/>
          <p:nvPr/>
        </p:nvSpPr>
        <p:spPr>
          <a:xfrm>
            <a:off x="828675" y="2171700"/>
            <a:ext cx="400050" cy="4000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71095" y="23169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3028" y="2275046"/>
            <a:ext cx="12333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读取当前回答</a:t>
            </a:r>
          </a:p>
        </p:txBody>
      </p:sp>
      <p:sp>
        <p:nvSpPr>
          <p:cNvPr id="12" name="Line 12"/>
          <p:cNvSpPr/>
          <p:nvPr/>
        </p:nvSpPr>
        <p:spPr>
          <a:xfrm>
            <a:off x="1028700" y="2581275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28575">
            <a:solidFill>
              <a:srgbClr val="DCE5DD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828675" y="2857500"/>
            <a:ext cx="400050" cy="4000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71095" y="30027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3028" y="2960846"/>
            <a:ext cx="183191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选择最高优先级缺口</a:t>
            </a:r>
          </a:p>
        </p:txBody>
      </p:sp>
      <p:sp>
        <p:nvSpPr>
          <p:cNvPr id="16" name="Line 16"/>
          <p:cNvSpPr/>
          <p:nvPr/>
        </p:nvSpPr>
        <p:spPr>
          <a:xfrm>
            <a:off x="1028700" y="3267075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28575">
            <a:solidFill>
              <a:srgbClr val="DCE5DD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828675" y="3543300"/>
            <a:ext cx="400050" cy="4000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71095" y="36885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3028" y="3646646"/>
            <a:ext cx="16323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生成一个清晰问题</a:t>
            </a:r>
          </a:p>
        </p:txBody>
      </p:sp>
      <p:sp>
        <p:nvSpPr>
          <p:cNvPr id="20" name="Line 20"/>
          <p:cNvSpPr/>
          <p:nvPr/>
        </p:nvSpPr>
        <p:spPr>
          <a:xfrm>
            <a:off x="1028700" y="3952875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28575">
            <a:solidFill>
              <a:srgbClr val="DCE5DD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28675" y="4229100"/>
            <a:ext cx="400050" cy="400050"/>
          </a:xfrm>
          <a:prstGeom prst="ellipse">
            <a:avLst/>
          </a:prstGeom>
          <a:solidFill>
            <a:srgbClr val="D6A74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71095" y="43743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3028" y="4332446"/>
            <a:ext cx="183191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更新档案并再次判断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4865" y="47158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内部决策不直接展示给用户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019550" y="1352550"/>
            <a:ext cx="7677150" cy="4019550"/>
          </a:xfrm>
          <a:prstGeom prst="roundRect">
            <a:avLst>
              <a:gd name="adj" fmla="val 5213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33850" y="1466850"/>
            <a:ext cx="7448550" cy="356235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7" name="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1466850"/>
            <a:ext cx="7448550" cy="3562350"/>
          </a:xfrm>
          <a:prstGeom prst="roundRect">
            <a:avLst>
              <a:gd name="adj" fmla="val 3743"/>
            </a:avLst>
          </a:prstGeom>
        </p:spPr>
      </p:pic>
      <p:sp>
        <p:nvSpPr>
          <p:cNvPr id="28" name="Ellipse 28"/>
          <p:cNvSpPr/>
          <p:nvPr/>
        </p:nvSpPr>
        <p:spPr>
          <a:xfrm>
            <a:off x="4238625" y="5153025"/>
            <a:ext cx="95250" cy="9525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406265" y="5144452"/>
            <a:ext cx="33870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真实页面：答案进入上下文，下一问在同一对话中继续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" y="5619750"/>
            <a:ext cx="10972800" cy="742950"/>
          </a:xfrm>
          <a:prstGeom prst="roundRect">
            <a:avLst>
              <a:gd name="adj" fmla="val 20513"/>
            </a:avLst>
          </a:prstGeom>
          <a:solidFill>
            <a:srgbClr val="FBF4DF"/>
          </a:solidFill>
          <a:ln w="19050">
            <a:solidFill>
              <a:srgbClr val="DCE5D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60108" y="577738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轮次控制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9155" y="6045518"/>
            <a:ext cx="79822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追问数量按病情动态生成，不固定为 5 问；通过完整度、重复检测、信息增益和最大轮次共同结束。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546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5B0A8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523875"/>
            <a:ext cx="76200" cy="419100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42010" y="54673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最终形成诊前档案与检查建议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0108" y="1024414"/>
            <a:ext cx="5643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把问诊内容整理为可继续使用的结构化结果，为后续诊中决策提供信息基础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485900"/>
            <a:ext cx="2800350" cy="5105400"/>
          </a:xfrm>
          <a:prstGeom prst="roundRect">
            <a:avLst>
              <a:gd name="adj" fmla="val 6803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00100" y="1743075"/>
            <a:ext cx="457200" cy="457200"/>
          </a:xfrm>
          <a:prstGeom prst="ellipse">
            <a:avLst/>
          </a:prstGeom>
          <a:solidFill>
            <a:srgbClr val="2F8F4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59574" y="19021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9695" y="1850708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完整诊前档案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0108" y="231981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汇总十个必问项和全部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0108" y="258651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补充追问，按问诊维度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0108" y="285321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形成结构化记录。</a:t>
            </a:r>
          </a:p>
        </p:txBody>
      </p:sp>
      <p:sp>
        <p:nvSpPr>
          <p:cNvPr id="13" name="Line 13"/>
          <p:cNvSpPr/>
          <p:nvPr/>
        </p:nvSpPr>
        <p:spPr>
          <a:xfrm>
            <a:off x="876300" y="3333750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9050">
            <a:solidFill>
              <a:srgbClr val="DCE5DD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800100" y="3552825"/>
            <a:ext cx="457200" cy="457200"/>
          </a:xfrm>
          <a:prstGeom prst="ellipse">
            <a:avLst/>
          </a:prstGeom>
          <a:solidFill>
            <a:srgbClr val="D6A74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59574" y="371189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9695" y="3660458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建议检查项目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0108" y="412956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根据已采集症状和风险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0108" y="439626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信息推荐相关检查，并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0108" y="4662964"/>
            <a:ext cx="20726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C7A70"/>
                </a:solidFill>
                <a:latin typeface="Arial"/>
                <a:ea typeface="Microsoft YaHei"/>
                <a:cs typeface="Arial"/>
              </a:rPr>
              <a:t>说明临床意义与注意事项。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38200" y="5295900"/>
            <a:ext cx="2343150" cy="990600"/>
          </a:xfrm>
          <a:prstGeom prst="roundRect">
            <a:avLst>
              <a:gd name="adj" fmla="val 13462"/>
            </a:avLst>
          </a:prstGeom>
          <a:solidFill>
            <a:srgbClr val="E6F4E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13460" y="54711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5732"/>
                </a:solidFill>
                <a:latin typeface="Arial"/>
                <a:ea typeface="Microsoft YaHei"/>
                <a:cs typeface="Arial"/>
              </a:rPr>
              <a:t>使用边界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4412" y="5755481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结果用于诊前整理和检查参考，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4412" y="59936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352A"/>
                </a:solidFill>
                <a:latin typeface="Arial"/>
                <a:ea typeface="Microsoft YaHei"/>
                <a:cs typeface="Arial"/>
              </a:rPr>
              <a:t>不能替代医生诊断。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600450" y="1371600"/>
            <a:ext cx="8096250" cy="4057650"/>
          </a:xfrm>
          <a:prstGeom prst="roundRect">
            <a:avLst>
              <a:gd name="adj" fmla="val 4695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714750" y="1485900"/>
            <a:ext cx="7867650" cy="38290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485900"/>
            <a:ext cx="7867650" cy="3829050"/>
          </a:xfrm>
          <a:prstGeom prst="roundRect">
            <a:avLst>
              <a:gd name="adj" fmla="val 2985"/>
            </a:avLst>
          </a:prstGeom>
        </p:spPr>
      </p:pic>
      <p:sp>
        <p:nvSpPr>
          <p:cNvPr id="27" name="Rectangle 27"/>
          <p:cNvSpPr/>
          <p:nvPr/>
        </p:nvSpPr>
        <p:spPr>
          <a:xfrm>
            <a:off x="3790950" y="154305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038933" y="16187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诊前档案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600450" y="5524500"/>
            <a:ext cx="8096250" cy="1181100"/>
          </a:xfrm>
          <a:prstGeom prst="roundRect">
            <a:avLst>
              <a:gd name="adj" fmla="val 14516"/>
            </a:avLst>
          </a:prstGeom>
          <a:solidFill>
            <a:srgbClr val="F5F8F4"/>
          </a:solidFill>
          <a:ln w="19050">
            <a:solidFill>
              <a:srgbClr val="DCE5D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714750" y="5638800"/>
            <a:ext cx="78676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1" name="Imag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5638800"/>
            <a:ext cx="7867650" cy="952500"/>
          </a:xfrm>
          <a:prstGeom prst="roundRect">
            <a:avLst>
              <a:gd name="adj" fmla="val 12000"/>
            </a:avLst>
          </a:prstGeom>
        </p:spPr>
      </p:pic>
      <p:sp>
        <p:nvSpPr>
          <p:cNvPr id="32" name="Rectangle 32"/>
          <p:cNvSpPr/>
          <p:nvPr/>
        </p:nvSpPr>
        <p:spPr>
          <a:xfrm>
            <a:off x="3790950" y="569595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D6A74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038933" y="57716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检查建议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54620" y="67036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5B0A8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2026-08-13T07:02:51Z</dcterms:created>
  <dcterms:modified xsi:type="dcterms:W3CDTF">2026-08-13T07:02:51Z</dcterms:modified>
  <cp:category/>
  <cp:contentStatus/>
</cp:coreProperties>
</file>