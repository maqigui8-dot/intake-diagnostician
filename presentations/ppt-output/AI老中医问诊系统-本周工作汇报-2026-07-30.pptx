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63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2820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大家好，我本周主要推进的是 AI 老中医问诊系统，也就是 intake-diagnostician 项目。汇报会从产品改版、前后端实现、数据沉淀和测试结果四个方面展开。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这一周的工作可以归纳为四部分。首先重新设计了页面和问诊流程，其次补齐后端会话能力，再把问诊结果沉淀为档案，最后完成了代码和浏览器层面的验证。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改版前的项目更接近一个聊天演示，能够问答，但流程位置、完成进度和历史信息都不够清晰。对于正式问诊场景来说，这会让用户不知道还要回答多少，也不利于后续保存和复用结果。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本周最核心的变化，是把项目从聊天 Demo 升级为结构化问诊产品。页面现在围绕步骤、题目、进度和摘要组织，用户的操作路径更稳定，系统也更容易管理问诊状态。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整个流程被拆成导诊、预问诊、信息确认和检查建议四个阶段。每个阶段都有明确目标，当前进度和已收集信息持续可见，用户既可以继续，也可以返回修改答案。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这是目前的实际页面。左侧是四阶段导航，中间聚焦当前题目，右侧同步展示进度、题目状态和已收集信息；同时对窄屏做了适配，保证核心答题路径不丢失。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用户回答不再只停留在页面里，而是经过会话整理，生成可阅读的 Markdown 四诊档案，同时保存包含结构化答案的 JSON 记录。这样后续可以继续做历史检索、统计分析和模型优化。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新版结构化问诊现在会在完成十道固定题后，调用十问歌和中医辨证两个 Skill。前者负责检查信息完整度与危险信号，后者提供保守的辨证参考；两者的结果会和四诊档案一起保存，同时模型不可用也不会影响基础问诊。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下一阶段会重点推进动态追问、风险提示、档案管理和部署稳定性。总体来说，本周已经完成从聊天 Demo 到结构化问诊产品的关键一步，后续目标是让它更智能、更稳定，也更接近真实问诊场景。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7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9105900" y="0"/>
              <a:ext cx="2933700" cy="2933700"/>
            </a:xfrm>
            <a:prstGeom prst="ellipse">
              <a:avLst/>
            </a:prstGeom>
            <a:solidFill>
              <a:srgbClr val="EEF6EF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687050" y="0"/>
              <a:ext cx="914400" cy="914400"/>
            </a:xfrm>
            <a:prstGeom prst="ellipse">
              <a:avLst/>
            </a:prstGeom>
            <a:solidFill>
              <a:srgbClr val="D8E4DA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495300" y="361950"/>
            <a:ext cx="1869758" cy="457200"/>
            <a:chOff x="495300" y="361950"/>
            <a:chExt cx="1869758" cy="457200"/>
          </a:xfrm>
        </p:grpSpPr>
        <p:sp>
          <p:nvSpPr>
            <p:cNvPr id="6" name="Ellipse 6"/>
            <p:cNvSpPr/>
            <p:nvPr/>
          </p:nvSpPr>
          <p:spPr>
            <a:xfrm>
              <a:off x="495300" y="361950"/>
              <a:ext cx="457200" cy="457200"/>
            </a:xfrm>
            <a:prstGeom prst="ellipse">
              <a:avLst/>
            </a:prstGeom>
            <a:solidFill>
              <a:srgbClr val="2F7D4A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646113" y="490538"/>
              <a:ext cx="155575" cy="200026"/>
              <a:chOff x="646113" y="490538"/>
              <a:chExt cx="155575" cy="20002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46113" y="512763"/>
                <a:ext cx="155575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77801">
                    <a:moveTo>
                      <a:pt x="44450" y="0"/>
                    </a:moveTo>
                    <a:lnTo>
                      <a:pt x="22225" y="0"/>
                    </a:lnTo>
                    <a:cubicBezTo>
                      <a:pt x="9950" y="0"/>
                      <a:pt x="0" y="9950"/>
                      <a:pt x="0" y="22225"/>
                    </a:cubicBezTo>
                    <a:lnTo>
                      <a:pt x="0" y="155575"/>
                    </a:lnTo>
                    <a:cubicBezTo>
                      <a:pt x="0" y="167850"/>
                      <a:pt x="9950" y="177801"/>
                      <a:pt x="22225" y="177801"/>
                    </a:cubicBezTo>
                    <a:lnTo>
                      <a:pt x="133350" y="177801"/>
                    </a:lnTo>
                    <a:cubicBezTo>
                      <a:pt x="145625" y="177801"/>
                      <a:pt x="155575" y="167850"/>
                      <a:pt x="155575" y="155575"/>
                    </a:cubicBezTo>
                    <a:lnTo>
                      <a:pt x="155575" y="22225"/>
                    </a:lnTo>
                    <a:cubicBezTo>
                      <a:pt x="155575" y="9950"/>
                      <a:pt x="145625" y="0"/>
                      <a:pt x="133350" y="0"/>
                    </a:cubicBez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90563" y="49053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44450" y="0"/>
                    </a:lnTo>
                    <a:cubicBezTo>
                      <a:pt x="56725" y="0"/>
                      <a:pt x="66675" y="9950"/>
                      <a:pt x="66675" y="22225"/>
                    </a:cubicBezTo>
                    <a:cubicBezTo>
                      <a:pt x="66675" y="34500"/>
                      <a:pt x="56725" y="44450"/>
                      <a:pt x="44450" y="44450"/>
                    </a:cubicBezTo>
                    <a:lnTo>
                      <a:pt x="22225" y="44450"/>
                    </a:lnTo>
                    <a:cubicBezTo>
                      <a:pt x="9950" y="44450"/>
                      <a:pt x="0" y="3450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01675" y="612775"/>
                <a:ext cx="44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9525">
                    <a:moveTo>
                      <a:pt x="0" y="0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23900" y="5905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066800" y="50482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7D4A"/>
                  </a:solidFill>
                  <a:latin typeface="Arial"/>
                  <a:ea typeface="Microsoft YaHei"/>
                  <a:cs typeface="Arial"/>
                </a:rPr>
                <a:t>中医智能助手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62940" y="1577340"/>
            <a:ext cx="2778252" cy="2680335"/>
            <a:chOff x="662940" y="1577340"/>
            <a:chExt cx="2778252" cy="2680335"/>
          </a:xfrm>
        </p:grpSpPr>
        <p:sp>
          <p:nvSpPr>
            <p:cNvPr id="14" name="TextBox 14"/>
            <p:cNvSpPr txBox="1"/>
            <p:nvPr/>
          </p:nvSpPr>
          <p:spPr>
            <a:xfrm>
              <a:off x="662940" y="1577340"/>
              <a:ext cx="2778252" cy="17564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6150"/>
                </a:lnSpc>
              </a:pPr>
              <a:r>
                <a:rPr lang="zh-CN" sz="480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AI 老中医问诊系统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23900" y="3190875"/>
              <a:ext cx="895350" cy="57150"/>
            </a:xfrm>
            <a:prstGeom prst="roundRect">
              <a:avLst>
                <a:gd name="adj" fmla="val 50000"/>
              </a:avLst>
            </a:prstGeom>
            <a:solidFill>
              <a:srgbClr val="65B66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9135" y="350424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F7D4A"/>
                  </a:solidFill>
                  <a:latin typeface="Arial"/>
                  <a:ea typeface="Microsoft YaHei"/>
                  <a:cs typeface="Arial"/>
                </a:rPr>
                <a:t>本周工作汇报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4850" y="3952875"/>
              <a:ext cx="18383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结构化问诊产品升级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848350" y="1466850"/>
            <a:ext cx="4495800" cy="3067050"/>
            <a:chOff x="5848350" y="1466850"/>
            <a:chExt cx="4495800" cy="3067050"/>
          </a:xfrm>
        </p:grpSpPr>
        <p:sp>
          <p:nvSpPr>
            <p:cNvPr id="19" name="Freeform 19"/>
            <p:cNvSpPr/>
            <p:nvPr/>
          </p:nvSpPr>
          <p:spPr>
            <a:xfrm>
              <a:off x="6286500" y="2000250"/>
              <a:ext cx="3524250" cy="2095500"/>
            </a:xfrm>
            <a:custGeom>
              <a:avLst/>
              <a:gdLst/>
              <a:ahLst/>
              <a:cxnLst/>
              <a:rect l="l" t="t" r="r" b="b"/>
              <a:pathLst>
                <a:path w="3524250" h="2095500">
                  <a:moveTo>
                    <a:pt x="0" y="2095500"/>
                  </a:moveTo>
                  <a:cubicBezTo>
                    <a:pt x="952500" y="857250"/>
                    <a:pt x="2286000" y="857250"/>
                    <a:pt x="3524250" y="0"/>
                  </a:cubicBezTo>
                </a:path>
              </a:pathLst>
            </a:custGeom>
            <a:noFill/>
            <a:ln w="95250" cap="rnd">
              <a:solidFill>
                <a:srgbClr val="D8E4D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286500" y="2000250"/>
              <a:ext cx="3524250" cy="2095500"/>
            </a:xfrm>
            <a:custGeom>
              <a:avLst/>
              <a:gdLst/>
              <a:ahLst/>
              <a:cxnLst/>
              <a:rect l="l" t="t" r="r" b="b"/>
              <a:pathLst>
                <a:path w="3524250" h="2095500">
                  <a:moveTo>
                    <a:pt x="0" y="2095500"/>
                  </a:moveTo>
                  <a:cubicBezTo>
                    <a:pt x="952500" y="857250"/>
                    <a:pt x="2286000" y="857250"/>
                    <a:pt x="3524250" y="0"/>
                  </a:cubicBezTo>
                </a:path>
              </a:pathLst>
            </a:custGeom>
            <a:noFill/>
            <a:ln w="28575" cap="rnd">
              <a:solidFill>
                <a:srgbClr val="65B66C"/>
              </a:solidFill>
              <a:prstDash val="lgDash"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5848350" y="3657600"/>
              <a:ext cx="876300" cy="876300"/>
              <a:chOff x="5848350" y="3657600"/>
              <a:chExt cx="876300" cy="876300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5848350" y="3657600"/>
                <a:ext cx="876300" cy="8763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D8E4DA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6057424" y="40100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5F6F64"/>
                    </a:solidFill>
                    <a:latin typeface="Arial"/>
                    <a:ea typeface="Microsoft YaHei"/>
                    <a:cs typeface="Arial"/>
                  </a:rPr>
                  <a:t>聊天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896100" y="2705100"/>
              <a:ext cx="876300" cy="876300"/>
              <a:chOff x="6896100" y="2705100"/>
              <a:chExt cx="876300" cy="876300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6896100" y="2705100"/>
                <a:ext cx="876300" cy="8763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65B66C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105174" y="30575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F7D4A"/>
                    </a:solidFill>
                    <a:latin typeface="Arial"/>
                    <a:ea typeface="Microsoft YaHei"/>
                    <a:cs typeface="Arial"/>
                  </a:rPr>
                  <a:t>引导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134350" y="2286000"/>
              <a:ext cx="876300" cy="876300"/>
              <a:chOff x="8134350" y="2286000"/>
              <a:chExt cx="876300" cy="876300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8134350" y="2286000"/>
                <a:ext cx="876300" cy="876300"/>
              </a:xfrm>
              <a:prstGeom prst="ellipse">
                <a:avLst/>
              </a:prstGeom>
              <a:solidFill>
                <a:srgbClr val="EEF6EF"/>
              </a:solidFill>
              <a:ln w="28575">
                <a:solidFill>
                  <a:srgbClr val="65B66C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238411" y="2638425"/>
                <a:ext cx="6681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F7D4A"/>
                    </a:solidFill>
                    <a:latin typeface="Arial"/>
                    <a:ea typeface="Microsoft YaHei"/>
                    <a:cs typeface="Arial"/>
                  </a:rPr>
                  <a:t>结构化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9277350" y="1466850"/>
              <a:ext cx="1066800" cy="1443038"/>
              <a:chOff x="9277350" y="1466850"/>
              <a:chExt cx="1066800" cy="1443038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9277350" y="1466850"/>
                <a:ext cx="1066800" cy="1066800"/>
              </a:xfrm>
              <a:prstGeom prst="ellipse">
                <a:avLst/>
              </a:prstGeom>
              <a:solidFill>
                <a:srgbClr val="2F7D4A"/>
              </a:solidFill>
              <a:ln>
                <a:noFill/>
              </a:ln>
            </p:spPr>
          </p:sp>
          <p:grpSp>
            <p:nvGrpSpPr>
              <p:cNvPr id="36" name="Group 36"/>
              <p:cNvGrpSpPr/>
              <p:nvPr/>
            </p:nvGrpSpPr>
            <p:grpSpPr>
              <a:xfrm>
                <a:off x="9658350" y="1828800"/>
                <a:ext cx="342929" cy="361950"/>
                <a:chOff x="9658350" y="1828800"/>
                <a:chExt cx="342929" cy="361950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9658350" y="1828800"/>
                  <a:ext cx="3048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0" h="114300">
                      <a:moveTo>
                        <a:pt x="0" y="57150"/>
                      </a:moveTo>
                      <a:cubicBezTo>
                        <a:pt x="0" y="88716"/>
                        <a:pt x="68237" y="114300"/>
                        <a:pt x="152400" y="114300"/>
                      </a:cubicBezTo>
                      <a:cubicBezTo>
                        <a:pt x="236563" y="114300"/>
                        <a:pt x="304800" y="88716"/>
                        <a:pt x="304800" y="57150"/>
                      </a:cubicBezTo>
                      <a:cubicBezTo>
                        <a:pt x="304800" y="25584"/>
                        <a:pt x="236563" y="0"/>
                        <a:pt x="152400" y="0"/>
                      </a:cubicBezTo>
                      <a:cubicBezTo>
                        <a:pt x="68237" y="0"/>
                        <a:pt x="0" y="25584"/>
                        <a:pt x="0" y="5715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9658350" y="1885950"/>
                  <a:ext cx="122187" cy="1703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187" h="170326">
                      <a:moveTo>
                        <a:pt x="0" y="0"/>
                      </a:moveTo>
                      <a:lnTo>
                        <a:pt x="0" y="114300"/>
                      </a:lnTo>
                      <a:cubicBezTo>
                        <a:pt x="0" y="141980"/>
                        <a:pt x="52483" y="165068"/>
                        <a:pt x="122187" y="170326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9963150" y="1885950"/>
                  <a:ext cx="952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0">
                      <a:moveTo>
                        <a:pt x="0" y="952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9658350" y="2000250"/>
                  <a:ext cx="140646" cy="171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46" h="171279">
                      <a:moveTo>
                        <a:pt x="0" y="0"/>
                      </a:moveTo>
                      <a:lnTo>
                        <a:pt x="0" y="114300"/>
                      </a:lnTo>
                      <a:cubicBezTo>
                        <a:pt x="0" y="144380"/>
                        <a:pt x="61970" y="169031"/>
                        <a:pt x="140646" y="171279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9848826" y="2053346"/>
                  <a:ext cx="152453" cy="1374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53" h="137404">
                      <a:moveTo>
                        <a:pt x="76224" y="137404"/>
                      </a:moveTo>
                      <a:lnTo>
                        <a:pt x="140041" y="74844"/>
                      </a:lnTo>
                      <a:cubicBezTo>
                        <a:pt x="147948" y="67172"/>
                        <a:pt x="152417" y="56630"/>
                        <a:pt x="152435" y="45613"/>
                      </a:cubicBezTo>
                      <a:cubicBezTo>
                        <a:pt x="152453" y="34596"/>
                        <a:pt x="148018" y="24039"/>
                        <a:pt x="140136" y="16341"/>
                      </a:cubicBezTo>
                      <a:cubicBezTo>
                        <a:pt x="123583" y="153"/>
                        <a:pt x="97145" y="102"/>
                        <a:pt x="80529" y="16227"/>
                      </a:cubicBezTo>
                      <a:lnTo>
                        <a:pt x="76262" y="20418"/>
                      </a:lnTo>
                      <a:lnTo>
                        <a:pt x="72014" y="16227"/>
                      </a:lnTo>
                      <a:cubicBezTo>
                        <a:pt x="55462" y="51"/>
                        <a:pt x="29038" y="0"/>
                        <a:pt x="12425" y="16113"/>
                      </a:cubicBezTo>
                      <a:cubicBezTo>
                        <a:pt x="4516" y="23783"/>
                        <a:pt x="43" y="34323"/>
                        <a:pt x="22" y="45340"/>
                      </a:cubicBezTo>
                      <a:cubicBezTo>
                        <a:pt x="0" y="56357"/>
                        <a:pt x="4432" y="66915"/>
                        <a:pt x="12311" y="74615"/>
                      </a:cubicBezTo>
                      <a:lnTo>
                        <a:pt x="76224" y="137404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9415558" y="26355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2F7D4A"/>
                    </a:solidFill>
                    <a:latin typeface="Arial"/>
                    <a:ea typeface="Microsoft YaHei"/>
                    <a:cs typeface="Arial"/>
                  </a:rPr>
                  <a:t>四诊档案</a:t>
                </a: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709612" y="6076950"/>
            <a:ext cx="10772776" cy="450056"/>
            <a:chOff x="709612" y="6076950"/>
            <a:chExt cx="10772776" cy="450056"/>
          </a:xfrm>
        </p:grpSpPr>
        <p:sp>
          <p:nvSpPr>
            <p:cNvPr id="40" name="Line 40"/>
            <p:cNvSpPr/>
            <p:nvPr/>
          </p:nvSpPr>
          <p:spPr>
            <a:xfrm>
              <a:off x="723900" y="6076950"/>
              <a:ext cx="10744200" cy="9525"/>
            </a:xfrm>
            <a:custGeom>
              <a:avLst/>
              <a:gdLst/>
              <a:ahLst/>
              <a:cxnLst/>
              <a:rect l="l" t="t" r="r" b="b"/>
              <a:pathLst>
                <a:path w="10744200" h="9525">
                  <a:moveTo>
                    <a:pt x="0" y="0"/>
                  </a:moveTo>
                  <a:lnTo>
                    <a:pt x="10744200" y="0"/>
                  </a:lnTo>
                </a:path>
              </a:pathLst>
            </a:custGeom>
            <a:noFill/>
            <a:ln w="9525">
              <a:solidFill>
                <a:srgbClr val="D8E4D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9612" y="6298406"/>
              <a:ext cx="8536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8A978E"/>
                  </a:solidFill>
                  <a:latin typeface="Arial"/>
                  <a:ea typeface="Arial"/>
                  <a:cs typeface="Arial"/>
                </a:rPr>
                <a:t>2026.07.30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53550" y="6298406"/>
              <a:ext cx="2128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8A978E"/>
                  </a:solidFill>
                  <a:latin typeface="Arial"/>
                  <a:ea typeface="Microsoft YaHei"/>
                  <a:cs typeface="Arial"/>
                </a:rPr>
                <a:t>从聊天 Demo 到结构化问诊产品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9110" y="394335"/>
            <a:ext cx="11159490" cy="777240"/>
            <a:chOff x="499110" y="394335"/>
            <a:chExt cx="11159490" cy="777240"/>
          </a:xfrm>
        </p:grpSpPr>
        <p:sp>
          <p:nvSpPr>
            <p:cNvPr id="3" name="TextBox 3"/>
            <p:cNvSpPr txBox="1"/>
            <p:nvPr/>
          </p:nvSpPr>
          <p:spPr>
            <a:xfrm>
              <a:off x="499110" y="39433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本周工作概览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4350" y="866775"/>
              <a:ext cx="34385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完成了一次从交互到数据的产品化升级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0668000" y="457200"/>
              <a:ext cx="990600" cy="323850"/>
            </a:xfrm>
            <a:prstGeom prst="roundRect">
              <a:avLst>
                <a:gd name="adj" fmla="val 50000"/>
              </a:avLst>
            </a:prstGeom>
            <a:solidFill>
              <a:srgbClr val="EEF6E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845787" y="554831"/>
              <a:ext cx="6350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F7D4A"/>
                  </a:solidFill>
                  <a:latin typeface="Arial"/>
                  <a:ea typeface="Microsoft YaHei"/>
                  <a:cs typeface="Arial"/>
                </a:rPr>
                <a:t>4 项成果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33400" y="1409700"/>
            <a:ext cx="5353050" cy="2057400"/>
            <a:chOff x="533400" y="1409700"/>
            <a:chExt cx="5353050" cy="2057400"/>
          </a:xfrm>
        </p:grpSpPr>
        <p:sp>
          <p:nvSpPr>
            <p:cNvPr id="8" name="Rectangle 8"/>
            <p:cNvSpPr/>
            <p:nvPr/>
          </p:nvSpPr>
          <p:spPr>
            <a:xfrm>
              <a:off x="533400" y="1409700"/>
              <a:ext cx="5353050" cy="20574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rgbClr val="D8E4D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657350"/>
              <a:ext cx="552450" cy="552450"/>
            </a:xfrm>
            <a:prstGeom prst="roundRect">
              <a:avLst>
                <a:gd name="adj" fmla="val 20690"/>
              </a:avLst>
            </a:prstGeom>
            <a:solidFill>
              <a:srgbClr val="EEF6EF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955675" y="1831975"/>
              <a:ext cx="203200" cy="203200"/>
              <a:chOff x="955675" y="1831975"/>
              <a:chExt cx="203200" cy="2032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955675" y="1831975"/>
                <a:ext cx="76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1600">
                    <a:moveTo>
                      <a:pt x="12700" y="0"/>
                    </a:move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88900"/>
                    </a:lnTo>
                    <a:cubicBezTo>
                      <a:pt x="76200" y="95914"/>
                      <a:pt x="70514" y="101600"/>
                      <a:pt x="63500" y="101600"/>
                    </a:cubicBezTo>
                    <a:lnTo>
                      <a:pt x="12700" y="101600"/>
                    </a:lnTo>
                    <a:cubicBezTo>
                      <a:pt x="5686" y="101600"/>
                      <a:pt x="0" y="95914"/>
                      <a:pt x="0" y="88900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55675" y="1984374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12700" y="0"/>
                    </a:move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38100"/>
                    </a:lnTo>
                    <a:cubicBezTo>
                      <a:pt x="76200" y="45114"/>
                      <a:pt x="70514" y="50800"/>
                      <a:pt x="63500" y="50800"/>
                    </a:cubicBezTo>
                    <a:lnTo>
                      <a:pt x="12700" y="50800"/>
                    </a:lnTo>
                    <a:cubicBezTo>
                      <a:pt x="5686" y="50800"/>
                      <a:pt x="0" y="45114"/>
                      <a:pt x="0" y="38100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82675" y="1933575"/>
                <a:ext cx="76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1600">
                    <a:moveTo>
                      <a:pt x="12700" y="0"/>
                    </a:move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88900"/>
                    </a:lnTo>
                    <a:cubicBezTo>
                      <a:pt x="76200" y="95914"/>
                      <a:pt x="70514" y="101600"/>
                      <a:pt x="63500" y="101600"/>
                    </a:cubicBezTo>
                    <a:lnTo>
                      <a:pt x="12700" y="101600"/>
                    </a:lnTo>
                    <a:cubicBezTo>
                      <a:pt x="5686" y="101600"/>
                      <a:pt x="0" y="95914"/>
                      <a:pt x="0" y="88900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82675" y="1831975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12700" y="0"/>
                    </a:move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38100"/>
                    </a:lnTo>
                    <a:cubicBezTo>
                      <a:pt x="76200" y="45114"/>
                      <a:pt x="70514" y="50800"/>
                      <a:pt x="63500" y="50800"/>
                    </a:cubicBezTo>
                    <a:lnTo>
                      <a:pt x="12700" y="50800"/>
                    </a:lnTo>
                    <a:cubicBezTo>
                      <a:pt x="5686" y="50800"/>
                      <a:pt x="0" y="45114"/>
                      <a:pt x="0" y="38100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556385" y="1684972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产品形态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66862" y="2069306"/>
              <a:ext cx="18513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F7D4A"/>
                  </a:solidFill>
                  <a:latin typeface="Arial"/>
                  <a:ea typeface="Microsoft YaHei"/>
                  <a:cs typeface="Arial"/>
                </a:rPr>
                <a:t>聊天式问诊 → 引导式预问诊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81050" y="2457450"/>
              <a:ext cx="4819650" cy="9525"/>
            </a:xfrm>
            <a:custGeom>
              <a:avLst/>
              <a:gdLst/>
              <a:ahLst/>
              <a:cxnLst/>
              <a:rect l="l" t="t" r="r" b="b"/>
              <a:pathLst>
                <a:path w="4819650" h="9525">
                  <a:moveTo>
                    <a:pt x="0" y="0"/>
                  </a:moveTo>
                  <a:lnTo>
                    <a:pt x="4819650" y="0"/>
                  </a:lnTo>
                </a:path>
              </a:pathLst>
            </a:custGeom>
            <a:noFill/>
            <a:ln w="9525">
              <a:solidFill>
                <a:srgbClr val="E8F0E9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0" y="2657475"/>
              <a:ext cx="28956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用户可以通过选项逐步完成问诊，同时保留补充描述。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115050" y="1409700"/>
            <a:ext cx="5543550" cy="2057400"/>
            <a:chOff x="6115050" y="1409700"/>
            <a:chExt cx="5543550" cy="2057400"/>
          </a:xfrm>
        </p:grpSpPr>
        <p:sp>
          <p:nvSpPr>
            <p:cNvPr id="20" name="Rectangle 20"/>
            <p:cNvSpPr/>
            <p:nvPr/>
          </p:nvSpPr>
          <p:spPr>
            <a:xfrm>
              <a:off x="6115050" y="1409700"/>
              <a:ext cx="5543550" cy="20574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rgbClr val="D8E4D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362700" y="1657350"/>
              <a:ext cx="552450" cy="552450"/>
            </a:xfrm>
            <a:prstGeom prst="roundRect">
              <a:avLst>
                <a:gd name="adj" fmla="val 20690"/>
              </a:avLst>
            </a:prstGeom>
            <a:solidFill>
              <a:srgbClr val="EEF6EF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524625" y="1819275"/>
              <a:ext cx="228599" cy="228599"/>
              <a:chOff x="6524625" y="1819275"/>
              <a:chExt cx="228599" cy="228599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524625" y="1997074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50800" y="0"/>
                    </a:lnTo>
                    <a:lnTo>
                      <a:pt x="50800" y="50800"/>
                    </a:lnTo>
                    <a:lnTo>
                      <a:pt x="0" y="508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702424" y="181927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50800" y="0"/>
                    </a:lnTo>
                    <a:lnTo>
                      <a:pt x="50800" y="50800"/>
                    </a:lnTo>
                    <a:lnTo>
                      <a:pt x="0" y="508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550025" y="1844675"/>
                <a:ext cx="1905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77800">
                    <a:moveTo>
                      <a:pt x="76200" y="177800"/>
                    </a:moveTo>
                    <a:lnTo>
                      <a:pt x="146050" y="177800"/>
                    </a:lnTo>
                    <a:cubicBezTo>
                      <a:pt x="170599" y="177800"/>
                      <a:pt x="190500" y="157899"/>
                      <a:pt x="190500" y="133350"/>
                    </a:cubicBezTo>
                    <a:cubicBezTo>
                      <a:pt x="190500" y="108801"/>
                      <a:pt x="170599" y="88900"/>
                      <a:pt x="146050" y="88900"/>
                    </a:cubicBezTo>
                    <a:lnTo>
                      <a:pt x="44450" y="88900"/>
                    </a:ln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7138035" y="1684972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前端体验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48512" y="2069306"/>
              <a:ext cx="18513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F7D4A"/>
                  </a:solidFill>
                  <a:latin typeface="Arial"/>
                  <a:ea typeface="Microsoft YaHei"/>
                  <a:cs typeface="Arial"/>
                </a:rPr>
                <a:t>三栏工作台 + 实时进度反馈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362700" y="2457450"/>
              <a:ext cx="5010150" cy="9525"/>
            </a:xfrm>
            <a:custGeom>
              <a:avLst/>
              <a:gdLst/>
              <a:ahLst/>
              <a:cxnLst/>
              <a:rect l="l" t="t" r="r" b="b"/>
              <a:pathLst>
                <a:path w="5010150" h="9525">
                  <a:moveTo>
                    <a:pt x="0" y="0"/>
                  </a:moveTo>
                  <a:lnTo>
                    <a:pt x="5010150" y="0"/>
                  </a:lnTo>
                </a:path>
              </a:pathLst>
            </a:custGeom>
            <a:noFill/>
            <a:ln w="9525">
              <a:solidFill>
                <a:srgbClr val="E8F0E9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43650" y="2657475"/>
              <a:ext cx="25146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流程、当前问题和已收集信息在一个页面同步呈现。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33400" y="3695700"/>
            <a:ext cx="5353050" cy="2057400"/>
            <a:chOff x="533400" y="3695700"/>
            <a:chExt cx="5353050" cy="2057400"/>
          </a:xfrm>
        </p:grpSpPr>
        <p:sp>
          <p:nvSpPr>
            <p:cNvPr id="31" name="Rectangle 31"/>
            <p:cNvSpPr/>
            <p:nvPr/>
          </p:nvSpPr>
          <p:spPr>
            <a:xfrm>
              <a:off x="533400" y="3695700"/>
              <a:ext cx="5353050" cy="20574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rgbClr val="D8E4D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81050" y="3943350"/>
              <a:ext cx="552450" cy="552450"/>
            </a:xfrm>
            <a:prstGeom prst="roundRect">
              <a:avLst>
                <a:gd name="adj" fmla="val 20690"/>
              </a:avLst>
            </a:prstGeom>
            <a:solidFill>
              <a:srgbClr val="EEF6EF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942975" y="4117975"/>
              <a:ext cx="229018" cy="222249"/>
              <a:chOff x="942975" y="4117975"/>
              <a:chExt cx="229018" cy="222249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42975" y="4117975"/>
                <a:ext cx="228599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016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  <a:cubicBezTo>
                      <a:pt x="211542" y="0"/>
                      <a:pt x="228599" y="17058"/>
                      <a:pt x="228599" y="38100"/>
                    </a:cubicBezTo>
                    <a:lnTo>
                      <a:pt x="228599" y="63500"/>
                    </a:lnTo>
                    <a:cubicBezTo>
                      <a:pt x="228599" y="84542"/>
                      <a:pt x="211542" y="101600"/>
                      <a:pt x="190500" y="101600"/>
                    </a:cubicBezTo>
                    <a:lnTo>
                      <a:pt x="38100" y="101600"/>
                    </a:lnTo>
                    <a:cubicBezTo>
                      <a:pt x="17058" y="101600"/>
                      <a:pt x="0" y="84542"/>
                      <a:pt x="0" y="63500"/>
                    </a:cubicBez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42975" y="4219575"/>
                <a:ext cx="17145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01600">
                    <a:moveTo>
                      <a:pt x="114300" y="101600"/>
                    </a:moveTo>
                    <a:lnTo>
                      <a:pt x="38100" y="101600"/>
                    </a:lnTo>
                    <a:cubicBezTo>
                      <a:pt x="17058" y="101600"/>
                      <a:pt x="0" y="84542"/>
                      <a:pt x="0" y="635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108074" y="4270374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133474" y="425132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133474" y="4321174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155483" y="4273549"/>
                <a:ext cx="1649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497" h="9525">
                    <a:moveTo>
                      <a:pt x="16497" y="0"/>
                    </a:move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94994" y="4308474"/>
                <a:ext cx="1651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10" h="9525">
                    <a:moveTo>
                      <a:pt x="16510" y="0"/>
                    </a:move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094994" y="4273549"/>
                <a:ext cx="1651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10" h="9525">
                    <a:moveTo>
                      <a:pt x="0" y="0"/>
                    </a:moveTo>
                    <a:lnTo>
                      <a:pt x="16510" y="9525"/>
                    </a:ln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155483" y="4308474"/>
                <a:ext cx="1651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10" h="9525">
                    <a:moveTo>
                      <a:pt x="0" y="0"/>
                    </a:moveTo>
                    <a:lnTo>
                      <a:pt x="16510" y="9525"/>
                    </a:ln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93775" y="41687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93775" y="4270374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556385" y="3970972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后端能力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566862" y="4355306"/>
              <a:ext cx="17387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F7D4A"/>
                  </a:solidFill>
                  <a:latin typeface="Arial"/>
                  <a:ea typeface="Microsoft YaHei"/>
                  <a:cs typeface="Arial"/>
                </a:rPr>
                <a:t>10 题状态流程 + 4 类接口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781050" y="4743450"/>
              <a:ext cx="4819650" cy="9525"/>
            </a:xfrm>
            <a:custGeom>
              <a:avLst/>
              <a:gdLst/>
              <a:ahLst/>
              <a:cxnLst/>
              <a:rect l="l" t="t" r="r" b="b"/>
              <a:pathLst>
                <a:path w="4819650" h="9525">
                  <a:moveTo>
                    <a:pt x="0" y="0"/>
                  </a:moveTo>
                  <a:lnTo>
                    <a:pt x="4819650" y="0"/>
                  </a:lnTo>
                </a:path>
              </a:pathLst>
            </a:custGeom>
            <a:noFill/>
            <a:ln w="9525">
              <a:solidFill>
                <a:srgbClr val="E8F0E9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62000" y="4943475"/>
              <a:ext cx="27051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支持读取、答题、回退和完成，问诊会话可以持续推进。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115050" y="3695700"/>
            <a:ext cx="5543550" cy="2057400"/>
            <a:chOff x="6115050" y="3695700"/>
            <a:chExt cx="5543550" cy="2057400"/>
          </a:xfrm>
        </p:grpSpPr>
        <p:sp>
          <p:nvSpPr>
            <p:cNvPr id="50" name="Rectangle 50"/>
            <p:cNvSpPr/>
            <p:nvPr/>
          </p:nvSpPr>
          <p:spPr>
            <a:xfrm>
              <a:off x="6115050" y="3695700"/>
              <a:ext cx="5543550" cy="20574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rgbClr val="D8E4D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362700" y="3943350"/>
              <a:ext cx="552450" cy="552450"/>
            </a:xfrm>
            <a:prstGeom prst="roundRect">
              <a:avLst>
                <a:gd name="adj" fmla="val 20690"/>
              </a:avLst>
            </a:prstGeom>
            <a:solidFill>
              <a:srgbClr val="EEF6EF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521087" y="4105275"/>
              <a:ext cx="234793" cy="232157"/>
              <a:chOff x="6521087" y="4105275"/>
              <a:chExt cx="234793" cy="232157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521087" y="4117975"/>
                <a:ext cx="219438" cy="219457"/>
              </a:xfrm>
              <a:custGeom>
                <a:avLst/>
                <a:gdLst/>
                <a:ahLst/>
                <a:cxnLst/>
                <a:rect l="l" t="t" r="r" b="b"/>
                <a:pathLst>
                  <a:path w="219438" h="219457">
                    <a:moveTo>
                      <a:pt x="219438" y="51308"/>
                    </a:moveTo>
                    <a:lnTo>
                      <a:pt x="65489" y="205282"/>
                    </a:lnTo>
                    <a:cubicBezTo>
                      <a:pt x="51321" y="219454"/>
                      <a:pt x="28346" y="219457"/>
                      <a:pt x="14175" y="205289"/>
                    </a:cubicBezTo>
                    <a:cubicBezTo>
                      <a:pt x="3" y="191120"/>
                      <a:pt x="0" y="168146"/>
                      <a:pt x="14168" y="153974"/>
                    </a:cubicBezTo>
                    <a:lnTo>
                      <a:pt x="168117" y="0"/>
                    </a:ln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575425" y="4232275"/>
                <a:ext cx="101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9525">
                    <a:moveTo>
                      <a:pt x="0" y="0"/>
                    </a:move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699769" y="4257675"/>
                <a:ext cx="56111" cy="64876"/>
              </a:xfrm>
              <a:custGeom>
                <a:avLst/>
                <a:gdLst/>
                <a:ahLst/>
                <a:cxnLst/>
                <a:rect l="l" t="t" r="r" b="b"/>
                <a:pathLst>
                  <a:path w="56111" h="64876">
                    <a:moveTo>
                      <a:pt x="28056" y="0"/>
                    </a:moveTo>
                    <a:lnTo>
                      <a:pt x="47106" y="20320"/>
                    </a:lnTo>
                    <a:cubicBezTo>
                      <a:pt x="56111" y="30531"/>
                      <a:pt x="55464" y="46028"/>
                      <a:pt x="45637" y="55452"/>
                    </a:cubicBezTo>
                    <a:cubicBezTo>
                      <a:pt x="35811" y="64876"/>
                      <a:pt x="20301" y="64876"/>
                      <a:pt x="10474" y="55452"/>
                    </a:cubicBezTo>
                    <a:cubicBezTo>
                      <a:pt x="648" y="46028"/>
                      <a:pt x="0" y="30531"/>
                      <a:pt x="9006" y="20320"/>
                    </a:cubicBezTo>
                    <a:lnTo>
                      <a:pt x="28056" y="0"/>
                    </a:ln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677025" y="410527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76200" y="76200"/>
                    </a:ln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7138035" y="3970972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工程质量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48512" y="4355306"/>
              <a:ext cx="17237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F7D4A"/>
                  </a:solidFill>
                  <a:latin typeface="Arial"/>
                  <a:ea typeface="Microsoft YaHei"/>
                  <a:cs typeface="Arial"/>
                </a:rPr>
                <a:t>测试 + 构建 + 浏览器验证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6362700" y="4743450"/>
              <a:ext cx="5010150" cy="9525"/>
            </a:xfrm>
            <a:custGeom>
              <a:avLst/>
              <a:gdLst/>
              <a:ahLst/>
              <a:cxnLst/>
              <a:rect l="l" t="t" r="r" b="b"/>
              <a:pathLst>
                <a:path w="5010150" h="9525">
                  <a:moveTo>
                    <a:pt x="0" y="0"/>
                  </a:moveTo>
                  <a:lnTo>
                    <a:pt x="5010150" y="0"/>
                  </a:lnTo>
                </a:path>
              </a:pathLst>
            </a:custGeom>
            <a:noFill/>
            <a:ln w="9525">
              <a:solidFill>
                <a:srgbClr val="E8F0E9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43650" y="4943475"/>
              <a:ext cx="30861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后端测试全部通过，前端完成构建，核心交互链路已实际验证。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21970" y="6398895"/>
            <a:ext cx="11148061" cy="182880"/>
            <a:chOff x="521970" y="6398895"/>
            <a:chExt cx="11148061" cy="182880"/>
          </a:xfrm>
        </p:grpSpPr>
        <p:sp>
          <p:nvSpPr>
            <p:cNvPr id="62" name="TextBox 62"/>
            <p:cNvSpPr txBox="1"/>
            <p:nvPr/>
          </p:nvSpPr>
          <p:spPr>
            <a:xfrm>
              <a:off x="521970" y="6398895"/>
              <a:ext cx="18410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978E"/>
                  </a:solidFill>
                  <a:latin typeface="Arial"/>
                  <a:ea typeface="Microsoft YaHei"/>
                  <a:cs typeface="Arial"/>
                </a:rPr>
                <a:t>AI 老中医问诊系统｜本周工作汇报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15154" y="639889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978E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7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3028950" cy="6858000"/>
            </a:xfrm>
            <a:prstGeom prst="rect">
              <a:avLst/>
            </a:prstGeom>
            <a:solidFill>
              <a:srgbClr val="2F7D4A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32460" y="1960245"/>
            <a:ext cx="1779175" cy="3254693"/>
            <a:chOff x="632460" y="1960245"/>
            <a:chExt cx="1779175" cy="3254693"/>
          </a:xfrm>
        </p:grpSpPr>
        <p:sp>
          <p:nvSpPr>
            <p:cNvPr id="5" name="TextBox 5"/>
            <p:cNvSpPr txBox="1"/>
            <p:nvPr/>
          </p:nvSpPr>
          <p:spPr>
            <a:xfrm>
              <a:off x="674370" y="1960245"/>
              <a:ext cx="1737265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改版前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32460" y="2651760"/>
              <a:ext cx="737349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99135" y="3637598"/>
              <a:ext cx="14147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个核心问题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06755" y="4331018"/>
              <a:ext cx="1062990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EEF6EF"/>
                  </a:solidFill>
                  <a:latin typeface="Arial"/>
                  <a:ea typeface="Microsoft YaHei"/>
                  <a:cs typeface="Arial"/>
                </a:rPr>
                <a:t>能对话，但还不像一个完整产品。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604260" y="489585"/>
            <a:ext cx="4253865" cy="777240"/>
            <a:chOff x="3604260" y="489585"/>
            <a:chExt cx="4253865" cy="777240"/>
          </a:xfrm>
        </p:grpSpPr>
        <p:sp>
          <p:nvSpPr>
            <p:cNvPr id="10" name="TextBox 10"/>
            <p:cNvSpPr txBox="1"/>
            <p:nvPr/>
          </p:nvSpPr>
          <p:spPr>
            <a:xfrm>
              <a:off x="3604260" y="48958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改版前的问题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19500" y="962025"/>
              <a:ext cx="4238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自由聊天缺少稳定流程、可见进度和结构化数据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638550" y="1846898"/>
            <a:ext cx="7696200" cy="943927"/>
            <a:chOff x="3638550" y="1846898"/>
            <a:chExt cx="7696200" cy="943927"/>
          </a:xfrm>
        </p:grpSpPr>
        <p:sp>
          <p:nvSpPr>
            <p:cNvPr id="13" name="Ellipse 13"/>
            <p:cNvSpPr/>
            <p:nvPr/>
          </p:nvSpPr>
          <p:spPr>
            <a:xfrm>
              <a:off x="3733800" y="1847850"/>
              <a:ext cx="533400" cy="533400"/>
            </a:xfrm>
            <a:prstGeom prst="ellipse">
              <a:avLst/>
            </a:prstGeom>
            <a:solidFill>
              <a:srgbClr val="EEF6EF"/>
            </a:solidFill>
            <a:ln w="19050">
              <a:solidFill>
                <a:srgbClr val="65B66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865936" y="202882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2F7D4A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28185" y="1846898"/>
              <a:ext cx="196076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用户表达成本高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33900" y="2247900"/>
              <a:ext cx="3238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需要自己组织症状，信息容易遗漏。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638550" y="2781300"/>
              <a:ext cx="7696200" cy="9525"/>
            </a:xfrm>
            <a:custGeom>
              <a:avLst/>
              <a:gdLst/>
              <a:ahLst/>
              <a:cxnLst/>
              <a:rect l="l" t="t" r="r" b="b"/>
              <a:pathLst>
                <a:path w="7696200" h="9525">
                  <a:moveTo>
                    <a:pt x="0" y="0"/>
                  </a:moveTo>
                  <a:lnTo>
                    <a:pt x="7696200" y="0"/>
                  </a:lnTo>
                </a:path>
              </a:pathLst>
            </a:custGeom>
            <a:noFill/>
            <a:ln w="9525">
              <a:solidFill>
                <a:srgbClr val="D8E4DA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3638550" y="3275648"/>
            <a:ext cx="7696200" cy="943927"/>
            <a:chOff x="3638550" y="3275648"/>
            <a:chExt cx="7696200" cy="943927"/>
          </a:xfrm>
        </p:grpSpPr>
        <p:sp>
          <p:nvSpPr>
            <p:cNvPr id="19" name="Ellipse 19"/>
            <p:cNvSpPr/>
            <p:nvPr/>
          </p:nvSpPr>
          <p:spPr>
            <a:xfrm>
              <a:off x="3733800" y="3276600"/>
              <a:ext cx="533400" cy="533400"/>
            </a:xfrm>
            <a:prstGeom prst="ellipse">
              <a:avLst/>
            </a:prstGeom>
            <a:solidFill>
              <a:srgbClr val="EEF6EF"/>
            </a:solidFill>
            <a:ln w="19050">
              <a:solidFill>
                <a:srgbClr val="65B66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65936" y="34575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2F7D4A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28185" y="3275648"/>
              <a:ext cx="196076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问诊过程不透明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33900" y="3676650"/>
              <a:ext cx="3838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用户不知道问到哪里，也不知道还剩多少。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3638550" y="4210050"/>
              <a:ext cx="7696200" cy="9525"/>
            </a:xfrm>
            <a:custGeom>
              <a:avLst/>
              <a:gdLst/>
              <a:ahLst/>
              <a:cxnLst/>
              <a:rect l="l" t="t" r="r" b="b"/>
              <a:pathLst>
                <a:path w="7696200" h="9525">
                  <a:moveTo>
                    <a:pt x="0" y="0"/>
                  </a:moveTo>
                  <a:lnTo>
                    <a:pt x="7696200" y="0"/>
                  </a:lnTo>
                </a:path>
              </a:pathLst>
            </a:custGeom>
            <a:noFill/>
            <a:ln w="9525">
              <a:solidFill>
                <a:srgbClr val="D8E4DA"/>
              </a:solidFill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3733800" y="4704398"/>
            <a:ext cx="4838700" cy="705802"/>
            <a:chOff x="3733800" y="4704398"/>
            <a:chExt cx="4838700" cy="705802"/>
          </a:xfrm>
        </p:grpSpPr>
        <p:sp>
          <p:nvSpPr>
            <p:cNvPr id="25" name="Ellipse 25"/>
            <p:cNvSpPr/>
            <p:nvPr/>
          </p:nvSpPr>
          <p:spPr>
            <a:xfrm>
              <a:off x="3733800" y="4705350"/>
              <a:ext cx="533400" cy="533400"/>
            </a:xfrm>
            <a:prstGeom prst="ellipse">
              <a:avLst/>
            </a:prstGeom>
            <a:solidFill>
              <a:srgbClr val="EEF6EF"/>
            </a:solidFill>
            <a:ln w="19050">
              <a:solidFill>
                <a:srgbClr val="65B66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865936" y="488632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2F7D4A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28185" y="47043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数据难以沉淀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33900" y="5105400"/>
              <a:ext cx="40386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回答偏自然语言，后续档案利用与扩展困难。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627120" y="6303645"/>
            <a:ext cx="8042911" cy="182880"/>
            <a:chOff x="3627120" y="6303645"/>
            <a:chExt cx="8042911" cy="182880"/>
          </a:xfrm>
        </p:grpSpPr>
        <p:sp>
          <p:nvSpPr>
            <p:cNvPr id="30" name="TextBox 30"/>
            <p:cNvSpPr txBox="1"/>
            <p:nvPr/>
          </p:nvSpPr>
          <p:spPr>
            <a:xfrm>
              <a:off x="3627120" y="6303645"/>
              <a:ext cx="18410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978E"/>
                  </a:solidFill>
                  <a:latin typeface="Arial"/>
                  <a:ea typeface="Microsoft YaHei"/>
                  <a:cs typeface="Arial"/>
                </a:rPr>
                <a:t>AI 老中医问诊系统｜本周工作汇报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15154" y="63036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978E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7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6381750" y="0"/>
              <a:ext cx="5810250" cy="6858000"/>
            </a:xfrm>
            <a:prstGeom prst="rect">
              <a:avLst/>
            </a:prstGeom>
            <a:solidFill>
              <a:srgbClr val="EEF6EF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99110" y="43243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F2A24"/>
                </a:solidFill>
                <a:latin typeface="Arial"/>
                <a:ea typeface="Microsoft YaHei"/>
                <a:cs typeface="Arial"/>
              </a:rPr>
              <a:t>产品形态升级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95300" y="1535906"/>
            <a:ext cx="4552950" cy="4293394"/>
            <a:chOff x="495300" y="1535906"/>
            <a:chExt cx="4552950" cy="4293394"/>
          </a:xfrm>
        </p:grpSpPr>
        <p:sp>
          <p:nvSpPr>
            <p:cNvPr id="6" name="TextBox 6"/>
            <p:cNvSpPr txBox="1"/>
            <p:nvPr/>
          </p:nvSpPr>
          <p:spPr>
            <a:xfrm>
              <a:off x="519112" y="153590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A978E"/>
                  </a:solidFill>
                  <a:latin typeface="Arial"/>
                  <a:ea typeface="Microsoft YaHei"/>
                  <a:cs typeface="Arial"/>
                </a:rPr>
                <a:t>旧版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99110" y="186118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聊天窗口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14350" y="2409825"/>
              <a:ext cx="3038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A978E"/>
                  </a:solidFill>
                  <a:latin typeface="Arial"/>
                  <a:ea typeface="Microsoft YaHei"/>
                  <a:cs typeface="Arial"/>
                </a:rPr>
                <a:t>主要依赖用户自己输入和组织症状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33400" y="3028950"/>
              <a:ext cx="4229100" cy="9525"/>
            </a:xfrm>
            <a:custGeom>
              <a:avLst/>
              <a:gdLst/>
              <a:ahLst/>
              <a:cxnLst/>
              <a:rect l="l" t="t" r="r" b="b"/>
              <a:pathLst>
                <a:path w="4229100" h="9525">
                  <a:moveTo>
                    <a:pt x="0" y="0"/>
                  </a:moveTo>
                  <a:lnTo>
                    <a:pt x="4229100" y="0"/>
                  </a:lnTo>
                </a:path>
              </a:pathLst>
            </a:custGeom>
            <a:noFill/>
            <a:ln w="28575">
              <a:solidFill>
                <a:srgbClr val="D8E4DA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4762500" y="2914650"/>
              <a:ext cx="209550" cy="228600"/>
            </a:xfrm>
            <a:custGeom>
              <a:avLst/>
              <a:gdLst/>
              <a:ahLst/>
              <a:cxnLst/>
              <a:rect l="l" t="t" r="r" b="b"/>
              <a:pathLst>
                <a:path w="209550" h="228600">
                  <a:moveTo>
                    <a:pt x="209550" y="114300"/>
                  </a:move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65B66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19112" y="347900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F7D4A"/>
                  </a:solidFill>
                  <a:latin typeface="Arial"/>
                  <a:ea typeface="Microsoft YaHei"/>
                  <a:cs typeface="Arial"/>
                </a:rPr>
                <a:t>新版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5300" y="3771900"/>
              <a:ext cx="343662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结构化问诊工作台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4350" y="4429125"/>
              <a:ext cx="28956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流程可见、问题可选、答案可改，用户不打字也能完成问诊。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5314950"/>
              <a:ext cx="4514850" cy="514350"/>
            </a:xfrm>
            <a:prstGeom prst="roundRect">
              <a:avLst>
                <a:gd name="adj" fmla="val 22222"/>
              </a:avLst>
            </a:prstGeom>
            <a:solidFill>
              <a:srgbClr val="2F7D4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06604" y="5486400"/>
              <a:ext cx="276844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连续任务，而不是一次性对话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610350" y="952500"/>
            <a:ext cx="5238750" cy="5391150"/>
            <a:chOff x="6610350" y="952500"/>
            <a:chExt cx="5238750" cy="5391150"/>
          </a:xfrm>
        </p:grpSpPr>
        <p:sp>
          <p:nvSpPr>
            <p:cNvPr id="17" name="Rectangle 17"/>
            <p:cNvSpPr/>
            <p:nvPr/>
          </p:nvSpPr>
          <p:spPr>
            <a:xfrm>
              <a:off x="6610350" y="952500"/>
              <a:ext cx="5238750" cy="5391150"/>
            </a:xfrm>
            <a:prstGeom prst="roundRect">
              <a:avLst>
                <a:gd name="adj" fmla="val 2182"/>
              </a:avLst>
            </a:prstGeom>
            <a:solidFill>
              <a:srgbClr val="FFFFFF"/>
            </a:solidFill>
            <a:ln w="19050">
              <a:solidFill>
                <a:srgbClr val="65B66C"/>
              </a:solidFill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24650" y="1066800"/>
              <a:ext cx="5010150" cy="5162550"/>
            </a:xfrm>
            <a:prstGeom prst="roundRect">
              <a:avLst>
                <a:gd name="adj" fmla="val 2281"/>
              </a:avLst>
            </a:prstGeom>
          </p:spPr>
        </p:pic>
        <p:sp>
          <p:nvSpPr>
            <p:cNvPr id="19" name="Rectangle 19"/>
            <p:cNvSpPr/>
            <p:nvPr/>
          </p:nvSpPr>
          <p:spPr>
            <a:xfrm>
              <a:off x="6819900" y="1181100"/>
              <a:ext cx="1219200" cy="323850"/>
            </a:xfrm>
            <a:prstGeom prst="roundRect">
              <a:avLst>
                <a:gd name="adj" fmla="val 50000"/>
              </a:avLst>
            </a:prstGeom>
            <a:solidFill>
              <a:srgbClr val="2F7D4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00173" y="127873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当前版本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1970" y="6379845"/>
            <a:ext cx="11148061" cy="182880"/>
            <a:chOff x="521970" y="6379845"/>
            <a:chExt cx="11148061" cy="182880"/>
          </a:xfrm>
        </p:grpSpPr>
        <p:sp>
          <p:nvSpPr>
            <p:cNvPr id="22" name="TextBox 22"/>
            <p:cNvSpPr txBox="1"/>
            <p:nvPr/>
          </p:nvSpPr>
          <p:spPr>
            <a:xfrm>
              <a:off x="521970" y="6379845"/>
              <a:ext cx="18410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978E"/>
                  </a:solidFill>
                  <a:latin typeface="Arial"/>
                  <a:ea typeface="Microsoft YaHei"/>
                  <a:cs typeface="Arial"/>
                </a:rPr>
                <a:t>AI 老中医问诊系统｜本周工作汇报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515154" y="63798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978E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9110" y="375285"/>
            <a:ext cx="3683794" cy="777240"/>
            <a:chOff x="499110" y="375285"/>
            <a:chExt cx="3683794" cy="777240"/>
          </a:xfrm>
        </p:grpSpPr>
        <p:sp>
          <p:nvSpPr>
            <p:cNvPr id="3" name="TextBox 3"/>
            <p:cNvSpPr txBox="1"/>
            <p:nvPr/>
          </p:nvSpPr>
          <p:spPr>
            <a:xfrm>
              <a:off x="499110" y="37528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问诊流程设计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4350" y="847725"/>
              <a:ext cx="366855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固定主流程保证完整，AI 保留温度与弹性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19250" y="2457450"/>
            <a:ext cx="8953500" cy="9525"/>
            <a:chOff x="1619250" y="2457450"/>
            <a:chExt cx="8953500" cy="9525"/>
          </a:xfrm>
        </p:grpSpPr>
        <p:sp>
          <p:nvSpPr>
            <p:cNvPr id="6" name="Line 6"/>
            <p:cNvSpPr/>
            <p:nvPr/>
          </p:nvSpPr>
          <p:spPr>
            <a:xfrm>
              <a:off x="1619250" y="2457450"/>
              <a:ext cx="8953500" cy="9525"/>
            </a:xfrm>
            <a:custGeom>
              <a:avLst/>
              <a:gdLst/>
              <a:ahLst/>
              <a:cxnLst/>
              <a:rect l="l" t="t" r="r" b="b"/>
              <a:pathLst>
                <a:path w="8953500" h="9525">
                  <a:moveTo>
                    <a:pt x="0" y="0"/>
                  </a:moveTo>
                  <a:lnTo>
                    <a:pt x="8953500" y="0"/>
                  </a:lnTo>
                </a:path>
              </a:pathLst>
            </a:custGeom>
            <a:noFill/>
            <a:ln w="57150" cap="rnd">
              <a:solidFill>
                <a:srgbClr val="D8E4DA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619250" y="2457450"/>
              <a:ext cx="8953500" cy="9525"/>
            </a:xfrm>
            <a:custGeom>
              <a:avLst/>
              <a:gdLst/>
              <a:ahLst/>
              <a:cxnLst/>
              <a:rect l="l" t="t" r="r" b="b"/>
              <a:pathLst>
                <a:path w="8953500" h="9525">
                  <a:moveTo>
                    <a:pt x="0" y="0"/>
                  </a:moveTo>
                  <a:lnTo>
                    <a:pt x="8953500" y="0"/>
                  </a:lnTo>
                </a:path>
              </a:pathLst>
            </a:custGeom>
            <a:noFill/>
            <a:ln w="19050">
              <a:solidFill>
                <a:srgbClr val="65B66C"/>
              </a:solidFill>
              <a:prstDash val="lgDash"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062038" y="2000250"/>
            <a:ext cx="1114425" cy="1700212"/>
            <a:chOff x="1062038" y="2000250"/>
            <a:chExt cx="1114425" cy="1700212"/>
          </a:xfrm>
        </p:grpSpPr>
        <p:sp>
          <p:nvSpPr>
            <p:cNvPr id="9" name="Ellipse 9"/>
            <p:cNvSpPr/>
            <p:nvPr/>
          </p:nvSpPr>
          <p:spPr>
            <a:xfrm>
              <a:off x="1162050" y="2000250"/>
              <a:ext cx="914400" cy="914400"/>
            </a:xfrm>
            <a:prstGeom prst="ellipse">
              <a:avLst/>
            </a:prstGeom>
            <a:solidFill>
              <a:srgbClr val="2F7D4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71229" y="2355532"/>
              <a:ext cx="2960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1451" y="3027998"/>
              <a:ext cx="59559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导诊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2038" y="3426142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了解主要症状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771757" y="2000250"/>
            <a:ext cx="1600486" cy="1700212"/>
            <a:chOff x="3771757" y="2000250"/>
            <a:chExt cx="1600486" cy="1700212"/>
          </a:xfrm>
        </p:grpSpPr>
        <p:sp>
          <p:nvSpPr>
            <p:cNvPr id="14" name="Ellipse 14"/>
            <p:cNvSpPr/>
            <p:nvPr/>
          </p:nvSpPr>
          <p:spPr>
            <a:xfrm>
              <a:off x="4114800" y="2000250"/>
              <a:ext cx="914400" cy="914400"/>
            </a:xfrm>
            <a:prstGeom prst="ellipse">
              <a:avLst/>
            </a:prstGeom>
            <a:solidFill>
              <a:srgbClr val="65B66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423979" y="2355532"/>
              <a:ext cx="2960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37684" y="3027998"/>
              <a:ext cx="86863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预问诊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71757" y="3426142"/>
              <a:ext cx="160048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完成 10 个核心问题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77526" y="2000250"/>
            <a:ext cx="1294448" cy="1700212"/>
            <a:chOff x="6877526" y="2000250"/>
            <a:chExt cx="1294448" cy="1700212"/>
          </a:xfrm>
        </p:grpSpPr>
        <p:sp>
          <p:nvSpPr>
            <p:cNvPr id="19" name="Ellipse 19"/>
            <p:cNvSpPr/>
            <p:nvPr/>
          </p:nvSpPr>
          <p:spPr>
            <a:xfrm>
              <a:off x="7067550" y="2000250"/>
              <a:ext cx="914400" cy="914400"/>
            </a:xfrm>
            <a:prstGeom prst="ellipse">
              <a:avLst/>
            </a:prstGeom>
            <a:solidFill>
              <a:srgbClr val="65B66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376729" y="2355532"/>
              <a:ext cx="2960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53917" y="302799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信息确认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77526" y="3426142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回看并修正答案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001917" y="2000250"/>
            <a:ext cx="1141667" cy="1700212"/>
            <a:chOff x="10001917" y="2000250"/>
            <a:chExt cx="1141667" cy="1700212"/>
          </a:xfrm>
        </p:grpSpPr>
        <p:sp>
          <p:nvSpPr>
            <p:cNvPr id="24" name="Ellipse 24"/>
            <p:cNvSpPr/>
            <p:nvPr/>
          </p:nvSpPr>
          <p:spPr>
            <a:xfrm>
              <a:off x="10115550" y="2000250"/>
              <a:ext cx="914400" cy="914400"/>
            </a:xfrm>
            <a:prstGeom prst="ellipse">
              <a:avLst/>
            </a:prstGeom>
            <a:solidFill>
              <a:srgbClr val="2F7D4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424729" y="2355532"/>
              <a:ext cx="2960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01917" y="302799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检查建议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015538" y="3426142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生成四诊档案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33400" y="4191000"/>
            <a:ext cx="11125200" cy="1583531"/>
            <a:chOff x="533400" y="4191000"/>
            <a:chExt cx="11125200" cy="1583531"/>
          </a:xfrm>
        </p:grpSpPr>
        <p:sp>
          <p:nvSpPr>
            <p:cNvPr id="29" name="Rectangle 29"/>
            <p:cNvSpPr/>
            <p:nvPr/>
          </p:nvSpPr>
          <p:spPr>
            <a:xfrm>
              <a:off x="533400" y="4191000"/>
              <a:ext cx="11125200" cy="1581150"/>
            </a:xfrm>
            <a:prstGeom prst="roundRect">
              <a:avLst>
                <a:gd name="adj" fmla="val 7229"/>
              </a:avLst>
            </a:prstGeom>
            <a:solidFill>
              <a:srgbClr val="FFFFFF"/>
            </a:solidFill>
            <a:ln w="9525">
              <a:solidFill>
                <a:srgbClr val="D8E4DA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840581" y="4493419"/>
              <a:ext cx="166688" cy="214312"/>
              <a:chOff x="840581" y="4493419"/>
              <a:chExt cx="166688" cy="214312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40581" y="4517231"/>
                <a:ext cx="16668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90500">
                    <a:moveTo>
                      <a:pt x="47625" y="0"/>
                    </a:moveTo>
                    <a:lnTo>
                      <a:pt x="23812" y="0"/>
                    </a:lnTo>
                    <a:cubicBezTo>
                      <a:pt x="10661" y="0"/>
                      <a:pt x="0" y="10661"/>
                      <a:pt x="0" y="23812"/>
                    </a:cubicBezTo>
                    <a:lnTo>
                      <a:pt x="0" y="166688"/>
                    </a:lnTo>
                    <a:cubicBezTo>
                      <a:pt x="0" y="179839"/>
                      <a:pt x="10661" y="190500"/>
                      <a:pt x="23812" y="190500"/>
                    </a:cubicBezTo>
                    <a:lnTo>
                      <a:pt x="142875" y="190500"/>
                    </a:lnTo>
                    <a:cubicBezTo>
                      <a:pt x="156026" y="190500"/>
                      <a:pt x="166688" y="179839"/>
                      <a:pt x="166688" y="166688"/>
                    </a:cubicBezTo>
                    <a:lnTo>
                      <a:pt x="166688" y="23812"/>
                    </a:lnTo>
                    <a:cubicBezTo>
                      <a:pt x="166688" y="10661"/>
                      <a:pt x="156026" y="0"/>
                      <a:pt x="142875" y="0"/>
                    </a:cubicBezTo>
                    <a:lnTo>
                      <a:pt x="119062" y="0"/>
                    </a:ln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88206" y="4493419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47625" y="0"/>
                    </a:lnTo>
                    <a:cubicBezTo>
                      <a:pt x="60776" y="0"/>
                      <a:pt x="71438" y="10661"/>
                      <a:pt x="71438" y="23812"/>
                    </a:cubicBezTo>
                    <a:cubicBezTo>
                      <a:pt x="71438" y="36964"/>
                      <a:pt x="60776" y="47625"/>
                      <a:pt x="47625" y="47625"/>
                    </a:cubicBezTo>
                    <a:lnTo>
                      <a:pt x="23812" y="47625"/>
                    </a:lnTo>
                    <a:cubicBezTo>
                      <a:pt x="10661" y="47625"/>
                      <a:pt x="0" y="36964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88206" y="4600575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200150" y="4524375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中医十问歌核心范围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3905" y="5035868"/>
              <a:ext cx="20505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主诉 病程 寒热 出汗 头身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55055" y="5035868"/>
              <a:ext cx="241058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二便 饮食 胸腹 睡眠 病史诱因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781050" y="5429250"/>
              <a:ext cx="10629900" cy="9525"/>
            </a:xfrm>
            <a:custGeom>
              <a:avLst/>
              <a:gdLst/>
              <a:ahLst/>
              <a:cxnLst/>
              <a:rect l="l" t="t" r="r" b="b"/>
              <a:pathLst>
                <a:path w="10629900" h="9525">
                  <a:moveTo>
                    <a:pt x="0" y="0"/>
                  </a:moveTo>
                  <a:lnTo>
                    <a:pt x="10629900" y="0"/>
                  </a:lnTo>
                </a:path>
              </a:pathLst>
            </a:custGeom>
            <a:noFill/>
            <a:ln w="9525">
              <a:solidFill>
                <a:srgbClr val="E8F0E9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6762" y="5545931"/>
              <a:ext cx="38015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A978E"/>
                  </a:solidFill>
                  <a:latin typeface="Arial"/>
                  <a:ea typeface="Microsoft YaHei"/>
                  <a:cs typeface="Arial"/>
                </a:rPr>
                <a:t>流程控制顺序；AI 负责解释、必要追问和最终档案整理。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21970" y="6379845"/>
            <a:ext cx="11148061" cy="182880"/>
            <a:chOff x="521970" y="6379845"/>
            <a:chExt cx="11148061" cy="182880"/>
          </a:xfrm>
        </p:grpSpPr>
        <p:sp>
          <p:nvSpPr>
            <p:cNvPr id="40" name="TextBox 40"/>
            <p:cNvSpPr txBox="1"/>
            <p:nvPr/>
          </p:nvSpPr>
          <p:spPr>
            <a:xfrm>
              <a:off x="521970" y="6379845"/>
              <a:ext cx="18410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978E"/>
                  </a:solidFill>
                  <a:latin typeface="Arial"/>
                  <a:ea typeface="Microsoft YaHei"/>
                  <a:cs typeface="Arial"/>
                </a:rPr>
                <a:t>AI 老中医问诊系统｜本周工作汇报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15154" y="63798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978E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9112" y="421481"/>
            <a:ext cx="11153776" cy="6162675"/>
            <a:chOff x="519112" y="421481"/>
            <a:chExt cx="11153776" cy="6162675"/>
          </a:xfrm>
        </p:grpSpPr>
        <p:sp>
          <p:nvSpPr>
            <p:cNvPr id="3" name="TextBox 3"/>
            <p:cNvSpPr txBox="1"/>
            <p:nvPr/>
          </p:nvSpPr>
          <p:spPr>
            <a:xfrm>
              <a:off x="519112" y="421481"/>
              <a:ext cx="29269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F7D4A"/>
                  </a:solidFill>
                  <a:latin typeface="Arial"/>
                  <a:ea typeface="Arial"/>
                  <a:cs typeface="Arial"/>
                </a:rPr>
                <a:t>INTAKE DIAGNOSTICIAN · WEEKLY REPORT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479292" y="6355556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5" dirty="0">
                  <a:solidFill>
                    <a:srgbClr val="8A978E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99110" y="708660"/>
            <a:ext cx="3273742" cy="739140"/>
            <a:chOff x="499110" y="708660"/>
            <a:chExt cx="3273742" cy="739140"/>
          </a:xfrm>
        </p:grpSpPr>
        <p:sp>
          <p:nvSpPr>
            <p:cNvPr id="6" name="TextBox 6"/>
            <p:cNvSpPr txBox="1"/>
            <p:nvPr/>
          </p:nvSpPr>
          <p:spPr>
            <a:xfrm>
              <a:off x="499110" y="708660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前端改造亮点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14350" y="1143000"/>
              <a:ext cx="32585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用户始终知道“现在在哪、还差什么”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3400" y="1581150"/>
            <a:ext cx="4629150" cy="4762500"/>
            <a:chOff x="533400" y="1581150"/>
            <a:chExt cx="4629150" cy="4762500"/>
          </a:xfrm>
        </p:grpSpPr>
        <p:sp>
          <p:nvSpPr>
            <p:cNvPr id="9" name="Rectangle 9"/>
            <p:cNvSpPr/>
            <p:nvPr/>
          </p:nvSpPr>
          <p:spPr>
            <a:xfrm>
              <a:off x="533400" y="1581150"/>
              <a:ext cx="4629150" cy="4762500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14288">
              <a:solidFill>
                <a:srgbClr val="D8E4DA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650" y="1676400"/>
              <a:ext cx="4438650" cy="4572000"/>
            </a:xfrm>
            <a:prstGeom prst="rect">
              <a:avLst/>
            </a:prstGeom>
          </p:spPr>
        </p:pic>
      </p:grpSp>
      <p:grpSp>
        <p:nvGrpSpPr>
          <p:cNvPr id="20" name="Group 20"/>
          <p:cNvGrpSpPr/>
          <p:nvPr/>
        </p:nvGrpSpPr>
        <p:grpSpPr>
          <a:xfrm>
            <a:off x="971550" y="2647950"/>
            <a:ext cx="3752850" cy="2767012"/>
            <a:chOff x="971550" y="2647950"/>
            <a:chExt cx="3752850" cy="2767012"/>
          </a:xfrm>
        </p:grpSpPr>
        <p:sp>
          <p:nvSpPr>
            <p:cNvPr id="12" name="Ellipse 12"/>
            <p:cNvSpPr/>
            <p:nvPr/>
          </p:nvSpPr>
          <p:spPr>
            <a:xfrm>
              <a:off x="971550" y="2800350"/>
              <a:ext cx="342900" cy="342900"/>
            </a:xfrm>
            <a:prstGeom prst="ellipse">
              <a:avLst/>
            </a:prstGeom>
            <a:solidFill>
              <a:srgbClr val="2F7D4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73874" y="2892742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2771775" y="3162300"/>
              <a:ext cx="342900" cy="342900"/>
            </a:xfrm>
            <a:prstGeom prst="ellipse">
              <a:avLst/>
            </a:prstGeom>
            <a:solidFill>
              <a:srgbClr val="2F7D4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874099" y="3254692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4381500" y="2647950"/>
              <a:ext cx="342900" cy="342900"/>
            </a:xfrm>
            <a:prstGeom prst="ellipse">
              <a:avLst/>
            </a:prstGeom>
            <a:solidFill>
              <a:srgbClr val="2F7D4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483824" y="2740342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3895725" y="5048250"/>
              <a:ext cx="342900" cy="342900"/>
            </a:xfrm>
            <a:prstGeom prst="ellipse">
              <a:avLst/>
            </a:prstGeom>
            <a:solidFill>
              <a:srgbClr val="D9A44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98049" y="5140642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05450" y="1581150"/>
            <a:ext cx="6153150" cy="4648200"/>
            <a:chOff x="5505450" y="1581150"/>
            <a:chExt cx="6153150" cy="4648200"/>
          </a:xfrm>
        </p:grpSpPr>
        <p:sp>
          <p:nvSpPr>
            <p:cNvPr id="21" name="Rectangle 21"/>
            <p:cNvSpPr/>
            <p:nvPr/>
          </p:nvSpPr>
          <p:spPr>
            <a:xfrm>
              <a:off x="5505450" y="1581150"/>
              <a:ext cx="6153150" cy="104775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D8E4D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5695950" y="1819275"/>
              <a:ext cx="381000" cy="381000"/>
            </a:xfrm>
            <a:prstGeom prst="ellipse">
              <a:avLst/>
            </a:prstGeom>
            <a:solidFill>
              <a:srgbClr val="2F7D4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17324" y="19307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08395" y="1774508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四阶段导航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3158" y="2129314"/>
              <a:ext cx="30927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流程位置、已完成状态和下一步一目了然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505450" y="2781300"/>
              <a:ext cx="6153150" cy="104775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D8E4DA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5695950" y="3019425"/>
              <a:ext cx="381000" cy="381000"/>
            </a:xfrm>
            <a:prstGeom prst="ellipse">
              <a:avLst/>
            </a:prstGeom>
            <a:solidFill>
              <a:srgbClr val="2F7D4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817324" y="31308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08395" y="2974658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题目与选项聚焦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13158" y="3329464"/>
              <a:ext cx="275272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一次只处理一个判断，降低填写负担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505450" y="3981450"/>
              <a:ext cx="6153150" cy="104775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D8E4DA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5695950" y="4219575"/>
              <a:ext cx="381000" cy="381000"/>
            </a:xfrm>
            <a:prstGeom prst="ellipse">
              <a:avLst/>
            </a:prstGeom>
            <a:solidFill>
              <a:srgbClr val="2F7D4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817324" y="43310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08395" y="4174808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进度与答案同步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13158" y="4529614"/>
              <a:ext cx="275272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右侧持续展示题目状态和已收集信息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505450" y="5181600"/>
              <a:ext cx="6153150" cy="1047750"/>
            </a:xfrm>
            <a:prstGeom prst="roundRect">
              <a:avLst>
                <a:gd name="adj" fmla="val 7273"/>
              </a:avLst>
            </a:prstGeom>
            <a:solidFill>
              <a:srgbClr val="EEF6EF"/>
            </a:solidFill>
            <a:ln w="14288">
              <a:solidFill>
                <a:srgbClr val="65B66C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5695950" y="5419725"/>
              <a:ext cx="381000" cy="381000"/>
            </a:xfrm>
            <a:prstGeom prst="ellipse">
              <a:avLst/>
            </a:prstGeom>
            <a:solidFill>
              <a:srgbClr val="D9A44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17324" y="55311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08395" y="5374958"/>
              <a:ext cx="189014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摘要与响应式适配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13158" y="5729764"/>
              <a:ext cx="326278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桌面端完整展示，窄屏仍保留核心操作路径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9112" y="421481"/>
            <a:ext cx="11153776" cy="6162675"/>
            <a:chOff x="519112" y="421481"/>
            <a:chExt cx="11153776" cy="6162675"/>
          </a:xfrm>
        </p:grpSpPr>
        <p:sp>
          <p:nvSpPr>
            <p:cNvPr id="3" name="TextBox 3"/>
            <p:cNvSpPr txBox="1"/>
            <p:nvPr/>
          </p:nvSpPr>
          <p:spPr>
            <a:xfrm>
              <a:off x="519112" y="421481"/>
              <a:ext cx="29269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F7D4A"/>
                  </a:solidFill>
                  <a:latin typeface="Arial"/>
                  <a:ea typeface="Arial"/>
                  <a:cs typeface="Arial"/>
                </a:rPr>
                <a:t>INTAKE DIAGNOSTICIAN · WEEKLY REPORT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479292" y="6355556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5" dirty="0">
                  <a:solidFill>
                    <a:srgbClr val="8A978E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99110" y="708660"/>
            <a:ext cx="4473892" cy="739140"/>
            <a:chOff x="499110" y="708660"/>
            <a:chExt cx="4473892" cy="739140"/>
          </a:xfrm>
        </p:grpSpPr>
        <p:sp>
          <p:nvSpPr>
            <p:cNvPr id="6" name="TextBox 6"/>
            <p:cNvSpPr txBox="1"/>
            <p:nvPr/>
          </p:nvSpPr>
          <p:spPr>
            <a:xfrm>
              <a:off x="499110" y="708660"/>
              <a:ext cx="34710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四诊档案与数据沉淀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14350" y="1143000"/>
              <a:ext cx="44586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从“答完即结束”升级为可检索、可回看的诊疗资料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04850" y="2667000"/>
            <a:ext cx="10782300" cy="2362200"/>
            <a:chOff x="704850" y="2667000"/>
            <a:chExt cx="10782300" cy="2362200"/>
          </a:xfrm>
        </p:grpSpPr>
        <p:sp>
          <p:nvSpPr>
            <p:cNvPr id="9" name="Line 9"/>
            <p:cNvSpPr/>
            <p:nvPr/>
          </p:nvSpPr>
          <p:spPr>
            <a:xfrm>
              <a:off x="1885950" y="3105150"/>
              <a:ext cx="8420100" cy="9525"/>
            </a:xfrm>
            <a:custGeom>
              <a:avLst/>
              <a:gdLst/>
              <a:ahLst/>
              <a:cxnLst/>
              <a:rect l="l" t="t" r="r" b="b"/>
              <a:pathLst>
                <a:path w="8420100" h="9525">
                  <a:moveTo>
                    <a:pt x="0" y="0"/>
                  </a:moveTo>
                  <a:lnTo>
                    <a:pt x="8420100" y="0"/>
                  </a:lnTo>
                </a:path>
              </a:pathLst>
            </a:custGeom>
            <a:noFill/>
            <a:ln w="76200">
              <a:solidFill>
                <a:srgbClr val="D8E4DA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885950" y="3105150"/>
              <a:ext cx="8420100" cy="9525"/>
            </a:xfrm>
            <a:custGeom>
              <a:avLst/>
              <a:gdLst/>
              <a:ahLst/>
              <a:cxnLst/>
              <a:rect l="l" t="t" r="r" b="b"/>
              <a:pathLst>
                <a:path w="8420100" h="9525">
                  <a:moveTo>
                    <a:pt x="0" y="0"/>
                  </a:moveTo>
                  <a:lnTo>
                    <a:pt x="8420100" y="0"/>
                  </a:lnTo>
                </a:path>
              </a:pathLst>
            </a:custGeom>
            <a:noFill/>
            <a:ln w="38100">
              <a:solidFill>
                <a:srgbClr val="65B66C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447800" y="2667000"/>
              <a:ext cx="876300" cy="876300"/>
            </a:xfrm>
            <a:prstGeom prst="ellipse">
              <a:avLst/>
            </a:prstGeom>
            <a:solidFill>
              <a:srgbClr val="2F7D4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70739" y="2967038"/>
              <a:ext cx="23042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04850" y="3714750"/>
              <a:ext cx="2362200" cy="1314450"/>
            </a:xfrm>
            <a:prstGeom prst="roundRect">
              <a:avLst>
                <a:gd name="adj" fmla="val 5797"/>
              </a:avLst>
            </a:prstGeom>
            <a:solidFill>
              <a:srgbClr val="FFFFFF"/>
            </a:solidFill>
            <a:ln w="14288">
              <a:solidFill>
                <a:srgbClr val="D8E4D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80982" y="3900011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用户回答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89672" y="4291489"/>
              <a:ext cx="13925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症状、时长、诱因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04662" y="4567714"/>
              <a:ext cx="15625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伴随情况与补充描述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4248150" y="2667000"/>
              <a:ext cx="876300" cy="876300"/>
            </a:xfrm>
            <a:prstGeom prst="ellipse">
              <a:avLst/>
            </a:prstGeom>
            <a:solidFill>
              <a:srgbClr val="65B66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571089" y="2967038"/>
              <a:ext cx="23042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505200" y="3714750"/>
              <a:ext cx="2362200" cy="1314450"/>
            </a:xfrm>
            <a:prstGeom prst="roundRect">
              <a:avLst>
                <a:gd name="adj" fmla="val 5797"/>
              </a:avLst>
            </a:prstGeom>
            <a:solidFill>
              <a:srgbClr val="FFFFFF"/>
            </a:solidFill>
            <a:ln w="14288">
              <a:solidFill>
                <a:srgbClr val="D8E4D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060567" y="3900011"/>
              <a:ext cx="125146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会话与摘要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05012" y="4291489"/>
              <a:ext cx="15625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保留题目顺序和答案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05012" y="4567714"/>
              <a:ext cx="15625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同步生成结构化摘要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048500" y="2667000"/>
              <a:ext cx="876300" cy="876300"/>
            </a:xfrm>
            <a:prstGeom prst="ellipse">
              <a:avLst/>
            </a:prstGeom>
            <a:solidFill>
              <a:srgbClr val="D9A44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71439" y="2967038"/>
              <a:ext cx="23042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305550" y="3714750"/>
              <a:ext cx="2362200" cy="1314450"/>
            </a:xfrm>
            <a:prstGeom prst="roundRect">
              <a:avLst>
                <a:gd name="adj" fmla="val 5797"/>
              </a:avLst>
            </a:prstGeom>
            <a:solidFill>
              <a:srgbClr val="FFFFFF"/>
            </a:solidFill>
            <a:ln w="14288">
              <a:solidFill>
                <a:srgbClr val="D8E4D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81682" y="3900011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四诊档案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96861" y="4291489"/>
              <a:ext cx="157957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自动整理 Markdown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20351" y="4567714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形成可阅读的问诊记录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9867900" y="2667000"/>
              <a:ext cx="876300" cy="876300"/>
            </a:xfrm>
            <a:prstGeom prst="ellipse">
              <a:avLst/>
            </a:prstGeom>
            <a:solidFill>
              <a:srgbClr val="2F7D4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190839" y="2967038"/>
              <a:ext cx="23042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124950" y="3714750"/>
              <a:ext cx="2362200" cy="1314450"/>
            </a:xfrm>
            <a:prstGeom prst="roundRect">
              <a:avLst>
                <a:gd name="adj" fmla="val 5797"/>
              </a:avLst>
            </a:prstGeom>
            <a:solidFill>
              <a:srgbClr val="FFFFFF"/>
            </a:solidFill>
            <a:ln w="14288">
              <a:solidFill>
                <a:srgbClr val="D8E4D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716547" y="3900011"/>
              <a:ext cx="117900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JSON 记录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35726" y="4291489"/>
              <a:ext cx="214064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保存 structured_answers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24762" y="4567714"/>
              <a:ext cx="15625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支持后续统计与扩展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33400" y="5429250"/>
            <a:ext cx="11125200" cy="666750"/>
            <a:chOff x="533400" y="5429250"/>
            <a:chExt cx="11125200" cy="666750"/>
          </a:xfrm>
        </p:grpSpPr>
        <p:sp>
          <p:nvSpPr>
            <p:cNvPr id="36" name="Rectangle 36"/>
            <p:cNvSpPr/>
            <p:nvPr/>
          </p:nvSpPr>
          <p:spPr>
            <a:xfrm>
              <a:off x="533400" y="5429250"/>
              <a:ext cx="11125200" cy="666750"/>
            </a:xfrm>
            <a:prstGeom prst="roundRect">
              <a:avLst>
                <a:gd name="adj" fmla="val 11429"/>
              </a:avLst>
            </a:prstGeom>
            <a:solidFill>
              <a:srgbClr val="EEF6EF"/>
            </a:solidFill>
            <a:ln w="14288">
              <a:solidFill>
                <a:srgbClr val="D8E4DA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866775" y="5655469"/>
              <a:ext cx="214331" cy="226219"/>
              <a:chOff x="866775" y="5655469"/>
              <a:chExt cx="214331" cy="226219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66775" y="5655469"/>
                <a:ext cx="190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71438">
                    <a:moveTo>
                      <a:pt x="0" y="35719"/>
                    </a:moveTo>
                    <a:cubicBezTo>
                      <a:pt x="0" y="55447"/>
                      <a:pt x="42648" y="71438"/>
                      <a:pt x="95250" y="71438"/>
                    </a:cubicBezTo>
                    <a:cubicBezTo>
                      <a:pt x="147852" y="71438"/>
                      <a:pt x="190500" y="55447"/>
                      <a:pt x="190500" y="35719"/>
                    </a:cubicBezTo>
                    <a:cubicBezTo>
                      <a:pt x="190500" y="15990"/>
                      <a:pt x="147852" y="0"/>
                      <a:pt x="95250" y="0"/>
                    </a:cubicBezTo>
                    <a:cubicBezTo>
                      <a:pt x="42648" y="0"/>
                      <a:pt x="0" y="15990"/>
                      <a:pt x="0" y="35719"/>
                    </a:cubicBez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66775" y="5691188"/>
                <a:ext cx="76367" cy="106454"/>
              </a:xfrm>
              <a:custGeom>
                <a:avLst/>
                <a:gdLst/>
                <a:ahLst/>
                <a:cxnLst/>
                <a:rect l="l" t="t" r="r" b="b"/>
                <a:pathLst>
                  <a:path w="76367" h="106454">
                    <a:moveTo>
                      <a:pt x="0" y="0"/>
                    </a:moveTo>
                    <a:lnTo>
                      <a:pt x="0" y="71438"/>
                    </a:lnTo>
                    <a:cubicBezTo>
                      <a:pt x="0" y="88737"/>
                      <a:pt x="32802" y="103168"/>
                      <a:pt x="76367" y="106454"/>
                    </a:cubicBez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57275" y="5691188"/>
                <a:ext cx="9525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9531">
                    <a:moveTo>
                      <a:pt x="0" y="59531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66775" y="5762625"/>
                <a:ext cx="87904" cy="107049"/>
              </a:xfrm>
              <a:custGeom>
                <a:avLst/>
                <a:gdLst/>
                <a:ahLst/>
                <a:cxnLst/>
                <a:rect l="l" t="t" r="r" b="b"/>
                <a:pathLst>
                  <a:path w="87904" h="107049">
                    <a:moveTo>
                      <a:pt x="0" y="0"/>
                    </a:moveTo>
                    <a:lnTo>
                      <a:pt x="0" y="71438"/>
                    </a:lnTo>
                    <a:cubicBezTo>
                      <a:pt x="0" y="90237"/>
                      <a:pt x="38731" y="105644"/>
                      <a:pt x="87904" y="107049"/>
                    </a:cubicBez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85823" y="5795810"/>
                <a:ext cx="95283" cy="85878"/>
              </a:xfrm>
              <a:custGeom>
                <a:avLst/>
                <a:gdLst/>
                <a:ahLst/>
                <a:cxnLst/>
                <a:rect l="l" t="t" r="r" b="b"/>
                <a:pathLst>
                  <a:path w="95283" h="85878">
                    <a:moveTo>
                      <a:pt x="47640" y="85878"/>
                    </a:moveTo>
                    <a:lnTo>
                      <a:pt x="87526" y="46778"/>
                    </a:lnTo>
                    <a:cubicBezTo>
                      <a:pt x="92467" y="41982"/>
                      <a:pt x="95261" y="35394"/>
                      <a:pt x="95272" y="28508"/>
                    </a:cubicBezTo>
                    <a:cubicBezTo>
                      <a:pt x="95283" y="21622"/>
                      <a:pt x="92511" y="15025"/>
                      <a:pt x="87585" y="10213"/>
                    </a:cubicBezTo>
                    <a:cubicBezTo>
                      <a:pt x="77239" y="95"/>
                      <a:pt x="60715" y="64"/>
                      <a:pt x="50331" y="10142"/>
                    </a:cubicBezTo>
                    <a:lnTo>
                      <a:pt x="47664" y="12761"/>
                    </a:lnTo>
                    <a:lnTo>
                      <a:pt x="45009" y="10142"/>
                    </a:lnTo>
                    <a:cubicBezTo>
                      <a:pt x="34664" y="32"/>
                      <a:pt x="18149" y="0"/>
                      <a:pt x="7766" y="10071"/>
                    </a:cubicBezTo>
                    <a:cubicBezTo>
                      <a:pt x="2823" y="14864"/>
                      <a:pt x="27" y="21452"/>
                      <a:pt x="13" y="28338"/>
                    </a:cubicBezTo>
                    <a:cubicBezTo>
                      <a:pt x="0" y="35223"/>
                      <a:pt x="2770" y="41822"/>
                      <a:pt x="7694" y="46635"/>
                    </a:cubicBezTo>
                    <a:lnTo>
                      <a:pt x="47640" y="85878"/>
                    </a:ln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256348" y="5687854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数据价值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857500" y="5695950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7D4A"/>
                  </a:solidFill>
                  <a:latin typeface="Arial"/>
                  <a:ea typeface="Microsoft YaHei"/>
                  <a:cs typeface="Arial"/>
                </a:rPr>
                <a:t>可检索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3867150" y="5743575"/>
              <a:ext cx="76200" cy="76200"/>
            </a:xfrm>
            <a:prstGeom prst="ellipse">
              <a:avLst/>
            </a:prstGeom>
            <a:solidFill>
              <a:srgbClr val="D9A44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286250" y="5695950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7D4A"/>
                  </a:solidFill>
                  <a:latin typeface="Arial"/>
                  <a:ea typeface="Microsoft YaHei"/>
                  <a:cs typeface="Arial"/>
                </a:rPr>
                <a:t>可回看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5295900" y="5743575"/>
              <a:ext cx="76200" cy="76200"/>
            </a:xfrm>
            <a:prstGeom prst="ellipse">
              <a:avLst/>
            </a:prstGeom>
            <a:solidFill>
              <a:srgbClr val="D9A44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715000" y="5695950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7D4A"/>
                  </a:solidFill>
                  <a:latin typeface="Arial"/>
                  <a:ea typeface="Microsoft YaHei"/>
                  <a:cs typeface="Arial"/>
                </a:rPr>
                <a:t>可扩展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22808" y="5720239"/>
              <a:ext cx="326278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为档案管理、统计分析和模型优化提供基础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9112" y="421481"/>
            <a:ext cx="11153776" cy="6162675"/>
            <a:chOff x="519112" y="421481"/>
            <a:chExt cx="11153776" cy="6162675"/>
          </a:xfrm>
        </p:grpSpPr>
        <p:sp>
          <p:nvSpPr>
            <p:cNvPr id="3" name="TextBox 3"/>
            <p:cNvSpPr txBox="1"/>
            <p:nvPr/>
          </p:nvSpPr>
          <p:spPr>
            <a:xfrm>
              <a:off x="519112" y="421481"/>
              <a:ext cx="29269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F7D4A"/>
                  </a:solidFill>
                  <a:latin typeface="Arial"/>
                  <a:ea typeface="Arial"/>
                  <a:cs typeface="Arial"/>
                </a:rPr>
                <a:t>INTAKE DIAGNOSTICIAN · WEEKLY REPORT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479292" y="6355556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5" dirty="0">
                  <a:solidFill>
                    <a:srgbClr val="8A978E"/>
                  </a:solidFill>
                  <a:latin typeface="Arial"/>
                  <a:ea typeface="Arial"/>
                  <a:cs typeface="Arial"/>
                </a:rPr>
                <a:t>11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99110" y="708660"/>
            <a:ext cx="4773930" cy="739140"/>
            <a:chOff x="499110" y="708660"/>
            <a:chExt cx="4773930" cy="739140"/>
          </a:xfrm>
        </p:grpSpPr>
        <p:sp>
          <p:nvSpPr>
            <p:cNvPr id="6" name="TextBox 6"/>
            <p:cNvSpPr txBox="1"/>
            <p:nvPr/>
          </p:nvSpPr>
          <p:spPr>
            <a:xfrm>
              <a:off x="499110" y="708660"/>
              <a:ext cx="352771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中医 Skills 能力接入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14350" y="1143000"/>
              <a:ext cx="475869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固定流程保证稳定，专业 Skill 提供完成后的智能分析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14500" y="2895600"/>
            <a:ext cx="8763000" cy="9525"/>
            <a:chOff x="1714500" y="2895600"/>
            <a:chExt cx="8763000" cy="9525"/>
          </a:xfrm>
        </p:grpSpPr>
        <p:sp>
          <p:nvSpPr>
            <p:cNvPr id="9" name="Line 9"/>
            <p:cNvSpPr/>
            <p:nvPr/>
          </p:nvSpPr>
          <p:spPr>
            <a:xfrm>
              <a:off x="1714500" y="2895600"/>
              <a:ext cx="8763000" cy="9525"/>
            </a:xfrm>
            <a:custGeom>
              <a:avLst/>
              <a:gdLst/>
              <a:ahLst/>
              <a:cxnLst/>
              <a:rect l="l" t="t" r="r" b="b"/>
              <a:pathLst>
                <a:path w="8763000" h="9525">
                  <a:moveTo>
                    <a:pt x="0" y="0"/>
                  </a:moveTo>
                  <a:lnTo>
                    <a:pt x="8763000" y="0"/>
                  </a:lnTo>
                </a:path>
              </a:pathLst>
            </a:custGeom>
            <a:noFill/>
            <a:ln w="57150">
              <a:solidFill>
                <a:srgbClr val="D8E4DA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714500" y="2895600"/>
              <a:ext cx="8763000" cy="9525"/>
            </a:xfrm>
            <a:custGeom>
              <a:avLst/>
              <a:gdLst/>
              <a:ahLst/>
              <a:cxnLst/>
              <a:rect l="l" t="t" r="r" b="b"/>
              <a:pathLst>
                <a:path w="8763000" h="9525">
                  <a:moveTo>
                    <a:pt x="0" y="0"/>
                  </a:moveTo>
                  <a:lnTo>
                    <a:pt x="8763000" y="0"/>
                  </a:lnTo>
                </a:path>
              </a:pathLst>
            </a:custGeom>
            <a:noFill/>
            <a:ln w="28575">
              <a:solidFill>
                <a:srgbClr val="65B66C"/>
              </a:solidFill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1003173" y="2438400"/>
            <a:ext cx="10049637" cy="1676400"/>
            <a:chOff x="1003173" y="2438400"/>
            <a:chExt cx="10049637" cy="1676400"/>
          </a:xfrm>
        </p:grpSpPr>
        <p:sp>
          <p:nvSpPr>
            <p:cNvPr id="12" name="Ellipse 12"/>
            <p:cNvSpPr/>
            <p:nvPr/>
          </p:nvSpPr>
          <p:spPr>
            <a:xfrm>
              <a:off x="1257300" y="2438400"/>
              <a:ext cx="914400" cy="914400"/>
            </a:xfrm>
            <a:prstGeom prst="ellipse">
              <a:avLst/>
            </a:prstGeom>
            <a:solidFill>
              <a:srgbClr val="2F7D4A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581150" y="2724150"/>
              <a:ext cx="266700" cy="342900"/>
              <a:chOff x="1581150" y="2724150"/>
              <a:chExt cx="266700" cy="3429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581150" y="2762250"/>
                <a:ext cx="2667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304800">
                    <a:moveTo>
                      <a:pt x="76200" y="0"/>
                    </a:moveTo>
                    <a:lnTo>
                      <a:pt x="38100" y="0"/>
                    </a:lnTo>
                    <a:cubicBezTo>
                      <a:pt x="17058" y="0"/>
                      <a:pt x="0" y="17058"/>
                      <a:pt x="0" y="38100"/>
                    </a:cubicBezTo>
                    <a:lnTo>
                      <a:pt x="0" y="266700"/>
                    </a:lnTo>
                    <a:cubicBezTo>
                      <a:pt x="0" y="287742"/>
                      <a:pt x="17058" y="304800"/>
                      <a:pt x="38100" y="304800"/>
                    </a:cubicBezTo>
                    <a:lnTo>
                      <a:pt x="228600" y="304800"/>
                    </a:lnTo>
                    <a:cubicBezTo>
                      <a:pt x="249642" y="304800"/>
                      <a:pt x="266700" y="287742"/>
                      <a:pt x="266700" y="266700"/>
                    </a:cubicBezTo>
                    <a:lnTo>
                      <a:pt x="266700" y="38100"/>
                    </a:lnTo>
                    <a:cubicBezTo>
                      <a:pt x="266700" y="17058"/>
                      <a:pt x="249642" y="0"/>
                      <a:pt x="228600" y="0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657350" y="272415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76200" y="0"/>
                    </a:lnTo>
                    <a:cubicBezTo>
                      <a:pt x="97242" y="0"/>
                      <a:pt x="114300" y="17058"/>
                      <a:pt x="114300" y="38100"/>
                    </a:cubicBezTo>
                    <a:cubicBezTo>
                      <a:pt x="114300" y="59142"/>
                      <a:pt x="97242" y="76200"/>
                      <a:pt x="76200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657350" y="289560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38100"/>
                    </a:moveTo>
                    <a:lnTo>
                      <a:pt x="38100" y="76200"/>
                    </a:ln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115973" y="35175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结构化问诊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03173" y="3870960"/>
              <a:ext cx="14226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固定 10 题稳定采集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448050" y="2438400"/>
              <a:ext cx="914400" cy="914400"/>
            </a:xfrm>
            <a:prstGeom prst="ellipse">
              <a:avLst/>
            </a:prstGeom>
            <a:solidFill>
              <a:srgbClr val="65B66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604570" y="2702242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十问歌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40944" y="29551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Skill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91208" y="35175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完整度与风险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53956" y="3870960"/>
              <a:ext cx="9025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5F6F64"/>
                  </a:solidFill>
                  <a:latin typeface="Arial"/>
                  <a:ea typeface="Arial"/>
                  <a:cs typeface="Arial"/>
                </a:rPr>
                <a:t>tcm-intake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638800" y="2438400"/>
              <a:ext cx="914400" cy="914400"/>
            </a:xfrm>
            <a:prstGeom prst="ellipse">
              <a:avLst/>
            </a:prstGeom>
            <a:solidFill>
              <a:srgbClr val="D9A44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89831" y="2702242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辨证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31694" y="29551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Skill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12987" y="35175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辨证参考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12689" y="3870960"/>
              <a:ext cx="11666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5F6F64"/>
                  </a:solidFill>
                  <a:latin typeface="Arial"/>
                  <a:ea typeface="Arial"/>
                  <a:cs typeface="Arial"/>
                </a:rPr>
                <a:t>tcm-zhengxing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829550" y="2438400"/>
              <a:ext cx="914400" cy="914400"/>
            </a:xfrm>
            <a:prstGeom prst="ellipse">
              <a:avLst/>
            </a:prstGeom>
            <a:solidFill>
              <a:srgbClr val="65B66C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8115300" y="2724150"/>
              <a:ext cx="342900" cy="342900"/>
              <a:chOff x="8115300" y="2724150"/>
              <a:chExt cx="342900" cy="3429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115300" y="2724150"/>
                <a:ext cx="3429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71450">
                    <a:moveTo>
                      <a:pt x="0" y="171450"/>
                    </a:moveTo>
                    <a:lnTo>
                      <a:pt x="19050" y="171450"/>
                    </a:lnTo>
                    <a:moveTo>
                      <a:pt x="171450" y="0"/>
                    </a:moveTo>
                    <a:lnTo>
                      <a:pt x="171450" y="19050"/>
                    </a:lnTo>
                    <a:moveTo>
                      <a:pt x="323850" y="171450"/>
                    </a:moveTo>
                    <a:lnTo>
                      <a:pt x="342900" y="171450"/>
                    </a:lnTo>
                    <a:moveTo>
                      <a:pt x="49530" y="49530"/>
                    </a:moveTo>
                    <a:lnTo>
                      <a:pt x="62865" y="62865"/>
                    </a:lnTo>
                    <a:moveTo>
                      <a:pt x="293370" y="49530"/>
                    </a:moveTo>
                    <a:lnTo>
                      <a:pt x="280035" y="6286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83423" y="2800350"/>
                <a:ext cx="206654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06654" h="266700">
                    <a:moveTo>
                      <a:pt x="46177" y="171450"/>
                    </a:moveTo>
                    <a:cubicBezTo>
                      <a:pt x="13378" y="146851"/>
                      <a:pt x="0" y="104024"/>
                      <a:pt x="12965" y="65129"/>
                    </a:cubicBezTo>
                    <a:cubicBezTo>
                      <a:pt x="25930" y="26235"/>
                      <a:pt x="62328" y="0"/>
                      <a:pt x="103327" y="0"/>
                    </a:cubicBezTo>
                    <a:cubicBezTo>
                      <a:pt x="144325" y="0"/>
                      <a:pt x="180724" y="26235"/>
                      <a:pt x="193689" y="65129"/>
                    </a:cubicBezTo>
                    <a:cubicBezTo>
                      <a:pt x="206654" y="104024"/>
                      <a:pt x="193276" y="146851"/>
                      <a:pt x="160477" y="171450"/>
                    </a:cubicBezTo>
                    <a:cubicBezTo>
                      <a:pt x="145392" y="186382"/>
                      <a:pt x="138319" y="207604"/>
                      <a:pt x="141427" y="228600"/>
                    </a:cubicBezTo>
                    <a:cubicBezTo>
                      <a:pt x="141427" y="249642"/>
                      <a:pt x="124369" y="266700"/>
                      <a:pt x="103327" y="266700"/>
                    </a:cubicBezTo>
                    <a:cubicBezTo>
                      <a:pt x="82285" y="266700"/>
                      <a:pt x="65227" y="249642"/>
                      <a:pt x="65227" y="228600"/>
                    </a:cubicBezTo>
                    <a:cubicBezTo>
                      <a:pt x="68335" y="207604"/>
                      <a:pt x="61261" y="186382"/>
                      <a:pt x="46177" y="1714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242935" y="2990850"/>
                <a:ext cx="8763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7630" h="9525">
                    <a:moveTo>
                      <a:pt x="0" y="0"/>
                    </a:moveTo>
                    <a:lnTo>
                      <a:pt x="8763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803737" y="35175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分析结果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07427" y="3870960"/>
              <a:ext cx="13586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风险 · 辨证 · 追问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10020300" y="2438400"/>
              <a:ext cx="914400" cy="914400"/>
            </a:xfrm>
            <a:prstGeom prst="ellipse">
              <a:avLst/>
            </a:prstGeom>
            <a:solidFill>
              <a:srgbClr val="2F7D4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10325100" y="2724150"/>
              <a:ext cx="342929" cy="361950"/>
              <a:chOff x="10325100" y="2724150"/>
              <a:chExt cx="342929" cy="36195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0325100" y="2724150"/>
                <a:ext cx="3048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14300">
                    <a:moveTo>
                      <a:pt x="0" y="57150"/>
                    </a:moveTo>
                    <a:cubicBezTo>
                      <a:pt x="0" y="88716"/>
                      <a:pt x="68237" y="114300"/>
                      <a:pt x="152400" y="114300"/>
                    </a:cubicBezTo>
                    <a:cubicBezTo>
                      <a:pt x="236563" y="114300"/>
                      <a:pt x="304800" y="88716"/>
                      <a:pt x="304800" y="57150"/>
                    </a:cubicBezTo>
                    <a:cubicBezTo>
                      <a:pt x="304800" y="25584"/>
                      <a:pt x="236563" y="0"/>
                      <a:pt x="152400" y="0"/>
                    </a:cubicBezTo>
                    <a:cubicBezTo>
                      <a:pt x="68237" y="0"/>
                      <a:pt x="0" y="25584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325100" y="2781300"/>
                <a:ext cx="122187" cy="170326"/>
              </a:xfrm>
              <a:custGeom>
                <a:avLst/>
                <a:gdLst/>
                <a:ahLst/>
                <a:cxnLst/>
                <a:rect l="l" t="t" r="r" b="b"/>
                <a:pathLst>
                  <a:path w="122187" h="170326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1980"/>
                      <a:pt x="52483" y="165068"/>
                      <a:pt x="122187" y="170326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629900" y="2781300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952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0325100" y="2895600"/>
                <a:ext cx="140646" cy="171279"/>
              </a:xfrm>
              <a:custGeom>
                <a:avLst/>
                <a:gdLst/>
                <a:ahLst/>
                <a:cxnLst/>
                <a:rect l="l" t="t" r="r" b="b"/>
                <a:pathLst>
                  <a:path w="140646" h="171279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4380"/>
                      <a:pt x="61970" y="169031"/>
                      <a:pt x="140646" y="171279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0515576" y="2948696"/>
                <a:ext cx="152453" cy="137404"/>
              </a:xfrm>
              <a:custGeom>
                <a:avLst/>
                <a:gdLst/>
                <a:ahLst/>
                <a:cxnLst/>
                <a:rect l="l" t="t" r="r" b="b"/>
                <a:pathLst>
                  <a:path w="152453" h="137404">
                    <a:moveTo>
                      <a:pt x="76224" y="137404"/>
                    </a:moveTo>
                    <a:lnTo>
                      <a:pt x="140041" y="74844"/>
                    </a:lnTo>
                    <a:cubicBezTo>
                      <a:pt x="147948" y="67172"/>
                      <a:pt x="152417" y="56630"/>
                      <a:pt x="152435" y="45613"/>
                    </a:cubicBezTo>
                    <a:cubicBezTo>
                      <a:pt x="152453" y="34596"/>
                      <a:pt x="148018" y="24039"/>
                      <a:pt x="140136" y="16341"/>
                    </a:cubicBezTo>
                    <a:cubicBezTo>
                      <a:pt x="123583" y="153"/>
                      <a:pt x="97145" y="102"/>
                      <a:pt x="80529" y="16227"/>
                    </a:cubicBezTo>
                    <a:lnTo>
                      <a:pt x="76262" y="20418"/>
                    </a:lnTo>
                    <a:lnTo>
                      <a:pt x="72014" y="16227"/>
                    </a:lnTo>
                    <a:cubicBezTo>
                      <a:pt x="55462" y="51"/>
                      <a:pt x="29038" y="0"/>
                      <a:pt x="12425" y="16113"/>
                    </a:cubicBezTo>
                    <a:cubicBezTo>
                      <a:pt x="4516" y="23783"/>
                      <a:pt x="43" y="34323"/>
                      <a:pt x="22" y="45340"/>
                    </a:cubicBezTo>
                    <a:cubicBezTo>
                      <a:pt x="0" y="56357"/>
                      <a:pt x="4432" y="66915"/>
                      <a:pt x="12311" y="74615"/>
                    </a:cubicBezTo>
                    <a:lnTo>
                      <a:pt x="76224" y="137404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9994487" y="35175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档案沉淀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902190" y="387096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随历史记录保存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14400" y="4857750"/>
            <a:ext cx="10363200" cy="990600"/>
            <a:chOff x="914400" y="4857750"/>
            <a:chExt cx="10363200" cy="990600"/>
          </a:xfrm>
        </p:grpSpPr>
        <p:sp>
          <p:nvSpPr>
            <p:cNvPr id="46" name="Rectangle 46"/>
            <p:cNvSpPr/>
            <p:nvPr/>
          </p:nvSpPr>
          <p:spPr>
            <a:xfrm>
              <a:off x="914400" y="4857750"/>
              <a:ext cx="10363200" cy="990600"/>
            </a:xfrm>
            <a:prstGeom prst="roundRect">
              <a:avLst>
                <a:gd name="adj" fmla="val 7692"/>
              </a:avLst>
            </a:prstGeom>
            <a:solidFill>
              <a:srgbClr val="EEF6EF"/>
            </a:solidFill>
            <a:ln w="14288">
              <a:solidFill>
                <a:srgbClr val="D8E4DA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1283501" y="5210175"/>
              <a:ext cx="310011" cy="285751"/>
              <a:chOff x="1283501" y="5210175"/>
              <a:chExt cx="310011" cy="285751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1283501" y="5210175"/>
                <a:ext cx="310011" cy="283306"/>
              </a:xfrm>
              <a:custGeom>
                <a:avLst/>
                <a:gdLst/>
                <a:ahLst/>
                <a:cxnLst/>
                <a:rect l="l" t="t" r="r" b="b"/>
                <a:pathLst>
                  <a:path w="310011" h="283306">
                    <a:moveTo>
                      <a:pt x="155727" y="283306"/>
                    </a:moveTo>
                    <a:cubicBezTo>
                      <a:pt x="56277" y="252479"/>
                      <a:pt x="0" y="147517"/>
                      <a:pt x="29362" y="47625"/>
                    </a:cubicBezTo>
                    <a:cubicBezTo>
                      <a:pt x="78821" y="49888"/>
                      <a:pt x="127218" y="32807"/>
                      <a:pt x="164299" y="0"/>
                    </a:cubicBezTo>
                    <a:cubicBezTo>
                      <a:pt x="201381" y="32807"/>
                      <a:pt x="249778" y="49888"/>
                      <a:pt x="299237" y="47625"/>
                    </a:cubicBezTo>
                    <a:cubicBezTo>
                      <a:pt x="310011" y="84282"/>
                      <a:pt x="309513" y="123332"/>
                      <a:pt x="297808" y="159703"/>
                    </a:cubicBez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495425" y="5432426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2F7D4A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844040" y="5111115"/>
              <a:ext cx="281806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基础问诊与智能分析解耦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850708" y="5491639"/>
              <a:ext cx="601713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即使千问或 Ollama 暂时不可用，10 题问诊、四诊档案和历史保存仍可正常完成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9112" y="421481"/>
            <a:ext cx="11153776" cy="6162675"/>
            <a:chOff x="519112" y="421481"/>
            <a:chExt cx="11153776" cy="6162675"/>
          </a:xfrm>
        </p:grpSpPr>
        <p:sp>
          <p:nvSpPr>
            <p:cNvPr id="3" name="TextBox 3"/>
            <p:cNvSpPr txBox="1"/>
            <p:nvPr/>
          </p:nvSpPr>
          <p:spPr>
            <a:xfrm>
              <a:off x="519112" y="421481"/>
              <a:ext cx="29269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F7D4A"/>
                  </a:solidFill>
                  <a:latin typeface="Arial"/>
                  <a:ea typeface="Arial"/>
                  <a:cs typeface="Arial"/>
                </a:rPr>
                <a:t>INTAKE DIAGNOSTICIAN · WEEKLY REPORT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479292" y="6355556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5" dirty="0">
                  <a:solidFill>
                    <a:srgbClr val="8A978E"/>
                  </a:solidFill>
                  <a:latin typeface="Arial"/>
                  <a:ea typeface="Arial"/>
                  <a:cs typeface="Arial"/>
                </a:rPr>
                <a:t>10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99110" y="708660"/>
            <a:ext cx="3453765" cy="739140"/>
            <a:chOff x="499110" y="708660"/>
            <a:chExt cx="3453765" cy="739140"/>
          </a:xfrm>
        </p:grpSpPr>
        <p:sp>
          <p:nvSpPr>
            <p:cNvPr id="6" name="TextBox 6"/>
            <p:cNvSpPr txBox="1"/>
            <p:nvPr/>
          </p:nvSpPr>
          <p:spPr>
            <a:xfrm>
              <a:off x="499110" y="708660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下一步计划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14350" y="1143000"/>
              <a:ext cx="34385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围绕真实问诊质量和稳定交付继续推进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13472" y="2400300"/>
            <a:ext cx="9921717" cy="1893094"/>
            <a:chOff x="1113472" y="2400300"/>
            <a:chExt cx="9921717" cy="1893094"/>
          </a:xfrm>
        </p:grpSpPr>
        <p:sp>
          <p:nvSpPr>
            <p:cNvPr id="9" name="Line 9"/>
            <p:cNvSpPr/>
            <p:nvPr/>
          </p:nvSpPr>
          <p:spPr>
            <a:xfrm>
              <a:off x="1809750" y="2800350"/>
              <a:ext cx="8572500" cy="9525"/>
            </a:xfrm>
            <a:custGeom>
              <a:avLst/>
              <a:gdLst/>
              <a:ahLst/>
              <a:cxnLst/>
              <a:rect l="l" t="t" r="r" b="b"/>
              <a:pathLst>
                <a:path w="8572500" h="9525">
                  <a:moveTo>
                    <a:pt x="0" y="0"/>
                  </a:moveTo>
                  <a:lnTo>
                    <a:pt x="8572500" y="0"/>
                  </a:lnTo>
                </a:path>
              </a:pathLst>
            </a:custGeom>
            <a:noFill/>
            <a:ln w="38100">
              <a:solidFill>
                <a:srgbClr val="D8E4DA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409700" y="2400300"/>
              <a:ext cx="800100" cy="800100"/>
            </a:xfrm>
            <a:prstGeom prst="ellipse">
              <a:avLst/>
            </a:prstGeom>
            <a:solidFill>
              <a:srgbClr val="2F7D4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94539" y="2671762"/>
              <a:ext cx="23042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82827" y="33870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动态追问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13472" y="3777139"/>
              <a:ext cx="13925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根据答案调整问题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83494" y="4034314"/>
              <a:ext cx="10525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减少无效问答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4267200" y="2400300"/>
              <a:ext cx="800100" cy="800100"/>
            </a:xfrm>
            <a:prstGeom prst="ellipse">
              <a:avLst/>
            </a:prstGeom>
            <a:solidFill>
              <a:srgbClr val="65B66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552039" y="2671762"/>
              <a:ext cx="23042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40327" y="33870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风险提示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55983" y="3777139"/>
              <a:ext cx="122253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识别高风险症状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70973" y="4034314"/>
              <a:ext cx="13925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给出及时就医建议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124700" y="2400300"/>
              <a:ext cx="800100" cy="800100"/>
            </a:xfrm>
            <a:prstGeom prst="ellipse">
              <a:avLst/>
            </a:prstGeom>
            <a:solidFill>
              <a:srgbClr val="D9A44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09539" y="2671762"/>
              <a:ext cx="23042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97827" y="33870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档案管理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28472" y="3777139"/>
              <a:ext cx="13925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支持历史记录检索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83504" y="4034314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对比和导出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9982200" y="2400300"/>
              <a:ext cx="800100" cy="800100"/>
            </a:xfrm>
            <a:prstGeom prst="ellipse">
              <a:avLst/>
            </a:prstGeom>
            <a:solidFill>
              <a:srgbClr val="2F7D4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267039" y="2671762"/>
              <a:ext cx="23042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29311" y="33870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部署稳定性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55994" y="3777139"/>
              <a:ext cx="10525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统一启动方式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855994" y="4034314"/>
              <a:ext cx="10525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F6F64"/>
                  </a:solidFill>
                  <a:latin typeface="Arial"/>
                  <a:ea typeface="Microsoft YaHei"/>
                  <a:cs typeface="Arial"/>
                </a:rPr>
                <a:t>补充异常监控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14400" y="4972050"/>
            <a:ext cx="10363200" cy="990600"/>
            <a:chOff x="914400" y="4972050"/>
            <a:chExt cx="10363200" cy="990600"/>
          </a:xfrm>
        </p:grpSpPr>
        <p:sp>
          <p:nvSpPr>
            <p:cNvPr id="31" name="Rectangle 31"/>
            <p:cNvSpPr/>
            <p:nvPr/>
          </p:nvSpPr>
          <p:spPr>
            <a:xfrm>
              <a:off x="914400" y="4972050"/>
              <a:ext cx="10363200" cy="990600"/>
            </a:xfrm>
            <a:prstGeom prst="roundRect">
              <a:avLst>
                <a:gd name="adj" fmla="val 7692"/>
              </a:avLst>
            </a:prstGeom>
            <a:solidFill>
              <a:srgbClr val="2F7D4A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1330783" y="5309056"/>
              <a:ext cx="303793" cy="303819"/>
              <a:chOff x="1330783" y="5309056"/>
              <a:chExt cx="303793" cy="303819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1470025" y="5441950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406525" y="5378450"/>
                <a:ext cx="158750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158750">
                    <a:moveTo>
                      <a:pt x="79375" y="0"/>
                    </a:moveTo>
                    <a:cubicBezTo>
                      <a:pt x="35537" y="0"/>
                      <a:pt x="0" y="35537"/>
                      <a:pt x="0" y="79375"/>
                    </a:cubicBezTo>
                    <a:cubicBezTo>
                      <a:pt x="0" y="123213"/>
                      <a:pt x="35537" y="158750"/>
                      <a:pt x="79375" y="158750"/>
                    </a:cubicBezTo>
                    <a:cubicBezTo>
                      <a:pt x="123213" y="158750"/>
                      <a:pt x="158750" y="123213"/>
                      <a:pt x="158750" y="7937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330783" y="5309056"/>
                <a:ext cx="303793" cy="303819"/>
              </a:xfrm>
              <a:custGeom>
                <a:avLst/>
                <a:gdLst/>
                <a:ahLst/>
                <a:cxnLst/>
                <a:rect l="l" t="t" r="r" b="b"/>
                <a:pathLst>
                  <a:path w="303793" h="303819">
                    <a:moveTo>
                      <a:pt x="170992" y="6767"/>
                    </a:moveTo>
                    <a:cubicBezTo>
                      <a:pt x="110672" y="0"/>
                      <a:pt x="52660" y="32084"/>
                      <a:pt x="26330" y="86775"/>
                    </a:cubicBezTo>
                    <a:cubicBezTo>
                      <a:pt x="0" y="141466"/>
                      <a:pt x="11100" y="206823"/>
                      <a:pt x="54010" y="249754"/>
                    </a:cubicBezTo>
                    <a:cubicBezTo>
                      <a:pt x="96919" y="292686"/>
                      <a:pt x="162271" y="303819"/>
                      <a:pt x="216975" y="277516"/>
                    </a:cubicBezTo>
                    <a:cubicBezTo>
                      <a:pt x="271679" y="251214"/>
                      <a:pt x="303793" y="193218"/>
                      <a:pt x="297056" y="132894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533525" y="531495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lnTo>
                      <a:pt x="0" y="95250"/>
                    </a:lnTo>
                    <a:lnTo>
                      <a:pt x="47625" y="95250"/>
                    </a:lnTo>
                    <a:lnTo>
                      <a:pt x="95250" y="47625"/>
                    </a:lnTo>
                    <a:lnTo>
                      <a:pt x="47625" y="47625"/>
                    </a:lnTo>
                    <a:lnTo>
                      <a:pt x="47625" y="0"/>
                    </a:ln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485900" y="541020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47625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897380" y="5288280"/>
              <a:ext cx="740425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本周已经完成从聊天 Demo 到结构化问诊产品的关键一步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907858" y="5644039"/>
              <a:ext cx="465696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EEF6EF"/>
                  </a:solidFill>
                  <a:latin typeface="Arial"/>
                  <a:ea typeface="Microsoft YaHei"/>
                  <a:cs typeface="Arial"/>
                </a:rPr>
                <a:t>下一阶段重点从“可用”走向“更智能、更稳、更接近真实场景”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1993</Words>
  <Application>Microsoft Office PowerPoint</Application>
  <PresentationFormat>宽屏</PresentationFormat>
  <Paragraphs>171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其贵 马</cp:lastModifiedBy>
  <cp:revision>2</cp:revision>
  <dcterms:created xsi:type="dcterms:W3CDTF">2026-07-30T10:25:23Z</dcterms:created>
  <dcterms:modified xsi:type="dcterms:W3CDTF">2026-07-30T12:00:52Z</dcterms:modified>
  <cp:category/>
  <cp:contentStatus/>
  <dc:language/>
</cp:coreProperties>
</file>