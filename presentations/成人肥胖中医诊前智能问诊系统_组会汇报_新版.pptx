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63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3193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大家好，今天汇报的是成人肥胖中医诊前智能问诊系统。这个项目关注的不是让人工智能替代医生，而是让系统在诊前把患者零散的描述整理成医生能够继续使用的结构化资料。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诊前信息采集的困难主要来自三个方面：患者表达往往零散，固定问卷不能根据已有信息动态调整，而采集范围又必须在避免遗漏和减少患者负担之间取得平衡。因此项目的核心问题是，系统怎样知道还缺什么、是否需要继续追问，以及何时可以结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这个系统的定位是诊前信息整理工具。它负责采集、提取、识别缺口和生成档案，但最终诊断、中医辨证、检查选择和治疗决策仍然由医生完成。</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系统从基础资料和主要诉求开始，随后提取患者已经提供的信息，更新字段状态，并判断核心资料是否完整。如果仍有核心缺口就继续追问，达到可用状态后生成并保存档案，最后交给医生查看和确认。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系统的问题范围并不是由大模型临时自由发挥。它来自成人肥胖诊前评估、中医问诊框架和医疗安全要求三个方面，大模型主要负责理解患者表达，具体采集范围由预先定义的字段体系约束。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为了让系统能够进行判断，每项临床信息都被转化成一个字段。字段不仅记录答案，还记录当前状态、优先级、适用条件、原始证据、追问次数和冲突，因此系统能够区分已确认、部分确认、无法确认和前后矛盾等不同情况。</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完整度不是简单计算患者回答了多少道题，而是分层判断核心信息是否已经可用。系统依次检查基础资料、病程风险、核心中医症状和安全信息，同时确认是否仍有核心缺失、部分回答、关键冲突或未确认的安全信息。</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为了避免问诊过长，项目把患者完成线和医生完善线分开。患者只需要完成影响诊前使用和医疗安全的核心信息，舌象、饮食运动的精确频率和检查具体数值等内容，可以保留给医生在诊中继续确认。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患者一句自然表达可能同时包含多个信息点，例如这句话同时提供了体重变化、睡眠和疲劳信息。系统会分别更新对应字段并保存原始证据，然后重新检查核心缺口、否定表达、信息冲突和停止条件，所以完整度是随着有效证据变化，而不是随着对话轮数变化。</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有三种结果：继续追问、正常停止和保护性停止。核心资料全部可用且没有未解决冲突时正常停止；如果患者持续不知道、拒绝回答或在线无法确认，则停止重复追问，但把结果标记为待医生诊中确认，而不是假装资料已经完整。</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目前针对多字段提取、否定和不确定表达、前后冲突、大模型波动以及患者负担，都已经建立了对应的工程处理机制。这里需要明确，工程实现和自动化测试只能证明系统符合当前规则，规则本身的临床合理性仍需要标准病例和临床专家进一步验证。</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这一页展示患者建立基础资料的操作。患者确认身高、体重和主要诉求后，系统完成基础评估并建立本次问诊上下文，随后进入自然语言问诊。</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这一页展示系统如何从患者自由描述进入动态追问。左侧可以看到患者一次表达多个情况，右侧可以看到系统根据仍然缺失的核心信息继续提问，已经获得的信息不会重复询问。</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当核心资料达到可用状态后，系统停止在线追问并自动保存档案。患者端侧重易理解的结果和历史回看，医生端则保留字段证据、待确认项、冲突和危险信号，便于诊中继续使用。</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Rectangle 3"/>
          <p:cNvSpPr/>
          <p:nvPr/>
        </p:nvSpPr>
        <p:spPr>
          <a:xfrm>
            <a:off x="0" y="0"/>
            <a:ext cx="209550" cy="6858000"/>
          </a:xfrm>
          <a:prstGeom prst="rect">
            <a:avLst/>
          </a:prstGeom>
          <a:solidFill>
            <a:srgbClr val="174C43"/>
          </a:solidFill>
          <a:ln>
            <a:noFill/>
          </a:ln>
        </p:spPr>
      </p:sp>
      <p:sp>
        <p:nvSpPr>
          <p:cNvPr id="4" name="Freeform 4"/>
          <p:cNvSpPr/>
          <p:nvPr/>
        </p:nvSpPr>
        <p:spPr>
          <a:xfrm>
            <a:off x="7239000" y="762000"/>
            <a:ext cx="4343400" cy="5334000"/>
          </a:xfrm>
          <a:custGeom>
            <a:avLst/>
            <a:gdLst/>
            <a:ahLst/>
            <a:cxnLst/>
            <a:rect l="l" t="t" r="r" b="b"/>
            <a:pathLst>
              <a:path w="4343400" h="5334000">
                <a:moveTo>
                  <a:pt x="0" y="0"/>
                </a:moveTo>
                <a:lnTo>
                  <a:pt x="4343400" y="0"/>
                </a:lnTo>
                <a:lnTo>
                  <a:pt x="4343400" y="5334000"/>
                </a:lnTo>
                <a:lnTo>
                  <a:pt x="0" y="5334000"/>
                </a:lnTo>
              </a:path>
            </a:pathLst>
          </a:custGeom>
          <a:noFill/>
          <a:ln w="19050">
            <a:solidFill>
              <a:srgbClr val="CDD8D2"/>
            </a:solidFill>
          </a:ln>
        </p:spPr>
      </p:sp>
      <p:sp>
        <p:nvSpPr>
          <p:cNvPr id="5" name="Freeform 5"/>
          <p:cNvSpPr/>
          <p:nvPr/>
        </p:nvSpPr>
        <p:spPr>
          <a:xfrm>
            <a:off x="7810500" y="1885950"/>
            <a:ext cx="2857500" cy="3086100"/>
          </a:xfrm>
          <a:custGeom>
            <a:avLst/>
            <a:gdLst/>
            <a:ahLst/>
            <a:cxnLst/>
            <a:rect l="l" t="t" r="r" b="b"/>
            <a:pathLst>
              <a:path w="2857500" h="3086100">
                <a:moveTo>
                  <a:pt x="0" y="0"/>
                </a:moveTo>
                <a:lnTo>
                  <a:pt x="2857500" y="0"/>
                </a:lnTo>
                <a:moveTo>
                  <a:pt x="0" y="1543050"/>
                </a:moveTo>
                <a:lnTo>
                  <a:pt x="2857500" y="1543050"/>
                </a:lnTo>
                <a:moveTo>
                  <a:pt x="0" y="3086100"/>
                </a:moveTo>
                <a:lnTo>
                  <a:pt x="2857500" y="3086100"/>
                </a:lnTo>
              </a:path>
            </a:pathLst>
          </a:custGeom>
          <a:noFill/>
          <a:ln w="19050">
            <a:solidFill>
              <a:srgbClr val="E2E8E4"/>
            </a:solidFill>
          </a:ln>
        </p:spPr>
      </p:sp>
      <p:sp>
        <p:nvSpPr>
          <p:cNvPr id="6" name="Ellipse 6"/>
          <p:cNvSpPr/>
          <p:nvPr/>
        </p:nvSpPr>
        <p:spPr>
          <a:xfrm>
            <a:off x="7486650" y="1562100"/>
            <a:ext cx="647700" cy="647700"/>
          </a:xfrm>
          <a:prstGeom prst="ellipse">
            <a:avLst/>
          </a:prstGeom>
          <a:solidFill>
            <a:srgbClr val="E8EFEA"/>
          </a:solidFill>
          <a:ln w="19050">
            <a:solidFill>
              <a:srgbClr val="174C43"/>
            </a:solidFill>
          </a:ln>
        </p:spPr>
      </p:sp>
      <p:sp>
        <p:nvSpPr>
          <p:cNvPr id="7" name="Ellipse 7"/>
          <p:cNvSpPr/>
          <p:nvPr/>
        </p:nvSpPr>
        <p:spPr>
          <a:xfrm>
            <a:off x="10344150" y="3105150"/>
            <a:ext cx="647700" cy="647700"/>
          </a:xfrm>
          <a:prstGeom prst="ellipse">
            <a:avLst/>
          </a:prstGeom>
          <a:solidFill>
            <a:srgbClr val="E8EFEA"/>
          </a:solidFill>
          <a:ln w="19050">
            <a:solidFill>
              <a:srgbClr val="174C43"/>
            </a:solidFill>
          </a:ln>
        </p:spPr>
      </p:sp>
      <p:sp>
        <p:nvSpPr>
          <p:cNvPr id="8" name="Ellipse 8"/>
          <p:cNvSpPr/>
          <p:nvPr/>
        </p:nvSpPr>
        <p:spPr>
          <a:xfrm>
            <a:off x="7486650" y="4648200"/>
            <a:ext cx="647700" cy="647700"/>
          </a:xfrm>
          <a:prstGeom prst="ellipse">
            <a:avLst/>
          </a:prstGeom>
          <a:solidFill>
            <a:srgbClr val="F7E7DE"/>
          </a:solidFill>
          <a:ln w="19050">
            <a:solidFill>
              <a:srgbClr val="C76B3C"/>
            </a:solidFill>
          </a:ln>
        </p:spPr>
      </p:sp>
      <p:sp>
        <p:nvSpPr>
          <p:cNvPr id="9" name="Freeform 9"/>
          <p:cNvSpPr/>
          <p:nvPr/>
        </p:nvSpPr>
        <p:spPr>
          <a:xfrm>
            <a:off x="8134350" y="1885950"/>
            <a:ext cx="2209800" cy="3086100"/>
          </a:xfrm>
          <a:custGeom>
            <a:avLst/>
            <a:gdLst/>
            <a:ahLst/>
            <a:cxnLst/>
            <a:rect l="l" t="t" r="r" b="b"/>
            <a:pathLst>
              <a:path w="2209800" h="3086100">
                <a:moveTo>
                  <a:pt x="0" y="0"/>
                </a:moveTo>
                <a:cubicBezTo>
                  <a:pt x="1200150" y="0"/>
                  <a:pt x="1200150" y="1543050"/>
                  <a:pt x="2209800" y="1543050"/>
                </a:cubicBezTo>
                <a:moveTo>
                  <a:pt x="2209800" y="1543050"/>
                </a:moveTo>
                <a:cubicBezTo>
                  <a:pt x="1200150" y="1543050"/>
                  <a:pt x="1200150" y="3086100"/>
                  <a:pt x="0" y="3086100"/>
                </a:cubicBezTo>
              </a:path>
            </a:pathLst>
          </a:custGeom>
          <a:noFill/>
          <a:ln w="38100">
            <a:solidFill>
              <a:srgbClr val="6E9184"/>
            </a:solidFill>
          </a:ln>
        </p:spPr>
      </p:sp>
      <p:grpSp>
        <p:nvGrpSpPr>
          <p:cNvPr id="14" name="Group 14"/>
          <p:cNvGrpSpPr/>
          <p:nvPr/>
        </p:nvGrpSpPr>
        <p:grpSpPr>
          <a:xfrm>
            <a:off x="7681912" y="1771650"/>
            <a:ext cx="257175" cy="242888"/>
            <a:chOff x="7681912" y="1771650"/>
            <a:chExt cx="257175" cy="242888"/>
          </a:xfrm>
        </p:grpSpPr>
        <p:sp>
          <p:nvSpPr>
            <p:cNvPr id="10" name="Freeform 10"/>
            <p:cNvSpPr/>
            <p:nvPr/>
          </p:nvSpPr>
          <p:spPr>
            <a:xfrm>
              <a:off x="7681912" y="1771650"/>
              <a:ext cx="257175" cy="242888"/>
            </a:xfrm>
            <a:custGeom>
              <a:avLst/>
              <a:gdLst/>
              <a:ahLst/>
              <a:cxnLst/>
              <a:rect l="l" t="t" r="r" b="b"/>
              <a:pathLst>
                <a:path w="257175" h="242888">
                  <a:moveTo>
                    <a:pt x="214312" y="0"/>
                  </a:moveTo>
                  <a:cubicBezTo>
                    <a:pt x="237985" y="0"/>
                    <a:pt x="257175" y="19190"/>
                    <a:pt x="257175" y="42862"/>
                  </a:cubicBezTo>
                  <a:lnTo>
                    <a:pt x="257175" y="157162"/>
                  </a:lnTo>
                  <a:cubicBezTo>
                    <a:pt x="257175" y="180835"/>
                    <a:pt x="237985" y="200025"/>
                    <a:pt x="214312" y="200025"/>
                  </a:cubicBezTo>
                  <a:lnTo>
                    <a:pt x="142875" y="200025"/>
                  </a:lnTo>
                  <a:lnTo>
                    <a:pt x="71438" y="242888"/>
                  </a:lnTo>
                  <a:lnTo>
                    <a:pt x="71438" y="200025"/>
                  </a:lnTo>
                  <a:lnTo>
                    <a:pt x="42862" y="200025"/>
                  </a:lnTo>
                  <a:cubicBezTo>
                    <a:pt x="19190" y="200025"/>
                    <a:pt x="0" y="180835"/>
                    <a:pt x="0" y="157162"/>
                  </a:cubicBezTo>
                  <a:lnTo>
                    <a:pt x="0" y="42862"/>
                  </a:lnTo>
                  <a:cubicBezTo>
                    <a:pt x="0" y="19190"/>
                    <a:pt x="19190" y="0"/>
                    <a:pt x="42862" y="0"/>
                  </a:cubicBezTo>
                  <a:lnTo>
                    <a:pt x="214312" y="0"/>
                  </a:lnTo>
                </a:path>
              </a:pathLst>
            </a:custGeom>
            <a:noFill/>
            <a:ln w="19050">
              <a:solidFill>
                <a:srgbClr val="174C43"/>
              </a:solidFill>
            </a:ln>
          </p:spPr>
        </p:sp>
        <p:sp>
          <p:nvSpPr>
            <p:cNvPr id="11" name="Freeform 11"/>
            <p:cNvSpPr/>
            <p:nvPr/>
          </p:nvSpPr>
          <p:spPr>
            <a:xfrm>
              <a:off x="7774781" y="1843088"/>
              <a:ext cx="9525" cy="9525"/>
            </a:xfrm>
            <a:custGeom>
              <a:avLst/>
              <a:gdLst/>
              <a:ahLst/>
              <a:cxnLst/>
              <a:rect l="l" t="t" r="r" b="b"/>
              <a:pathLst>
                <a:path w="9525" h="9525">
                  <a:moveTo>
                    <a:pt x="0" y="0"/>
                  </a:moveTo>
                  <a:lnTo>
                    <a:pt x="143" y="0"/>
                  </a:lnTo>
                </a:path>
              </a:pathLst>
            </a:custGeom>
            <a:noFill/>
            <a:ln w="19050">
              <a:solidFill>
                <a:srgbClr val="174C43"/>
              </a:solidFill>
            </a:ln>
          </p:spPr>
        </p:sp>
        <p:sp>
          <p:nvSpPr>
            <p:cNvPr id="12" name="Freeform 12"/>
            <p:cNvSpPr/>
            <p:nvPr/>
          </p:nvSpPr>
          <p:spPr>
            <a:xfrm>
              <a:off x="7846219" y="1843088"/>
              <a:ext cx="9525" cy="9525"/>
            </a:xfrm>
            <a:custGeom>
              <a:avLst/>
              <a:gdLst/>
              <a:ahLst/>
              <a:cxnLst/>
              <a:rect l="l" t="t" r="r" b="b"/>
              <a:pathLst>
                <a:path w="9525" h="9525">
                  <a:moveTo>
                    <a:pt x="0" y="0"/>
                  </a:moveTo>
                  <a:lnTo>
                    <a:pt x="143" y="0"/>
                  </a:lnTo>
                </a:path>
              </a:pathLst>
            </a:custGeom>
            <a:noFill/>
            <a:ln w="19050">
              <a:solidFill>
                <a:srgbClr val="174C43"/>
              </a:solidFill>
            </a:ln>
          </p:spPr>
        </p:sp>
        <p:sp>
          <p:nvSpPr>
            <p:cNvPr id="13" name="Freeform 13"/>
            <p:cNvSpPr/>
            <p:nvPr/>
          </p:nvSpPr>
          <p:spPr>
            <a:xfrm>
              <a:off x="7774781" y="1900238"/>
              <a:ext cx="71438" cy="15009"/>
            </a:xfrm>
            <a:custGeom>
              <a:avLst/>
              <a:gdLst/>
              <a:ahLst/>
              <a:cxnLst/>
              <a:rect l="l" t="t" r="r" b="b"/>
              <a:pathLst>
                <a:path w="71438" h="15009">
                  <a:moveTo>
                    <a:pt x="0" y="0"/>
                  </a:moveTo>
                  <a:cubicBezTo>
                    <a:pt x="9406" y="9600"/>
                    <a:pt x="22279" y="15009"/>
                    <a:pt x="35719" y="15009"/>
                  </a:cubicBezTo>
                  <a:cubicBezTo>
                    <a:pt x="49158" y="15009"/>
                    <a:pt x="62032" y="9600"/>
                    <a:pt x="71438" y="0"/>
                  </a:cubicBezTo>
                </a:path>
              </a:pathLst>
            </a:custGeom>
            <a:noFill/>
            <a:ln w="19050">
              <a:solidFill>
                <a:srgbClr val="174C43"/>
              </a:solidFill>
            </a:ln>
          </p:spPr>
        </p:sp>
      </p:grpSp>
      <p:grpSp>
        <p:nvGrpSpPr>
          <p:cNvPr id="17" name="Group 17"/>
          <p:cNvGrpSpPr/>
          <p:nvPr/>
        </p:nvGrpSpPr>
        <p:grpSpPr>
          <a:xfrm>
            <a:off x="10539412" y="3300412"/>
            <a:ext cx="257175" cy="257175"/>
            <a:chOff x="10539412" y="3300412"/>
            <a:chExt cx="257175" cy="257175"/>
          </a:xfrm>
        </p:grpSpPr>
        <p:sp>
          <p:nvSpPr>
            <p:cNvPr id="15" name="Freeform 15"/>
            <p:cNvSpPr/>
            <p:nvPr/>
          </p:nvSpPr>
          <p:spPr>
            <a:xfrm>
              <a:off x="10539412" y="3300412"/>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174C43"/>
              </a:solidFill>
            </a:ln>
          </p:spPr>
        </p:sp>
        <p:sp>
          <p:nvSpPr>
            <p:cNvPr id="16" name="Freeform 16"/>
            <p:cNvSpPr/>
            <p:nvPr/>
          </p:nvSpPr>
          <p:spPr>
            <a:xfrm>
              <a:off x="10710862" y="3471862"/>
              <a:ext cx="85725" cy="85725"/>
            </a:xfrm>
            <a:custGeom>
              <a:avLst/>
              <a:gdLst/>
              <a:ahLst/>
              <a:cxnLst/>
              <a:rect l="l" t="t" r="r" b="b"/>
              <a:pathLst>
                <a:path w="85725" h="85725">
                  <a:moveTo>
                    <a:pt x="85725" y="85725"/>
                  </a:moveTo>
                  <a:lnTo>
                    <a:pt x="0" y="0"/>
                  </a:lnTo>
                </a:path>
              </a:pathLst>
            </a:custGeom>
            <a:noFill/>
            <a:ln w="19050">
              <a:solidFill>
                <a:srgbClr val="174C43"/>
              </a:solidFill>
            </a:ln>
          </p:spPr>
        </p:sp>
      </p:grpSp>
      <p:grpSp>
        <p:nvGrpSpPr>
          <p:cNvPr id="22" name="Group 22"/>
          <p:cNvGrpSpPr/>
          <p:nvPr/>
        </p:nvGrpSpPr>
        <p:grpSpPr>
          <a:xfrm>
            <a:off x="7710488" y="4843462"/>
            <a:ext cx="200025" cy="257175"/>
            <a:chOff x="7710488" y="4843462"/>
            <a:chExt cx="200025" cy="257175"/>
          </a:xfrm>
        </p:grpSpPr>
        <p:sp>
          <p:nvSpPr>
            <p:cNvPr id="18" name="Freeform 18"/>
            <p:cNvSpPr/>
            <p:nvPr/>
          </p:nvSpPr>
          <p:spPr>
            <a:xfrm>
              <a:off x="7839075" y="4843462"/>
              <a:ext cx="71438" cy="71438"/>
            </a:xfrm>
            <a:custGeom>
              <a:avLst/>
              <a:gdLst/>
              <a:ahLst/>
              <a:cxnLst/>
              <a:rect l="l" t="t" r="r" b="b"/>
              <a:pathLst>
                <a:path w="71438" h="71438">
                  <a:moveTo>
                    <a:pt x="0" y="0"/>
                  </a:moveTo>
                  <a:lnTo>
                    <a:pt x="0" y="57150"/>
                  </a:lnTo>
                  <a:cubicBezTo>
                    <a:pt x="0" y="65041"/>
                    <a:pt x="6397" y="71438"/>
                    <a:pt x="14288" y="71438"/>
                  </a:cubicBezTo>
                  <a:lnTo>
                    <a:pt x="71438" y="71438"/>
                  </a:lnTo>
                </a:path>
              </a:pathLst>
            </a:custGeom>
            <a:noFill/>
            <a:ln w="19050">
              <a:solidFill>
                <a:srgbClr val="C76B3C"/>
              </a:solidFill>
            </a:ln>
          </p:spPr>
        </p:sp>
        <p:sp>
          <p:nvSpPr>
            <p:cNvPr id="19" name="Freeform 19"/>
            <p:cNvSpPr/>
            <p:nvPr/>
          </p:nvSpPr>
          <p:spPr>
            <a:xfrm>
              <a:off x="7710488" y="4843462"/>
              <a:ext cx="200025" cy="257175"/>
            </a:xfrm>
            <a:custGeom>
              <a:avLst/>
              <a:gdLst/>
              <a:ahLst/>
              <a:cxnLst/>
              <a:rect l="l" t="t" r="r" b="b"/>
              <a:pathLst>
                <a:path w="200025" h="257175">
                  <a:moveTo>
                    <a:pt x="171450" y="257175"/>
                  </a:moveTo>
                  <a:lnTo>
                    <a:pt x="28575" y="257175"/>
                  </a:lnTo>
                  <a:cubicBezTo>
                    <a:pt x="12793" y="257175"/>
                    <a:pt x="0" y="244382"/>
                    <a:pt x="0" y="228600"/>
                  </a:cubicBezTo>
                  <a:lnTo>
                    <a:pt x="0" y="28575"/>
                  </a:lnTo>
                  <a:cubicBezTo>
                    <a:pt x="0" y="12793"/>
                    <a:pt x="12793" y="0"/>
                    <a:pt x="28575" y="0"/>
                  </a:cubicBezTo>
                  <a:lnTo>
                    <a:pt x="128588" y="0"/>
                  </a:lnTo>
                  <a:lnTo>
                    <a:pt x="200025" y="71438"/>
                  </a:lnTo>
                  <a:lnTo>
                    <a:pt x="200025" y="228600"/>
                  </a:lnTo>
                  <a:cubicBezTo>
                    <a:pt x="200025" y="244382"/>
                    <a:pt x="187232" y="257175"/>
                    <a:pt x="171450" y="257175"/>
                  </a:cubicBezTo>
                </a:path>
              </a:pathLst>
            </a:custGeom>
            <a:noFill/>
            <a:ln w="19050">
              <a:solidFill>
                <a:srgbClr val="C76B3C"/>
              </a:solidFill>
            </a:ln>
          </p:spPr>
        </p:sp>
        <p:sp>
          <p:nvSpPr>
            <p:cNvPr id="20" name="Freeform 20"/>
            <p:cNvSpPr/>
            <p:nvPr/>
          </p:nvSpPr>
          <p:spPr>
            <a:xfrm>
              <a:off x="7767638" y="5043488"/>
              <a:ext cx="85725" cy="9525"/>
            </a:xfrm>
            <a:custGeom>
              <a:avLst/>
              <a:gdLst/>
              <a:ahLst/>
              <a:cxnLst/>
              <a:rect l="l" t="t" r="r" b="b"/>
              <a:pathLst>
                <a:path w="85725" h="9525">
                  <a:moveTo>
                    <a:pt x="0" y="0"/>
                  </a:moveTo>
                  <a:lnTo>
                    <a:pt x="85725" y="0"/>
                  </a:lnTo>
                </a:path>
              </a:pathLst>
            </a:custGeom>
            <a:noFill/>
            <a:ln w="19050">
              <a:solidFill>
                <a:srgbClr val="C76B3C"/>
              </a:solidFill>
            </a:ln>
          </p:spPr>
        </p:sp>
        <p:sp>
          <p:nvSpPr>
            <p:cNvPr id="21" name="Freeform 21"/>
            <p:cNvSpPr/>
            <p:nvPr/>
          </p:nvSpPr>
          <p:spPr>
            <a:xfrm>
              <a:off x="7767638" y="4986338"/>
              <a:ext cx="85725" cy="9525"/>
            </a:xfrm>
            <a:custGeom>
              <a:avLst/>
              <a:gdLst/>
              <a:ahLst/>
              <a:cxnLst/>
              <a:rect l="l" t="t" r="r" b="b"/>
              <a:pathLst>
                <a:path w="85725" h="9525">
                  <a:moveTo>
                    <a:pt x="0" y="0"/>
                  </a:moveTo>
                  <a:lnTo>
                    <a:pt x="85725" y="0"/>
                  </a:lnTo>
                </a:path>
              </a:pathLst>
            </a:custGeom>
            <a:noFill/>
            <a:ln w="19050">
              <a:solidFill>
                <a:srgbClr val="C76B3C"/>
              </a:solidFill>
            </a:ln>
          </p:spPr>
        </p:sp>
      </p:grpSp>
      <p:sp>
        <p:nvSpPr>
          <p:cNvPr id="23" name="TextBox 23"/>
          <p:cNvSpPr txBox="1"/>
          <p:nvPr/>
        </p:nvSpPr>
        <p:spPr>
          <a:xfrm>
            <a:off x="804862" y="945356"/>
            <a:ext cx="1855803" cy="228600"/>
          </a:xfrm>
          <a:prstGeom prst="rect">
            <a:avLst/>
          </a:prstGeom>
          <a:noFill/>
          <a:ln>
            <a:noFill/>
          </a:ln>
        </p:spPr>
        <p:txBody>
          <a:bodyPr wrap="none" lIns="0" tIns="0" rIns="0" bIns="0" anchor="t" anchorCtr="0">
            <a:spAutoFit/>
          </a:bodyPr>
          <a:lstStyle/>
          <a:p>
            <a:pPr algn="l"/>
            <a:r>
              <a:rPr lang="en-US" sz="1125" b="1" dirty="0">
                <a:solidFill>
                  <a:srgbClr val="C76B3C"/>
                </a:solidFill>
                <a:latin typeface="Arial"/>
                <a:ea typeface="Arial"/>
                <a:cs typeface="Arial"/>
              </a:rPr>
              <a:t>PROJECT BRIEFING · 2026</a:t>
            </a:r>
          </a:p>
        </p:txBody>
      </p:sp>
      <p:sp>
        <p:nvSpPr>
          <p:cNvPr id="24" name="TextBox 24"/>
          <p:cNvSpPr txBox="1"/>
          <p:nvPr/>
        </p:nvSpPr>
        <p:spPr>
          <a:xfrm>
            <a:off x="729615" y="1620202"/>
            <a:ext cx="4639437" cy="822960"/>
          </a:xfrm>
          <a:prstGeom prst="rect">
            <a:avLst/>
          </a:prstGeom>
          <a:noFill/>
          <a:ln>
            <a:noFill/>
          </a:ln>
        </p:spPr>
        <p:txBody>
          <a:bodyPr wrap="none" lIns="0" tIns="0" rIns="0" bIns="0" anchor="t" anchorCtr="0">
            <a:spAutoFit/>
          </a:bodyPr>
          <a:lstStyle/>
          <a:p>
            <a:pPr algn="l"/>
            <a:r>
              <a:rPr lang="zh-CN" sz="4050" b="1" dirty="0">
                <a:solidFill>
                  <a:srgbClr val="174C43"/>
                </a:solidFill>
                <a:latin typeface="Arial"/>
                <a:ea typeface="Microsoft YaHei"/>
                <a:cs typeface="Arial"/>
              </a:rPr>
              <a:t>成人肥胖中医诊前</a:t>
            </a:r>
          </a:p>
        </p:txBody>
      </p:sp>
      <p:sp>
        <p:nvSpPr>
          <p:cNvPr id="25" name="TextBox 25"/>
          <p:cNvSpPr txBox="1"/>
          <p:nvPr/>
        </p:nvSpPr>
        <p:spPr>
          <a:xfrm>
            <a:off x="729615" y="2306002"/>
            <a:ext cx="3505295" cy="822960"/>
          </a:xfrm>
          <a:prstGeom prst="rect">
            <a:avLst/>
          </a:prstGeom>
          <a:noFill/>
          <a:ln>
            <a:noFill/>
          </a:ln>
        </p:spPr>
        <p:txBody>
          <a:bodyPr wrap="none" lIns="0" tIns="0" rIns="0" bIns="0" anchor="t" anchorCtr="0">
            <a:spAutoFit/>
          </a:bodyPr>
          <a:lstStyle/>
          <a:p>
            <a:pPr algn="l"/>
            <a:r>
              <a:rPr lang="zh-CN" sz="4050" b="1" dirty="0">
                <a:solidFill>
                  <a:srgbClr val="174C43"/>
                </a:solidFill>
                <a:latin typeface="Arial"/>
                <a:ea typeface="Microsoft YaHei"/>
                <a:cs typeface="Arial"/>
              </a:rPr>
              <a:t>智能问诊系统</a:t>
            </a:r>
          </a:p>
        </p:txBody>
      </p:sp>
      <p:sp>
        <p:nvSpPr>
          <p:cNvPr id="26" name="Rectangle 26"/>
          <p:cNvSpPr/>
          <p:nvPr/>
        </p:nvSpPr>
        <p:spPr>
          <a:xfrm>
            <a:off x="800100" y="3143250"/>
            <a:ext cx="1066800" cy="47625"/>
          </a:xfrm>
          <a:prstGeom prst="rect">
            <a:avLst/>
          </a:prstGeom>
          <a:solidFill>
            <a:srgbClr val="C76B3C"/>
          </a:solidFill>
          <a:ln>
            <a:noFill/>
          </a:ln>
        </p:spPr>
      </p:sp>
      <p:sp>
        <p:nvSpPr>
          <p:cNvPr id="27" name="TextBox 27"/>
          <p:cNvSpPr txBox="1"/>
          <p:nvPr/>
        </p:nvSpPr>
        <p:spPr>
          <a:xfrm>
            <a:off x="756285" y="3485198"/>
            <a:ext cx="3689985" cy="396240"/>
          </a:xfrm>
          <a:prstGeom prst="rect">
            <a:avLst/>
          </a:prstGeom>
          <a:noFill/>
          <a:ln>
            <a:noFill/>
          </a:ln>
        </p:spPr>
        <p:txBody>
          <a:bodyPr wrap="none" lIns="0" tIns="0" rIns="0" bIns="0" anchor="t" anchorCtr="0">
            <a:spAutoFit/>
          </a:bodyPr>
          <a:lstStyle/>
          <a:p>
            <a:pPr algn="l"/>
            <a:r>
              <a:rPr lang="zh-CN" sz="1950" dirty="0">
                <a:solidFill>
                  <a:srgbClr val="24332E"/>
                </a:solidFill>
                <a:latin typeface="Arial"/>
                <a:ea typeface="Microsoft YaHei"/>
                <a:cs typeface="Arial"/>
              </a:rPr>
              <a:t>基于核心信息完整度的动态追问</a:t>
            </a:r>
          </a:p>
        </p:txBody>
      </p:sp>
      <p:sp>
        <p:nvSpPr>
          <p:cNvPr id="28" name="TextBox 28"/>
          <p:cNvSpPr txBox="1"/>
          <p:nvPr/>
        </p:nvSpPr>
        <p:spPr>
          <a:xfrm>
            <a:off x="756285" y="3885248"/>
            <a:ext cx="1869757" cy="396240"/>
          </a:xfrm>
          <a:prstGeom prst="rect">
            <a:avLst/>
          </a:prstGeom>
          <a:noFill/>
          <a:ln>
            <a:noFill/>
          </a:ln>
        </p:spPr>
        <p:txBody>
          <a:bodyPr wrap="none" lIns="0" tIns="0" rIns="0" bIns="0" anchor="t" anchorCtr="0">
            <a:spAutoFit/>
          </a:bodyPr>
          <a:lstStyle/>
          <a:p>
            <a:pPr algn="l"/>
            <a:r>
              <a:rPr lang="zh-CN" sz="1950" dirty="0">
                <a:solidFill>
                  <a:srgbClr val="24332E"/>
                </a:solidFill>
                <a:latin typeface="Arial"/>
                <a:ea typeface="Microsoft YaHei"/>
                <a:cs typeface="Arial"/>
              </a:rPr>
              <a:t>与诊前档案生成</a:t>
            </a:r>
          </a:p>
        </p:txBody>
      </p:sp>
      <p:sp>
        <p:nvSpPr>
          <p:cNvPr id="29" name="TextBox 29"/>
          <p:cNvSpPr txBox="1"/>
          <p:nvPr/>
        </p:nvSpPr>
        <p:spPr>
          <a:xfrm>
            <a:off x="763905" y="5531168"/>
            <a:ext cx="3112675" cy="274320"/>
          </a:xfrm>
          <a:prstGeom prst="rect">
            <a:avLst/>
          </a:prstGeom>
          <a:noFill/>
          <a:ln>
            <a:noFill/>
          </a:ln>
        </p:spPr>
        <p:txBody>
          <a:bodyPr wrap="none" lIns="0" tIns="0" rIns="0" bIns="0" anchor="t" anchorCtr="0">
            <a:spAutoFit/>
          </a:bodyPr>
          <a:lstStyle/>
          <a:p>
            <a:pPr algn="l"/>
            <a:r>
              <a:rPr lang="zh-CN" sz="1350" dirty="0">
                <a:solidFill>
                  <a:srgbClr val="62716B"/>
                </a:solidFill>
                <a:latin typeface="Arial"/>
                <a:ea typeface="Microsoft YaHei"/>
                <a:cs typeface="Arial"/>
              </a:rPr>
              <a:t>汇报人：________ 课题组：________</a:t>
            </a:r>
          </a:p>
        </p:txBody>
      </p:sp>
      <p:sp>
        <p:nvSpPr>
          <p:cNvPr id="30" name="TextBox 30"/>
          <p:cNvSpPr txBox="1"/>
          <p:nvPr/>
        </p:nvSpPr>
        <p:spPr>
          <a:xfrm>
            <a:off x="765810" y="5871210"/>
            <a:ext cx="790575" cy="243840"/>
          </a:xfrm>
          <a:prstGeom prst="rect">
            <a:avLst/>
          </a:prstGeom>
          <a:noFill/>
          <a:ln>
            <a:noFill/>
          </a:ln>
        </p:spPr>
        <p:txBody>
          <a:bodyPr wrap="none" lIns="0" tIns="0" rIns="0" bIns="0" anchor="t" anchorCtr="0">
            <a:spAutoFit/>
          </a:bodyPr>
          <a:lstStyle/>
          <a:p>
            <a:pPr algn="l"/>
            <a:r>
              <a:rPr lang="zh-CN" sz="1200" dirty="0">
                <a:solidFill>
                  <a:srgbClr val="62716B"/>
                </a:solidFill>
                <a:latin typeface="Arial"/>
                <a:ea typeface="Microsoft YaHei"/>
                <a:cs typeface="Arial"/>
              </a:rPr>
              <a:t>2026年8月</a:t>
            </a:r>
          </a:p>
        </p:txBody>
      </p:sp>
      <p:sp>
        <p:nvSpPr>
          <p:cNvPr id="31" name="TextBox 31"/>
          <p:cNvSpPr txBox="1"/>
          <p:nvPr/>
        </p:nvSpPr>
        <p:spPr>
          <a:xfrm>
            <a:off x="7795260" y="1299210"/>
            <a:ext cx="350520" cy="243840"/>
          </a:xfrm>
          <a:prstGeom prst="rect">
            <a:avLst/>
          </a:prstGeom>
          <a:noFill/>
          <a:ln>
            <a:noFill/>
          </a:ln>
        </p:spPr>
        <p:txBody>
          <a:bodyPr wrap="none" lIns="0" tIns="0" rIns="0" bIns="0" anchor="t" anchorCtr="0">
            <a:spAutoFit/>
          </a:bodyPr>
          <a:lstStyle/>
          <a:p>
            <a:pPr algn="l"/>
            <a:r>
              <a:rPr lang="zh-CN" sz="1200" dirty="0">
                <a:solidFill>
                  <a:srgbClr val="62716B"/>
                </a:solidFill>
                <a:latin typeface="Arial"/>
                <a:ea typeface="Microsoft YaHei"/>
                <a:cs typeface="Arial"/>
              </a:rPr>
              <a:t>理解</a:t>
            </a:r>
          </a:p>
        </p:txBody>
      </p:sp>
      <p:sp>
        <p:nvSpPr>
          <p:cNvPr id="32" name="TextBox 32"/>
          <p:cNvSpPr txBox="1"/>
          <p:nvPr/>
        </p:nvSpPr>
        <p:spPr>
          <a:xfrm>
            <a:off x="10492740" y="2842260"/>
            <a:ext cx="350520" cy="243840"/>
          </a:xfrm>
          <a:prstGeom prst="rect">
            <a:avLst/>
          </a:prstGeom>
          <a:noFill/>
          <a:ln>
            <a:noFill/>
          </a:ln>
        </p:spPr>
        <p:txBody>
          <a:bodyPr wrap="none" lIns="0" tIns="0" rIns="0" bIns="0" anchor="t" anchorCtr="0">
            <a:spAutoFit/>
          </a:bodyPr>
          <a:lstStyle/>
          <a:p>
            <a:pPr algn="ctr"/>
            <a:r>
              <a:rPr lang="zh-CN" sz="1200" dirty="0">
                <a:solidFill>
                  <a:srgbClr val="62716B"/>
                </a:solidFill>
                <a:latin typeface="Arial"/>
                <a:ea typeface="Microsoft YaHei"/>
                <a:cs typeface="Arial"/>
              </a:rPr>
              <a:t>判断</a:t>
            </a:r>
          </a:p>
        </p:txBody>
      </p:sp>
      <p:sp>
        <p:nvSpPr>
          <p:cNvPr id="33" name="TextBox 33"/>
          <p:cNvSpPr txBox="1"/>
          <p:nvPr/>
        </p:nvSpPr>
        <p:spPr>
          <a:xfrm>
            <a:off x="7795260" y="5414010"/>
            <a:ext cx="350520" cy="243840"/>
          </a:xfrm>
          <a:prstGeom prst="rect">
            <a:avLst/>
          </a:prstGeom>
          <a:noFill/>
          <a:ln>
            <a:noFill/>
          </a:ln>
        </p:spPr>
        <p:txBody>
          <a:bodyPr wrap="none" lIns="0" tIns="0" rIns="0" bIns="0" anchor="t" anchorCtr="0">
            <a:spAutoFit/>
          </a:bodyPr>
          <a:lstStyle/>
          <a:p>
            <a:pPr algn="l"/>
            <a:r>
              <a:rPr lang="zh-CN" sz="1200" dirty="0">
                <a:solidFill>
                  <a:srgbClr val="62716B"/>
                </a:solidFill>
                <a:latin typeface="Arial"/>
                <a:ea typeface="Microsoft YaHei"/>
                <a:cs typeface="Arial"/>
              </a:rPr>
              <a:t>整理</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621506"/>
            <a:ext cx="1140143" cy="173124"/>
          </a:xfrm>
          <a:prstGeom prst="rect">
            <a:avLst/>
          </a:prstGeom>
          <a:noFill/>
          <a:ln>
            <a:noFill/>
          </a:ln>
        </p:spPr>
        <p:txBody>
          <a:bodyPr wrap="square" lIns="0" tIns="0" rIns="0" bIns="0" anchor="t" anchorCtr="0">
            <a:spAutoFit/>
          </a:bodyPr>
          <a:lstStyle/>
          <a:p>
            <a:pPr algn="l"/>
            <a:r>
              <a:rPr lang="zh-CN" sz="1125" b="1" dirty="0">
                <a:solidFill>
                  <a:srgbClr val="C76B3C"/>
                </a:solidFill>
                <a:latin typeface="Arial"/>
                <a:ea typeface="Microsoft YaHei"/>
                <a:cs typeface="Arial"/>
              </a:rPr>
              <a:t>01 · 项目背景</a:t>
            </a:r>
          </a:p>
        </p:txBody>
      </p:sp>
      <p:sp>
        <p:nvSpPr>
          <p:cNvPr id="4" name="TextBox 4"/>
          <p:cNvSpPr txBox="1"/>
          <p:nvPr/>
        </p:nvSpPr>
        <p:spPr>
          <a:xfrm>
            <a:off x="575310" y="908685"/>
            <a:ext cx="6495383" cy="548640"/>
          </a:xfrm>
          <a:prstGeom prst="rect">
            <a:avLst/>
          </a:prstGeom>
          <a:noFill/>
          <a:ln>
            <a:noFill/>
          </a:ln>
        </p:spPr>
        <p:txBody>
          <a:bodyPr wrap="none" lIns="0" tIns="0" rIns="0" bIns="0" anchor="t" anchorCtr="0">
            <a:spAutoFit/>
          </a:bodyPr>
          <a:lstStyle/>
          <a:p>
            <a:pPr algn="l"/>
            <a:r>
              <a:rPr lang="zh-CN" sz="2700" b="1" dirty="0">
                <a:solidFill>
                  <a:srgbClr val="174C43"/>
                </a:solidFill>
                <a:latin typeface="Arial"/>
                <a:ea typeface="Microsoft YaHei"/>
                <a:cs typeface="Arial"/>
              </a:rPr>
              <a:t>成人肥胖诊前问诊面临的信息采集问题</a:t>
            </a:r>
          </a:p>
        </p:txBody>
      </p:sp>
      <p:sp>
        <p:nvSpPr>
          <p:cNvPr id="5" name="Line 5"/>
          <p:cNvSpPr/>
          <p:nvPr/>
        </p:nvSpPr>
        <p:spPr>
          <a:xfrm>
            <a:off x="609600" y="1409700"/>
            <a:ext cx="10972800" cy="9525"/>
          </a:xfrm>
          <a:custGeom>
            <a:avLst/>
            <a:gdLst/>
            <a:ahLst/>
            <a:cxnLst/>
            <a:rect l="l" t="t" r="r" b="b"/>
            <a:pathLst>
              <a:path w="10972800" h="9525">
                <a:moveTo>
                  <a:pt x="0" y="0"/>
                </a:moveTo>
                <a:lnTo>
                  <a:pt x="10972800" y="0"/>
                </a:lnTo>
              </a:path>
            </a:pathLst>
          </a:custGeom>
          <a:noFill/>
          <a:ln w="19050">
            <a:solidFill>
              <a:srgbClr val="CDD8D2"/>
            </a:solidFill>
          </a:ln>
        </p:spPr>
      </p:sp>
      <p:sp>
        <p:nvSpPr>
          <p:cNvPr id="6" name="TextBox 6"/>
          <p:cNvSpPr txBox="1"/>
          <p:nvPr/>
        </p:nvSpPr>
        <p:spPr>
          <a:xfrm>
            <a:off x="668655" y="1797368"/>
            <a:ext cx="790384" cy="274320"/>
          </a:xfrm>
          <a:prstGeom prst="rect">
            <a:avLst/>
          </a:prstGeom>
          <a:noFill/>
          <a:ln>
            <a:noFill/>
          </a:ln>
        </p:spPr>
        <p:txBody>
          <a:bodyPr wrap="none" lIns="0" tIns="0" rIns="0" bIns="0" anchor="t" anchorCtr="0">
            <a:spAutoFit/>
          </a:bodyPr>
          <a:lstStyle/>
          <a:p>
            <a:pPr algn="l"/>
            <a:r>
              <a:rPr lang="zh-CN" sz="1350" b="1" dirty="0">
                <a:solidFill>
                  <a:srgbClr val="62716B"/>
                </a:solidFill>
                <a:latin typeface="Arial"/>
                <a:ea typeface="Microsoft YaHei"/>
                <a:cs typeface="Arial"/>
              </a:rPr>
              <a:t>现实链条</a:t>
            </a:r>
          </a:p>
        </p:txBody>
      </p:sp>
      <p:sp>
        <p:nvSpPr>
          <p:cNvPr id="7" name="Line 7"/>
          <p:cNvSpPr/>
          <p:nvPr/>
        </p:nvSpPr>
        <p:spPr>
          <a:xfrm>
            <a:off x="1352550" y="2724150"/>
            <a:ext cx="9525" cy="2324100"/>
          </a:xfrm>
          <a:custGeom>
            <a:avLst/>
            <a:gdLst/>
            <a:ahLst/>
            <a:cxnLst/>
            <a:rect l="l" t="t" r="r" b="b"/>
            <a:pathLst>
              <a:path w="9525" h="2324100">
                <a:moveTo>
                  <a:pt x="0" y="0"/>
                </a:moveTo>
                <a:lnTo>
                  <a:pt x="0" y="2324100"/>
                </a:lnTo>
              </a:path>
            </a:pathLst>
          </a:custGeom>
          <a:noFill/>
          <a:ln w="38100">
            <a:solidFill>
              <a:srgbClr val="6E9184"/>
            </a:solidFill>
          </a:ln>
        </p:spPr>
      </p:sp>
      <p:sp>
        <p:nvSpPr>
          <p:cNvPr id="8" name="Ellipse 8"/>
          <p:cNvSpPr/>
          <p:nvPr/>
        </p:nvSpPr>
        <p:spPr>
          <a:xfrm>
            <a:off x="1238250" y="2609850"/>
            <a:ext cx="228600" cy="228600"/>
          </a:xfrm>
          <a:prstGeom prst="ellipse">
            <a:avLst/>
          </a:prstGeom>
          <a:solidFill>
            <a:srgbClr val="174C43"/>
          </a:solidFill>
          <a:ln>
            <a:noFill/>
          </a:ln>
        </p:spPr>
      </p:sp>
      <p:sp>
        <p:nvSpPr>
          <p:cNvPr id="9" name="Ellipse 9"/>
          <p:cNvSpPr/>
          <p:nvPr/>
        </p:nvSpPr>
        <p:spPr>
          <a:xfrm>
            <a:off x="1238250" y="3771900"/>
            <a:ext cx="228600" cy="228600"/>
          </a:xfrm>
          <a:prstGeom prst="ellipse">
            <a:avLst/>
          </a:prstGeom>
          <a:solidFill>
            <a:srgbClr val="174C43"/>
          </a:solidFill>
          <a:ln>
            <a:noFill/>
          </a:ln>
        </p:spPr>
      </p:sp>
      <p:sp>
        <p:nvSpPr>
          <p:cNvPr id="10" name="Ellipse 10"/>
          <p:cNvSpPr/>
          <p:nvPr/>
        </p:nvSpPr>
        <p:spPr>
          <a:xfrm>
            <a:off x="1238250" y="4933950"/>
            <a:ext cx="228600" cy="228600"/>
          </a:xfrm>
          <a:prstGeom prst="ellipse">
            <a:avLst/>
          </a:prstGeom>
          <a:solidFill>
            <a:srgbClr val="C76B3C"/>
          </a:solidFill>
          <a:ln>
            <a:noFill/>
          </a:ln>
        </p:spPr>
      </p:sp>
      <p:sp>
        <p:nvSpPr>
          <p:cNvPr id="11" name="TextBox 11"/>
          <p:cNvSpPr txBox="1"/>
          <p:nvPr/>
        </p:nvSpPr>
        <p:spPr>
          <a:xfrm>
            <a:off x="1729740" y="2453640"/>
            <a:ext cx="1557909" cy="365760"/>
          </a:xfrm>
          <a:prstGeom prst="rect">
            <a:avLst/>
          </a:prstGeom>
          <a:noFill/>
          <a:ln>
            <a:noFill/>
          </a:ln>
        </p:spPr>
        <p:txBody>
          <a:bodyPr wrap="none" lIns="0" tIns="0" rIns="0" bIns="0" anchor="t" anchorCtr="0">
            <a:spAutoFit/>
          </a:bodyPr>
          <a:lstStyle/>
          <a:p>
            <a:pPr algn="l"/>
            <a:r>
              <a:rPr lang="zh-CN" sz="1800" b="1" dirty="0">
                <a:solidFill>
                  <a:srgbClr val="24332E"/>
                </a:solidFill>
                <a:latin typeface="Arial"/>
                <a:ea typeface="Microsoft YaHei"/>
                <a:cs typeface="Arial"/>
              </a:rPr>
              <a:t>患者表达零散</a:t>
            </a:r>
          </a:p>
        </p:txBody>
      </p:sp>
      <p:sp>
        <p:nvSpPr>
          <p:cNvPr id="12" name="TextBox 12"/>
          <p:cNvSpPr txBox="1"/>
          <p:nvPr/>
        </p:nvSpPr>
        <p:spPr>
          <a:xfrm>
            <a:off x="1735455" y="2826068"/>
            <a:ext cx="3094673" cy="274320"/>
          </a:xfrm>
          <a:prstGeom prst="rect">
            <a:avLst/>
          </a:prstGeom>
          <a:noFill/>
          <a:ln>
            <a:noFill/>
          </a:ln>
        </p:spPr>
        <p:txBody>
          <a:bodyPr wrap="none" lIns="0" tIns="0" rIns="0" bIns="0" anchor="t" anchorCtr="0">
            <a:spAutoFit/>
          </a:bodyPr>
          <a:lstStyle/>
          <a:p>
            <a:pPr algn="l"/>
            <a:r>
              <a:rPr lang="zh-CN" sz="1350" dirty="0">
                <a:solidFill>
                  <a:srgbClr val="62716B"/>
                </a:solidFill>
                <a:latin typeface="Arial"/>
                <a:ea typeface="Microsoft YaHei"/>
                <a:cs typeface="Arial"/>
              </a:rPr>
              <a:t>症状、病程和时间关系混在自然语言中</a:t>
            </a:r>
          </a:p>
        </p:txBody>
      </p:sp>
      <p:sp>
        <p:nvSpPr>
          <p:cNvPr id="13" name="TextBox 13"/>
          <p:cNvSpPr txBox="1"/>
          <p:nvPr/>
        </p:nvSpPr>
        <p:spPr>
          <a:xfrm>
            <a:off x="1729740" y="3615690"/>
            <a:ext cx="2314004" cy="365760"/>
          </a:xfrm>
          <a:prstGeom prst="rect">
            <a:avLst/>
          </a:prstGeom>
          <a:noFill/>
          <a:ln>
            <a:noFill/>
          </a:ln>
        </p:spPr>
        <p:txBody>
          <a:bodyPr wrap="none" lIns="0" tIns="0" rIns="0" bIns="0" anchor="t" anchorCtr="0">
            <a:spAutoFit/>
          </a:bodyPr>
          <a:lstStyle/>
          <a:p>
            <a:pPr algn="l"/>
            <a:r>
              <a:rPr lang="zh-CN" sz="1800" b="1" dirty="0">
                <a:solidFill>
                  <a:srgbClr val="24332E"/>
                </a:solidFill>
                <a:latin typeface="Arial"/>
                <a:ea typeface="Microsoft YaHei"/>
                <a:cs typeface="Arial"/>
              </a:rPr>
              <a:t>固定问卷缺乏针对性</a:t>
            </a:r>
          </a:p>
        </p:txBody>
      </p:sp>
      <p:sp>
        <p:nvSpPr>
          <p:cNvPr id="14" name="TextBox 14"/>
          <p:cNvSpPr txBox="1"/>
          <p:nvPr/>
        </p:nvSpPr>
        <p:spPr>
          <a:xfrm>
            <a:off x="1735455" y="3988118"/>
            <a:ext cx="2914650" cy="274320"/>
          </a:xfrm>
          <a:prstGeom prst="rect">
            <a:avLst/>
          </a:prstGeom>
          <a:noFill/>
          <a:ln>
            <a:noFill/>
          </a:ln>
        </p:spPr>
        <p:txBody>
          <a:bodyPr wrap="none" lIns="0" tIns="0" rIns="0" bIns="0" anchor="t" anchorCtr="0">
            <a:spAutoFit/>
          </a:bodyPr>
          <a:lstStyle/>
          <a:p>
            <a:pPr algn="l"/>
            <a:r>
              <a:rPr lang="zh-CN" sz="1350" dirty="0">
                <a:solidFill>
                  <a:srgbClr val="62716B"/>
                </a:solidFill>
                <a:latin typeface="Arial"/>
                <a:ea typeface="Microsoft YaHei"/>
                <a:cs typeface="Arial"/>
              </a:rPr>
              <a:t>不能根据已有回答自动减少重复问题</a:t>
            </a:r>
          </a:p>
        </p:txBody>
      </p:sp>
      <p:sp>
        <p:nvSpPr>
          <p:cNvPr id="15" name="TextBox 15"/>
          <p:cNvSpPr txBox="1"/>
          <p:nvPr/>
        </p:nvSpPr>
        <p:spPr>
          <a:xfrm>
            <a:off x="1729740" y="4777740"/>
            <a:ext cx="2061972" cy="365760"/>
          </a:xfrm>
          <a:prstGeom prst="rect">
            <a:avLst/>
          </a:prstGeom>
          <a:noFill/>
          <a:ln>
            <a:noFill/>
          </a:ln>
        </p:spPr>
        <p:txBody>
          <a:bodyPr wrap="none" lIns="0" tIns="0" rIns="0" bIns="0" anchor="t" anchorCtr="0">
            <a:spAutoFit/>
          </a:bodyPr>
          <a:lstStyle/>
          <a:p>
            <a:pPr algn="l"/>
            <a:r>
              <a:rPr lang="zh-CN" sz="1800" b="1" dirty="0">
                <a:solidFill>
                  <a:srgbClr val="24332E"/>
                </a:solidFill>
                <a:latin typeface="Arial"/>
                <a:ea typeface="Microsoft YaHei"/>
                <a:cs typeface="Arial"/>
              </a:rPr>
              <a:t>采集范围难以平衡</a:t>
            </a:r>
          </a:p>
        </p:txBody>
      </p:sp>
      <p:sp>
        <p:nvSpPr>
          <p:cNvPr id="16" name="TextBox 16"/>
          <p:cNvSpPr txBox="1"/>
          <p:nvPr/>
        </p:nvSpPr>
        <p:spPr>
          <a:xfrm>
            <a:off x="1735455" y="5150168"/>
            <a:ext cx="3094673" cy="274320"/>
          </a:xfrm>
          <a:prstGeom prst="rect">
            <a:avLst/>
          </a:prstGeom>
          <a:noFill/>
          <a:ln>
            <a:noFill/>
          </a:ln>
        </p:spPr>
        <p:txBody>
          <a:bodyPr wrap="none" lIns="0" tIns="0" rIns="0" bIns="0" anchor="t" anchorCtr="0">
            <a:spAutoFit/>
          </a:bodyPr>
          <a:lstStyle/>
          <a:p>
            <a:pPr algn="l"/>
            <a:r>
              <a:rPr lang="zh-CN" sz="1350" dirty="0">
                <a:solidFill>
                  <a:srgbClr val="62716B"/>
                </a:solidFill>
                <a:latin typeface="Arial"/>
                <a:ea typeface="Microsoft YaHei"/>
                <a:cs typeface="Arial"/>
              </a:rPr>
              <a:t>问得过少可能遗漏，问得过多增加负担</a:t>
            </a:r>
          </a:p>
        </p:txBody>
      </p:sp>
      <p:sp>
        <p:nvSpPr>
          <p:cNvPr id="17" name="Rectangle 17"/>
          <p:cNvSpPr/>
          <p:nvPr/>
        </p:nvSpPr>
        <p:spPr>
          <a:xfrm>
            <a:off x="6686550" y="2019300"/>
            <a:ext cx="4438650" cy="3524250"/>
          </a:xfrm>
          <a:prstGeom prst="rect">
            <a:avLst/>
          </a:prstGeom>
          <a:solidFill>
            <a:srgbClr val="FFFFFF"/>
          </a:solidFill>
          <a:ln w="19050">
            <a:solidFill>
              <a:srgbClr val="CDD8D2"/>
            </a:solidFill>
          </a:ln>
        </p:spPr>
      </p:sp>
      <p:sp>
        <p:nvSpPr>
          <p:cNvPr id="18" name="Rectangle 18"/>
          <p:cNvSpPr/>
          <p:nvPr/>
        </p:nvSpPr>
        <p:spPr>
          <a:xfrm>
            <a:off x="6686550" y="2019300"/>
            <a:ext cx="114300" cy="3524250"/>
          </a:xfrm>
          <a:prstGeom prst="rect">
            <a:avLst/>
          </a:prstGeom>
          <a:solidFill>
            <a:srgbClr val="174C43"/>
          </a:solidFill>
          <a:ln>
            <a:noFill/>
          </a:ln>
        </p:spPr>
      </p:sp>
      <p:grpSp>
        <p:nvGrpSpPr>
          <p:cNvPr id="21" name="Group 21"/>
          <p:cNvGrpSpPr/>
          <p:nvPr/>
        </p:nvGrpSpPr>
        <p:grpSpPr>
          <a:xfrm>
            <a:off x="7231856" y="2507456"/>
            <a:ext cx="300037" cy="300037"/>
            <a:chOff x="7231856" y="2507456"/>
            <a:chExt cx="300037" cy="300037"/>
          </a:xfrm>
        </p:grpSpPr>
        <p:sp>
          <p:nvSpPr>
            <p:cNvPr id="19" name="Freeform 19"/>
            <p:cNvSpPr/>
            <p:nvPr/>
          </p:nvSpPr>
          <p:spPr>
            <a:xfrm>
              <a:off x="7231856" y="2507456"/>
              <a:ext cx="233362" cy="233362"/>
            </a:xfrm>
            <a:custGeom>
              <a:avLst/>
              <a:gdLst/>
              <a:ahLst/>
              <a:cxnLst/>
              <a:rect l="l" t="t" r="r" b="b"/>
              <a:pathLst>
                <a:path w="233362" h="233362">
                  <a:moveTo>
                    <a:pt x="0" y="116681"/>
                  </a:moveTo>
                  <a:cubicBezTo>
                    <a:pt x="0" y="181123"/>
                    <a:pt x="52240" y="233362"/>
                    <a:pt x="116681" y="233362"/>
                  </a:cubicBezTo>
                  <a:cubicBezTo>
                    <a:pt x="181123" y="233362"/>
                    <a:pt x="233362" y="181123"/>
                    <a:pt x="233362" y="116681"/>
                  </a:cubicBezTo>
                  <a:cubicBezTo>
                    <a:pt x="233362" y="52240"/>
                    <a:pt x="181123" y="0"/>
                    <a:pt x="116681" y="0"/>
                  </a:cubicBezTo>
                  <a:cubicBezTo>
                    <a:pt x="52240" y="0"/>
                    <a:pt x="0" y="52240"/>
                    <a:pt x="0" y="116681"/>
                  </a:cubicBezTo>
                </a:path>
              </a:pathLst>
            </a:custGeom>
            <a:noFill/>
            <a:ln w="19050">
              <a:solidFill>
                <a:srgbClr val="174C43"/>
              </a:solidFill>
            </a:ln>
          </p:spPr>
        </p:sp>
        <p:sp>
          <p:nvSpPr>
            <p:cNvPr id="20" name="Freeform 20"/>
            <p:cNvSpPr/>
            <p:nvPr/>
          </p:nvSpPr>
          <p:spPr>
            <a:xfrm>
              <a:off x="7431881" y="2707481"/>
              <a:ext cx="100012" cy="100012"/>
            </a:xfrm>
            <a:custGeom>
              <a:avLst/>
              <a:gdLst/>
              <a:ahLst/>
              <a:cxnLst/>
              <a:rect l="l" t="t" r="r" b="b"/>
              <a:pathLst>
                <a:path w="100012" h="100012">
                  <a:moveTo>
                    <a:pt x="100012" y="100012"/>
                  </a:moveTo>
                  <a:lnTo>
                    <a:pt x="0" y="0"/>
                  </a:lnTo>
                </a:path>
              </a:pathLst>
            </a:custGeom>
            <a:noFill/>
            <a:ln w="19050">
              <a:solidFill>
                <a:srgbClr val="174C43"/>
              </a:solidFill>
            </a:ln>
          </p:spPr>
        </p:sp>
      </p:grpSp>
      <p:sp>
        <p:nvSpPr>
          <p:cNvPr id="22" name="TextBox 22"/>
          <p:cNvSpPr txBox="1"/>
          <p:nvPr/>
        </p:nvSpPr>
        <p:spPr>
          <a:xfrm>
            <a:off x="7164705" y="3092768"/>
            <a:ext cx="1168432" cy="274320"/>
          </a:xfrm>
          <a:prstGeom prst="rect">
            <a:avLst/>
          </a:prstGeom>
          <a:noFill/>
          <a:ln>
            <a:noFill/>
          </a:ln>
        </p:spPr>
        <p:txBody>
          <a:bodyPr wrap="none" lIns="0" tIns="0" rIns="0" bIns="0" anchor="t" anchorCtr="0">
            <a:spAutoFit/>
          </a:bodyPr>
          <a:lstStyle/>
          <a:p>
            <a:pPr algn="l"/>
            <a:r>
              <a:rPr lang="zh-CN" sz="1350" b="1" dirty="0">
                <a:solidFill>
                  <a:srgbClr val="C76B3C"/>
                </a:solidFill>
                <a:latin typeface="Arial"/>
                <a:ea typeface="Microsoft YaHei"/>
                <a:cs typeface="Arial"/>
              </a:rPr>
              <a:t>核心研究问题</a:t>
            </a:r>
          </a:p>
        </p:txBody>
      </p:sp>
      <p:sp>
        <p:nvSpPr>
          <p:cNvPr id="23" name="TextBox 23"/>
          <p:cNvSpPr txBox="1"/>
          <p:nvPr/>
        </p:nvSpPr>
        <p:spPr>
          <a:xfrm>
            <a:off x="7156132" y="3496151"/>
            <a:ext cx="1752648" cy="411480"/>
          </a:xfrm>
          <a:prstGeom prst="rect">
            <a:avLst/>
          </a:prstGeom>
          <a:noFill/>
          <a:ln>
            <a:noFill/>
          </a:ln>
        </p:spPr>
        <p:txBody>
          <a:bodyPr wrap="none" lIns="0" tIns="0" rIns="0" bIns="0" anchor="t" anchorCtr="0">
            <a:spAutoFit/>
          </a:bodyPr>
          <a:lstStyle/>
          <a:p>
            <a:pPr algn="l"/>
            <a:r>
              <a:rPr lang="zh-CN" sz="2025" b="1" dirty="0">
                <a:solidFill>
                  <a:srgbClr val="174C43"/>
                </a:solidFill>
                <a:latin typeface="Arial"/>
                <a:ea typeface="Microsoft YaHei"/>
                <a:cs typeface="Arial"/>
              </a:rPr>
              <a:t>系统如何判断</a:t>
            </a:r>
          </a:p>
        </p:txBody>
      </p:sp>
      <p:sp>
        <p:nvSpPr>
          <p:cNvPr id="24" name="TextBox 24"/>
          <p:cNvSpPr txBox="1"/>
          <p:nvPr/>
        </p:nvSpPr>
        <p:spPr>
          <a:xfrm>
            <a:off x="7156132" y="3896201"/>
            <a:ext cx="2886789" cy="411480"/>
          </a:xfrm>
          <a:prstGeom prst="rect">
            <a:avLst/>
          </a:prstGeom>
          <a:noFill/>
          <a:ln>
            <a:noFill/>
          </a:ln>
        </p:spPr>
        <p:txBody>
          <a:bodyPr wrap="none" lIns="0" tIns="0" rIns="0" bIns="0" anchor="t" anchorCtr="0">
            <a:spAutoFit/>
          </a:bodyPr>
          <a:lstStyle/>
          <a:p>
            <a:pPr algn="l"/>
            <a:r>
              <a:rPr lang="zh-CN" sz="2025" b="1" dirty="0">
                <a:solidFill>
                  <a:srgbClr val="174C43"/>
                </a:solidFill>
                <a:latin typeface="Arial"/>
                <a:ea typeface="Microsoft YaHei"/>
                <a:cs typeface="Arial"/>
              </a:rPr>
              <a:t>还缺什么、是否追问，</a:t>
            </a:r>
          </a:p>
        </p:txBody>
      </p:sp>
      <p:sp>
        <p:nvSpPr>
          <p:cNvPr id="25" name="TextBox 25"/>
          <p:cNvSpPr txBox="1"/>
          <p:nvPr/>
        </p:nvSpPr>
        <p:spPr>
          <a:xfrm>
            <a:off x="7156132" y="4296251"/>
            <a:ext cx="2036183" cy="411480"/>
          </a:xfrm>
          <a:prstGeom prst="rect">
            <a:avLst/>
          </a:prstGeom>
          <a:noFill/>
          <a:ln>
            <a:noFill/>
          </a:ln>
        </p:spPr>
        <p:txBody>
          <a:bodyPr wrap="none" lIns="0" tIns="0" rIns="0" bIns="0" anchor="t" anchorCtr="0">
            <a:spAutoFit/>
          </a:bodyPr>
          <a:lstStyle/>
          <a:p>
            <a:pPr algn="l"/>
            <a:r>
              <a:rPr lang="zh-CN" sz="2025" b="1" dirty="0">
                <a:solidFill>
                  <a:srgbClr val="174C43"/>
                </a:solidFill>
                <a:latin typeface="Arial"/>
                <a:ea typeface="Microsoft YaHei"/>
                <a:cs typeface="Arial"/>
              </a:rPr>
              <a:t>以及何时结束？</a:t>
            </a:r>
          </a:p>
        </p:txBody>
      </p:sp>
      <p:sp>
        <p:nvSpPr>
          <p:cNvPr id="26" name="TextBox 26"/>
          <p:cNvSpPr txBox="1"/>
          <p:nvPr/>
        </p:nvSpPr>
        <p:spPr>
          <a:xfrm>
            <a:off x="7165658" y="4929664"/>
            <a:ext cx="2259663" cy="259080"/>
          </a:xfrm>
          <a:prstGeom prst="rect">
            <a:avLst/>
          </a:prstGeom>
          <a:noFill/>
          <a:ln>
            <a:noFill/>
          </a:ln>
        </p:spPr>
        <p:txBody>
          <a:bodyPr wrap="none" lIns="0" tIns="0" rIns="0" bIns="0" anchor="t" anchorCtr="0">
            <a:spAutoFit/>
          </a:bodyPr>
          <a:lstStyle/>
          <a:p>
            <a:pPr algn="l"/>
            <a:r>
              <a:rPr lang="zh-CN" sz="1275" dirty="0">
                <a:solidFill>
                  <a:srgbClr val="62716B"/>
                </a:solidFill>
                <a:latin typeface="Arial"/>
                <a:ea typeface="Microsoft YaHei"/>
                <a:cs typeface="Arial"/>
              </a:rPr>
              <a:t>判断对象不是“问了多少题”，</a:t>
            </a:r>
          </a:p>
        </p:txBody>
      </p:sp>
      <p:sp>
        <p:nvSpPr>
          <p:cNvPr id="27" name="TextBox 27"/>
          <p:cNvSpPr txBox="1"/>
          <p:nvPr/>
        </p:nvSpPr>
        <p:spPr>
          <a:xfrm>
            <a:off x="7165658" y="5196364"/>
            <a:ext cx="2429685" cy="259080"/>
          </a:xfrm>
          <a:prstGeom prst="rect">
            <a:avLst/>
          </a:prstGeom>
          <a:noFill/>
          <a:ln>
            <a:noFill/>
          </a:ln>
        </p:spPr>
        <p:txBody>
          <a:bodyPr wrap="none" lIns="0" tIns="0" rIns="0" bIns="0" anchor="t" anchorCtr="0">
            <a:spAutoFit/>
          </a:bodyPr>
          <a:lstStyle/>
          <a:p>
            <a:pPr algn="l"/>
            <a:r>
              <a:rPr lang="zh-CN" sz="1275" dirty="0">
                <a:solidFill>
                  <a:srgbClr val="62716B"/>
                </a:solidFill>
                <a:latin typeface="Arial"/>
                <a:ea typeface="Microsoft YaHei"/>
                <a:cs typeface="Arial"/>
              </a:rPr>
              <a:t>而是“核心信息是否已经可用”。</a:t>
            </a:r>
          </a:p>
        </p:txBody>
      </p:sp>
      <p:sp>
        <p:nvSpPr>
          <p:cNvPr id="28" name="TextBox 28"/>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02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6215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02 · 项目边界</a:t>
            </a:r>
          </a:p>
        </p:txBody>
      </p:sp>
      <p:sp>
        <p:nvSpPr>
          <p:cNvPr id="4" name="TextBox 4"/>
          <p:cNvSpPr txBox="1"/>
          <p:nvPr/>
        </p:nvSpPr>
        <p:spPr>
          <a:xfrm>
            <a:off x="575310" y="908685"/>
            <a:ext cx="6873430" cy="548640"/>
          </a:xfrm>
          <a:prstGeom prst="rect">
            <a:avLst/>
          </a:prstGeom>
          <a:noFill/>
          <a:ln>
            <a:noFill/>
          </a:ln>
        </p:spPr>
        <p:txBody>
          <a:bodyPr wrap="none" lIns="0" tIns="0" rIns="0" bIns="0" anchor="t" anchorCtr="0">
            <a:spAutoFit/>
          </a:bodyPr>
          <a:lstStyle/>
          <a:p>
            <a:pPr algn="l"/>
            <a:r>
              <a:rPr lang="zh-CN" sz="2700" b="1" dirty="0">
                <a:solidFill>
                  <a:srgbClr val="174C43"/>
                </a:solidFill>
                <a:latin typeface="Arial"/>
                <a:ea typeface="Microsoft YaHei"/>
                <a:cs typeface="Arial"/>
              </a:rPr>
              <a:t>项目定位：诊前信息整理，而非自动诊断</a:t>
            </a:r>
          </a:p>
        </p:txBody>
      </p:sp>
      <p:sp>
        <p:nvSpPr>
          <p:cNvPr id="5" name="Line 5"/>
          <p:cNvSpPr/>
          <p:nvPr/>
        </p:nvSpPr>
        <p:spPr>
          <a:xfrm>
            <a:off x="609600" y="1409700"/>
            <a:ext cx="10972800" cy="9525"/>
          </a:xfrm>
          <a:custGeom>
            <a:avLst/>
            <a:gdLst/>
            <a:ahLst/>
            <a:cxnLst/>
            <a:rect l="l" t="t" r="r" b="b"/>
            <a:pathLst>
              <a:path w="10972800" h="9525">
                <a:moveTo>
                  <a:pt x="0" y="0"/>
                </a:moveTo>
                <a:lnTo>
                  <a:pt x="10972800" y="0"/>
                </a:lnTo>
              </a:path>
            </a:pathLst>
          </a:custGeom>
          <a:noFill/>
          <a:ln w="19050">
            <a:solidFill>
              <a:srgbClr val="CDD8D2"/>
            </a:solidFill>
          </a:ln>
        </p:spPr>
      </p:sp>
      <p:sp>
        <p:nvSpPr>
          <p:cNvPr id="6" name="TextBox 6"/>
          <p:cNvSpPr txBox="1"/>
          <p:nvPr/>
        </p:nvSpPr>
        <p:spPr>
          <a:xfrm>
            <a:off x="1177290" y="1901190"/>
            <a:ext cx="1053846" cy="365760"/>
          </a:xfrm>
          <a:prstGeom prst="rect">
            <a:avLst/>
          </a:prstGeom>
          <a:noFill/>
          <a:ln>
            <a:noFill/>
          </a:ln>
        </p:spPr>
        <p:txBody>
          <a:bodyPr wrap="none" lIns="0" tIns="0" rIns="0" bIns="0" anchor="t" anchorCtr="0">
            <a:spAutoFit/>
          </a:bodyPr>
          <a:lstStyle/>
          <a:p>
            <a:pPr algn="l"/>
            <a:r>
              <a:rPr lang="zh-CN" sz="1800" b="1" dirty="0">
                <a:solidFill>
                  <a:srgbClr val="174C43"/>
                </a:solidFill>
                <a:latin typeface="Arial"/>
                <a:ea typeface="Microsoft YaHei"/>
                <a:cs typeface="Arial"/>
              </a:rPr>
              <a:t>系统负责</a:t>
            </a:r>
          </a:p>
        </p:txBody>
      </p:sp>
      <p:grpSp>
        <p:nvGrpSpPr>
          <p:cNvPr id="13" name="Group 13"/>
          <p:cNvGrpSpPr/>
          <p:nvPr/>
        </p:nvGrpSpPr>
        <p:grpSpPr>
          <a:xfrm>
            <a:off x="765175" y="1895475"/>
            <a:ext cx="222250" cy="285751"/>
            <a:chOff x="765175" y="1895475"/>
            <a:chExt cx="222250" cy="285751"/>
          </a:xfrm>
        </p:grpSpPr>
        <p:sp>
          <p:nvSpPr>
            <p:cNvPr id="7" name="Freeform 7"/>
            <p:cNvSpPr/>
            <p:nvPr/>
          </p:nvSpPr>
          <p:spPr>
            <a:xfrm>
              <a:off x="765175" y="1927225"/>
              <a:ext cx="222250" cy="254001"/>
            </a:xfrm>
            <a:custGeom>
              <a:avLst/>
              <a:gdLst/>
              <a:ahLst/>
              <a:cxnLst/>
              <a:rect l="l" t="t" r="r" b="b"/>
              <a:pathLst>
                <a:path w="222250" h="254001">
                  <a:moveTo>
                    <a:pt x="63500" y="0"/>
                  </a:moveTo>
                  <a:lnTo>
                    <a:pt x="31750" y="0"/>
                  </a:lnTo>
                  <a:cubicBezTo>
                    <a:pt x="14215" y="0"/>
                    <a:pt x="0" y="14215"/>
                    <a:pt x="0" y="31750"/>
                  </a:cubicBezTo>
                  <a:lnTo>
                    <a:pt x="0" y="222250"/>
                  </a:lnTo>
                  <a:cubicBezTo>
                    <a:pt x="0" y="239786"/>
                    <a:pt x="14215" y="254001"/>
                    <a:pt x="31750" y="254001"/>
                  </a:cubicBezTo>
                  <a:lnTo>
                    <a:pt x="190500" y="254001"/>
                  </a:lnTo>
                  <a:cubicBezTo>
                    <a:pt x="208035" y="254001"/>
                    <a:pt x="222250" y="239786"/>
                    <a:pt x="222250" y="222250"/>
                  </a:cubicBezTo>
                  <a:lnTo>
                    <a:pt x="222250" y="31750"/>
                  </a:lnTo>
                  <a:cubicBezTo>
                    <a:pt x="222250" y="14215"/>
                    <a:pt x="208035" y="0"/>
                    <a:pt x="190500" y="0"/>
                  </a:cubicBezTo>
                  <a:lnTo>
                    <a:pt x="158750" y="0"/>
                  </a:lnTo>
                </a:path>
              </a:pathLst>
            </a:custGeom>
            <a:noFill/>
            <a:ln w="19050">
              <a:solidFill>
                <a:srgbClr val="174C43"/>
              </a:solidFill>
            </a:ln>
          </p:spPr>
        </p:sp>
        <p:sp>
          <p:nvSpPr>
            <p:cNvPr id="8" name="Freeform 8"/>
            <p:cNvSpPr/>
            <p:nvPr/>
          </p:nvSpPr>
          <p:spPr>
            <a:xfrm>
              <a:off x="828675" y="1895475"/>
              <a:ext cx="95250" cy="63500"/>
            </a:xfrm>
            <a:custGeom>
              <a:avLst/>
              <a:gdLst/>
              <a:ahLst/>
              <a:cxnLst/>
              <a:rect l="l" t="t" r="r" b="b"/>
              <a:pathLst>
                <a:path w="95250" h="63500">
                  <a:moveTo>
                    <a:pt x="0" y="31750"/>
                  </a:moveTo>
                  <a:cubicBezTo>
                    <a:pt x="0" y="14215"/>
                    <a:pt x="14215" y="0"/>
                    <a:pt x="31750" y="0"/>
                  </a:cubicBezTo>
                  <a:lnTo>
                    <a:pt x="63500" y="0"/>
                  </a:lnTo>
                  <a:cubicBezTo>
                    <a:pt x="81035" y="0"/>
                    <a:pt x="95250" y="14215"/>
                    <a:pt x="95250" y="31750"/>
                  </a:cubicBezTo>
                  <a:cubicBezTo>
                    <a:pt x="95250" y="49285"/>
                    <a:pt x="81035" y="63500"/>
                    <a:pt x="63500" y="63500"/>
                  </a:cubicBezTo>
                  <a:lnTo>
                    <a:pt x="31750" y="63500"/>
                  </a:lnTo>
                  <a:cubicBezTo>
                    <a:pt x="14215" y="63500"/>
                    <a:pt x="0" y="49285"/>
                    <a:pt x="0" y="31750"/>
                  </a:cubicBezTo>
                </a:path>
              </a:pathLst>
            </a:custGeom>
            <a:noFill/>
            <a:ln w="19050">
              <a:solidFill>
                <a:srgbClr val="174C43"/>
              </a:solidFill>
            </a:ln>
          </p:spPr>
        </p:sp>
        <p:sp>
          <p:nvSpPr>
            <p:cNvPr id="9" name="Freeform 9"/>
            <p:cNvSpPr/>
            <p:nvPr/>
          </p:nvSpPr>
          <p:spPr>
            <a:xfrm>
              <a:off x="828675" y="2038350"/>
              <a:ext cx="9525" cy="9525"/>
            </a:xfrm>
            <a:custGeom>
              <a:avLst/>
              <a:gdLst/>
              <a:ahLst/>
              <a:cxnLst/>
              <a:rect l="l" t="t" r="r" b="b"/>
              <a:pathLst>
                <a:path w="9525" h="9525">
                  <a:moveTo>
                    <a:pt x="0" y="0"/>
                  </a:moveTo>
                  <a:lnTo>
                    <a:pt x="159" y="0"/>
                  </a:lnTo>
                </a:path>
              </a:pathLst>
            </a:custGeom>
            <a:noFill/>
            <a:ln w="19050">
              <a:solidFill>
                <a:srgbClr val="174C43"/>
              </a:solidFill>
            </a:ln>
          </p:spPr>
        </p:sp>
        <p:sp>
          <p:nvSpPr>
            <p:cNvPr id="10" name="Freeform 10"/>
            <p:cNvSpPr/>
            <p:nvPr/>
          </p:nvSpPr>
          <p:spPr>
            <a:xfrm>
              <a:off x="892175" y="2038350"/>
              <a:ext cx="31750" cy="9525"/>
            </a:xfrm>
            <a:custGeom>
              <a:avLst/>
              <a:gdLst/>
              <a:ahLst/>
              <a:cxnLst/>
              <a:rect l="l" t="t" r="r" b="b"/>
              <a:pathLst>
                <a:path w="31750" h="9525">
                  <a:moveTo>
                    <a:pt x="0" y="0"/>
                  </a:moveTo>
                  <a:lnTo>
                    <a:pt x="31750" y="0"/>
                  </a:lnTo>
                </a:path>
              </a:pathLst>
            </a:custGeom>
            <a:noFill/>
            <a:ln w="19050">
              <a:solidFill>
                <a:srgbClr val="174C43"/>
              </a:solidFill>
            </a:ln>
          </p:spPr>
        </p:sp>
        <p:sp>
          <p:nvSpPr>
            <p:cNvPr id="11" name="Freeform 11"/>
            <p:cNvSpPr/>
            <p:nvPr/>
          </p:nvSpPr>
          <p:spPr>
            <a:xfrm>
              <a:off x="828675" y="2101851"/>
              <a:ext cx="9525" cy="9525"/>
            </a:xfrm>
            <a:custGeom>
              <a:avLst/>
              <a:gdLst/>
              <a:ahLst/>
              <a:cxnLst/>
              <a:rect l="l" t="t" r="r" b="b"/>
              <a:pathLst>
                <a:path w="9525" h="9525">
                  <a:moveTo>
                    <a:pt x="0" y="0"/>
                  </a:moveTo>
                  <a:lnTo>
                    <a:pt x="159" y="0"/>
                  </a:lnTo>
                </a:path>
              </a:pathLst>
            </a:custGeom>
            <a:noFill/>
            <a:ln w="19050">
              <a:solidFill>
                <a:srgbClr val="174C43"/>
              </a:solidFill>
            </a:ln>
          </p:spPr>
        </p:sp>
        <p:sp>
          <p:nvSpPr>
            <p:cNvPr id="12" name="Freeform 12"/>
            <p:cNvSpPr/>
            <p:nvPr/>
          </p:nvSpPr>
          <p:spPr>
            <a:xfrm>
              <a:off x="892175" y="2101851"/>
              <a:ext cx="31750" cy="9525"/>
            </a:xfrm>
            <a:custGeom>
              <a:avLst/>
              <a:gdLst/>
              <a:ahLst/>
              <a:cxnLst/>
              <a:rect l="l" t="t" r="r" b="b"/>
              <a:pathLst>
                <a:path w="31750" h="9525">
                  <a:moveTo>
                    <a:pt x="0" y="0"/>
                  </a:moveTo>
                  <a:lnTo>
                    <a:pt x="31750" y="0"/>
                  </a:lnTo>
                </a:path>
              </a:pathLst>
            </a:custGeom>
            <a:noFill/>
            <a:ln w="19050">
              <a:solidFill>
                <a:srgbClr val="174C43"/>
              </a:solidFill>
            </a:ln>
          </p:spPr>
        </p:sp>
      </p:grpSp>
      <p:sp>
        <p:nvSpPr>
          <p:cNvPr id="14" name="TextBox 14"/>
          <p:cNvSpPr txBox="1"/>
          <p:nvPr/>
        </p:nvSpPr>
        <p:spPr>
          <a:xfrm>
            <a:off x="1181100" y="2524125"/>
            <a:ext cx="2238375" cy="304800"/>
          </a:xfrm>
          <a:prstGeom prst="rect">
            <a:avLst/>
          </a:prstGeom>
          <a:noFill/>
          <a:ln>
            <a:noFill/>
          </a:ln>
        </p:spPr>
        <p:txBody>
          <a:bodyPr wrap="none" lIns="0" tIns="0" rIns="0" bIns="0" anchor="t" anchorCtr="0">
            <a:spAutoFit/>
          </a:bodyPr>
          <a:lstStyle/>
          <a:p>
            <a:pPr algn="l"/>
            <a:r>
              <a:rPr lang="zh-CN" sz="1500" dirty="0">
                <a:solidFill>
                  <a:srgbClr val="24332E"/>
                </a:solidFill>
                <a:latin typeface="Arial"/>
                <a:ea typeface="Microsoft YaHei"/>
                <a:cs typeface="Arial"/>
              </a:rPr>
              <a:t>采集基础资料与患者陈述</a:t>
            </a:r>
          </a:p>
        </p:txBody>
      </p:sp>
      <p:sp>
        <p:nvSpPr>
          <p:cNvPr id="15" name="TextBox 15"/>
          <p:cNvSpPr txBox="1"/>
          <p:nvPr/>
        </p:nvSpPr>
        <p:spPr>
          <a:xfrm>
            <a:off x="1181100" y="2981325"/>
            <a:ext cx="2438400" cy="304800"/>
          </a:xfrm>
          <a:prstGeom prst="rect">
            <a:avLst/>
          </a:prstGeom>
          <a:noFill/>
          <a:ln>
            <a:noFill/>
          </a:ln>
        </p:spPr>
        <p:txBody>
          <a:bodyPr wrap="none" lIns="0" tIns="0" rIns="0" bIns="0" anchor="t" anchorCtr="0">
            <a:spAutoFit/>
          </a:bodyPr>
          <a:lstStyle/>
          <a:p>
            <a:pPr algn="l"/>
            <a:r>
              <a:rPr lang="zh-CN" sz="1500" dirty="0">
                <a:solidFill>
                  <a:srgbClr val="24332E"/>
                </a:solidFill>
                <a:latin typeface="Arial"/>
                <a:ea typeface="Microsoft YaHei"/>
                <a:cs typeface="Arial"/>
              </a:rPr>
              <a:t>提取病程、症状和安全信息</a:t>
            </a:r>
          </a:p>
        </p:txBody>
      </p:sp>
      <p:sp>
        <p:nvSpPr>
          <p:cNvPr id="16" name="TextBox 16"/>
          <p:cNvSpPr txBox="1"/>
          <p:nvPr/>
        </p:nvSpPr>
        <p:spPr>
          <a:xfrm>
            <a:off x="1181100" y="3438525"/>
            <a:ext cx="2438400" cy="304800"/>
          </a:xfrm>
          <a:prstGeom prst="rect">
            <a:avLst/>
          </a:prstGeom>
          <a:noFill/>
          <a:ln>
            <a:noFill/>
          </a:ln>
        </p:spPr>
        <p:txBody>
          <a:bodyPr wrap="none" lIns="0" tIns="0" rIns="0" bIns="0" anchor="t" anchorCtr="0">
            <a:spAutoFit/>
          </a:bodyPr>
          <a:lstStyle/>
          <a:p>
            <a:pPr algn="l"/>
            <a:r>
              <a:rPr lang="zh-CN" sz="1500" dirty="0">
                <a:solidFill>
                  <a:srgbClr val="24332E"/>
                </a:solidFill>
                <a:latin typeface="Arial"/>
                <a:ea typeface="Microsoft YaHei"/>
                <a:cs typeface="Arial"/>
              </a:rPr>
              <a:t>识别缺口、冲突与危险信号</a:t>
            </a:r>
          </a:p>
        </p:txBody>
      </p:sp>
      <p:sp>
        <p:nvSpPr>
          <p:cNvPr id="17" name="TextBox 17"/>
          <p:cNvSpPr txBox="1"/>
          <p:nvPr/>
        </p:nvSpPr>
        <p:spPr>
          <a:xfrm>
            <a:off x="1181100" y="3895725"/>
            <a:ext cx="2238375" cy="304800"/>
          </a:xfrm>
          <a:prstGeom prst="rect">
            <a:avLst/>
          </a:prstGeom>
          <a:noFill/>
          <a:ln>
            <a:noFill/>
          </a:ln>
        </p:spPr>
        <p:txBody>
          <a:bodyPr wrap="none" lIns="0" tIns="0" rIns="0" bIns="0" anchor="t" anchorCtr="0">
            <a:spAutoFit/>
          </a:bodyPr>
          <a:lstStyle/>
          <a:p>
            <a:pPr algn="l"/>
            <a:r>
              <a:rPr lang="zh-CN" sz="1500" dirty="0">
                <a:solidFill>
                  <a:srgbClr val="24332E"/>
                </a:solidFill>
                <a:latin typeface="Arial"/>
                <a:ea typeface="Microsoft YaHei"/>
                <a:cs typeface="Arial"/>
              </a:rPr>
              <a:t>根据核心完整度动态追问</a:t>
            </a:r>
          </a:p>
        </p:txBody>
      </p:sp>
      <p:sp>
        <p:nvSpPr>
          <p:cNvPr id="18" name="TextBox 18"/>
          <p:cNvSpPr txBox="1"/>
          <p:nvPr/>
        </p:nvSpPr>
        <p:spPr>
          <a:xfrm>
            <a:off x="1181100" y="4352925"/>
            <a:ext cx="1838325" cy="304800"/>
          </a:xfrm>
          <a:prstGeom prst="rect">
            <a:avLst/>
          </a:prstGeom>
          <a:noFill/>
          <a:ln>
            <a:noFill/>
          </a:ln>
        </p:spPr>
        <p:txBody>
          <a:bodyPr wrap="none" lIns="0" tIns="0" rIns="0" bIns="0" anchor="t" anchorCtr="0">
            <a:spAutoFit/>
          </a:bodyPr>
          <a:lstStyle/>
          <a:p>
            <a:pPr algn="l"/>
            <a:r>
              <a:rPr lang="zh-CN" sz="1500" dirty="0">
                <a:solidFill>
                  <a:srgbClr val="24332E"/>
                </a:solidFill>
                <a:latin typeface="Arial"/>
                <a:ea typeface="Microsoft YaHei"/>
                <a:cs typeface="Arial"/>
              </a:rPr>
              <a:t>生成结构化诊前档案</a:t>
            </a:r>
          </a:p>
        </p:txBody>
      </p:sp>
      <p:sp>
        <p:nvSpPr>
          <p:cNvPr id="19" name="Line 19"/>
          <p:cNvSpPr/>
          <p:nvPr/>
        </p:nvSpPr>
        <p:spPr>
          <a:xfrm>
            <a:off x="6096000" y="1847850"/>
            <a:ext cx="9525" cy="3086100"/>
          </a:xfrm>
          <a:custGeom>
            <a:avLst/>
            <a:gdLst/>
            <a:ahLst/>
            <a:cxnLst/>
            <a:rect l="l" t="t" r="r" b="b"/>
            <a:pathLst>
              <a:path w="9525" h="3086100">
                <a:moveTo>
                  <a:pt x="0" y="0"/>
                </a:moveTo>
                <a:lnTo>
                  <a:pt x="0" y="3086100"/>
                </a:lnTo>
              </a:path>
            </a:pathLst>
          </a:custGeom>
          <a:noFill/>
          <a:ln w="19050">
            <a:solidFill>
              <a:srgbClr val="CDD8D2"/>
            </a:solidFill>
          </a:ln>
        </p:spPr>
      </p:sp>
      <p:sp>
        <p:nvSpPr>
          <p:cNvPr id="20" name="TextBox 20"/>
          <p:cNvSpPr txBox="1"/>
          <p:nvPr/>
        </p:nvSpPr>
        <p:spPr>
          <a:xfrm>
            <a:off x="6911340" y="1901190"/>
            <a:ext cx="1305878" cy="365760"/>
          </a:xfrm>
          <a:prstGeom prst="rect">
            <a:avLst/>
          </a:prstGeom>
          <a:noFill/>
          <a:ln>
            <a:noFill/>
          </a:ln>
        </p:spPr>
        <p:txBody>
          <a:bodyPr wrap="none" lIns="0" tIns="0" rIns="0" bIns="0" anchor="t" anchorCtr="0">
            <a:spAutoFit/>
          </a:bodyPr>
          <a:lstStyle/>
          <a:p>
            <a:pPr algn="l"/>
            <a:r>
              <a:rPr lang="zh-CN" sz="1800" b="1" dirty="0">
                <a:solidFill>
                  <a:srgbClr val="C76B3C"/>
                </a:solidFill>
                <a:latin typeface="Arial"/>
                <a:ea typeface="Microsoft YaHei"/>
                <a:cs typeface="Arial"/>
              </a:rPr>
              <a:t>系统不替代</a:t>
            </a:r>
          </a:p>
        </p:txBody>
      </p:sp>
      <p:grpSp>
        <p:nvGrpSpPr>
          <p:cNvPr id="23" name="Group 23"/>
          <p:cNvGrpSpPr/>
          <p:nvPr/>
        </p:nvGrpSpPr>
        <p:grpSpPr>
          <a:xfrm>
            <a:off x="6446051" y="1895475"/>
            <a:ext cx="310011" cy="285751"/>
            <a:chOff x="6446051" y="1895475"/>
            <a:chExt cx="310011" cy="285751"/>
          </a:xfrm>
        </p:grpSpPr>
        <p:sp>
          <p:nvSpPr>
            <p:cNvPr id="21" name="Freeform 21"/>
            <p:cNvSpPr/>
            <p:nvPr/>
          </p:nvSpPr>
          <p:spPr>
            <a:xfrm>
              <a:off x="6446051" y="1895475"/>
              <a:ext cx="310011" cy="283306"/>
            </a:xfrm>
            <a:custGeom>
              <a:avLst/>
              <a:gdLst/>
              <a:ahLst/>
              <a:cxnLst/>
              <a:rect l="l" t="t" r="r" b="b"/>
              <a:pathLst>
                <a:path w="310011" h="283306">
                  <a:moveTo>
                    <a:pt x="155727" y="283306"/>
                  </a:moveTo>
                  <a:cubicBezTo>
                    <a:pt x="56277" y="252479"/>
                    <a:pt x="0" y="147517"/>
                    <a:pt x="29362" y="47625"/>
                  </a:cubicBezTo>
                  <a:cubicBezTo>
                    <a:pt x="78821" y="49888"/>
                    <a:pt x="127218" y="32807"/>
                    <a:pt x="164299" y="0"/>
                  </a:cubicBezTo>
                  <a:cubicBezTo>
                    <a:pt x="201381" y="32807"/>
                    <a:pt x="249778" y="49888"/>
                    <a:pt x="299237" y="47625"/>
                  </a:cubicBezTo>
                  <a:cubicBezTo>
                    <a:pt x="310011" y="84282"/>
                    <a:pt x="309513" y="123332"/>
                    <a:pt x="297808" y="159703"/>
                  </a:cubicBezTo>
                </a:path>
              </a:pathLst>
            </a:custGeom>
            <a:noFill/>
            <a:ln w="19050">
              <a:solidFill>
                <a:srgbClr val="C76B3C"/>
              </a:solidFill>
            </a:ln>
          </p:spPr>
        </p:sp>
        <p:sp>
          <p:nvSpPr>
            <p:cNvPr id="22" name="Freeform 22"/>
            <p:cNvSpPr/>
            <p:nvPr/>
          </p:nvSpPr>
          <p:spPr>
            <a:xfrm>
              <a:off x="6657975" y="2117726"/>
              <a:ext cx="95250" cy="63500"/>
            </a:xfrm>
            <a:custGeom>
              <a:avLst/>
              <a:gdLst/>
              <a:ahLst/>
              <a:cxnLst/>
              <a:rect l="l" t="t" r="r" b="b"/>
              <a:pathLst>
                <a:path w="95250" h="63500">
                  <a:moveTo>
                    <a:pt x="0" y="31750"/>
                  </a:moveTo>
                  <a:lnTo>
                    <a:pt x="31750" y="63500"/>
                  </a:lnTo>
                  <a:lnTo>
                    <a:pt x="95250" y="0"/>
                  </a:lnTo>
                </a:path>
              </a:pathLst>
            </a:custGeom>
            <a:noFill/>
            <a:ln w="19050">
              <a:solidFill>
                <a:srgbClr val="C76B3C"/>
              </a:solidFill>
            </a:ln>
          </p:spPr>
        </p:sp>
      </p:grpSp>
      <p:sp>
        <p:nvSpPr>
          <p:cNvPr id="24" name="TextBox 24"/>
          <p:cNvSpPr txBox="1"/>
          <p:nvPr/>
        </p:nvSpPr>
        <p:spPr>
          <a:xfrm>
            <a:off x="6915150" y="2524125"/>
            <a:ext cx="1838325" cy="304800"/>
          </a:xfrm>
          <a:prstGeom prst="rect">
            <a:avLst/>
          </a:prstGeom>
          <a:noFill/>
          <a:ln>
            <a:noFill/>
          </a:ln>
        </p:spPr>
        <p:txBody>
          <a:bodyPr wrap="none" lIns="0" tIns="0" rIns="0" bIns="0" anchor="t" anchorCtr="0">
            <a:spAutoFit/>
          </a:bodyPr>
          <a:lstStyle/>
          <a:p>
            <a:pPr algn="l"/>
            <a:r>
              <a:rPr lang="zh-CN" sz="1500" dirty="0">
                <a:solidFill>
                  <a:srgbClr val="24332E"/>
                </a:solidFill>
                <a:latin typeface="Arial"/>
                <a:ea typeface="Microsoft YaHei"/>
                <a:cs typeface="Arial"/>
              </a:rPr>
              <a:t>医生的最终疾病诊断</a:t>
            </a:r>
          </a:p>
        </p:txBody>
      </p:sp>
      <p:sp>
        <p:nvSpPr>
          <p:cNvPr id="25" name="TextBox 25"/>
          <p:cNvSpPr txBox="1"/>
          <p:nvPr/>
        </p:nvSpPr>
        <p:spPr>
          <a:xfrm>
            <a:off x="6915150" y="2981325"/>
            <a:ext cx="1238250" cy="304800"/>
          </a:xfrm>
          <a:prstGeom prst="rect">
            <a:avLst/>
          </a:prstGeom>
          <a:noFill/>
          <a:ln>
            <a:noFill/>
          </a:ln>
        </p:spPr>
        <p:txBody>
          <a:bodyPr wrap="none" lIns="0" tIns="0" rIns="0" bIns="0" anchor="t" anchorCtr="0">
            <a:spAutoFit/>
          </a:bodyPr>
          <a:lstStyle/>
          <a:p>
            <a:pPr algn="l"/>
            <a:r>
              <a:rPr lang="zh-CN" sz="1500" dirty="0">
                <a:solidFill>
                  <a:srgbClr val="24332E"/>
                </a:solidFill>
                <a:latin typeface="Arial"/>
                <a:ea typeface="Microsoft YaHei"/>
                <a:cs typeface="Arial"/>
              </a:rPr>
              <a:t>中医辨证结论</a:t>
            </a:r>
          </a:p>
        </p:txBody>
      </p:sp>
      <p:sp>
        <p:nvSpPr>
          <p:cNvPr id="26" name="TextBox 26"/>
          <p:cNvSpPr txBox="1"/>
          <p:nvPr/>
        </p:nvSpPr>
        <p:spPr>
          <a:xfrm>
            <a:off x="6915150" y="3438525"/>
            <a:ext cx="1238250" cy="304800"/>
          </a:xfrm>
          <a:prstGeom prst="rect">
            <a:avLst/>
          </a:prstGeom>
          <a:noFill/>
          <a:ln>
            <a:noFill/>
          </a:ln>
        </p:spPr>
        <p:txBody>
          <a:bodyPr wrap="none" lIns="0" tIns="0" rIns="0" bIns="0" anchor="t" anchorCtr="0">
            <a:spAutoFit/>
          </a:bodyPr>
          <a:lstStyle/>
          <a:p>
            <a:pPr algn="l"/>
            <a:r>
              <a:rPr lang="zh-CN" sz="1500" dirty="0">
                <a:solidFill>
                  <a:srgbClr val="24332E"/>
                </a:solidFill>
                <a:latin typeface="Arial"/>
                <a:ea typeface="Microsoft YaHei"/>
                <a:cs typeface="Arial"/>
              </a:rPr>
              <a:t>检查项目选择</a:t>
            </a:r>
          </a:p>
        </p:txBody>
      </p:sp>
      <p:sp>
        <p:nvSpPr>
          <p:cNvPr id="27" name="TextBox 27"/>
          <p:cNvSpPr txBox="1"/>
          <p:nvPr/>
        </p:nvSpPr>
        <p:spPr>
          <a:xfrm>
            <a:off x="6915150" y="3895725"/>
            <a:ext cx="1438275" cy="304800"/>
          </a:xfrm>
          <a:prstGeom prst="rect">
            <a:avLst/>
          </a:prstGeom>
          <a:noFill/>
          <a:ln>
            <a:noFill/>
          </a:ln>
        </p:spPr>
        <p:txBody>
          <a:bodyPr wrap="none" lIns="0" tIns="0" rIns="0" bIns="0" anchor="t" anchorCtr="0">
            <a:spAutoFit/>
          </a:bodyPr>
          <a:lstStyle/>
          <a:p>
            <a:pPr algn="l"/>
            <a:r>
              <a:rPr lang="zh-CN" sz="1500" dirty="0">
                <a:solidFill>
                  <a:srgbClr val="24332E"/>
                </a:solidFill>
                <a:latin typeface="Arial"/>
                <a:ea typeface="Microsoft YaHei"/>
                <a:cs typeface="Arial"/>
              </a:rPr>
              <a:t>处方和治疗决策</a:t>
            </a:r>
          </a:p>
        </p:txBody>
      </p:sp>
      <p:sp>
        <p:nvSpPr>
          <p:cNvPr id="28" name="Rectangle 28"/>
          <p:cNvSpPr/>
          <p:nvPr/>
        </p:nvSpPr>
        <p:spPr>
          <a:xfrm>
            <a:off x="895350" y="5314950"/>
            <a:ext cx="10401300" cy="742950"/>
          </a:xfrm>
          <a:prstGeom prst="rect">
            <a:avLst/>
          </a:prstGeom>
          <a:solidFill>
            <a:srgbClr val="E8EFEA"/>
          </a:solidFill>
          <a:ln>
            <a:noFill/>
          </a:ln>
        </p:spPr>
      </p:sp>
      <p:sp>
        <p:nvSpPr>
          <p:cNvPr id="29" name="Rectangle 29"/>
          <p:cNvSpPr/>
          <p:nvPr/>
        </p:nvSpPr>
        <p:spPr>
          <a:xfrm>
            <a:off x="895350" y="5314950"/>
            <a:ext cx="76200" cy="742950"/>
          </a:xfrm>
          <a:prstGeom prst="rect">
            <a:avLst/>
          </a:prstGeom>
          <a:solidFill>
            <a:srgbClr val="174C43"/>
          </a:solidFill>
          <a:ln>
            <a:noFill/>
          </a:ln>
        </p:spPr>
      </p:sp>
      <p:sp>
        <p:nvSpPr>
          <p:cNvPr id="30" name="TextBox 30"/>
          <p:cNvSpPr txBox="1"/>
          <p:nvPr/>
        </p:nvSpPr>
        <p:spPr>
          <a:xfrm>
            <a:off x="3538026" y="5604986"/>
            <a:ext cx="5115949" cy="350520"/>
          </a:xfrm>
          <a:prstGeom prst="rect">
            <a:avLst/>
          </a:prstGeom>
          <a:noFill/>
          <a:ln>
            <a:noFill/>
          </a:ln>
        </p:spPr>
        <p:txBody>
          <a:bodyPr wrap="none" lIns="0" tIns="0" rIns="0" bIns="0" anchor="t" anchorCtr="0">
            <a:spAutoFit/>
          </a:bodyPr>
          <a:lstStyle/>
          <a:p>
            <a:pPr algn="ctr"/>
            <a:r>
              <a:rPr lang="zh-CN" sz="1725" b="1" dirty="0">
                <a:solidFill>
                  <a:srgbClr val="174C43"/>
                </a:solidFill>
                <a:latin typeface="Arial"/>
                <a:ea typeface="Microsoft YaHei"/>
                <a:cs typeface="Arial"/>
              </a:rPr>
              <a:t>把患者说过的话整理清楚，把专业判断留给医生</a:t>
            </a:r>
          </a:p>
        </p:txBody>
      </p:sp>
      <p:sp>
        <p:nvSpPr>
          <p:cNvPr id="31" name="TextBox 31"/>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03</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6215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03 · 系统流程</a:t>
            </a:r>
          </a:p>
        </p:txBody>
      </p:sp>
      <p:sp>
        <p:nvSpPr>
          <p:cNvPr id="4" name="TextBox 4"/>
          <p:cNvSpPr txBox="1"/>
          <p:nvPr/>
        </p:nvSpPr>
        <p:spPr>
          <a:xfrm>
            <a:off x="575310" y="908685"/>
            <a:ext cx="5739289" cy="548640"/>
          </a:xfrm>
          <a:prstGeom prst="rect">
            <a:avLst/>
          </a:prstGeom>
          <a:noFill/>
          <a:ln>
            <a:noFill/>
          </a:ln>
        </p:spPr>
        <p:txBody>
          <a:bodyPr wrap="none" lIns="0" tIns="0" rIns="0" bIns="0" anchor="t" anchorCtr="0">
            <a:spAutoFit/>
          </a:bodyPr>
          <a:lstStyle/>
          <a:p>
            <a:pPr algn="l"/>
            <a:r>
              <a:rPr lang="zh-CN" sz="2700" b="1" dirty="0">
                <a:solidFill>
                  <a:srgbClr val="174C43"/>
                </a:solidFill>
                <a:latin typeface="Arial"/>
                <a:ea typeface="Microsoft YaHei"/>
                <a:cs typeface="Arial"/>
              </a:rPr>
              <a:t>从患者填写到医生查看的完整流程</a:t>
            </a:r>
          </a:p>
        </p:txBody>
      </p:sp>
      <p:sp>
        <p:nvSpPr>
          <p:cNvPr id="5" name="Line 5"/>
          <p:cNvSpPr/>
          <p:nvPr/>
        </p:nvSpPr>
        <p:spPr>
          <a:xfrm>
            <a:off x="609600" y="1409700"/>
            <a:ext cx="10972800" cy="9525"/>
          </a:xfrm>
          <a:custGeom>
            <a:avLst/>
            <a:gdLst/>
            <a:ahLst/>
            <a:cxnLst/>
            <a:rect l="l" t="t" r="r" b="b"/>
            <a:pathLst>
              <a:path w="10972800" h="9525">
                <a:moveTo>
                  <a:pt x="0" y="0"/>
                </a:moveTo>
                <a:lnTo>
                  <a:pt x="10972800" y="0"/>
                </a:lnTo>
              </a:path>
            </a:pathLst>
          </a:custGeom>
          <a:noFill/>
          <a:ln w="19050">
            <a:solidFill>
              <a:srgbClr val="CDD8D2"/>
            </a:solidFill>
          </a:ln>
        </p:spPr>
      </p:sp>
      <p:sp>
        <p:nvSpPr>
          <p:cNvPr id="6" name="Rectangle 6"/>
          <p:cNvSpPr/>
          <p:nvPr/>
        </p:nvSpPr>
        <p:spPr>
          <a:xfrm>
            <a:off x="685800" y="1809750"/>
            <a:ext cx="3486150" cy="400050"/>
          </a:xfrm>
          <a:prstGeom prst="rect">
            <a:avLst/>
          </a:prstGeom>
          <a:solidFill>
            <a:srgbClr val="E8EFEA"/>
          </a:solidFill>
          <a:ln>
            <a:noFill/>
          </a:ln>
        </p:spPr>
      </p:sp>
      <p:sp>
        <p:nvSpPr>
          <p:cNvPr id="7" name="Rectangle 7"/>
          <p:cNvSpPr/>
          <p:nvPr/>
        </p:nvSpPr>
        <p:spPr>
          <a:xfrm>
            <a:off x="4343400" y="1809750"/>
            <a:ext cx="4591050" cy="400050"/>
          </a:xfrm>
          <a:prstGeom prst="rect">
            <a:avLst/>
          </a:prstGeom>
          <a:solidFill>
            <a:srgbClr val="DCEAE4"/>
          </a:solidFill>
          <a:ln>
            <a:noFill/>
          </a:ln>
        </p:spPr>
      </p:sp>
      <p:sp>
        <p:nvSpPr>
          <p:cNvPr id="8" name="Rectangle 8"/>
          <p:cNvSpPr/>
          <p:nvPr/>
        </p:nvSpPr>
        <p:spPr>
          <a:xfrm>
            <a:off x="9105900" y="1809750"/>
            <a:ext cx="2400300" cy="400050"/>
          </a:xfrm>
          <a:prstGeom prst="rect">
            <a:avLst/>
          </a:prstGeom>
          <a:solidFill>
            <a:srgbClr val="F7E7DE"/>
          </a:solidFill>
          <a:ln>
            <a:noFill/>
          </a:ln>
        </p:spPr>
      </p:sp>
      <p:sp>
        <p:nvSpPr>
          <p:cNvPr id="9" name="TextBox 9"/>
          <p:cNvSpPr txBox="1"/>
          <p:nvPr/>
        </p:nvSpPr>
        <p:spPr>
          <a:xfrm>
            <a:off x="2144899" y="1938814"/>
            <a:ext cx="567952" cy="259080"/>
          </a:xfrm>
          <a:prstGeom prst="rect">
            <a:avLst/>
          </a:prstGeom>
          <a:noFill/>
          <a:ln>
            <a:noFill/>
          </a:ln>
        </p:spPr>
        <p:txBody>
          <a:bodyPr wrap="none" lIns="0" tIns="0" rIns="0" bIns="0" anchor="t" anchorCtr="0">
            <a:spAutoFit/>
          </a:bodyPr>
          <a:lstStyle/>
          <a:p>
            <a:pPr algn="ctr"/>
            <a:r>
              <a:rPr lang="zh-CN" sz="1275" b="1" dirty="0">
                <a:solidFill>
                  <a:srgbClr val="174C43"/>
                </a:solidFill>
                <a:latin typeface="Arial"/>
                <a:ea typeface="Microsoft YaHei"/>
                <a:cs typeface="Arial"/>
              </a:rPr>
              <a:t>患者端</a:t>
            </a:r>
          </a:p>
        </p:txBody>
      </p:sp>
      <p:sp>
        <p:nvSpPr>
          <p:cNvPr id="10" name="TextBox 10"/>
          <p:cNvSpPr txBox="1"/>
          <p:nvPr/>
        </p:nvSpPr>
        <p:spPr>
          <a:xfrm>
            <a:off x="6087166" y="1938814"/>
            <a:ext cx="1103519" cy="259080"/>
          </a:xfrm>
          <a:prstGeom prst="rect">
            <a:avLst/>
          </a:prstGeom>
          <a:noFill/>
          <a:ln>
            <a:noFill/>
          </a:ln>
        </p:spPr>
        <p:txBody>
          <a:bodyPr wrap="none" lIns="0" tIns="0" rIns="0" bIns="0" anchor="t" anchorCtr="0">
            <a:spAutoFit/>
          </a:bodyPr>
          <a:lstStyle/>
          <a:p>
            <a:pPr algn="ctr"/>
            <a:r>
              <a:rPr lang="zh-CN" sz="1275" b="1" dirty="0">
                <a:solidFill>
                  <a:srgbClr val="174C43"/>
                </a:solidFill>
                <a:latin typeface="Arial"/>
                <a:ea typeface="Microsoft YaHei"/>
                <a:cs typeface="Arial"/>
              </a:rPr>
              <a:t>问诊决策引擎</a:t>
            </a:r>
          </a:p>
        </p:txBody>
      </p:sp>
      <p:sp>
        <p:nvSpPr>
          <p:cNvPr id="11" name="TextBox 11"/>
          <p:cNvSpPr txBox="1"/>
          <p:nvPr/>
        </p:nvSpPr>
        <p:spPr>
          <a:xfrm>
            <a:off x="10022074" y="1938814"/>
            <a:ext cx="567952" cy="259080"/>
          </a:xfrm>
          <a:prstGeom prst="rect">
            <a:avLst/>
          </a:prstGeom>
          <a:noFill/>
          <a:ln>
            <a:noFill/>
          </a:ln>
        </p:spPr>
        <p:txBody>
          <a:bodyPr wrap="none" lIns="0" tIns="0" rIns="0" bIns="0" anchor="t" anchorCtr="0">
            <a:spAutoFit/>
          </a:bodyPr>
          <a:lstStyle/>
          <a:p>
            <a:pPr algn="ctr"/>
            <a:r>
              <a:rPr lang="zh-CN" sz="1275" b="1" dirty="0">
                <a:solidFill>
                  <a:srgbClr val="C76B3C"/>
                </a:solidFill>
                <a:latin typeface="Arial"/>
                <a:ea typeface="Microsoft YaHei"/>
                <a:cs typeface="Arial"/>
              </a:rPr>
              <a:t>医生端</a:t>
            </a:r>
          </a:p>
        </p:txBody>
      </p:sp>
      <p:sp>
        <p:nvSpPr>
          <p:cNvPr id="12" name="Line 12"/>
          <p:cNvSpPr/>
          <p:nvPr/>
        </p:nvSpPr>
        <p:spPr>
          <a:xfrm>
            <a:off x="1143000" y="3390900"/>
            <a:ext cx="9810750" cy="9525"/>
          </a:xfrm>
          <a:custGeom>
            <a:avLst/>
            <a:gdLst/>
            <a:ahLst/>
            <a:cxnLst/>
            <a:rect l="l" t="t" r="r" b="b"/>
            <a:pathLst>
              <a:path w="9810750" h="9525">
                <a:moveTo>
                  <a:pt x="0" y="0"/>
                </a:moveTo>
                <a:lnTo>
                  <a:pt x="9810750" y="0"/>
                </a:lnTo>
              </a:path>
            </a:pathLst>
          </a:custGeom>
          <a:noFill/>
          <a:ln w="47625">
            <a:solidFill>
              <a:srgbClr val="6E9184"/>
            </a:solidFill>
          </a:ln>
        </p:spPr>
      </p:sp>
      <p:sp>
        <p:nvSpPr>
          <p:cNvPr id="13" name="Polygon 13"/>
          <p:cNvSpPr/>
          <p:nvPr/>
        </p:nvSpPr>
        <p:spPr>
          <a:xfrm>
            <a:off x="10877550" y="3276600"/>
            <a:ext cx="190500" cy="228600"/>
          </a:xfrm>
          <a:custGeom>
            <a:avLst/>
            <a:gdLst/>
            <a:ahLst/>
            <a:cxnLst/>
            <a:rect l="l" t="t" r="r" b="b"/>
            <a:pathLst>
              <a:path w="190500" h="228600">
                <a:moveTo>
                  <a:pt x="190500" y="114300"/>
                </a:moveTo>
                <a:lnTo>
                  <a:pt x="0" y="0"/>
                </a:lnTo>
                <a:lnTo>
                  <a:pt x="0" y="228600"/>
                </a:lnTo>
                <a:close/>
              </a:path>
            </a:pathLst>
          </a:custGeom>
          <a:solidFill>
            <a:srgbClr val="6E9184"/>
          </a:solidFill>
          <a:ln>
            <a:noFill/>
          </a:ln>
        </p:spPr>
      </p:sp>
      <p:sp>
        <p:nvSpPr>
          <p:cNvPr id="14" name="Ellipse 14"/>
          <p:cNvSpPr/>
          <p:nvPr/>
        </p:nvSpPr>
        <p:spPr>
          <a:xfrm>
            <a:off x="914400" y="3067050"/>
            <a:ext cx="647700" cy="647700"/>
          </a:xfrm>
          <a:prstGeom prst="ellipse">
            <a:avLst/>
          </a:prstGeom>
          <a:solidFill>
            <a:srgbClr val="FFFFFF"/>
          </a:solidFill>
          <a:ln w="28575">
            <a:solidFill>
              <a:srgbClr val="174C43"/>
            </a:solidFill>
          </a:ln>
        </p:spPr>
      </p:sp>
      <p:sp>
        <p:nvSpPr>
          <p:cNvPr id="15" name="Ellipse 15"/>
          <p:cNvSpPr/>
          <p:nvPr/>
        </p:nvSpPr>
        <p:spPr>
          <a:xfrm>
            <a:off x="2286000" y="3067050"/>
            <a:ext cx="647700" cy="647700"/>
          </a:xfrm>
          <a:prstGeom prst="ellipse">
            <a:avLst/>
          </a:prstGeom>
          <a:solidFill>
            <a:srgbClr val="FFFFFF"/>
          </a:solidFill>
          <a:ln w="28575">
            <a:solidFill>
              <a:srgbClr val="174C43"/>
            </a:solidFill>
          </a:ln>
        </p:spPr>
      </p:sp>
      <p:sp>
        <p:nvSpPr>
          <p:cNvPr id="16" name="Ellipse 16"/>
          <p:cNvSpPr/>
          <p:nvPr/>
        </p:nvSpPr>
        <p:spPr>
          <a:xfrm>
            <a:off x="3657600" y="3067050"/>
            <a:ext cx="647700" cy="647700"/>
          </a:xfrm>
          <a:prstGeom prst="ellipse">
            <a:avLst/>
          </a:prstGeom>
          <a:solidFill>
            <a:srgbClr val="FFFFFF"/>
          </a:solidFill>
          <a:ln w="28575">
            <a:solidFill>
              <a:srgbClr val="174C43"/>
            </a:solidFill>
          </a:ln>
        </p:spPr>
      </p:sp>
      <p:sp>
        <p:nvSpPr>
          <p:cNvPr id="17" name="Ellipse 17"/>
          <p:cNvSpPr/>
          <p:nvPr/>
        </p:nvSpPr>
        <p:spPr>
          <a:xfrm>
            <a:off x="5029200" y="3067050"/>
            <a:ext cx="647700" cy="647700"/>
          </a:xfrm>
          <a:prstGeom prst="ellipse">
            <a:avLst/>
          </a:prstGeom>
          <a:solidFill>
            <a:srgbClr val="FFFFFF"/>
          </a:solidFill>
          <a:ln w="28575">
            <a:solidFill>
              <a:srgbClr val="174C43"/>
            </a:solidFill>
          </a:ln>
        </p:spPr>
      </p:sp>
      <p:sp>
        <p:nvSpPr>
          <p:cNvPr id="18" name="Ellipse 18"/>
          <p:cNvSpPr/>
          <p:nvPr/>
        </p:nvSpPr>
        <p:spPr>
          <a:xfrm>
            <a:off x="6400800" y="3067050"/>
            <a:ext cx="647700" cy="647700"/>
          </a:xfrm>
          <a:prstGeom prst="ellipse">
            <a:avLst/>
          </a:prstGeom>
          <a:solidFill>
            <a:srgbClr val="FFFFFF"/>
          </a:solidFill>
          <a:ln w="28575">
            <a:solidFill>
              <a:srgbClr val="174C43"/>
            </a:solidFill>
          </a:ln>
        </p:spPr>
      </p:sp>
      <p:sp>
        <p:nvSpPr>
          <p:cNvPr id="19" name="Ellipse 19"/>
          <p:cNvSpPr/>
          <p:nvPr/>
        </p:nvSpPr>
        <p:spPr>
          <a:xfrm>
            <a:off x="7772400" y="3067050"/>
            <a:ext cx="647700" cy="647700"/>
          </a:xfrm>
          <a:prstGeom prst="ellipse">
            <a:avLst/>
          </a:prstGeom>
          <a:solidFill>
            <a:srgbClr val="FFFFFF"/>
          </a:solidFill>
          <a:ln w="28575">
            <a:solidFill>
              <a:srgbClr val="174C43"/>
            </a:solidFill>
          </a:ln>
        </p:spPr>
      </p:sp>
      <p:sp>
        <p:nvSpPr>
          <p:cNvPr id="20" name="Ellipse 20"/>
          <p:cNvSpPr/>
          <p:nvPr/>
        </p:nvSpPr>
        <p:spPr>
          <a:xfrm>
            <a:off x="9144000" y="3067050"/>
            <a:ext cx="647700" cy="647700"/>
          </a:xfrm>
          <a:prstGeom prst="ellipse">
            <a:avLst/>
          </a:prstGeom>
          <a:solidFill>
            <a:srgbClr val="FFFFFF"/>
          </a:solidFill>
          <a:ln w="28575">
            <a:solidFill>
              <a:srgbClr val="C76B3C"/>
            </a:solidFill>
          </a:ln>
        </p:spPr>
      </p:sp>
      <p:sp>
        <p:nvSpPr>
          <p:cNvPr id="21" name="Ellipse 21"/>
          <p:cNvSpPr/>
          <p:nvPr/>
        </p:nvSpPr>
        <p:spPr>
          <a:xfrm>
            <a:off x="10515600" y="3067050"/>
            <a:ext cx="647700" cy="647700"/>
          </a:xfrm>
          <a:prstGeom prst="ellipse">
            <a:avLst/>
          </a:prstGeom>
          <a:solidFill>
            <a:srgbClr val="FFFFFF"/>
          </a:solidFill>
          <a:ln w="28575">
            <a:solidFill>
              <a:srgbClr val="C76B3C"/>
            </a:solidFill>
          </a:ln>
        </p:spPr>
      </p:sp>
      <p:sp>
        <p:nvSpPr>
          <p:cNvPr id="22" name="TextBox 22"/>
          <p:cNvSpPr txBox="1"/>
          <p:nvPr/>
        </p:nvSpPr>
        <p:spPr>
          <a:xfrm>
            <a:off x="1161443" y="3305175"/>
            <a:ext cx="153614" cy="304800"/>
          </a:xfrm>
          <a:prstGeom prst="rect">
            <a:avLst/>
          </a:prstGeom>
          <a:noFill/>
          <a:ln>
            <a:noFill/>
          </a:ln>
        </p:spPr>
        <p:txBody>
          <a:bodyPr wrap="none" lIns="0" tIns="0" rIns="0" bIns="0" anchor="t" anchorCtr="0">
            <a:spAutoFit/>
          </a:bodyPr>
          <a:lstStyle/>
          <a:p>
            <a:pPr algn="ctr"/>
            <a:r>
              <a:rPr lang="en-US" sz="1500" b="1" dirty="0">
                <a:solidFill>
                  <a:srgbClr val="174C43"/>
                </a:solidFill>
                <a:latin typeface="Arial"/>
                <a:ea typeface="Arial"/>
                <a:cs typeface="Arial"/>
              </a:rPr>
              <a:t>1</a:t>
            </a:r>
          </a:p>
        </p:txBody>
      </p:sp>
      <p:sp>
        <p:nvSpPr>
          <p:cNvPr id="23" name="TextBox 23"/>
          <p:cNvSpPr txBox="1"/>
          <p:nvPr/>
        </p:nvSpPr>
        <p:spPr>
          <a:xfrm>
            <a:off x="2533043" y="3305175"/>
            <a:ext cx="153614" cy="304800"/>
          </a:xfrm>
          <a:prstGeom prst="rect">
            <a:avLst/>
          </a:prstGeom>
          <a:noFill/>
          <a:ln>
            <a:noFill/>
          </a:ln>
        </p:spPr>
        <p:txBody>
          <a:bodyPr wrap="none" lIns="0" tIns="0" rIns="0" bIns="0" anchor="t" anchorCtr="0">
            <a:spAutoFit/>
          </a:bodyPr>
          <a:lstStyle/>
          <a:p>
            <a:pPr algn="ctr"/>
            <a:r>
              <a:rPr lang="en-US" sz="1500" b="1" dirty="0">
                <a:solidFill>
                  <a:srgbClr val="174C43"/>
                </a:solidFill>
                <a:latin typeface="Arial"/>
                <a:ea typeface="Arial"/>
                <a:cs typeface="Arial"/>
              </a:rPr>
              <a:t>2</a:t>
            </a:r>
          </a:p>
        </p:txBody>
      </p:sp>
      <p:sp>
        <p:nvSpPr>
          <p:cNvPr id="24" name="TextBox 24"/>
          <p:cNvSpPr txBox="1"/>
          <p:nvPr/>
        </p:nvSpPr>
        <p:spPr>
          <a:xfrm>
            <a:off x="3904643" y="3305175"/>
            <a:ext cx="153614" cy="304800"/>
          </a:xfrm>
          <a:prstGeom prst="rect">
            <a:avLst/>
          </a:prstGeom>
          <a:noFill/>
          <a:ln>
            <a:noFill/>
          </a:ln>
        </p:spPr>
        <p:txBody>
          <a:bodyPr wrap="none" lIns="0" tIns="0" rIns="0" bIns="0" anchor="t" anchorCtr="0">
            <a:spAutoFit/>
          </a:bodyPr>
          <a:lstStyle/>
          <a:p>
            <a:pPr algn="ctr"/>
            <a:r>
              <a:rPr lang="en-US" sz="1500" b="1" dirty="0">
                <a:solidFill>
                  <a:srgbClr val="174C43"/>
                </a:solidFill>
                <a:latin typeface="Arial"/>
                <a:ea typeface="Arial"/>
                <a:cs typeface="Arial"/>
              </a:rPr>
              <a:t>3</a:t>
            </a:r>
          </a:p>
        </p:txBody>
      </p:sp>
      <p:sp>
        <p:nvSpPr>
          <p:cNvPr id="25" name="TextBox 25"/>
          <p:cNvSpPr txBox="1"/>
          <p:nvPr/>
        </p:nvSpPr>
        <p:spPr>
          <a:xfrm>
            <a:off x="5276243" y="3305175"/>
            <a:ext cx="153614" cy="304800"/>
          </a:xfrm>
          <a:prstGeom prst="rect">
            <a:avLst/>
          </a:prstGeom>
          <a:noFill/>
          <a:ln>
            <a:noFill/>
          </a:ln>
        </p:spPr>
        <p:txBody>
          <a:bodyPr wrap="none" lIns="0" tIns="0" rIns="0" bIns="0" anchor="t" anchorCtr="0">
            <a:spAutoFit/>
          </a:bodyPr>
          <a:lstStyle/>
          <a:p>
            <a:pPr algn="ctr"/>
            <a:r>
              <a:rPr lang="en-US" sz="1500" b="1" dirty="0">
                <a:solidFill>
                  <a:srgbClr val="174C43"/>
                </a:solidFill>
                <a:latin typeface="Arial"/>
                <a:ea typeface="Arial"/>
                <a:cs typeface="Arial"/>
              </a:rPr>
              <a:t>4</a:t>
            </a:r>
          </a:p>
        </p:txBody>
      </p:sp>
      <p:sp>
        <p:nvSpPr>
          <p:cNvPr id="26" name="TextBox 26"/>
          <p:cNvSpPr txBox="1"/>
          <p:nvPr/>
        </p:nvSpPr>
        <p:spPr>
          <a:xfrm>
            <a:off x="6647843" y="3305175"/>
            <a:ext cx="153614" cy="304800"/>
          </a:xfrm>
          <a:prstGeom prst="rect">
            <a:avLst/>
          </a:prstGeom>
          <a:noFill/>
          <a:ln>
            <a:noFill/>
          </a:ln>
        </p:spPr>
        <p:txBody>
          <a:bodyPr wrap="none" lIns="0" tIns="0" rIns="0" bIns="0" anchor="t" anchorCtr="0">
            <a:spAutoFit/>
          </a:bodyPr>
          <a:lstStyle/>
          <a:p>
            <a:pPr algn="ctr"/>
            <a:r>
              <a:rPr lang="en-US" sz="1500" b="1" dirty="0">
                <a:solidFill>
                  <a:srgbClr val="174C43"/>
                </a:solidFill>
                <a:latin typeface="Arial"/>
                <a:ea typeface="Arial"/>
                <a:cs typeface="Arial"/>
              </a:rPr>
              <a:t>5</a:t>
            </a:r>
          </a:p>
        </p:txBody>
      </p:sp>
      <p:sp>
        <p:nvSpPr>
          <p:cNvPr id="27" name="TextBox 27"/>
          <p:cNvSpPr txBox="1"/>
          <p:nvPr/>
        </p:nvSpPr>
        <p:spPr>
          <a:xfrm>
            <a:off x="8019443" y="3305175"/>
            <a:ext cx="153614" cy="304800"/>
          </a:xfrm>
          <a:prstGeom prst="rect">
            <a:avLst/>
          </a:prstGeom>
          <a:noFill/>
          <a:ln>
            <a:noFill/>
          </a:ln>
        </p:spPr>
        <p:txBody>
          <a:bodyPr wrap="none" lIns="0" tIns="0" rIns="0" bIns="0" anchor="t" anchorCtr="0">
            <a:spAutoFit/>
          </a:bodyPr>
          <a:lstStyle/>
          <a:p>
            <a:pPr algn="ctr"/>
            <a:r>
              <a:rPr lang="en-US" sz="1500" b="1" dirty="0">
                <a:solidFill>
                  <a:srgbClr val="174C43"/>
                </a:solidFill>
                <a:latin typeface="Arial"/>
                <a:ea typeface="Arial"/>
                <a:cs typeface="Arial"/>
              </a:rPr>
              <a:t>6</a:t>
            </a:r>
          </a:p>
        </p:txBody>
      </p:sp>
      <p:sp>
        <p:nvSpPr>
          <p:cNvPr id="28" name="TextBox 28"/>
          <p:cNvSpPr txBox="1"/>
          <p:nvPr/>
        </p:nvSpPr>
        <p:spPr>
          <a:xfrm>
            <a:off x="9391043" y="3305175"/>
            <a:ext cx="153614" cy="304800"/>
          </a:xfrm>
          <a:prstGeom prst="rect">
            <a:avLst/>
          </a:prstGeom>
          <a:noFill/>
          <a:ln>
            <a:noFill/>
          </a:ln>
        </p:spPr>
        <p:txBody>
          <a:bodyPr wrap="none" lIns="0" tIns="0" rIns="0" bIns="0" anchor="t" anchorCtr="0">
            <a:spAutoFit/>
          </a:bodyPr>
          <a:lstStyle/>
          <a:p>
            <a:pPr algn="ctr"/>
            <a:r>
              <a:rPr lang="en-US" sz="1500" b="1" dirty="0">
                <a:solidFill>
                  <a:srgbClr val="C76B3C"/>
                </a:solidFill>
                <a:latin typeface="Arial"/>
                <a:ea typeface="Arial"/>
                <a:cs typeface="Arial"/>
              </a:rPr>
              <a:t>7</a:t>
            </a:r>
          </a:p>
        </p:txBody>
      </p:sp>
      <p:sp>
        <p:nvSpPr>
          <p:cNvPr id="29" name="TextBox 29"/>
          <p:cNvSpPr txBox="1"/>
          <p:nvPr/>
        </p:nvSpPr>
        <p:spPr>
          <a:xfrm>
            <a:off x="10762643" y="3305175"/>
            <a:ext cx="153614" cy="304800"/>
          </a:xfrm>
          <a:prstGeom prst="rect">
            <a:avLst/>
          </a:prstGeom>
          <a:noFill/>
          <a:ln>
            <a:noFill/>
          </a:ln>
        </p:spPr>
        <p:txBody>
          <a:bodyPr wrap="none" lIns="0" tIns="0" rIns="0" bIns="0" anchor="t" anchorCtr="0">
            <a:spAutoFit/>
          </a:bodyPr>
          <a:lstStyle/>
          <a:p>
            <a:pPr algn="ctr"/>
            <a:r>
              <a:rPr lang="en-US" sz="1500" b="1" dirty="0">
                <a:solidFill>
                  <a:srgbClr val="C76B3C"/>
                </a:solidFill>
                <a:latin typeface="Arial"/>
                <a:ea typeface="Arial"/>
                <a:cs typeface="Arial"/>
              </a:rPr>
              <a:t>8</a:t>
            </a:r>
          </a:p>
        </p:txBody>
      </p:sp>
      <p:grpSp>
        <p:nvGrpSpPr>
          <p:cNvPr id="46" name="Group 46"/>
          <p:cNvGrpSpPr/>
          <p:nvPr/>
        </p:nvGrpSpPr>
        <p:grpSpPr>
          <a:xfrm>
            <a:off x="882015" y="3958114"/>
            <a:ext cx="10313670" cy="506730"/>
            <a:chOff x="882015" y="3958114"/>
            <a:chExt cx="10313670" cy="506730"/>
          </a:xfrm>
        </p:grpSpPr>
        <p:sp>
          <p:nvSpPr>
            <p:cNvPr id="30" name="TextBox 30"/>
            <p:cNvSpPr txBox="1"/>
            <p:nvPr/>
          </p:nvSpPr>
          <p:spPr>
            <a:xfrm>
              <a:off x="882015" y="3958114"/>
              <a:ext cx="712470"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基础资料</a:t>
              </a:r>
            </a:p>
          </p:txBody>
        </p:sp>
        <p:sp>
          <p:nvSpPr>
            <p:cNvPr id="31" name="TextBox 31"/>
            <p:cNvSpPr txBox="1"/>
            <p:nvPr/>
          </p:nvSpPr>
          <p:spPr>
            <a:xfrm>
              <a:off x="1052036" y="4205764"/>
              <a:ext cx="372428"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填写</a:t>
              </a:r>
            </a:p>
          </p:txBody>
        </p:sp>
        <p:sp>
          <p:nvSpPr>
            <p:cNvPr id="32" name="TextBox 32"/>
            <p:cNvSpPr txBox="1"/>
            <p:nvPr/>
          </p:nvSpPr>
          <p:spPr>
            <a:xfrm>
              <a:off x="2253615" y="3958114"/>
              <a:ext cx="712470"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主要诉求</a:t>
              </a:r>
            </a:p>
          </p:txBody>
        </p:sp>
        <p:sp>
          <p:nvSpPr>
            <p:cNvPr id="33" name="TextBox 33"/>
            <p:cNvSpPr txBox="1"/>
            <p:nvPr/>
          </p:nvSpPr>
          <p:spPr>
            <a:xfrm>
              <a:off x="2423636" y="4205764"/>
              <a:ext cx="372428"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描述</a:t>
              </a:r>
            </a:p>
          </p:txBody>
        </p:sp>
        <p:sp>
          <p:nvSpPr>
            <p:cNvPr id="34" name="TextBox 34"/>
            <p:cNvSpPr txBox="1"/>
            <p:nvPr/>
          </p:nvSpPr>
          <p:spPr>
            <a:xfrm>
              <a:off x="3625215" y="3958114"/>
              <a:ext cx="712470"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提取已有</a:t>
              </a:r>
            </a:p>
          </p:txBody>
        </p:sp>
        <p:sp>
          <p:nvSpPr>
            <p:cNvPr id="35" name="TextBox 35"/>
            <p:cNvSpPr txBox="1"/>
            <p:nvPr/>
          </p:nvSpPr>
          <p:spPr>
            <a:xfrm>
              <a:off x="3795236" y="4205764"/>
              <a:ext cx="372428"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信息</a:t>
              </a:r>
            </a:p>
          </p:txBody>
        </p:sp>
        <p:sp>
          <p:nvSpPr>
            <p:cNvPr id="36" name="TextBox 36"/>
            <p:cNvSpPr txBox="1"/>
            <p:nvPr/>
          </p:nvSpPr>
          <p:spPr>
            <a:xfrm>
              <a:off x="4996815" y="3958114"/>
              <a:ext cx="712470"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更新字段</a:t>
              </a:r>
            </a:p>
          </p:txBody>
        </p:sp>
        <p:sp>
          <p:nvSpPr>
            <p:cNvPr id="37" name="TextBox 37"/>
            <p:cNvSpPr txBox="1"/>
            <p:nvPr/>
          </p:nvSpPr>
          <p:spPr>
            <a:xfrm>
              <a:off x="5166836" y="4205764"/>
              <a:ext cx="372428"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状态</a:t>
              </a:r>
            </a:p>
          </p:txBody>
        </p:sp>
        <p:sp>
          <p:nvSpPr>
            <p:cNvPr id="38" name="TextBox 38"/>
            <p:cNvSpPr txBox="1"/>
            <p:nvPr/>
          </p:nvSpPr>
          <p:spPr>
            <a:xfrm>
              <a:off x="6368415" y="3958114"/>
              <a:ext cx="712470"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判断核心</a:t>
              </a:r>
            </a:p>
          </p:txBody>
        </p:sp>
        <p:sp>
          <p:nvSpPr>
            <p:cNvPr id="39" name="TextBox 39"/>
            <p:cNvSpPr txBox="1"/>
            <p:nvPr/>
          </p:nvSpPr>
          <p:spPr>
            <a:xfrm>
              <a:off x="6453426" y="4205764"/>
              <a:ext cx="542449"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完整度</a:t>
              </a:r>
            </a:p>
          </p:txBody>
        </p:sp>
        <p:sp>
          <p:nvSpPr>
            <p:cNvPr id="40" name="TextBox 40"/>
            <p:cNvSpPr txBox="1"/>
            <p:nvPr/>
          </p:nvSpPr>
          <p:spPr>
            <a:xfrm>
              <a:off x="7740015" y="3958114"/>
              <a:ext cx="712470"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继续追问</a:t>
              </a:r>
            </a:p>
          </p:txBody>
        </p:sp>
        <p:sp>
          <p:nvSpPr>
            <p:cNvPr id="41" name="TextBox 41"/>
            <p:cNvSpPr txBox="1"/>
            <p:nvPr/>
          </p:nvSpPr>
          <p:spPr>
            <a:xfrm>
              <a:off x="7825026" y="4205764"/>
              <a:ext cx="542449"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或停止</a:t>
              </a:r>
            </a:p>
          </p:txBody>
        </p:sp>
        <p:sp>
          <p:nvSpPr>
            <p:cNvPr id="42" name="TextBox 42"/>
            <p:cNvSpPr txBox="1"/>
            <p:nvPr/>
          </p:nvSpPr>
          <p:spPr>
            <a:xfrm>
              <a:off x="9111615" y="3958114"/>
              <a:ext cx="712470"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生成保存</a:t>
              </a:r>
            </a:p>
          </p:txBody>
        </p:sp>
        <p:sp>
          <p:nvSpPr>
            <p:cNvPr id="43" name="TextBox 43"/>
            <p:cNvSpPr txBox="1"/>
            <p:nvPr/>
          </p:nvSpPr>
          <p:spPr>
            <a:xfrm>
              <a:off x="9281636" y="4205764"/>
              <a:ext cx="372428"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档案</a:t>
              </a:r>
            </a:p>
          </p:txBody>
        </p:sp>
        <p:sp>
          <p:nvSpPr>
            <p:cNvPr id="44" name="TextBox 44"/>
            <p:cNvSpPr txBox="1"/>
            <p:nvPr/>
          </p:nvSpPr>
          <p:spPr>
            <a:xfrm>
              <a:off x="10483215" y="3958114"/>
              <a:ext cx="712470"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医生查看</a:t>
              </a:r>
            </a:p>
          </p:txBody>
        </p:sp>
        <p:sp>
          <p:nvSpPr>
            <p:cNvPr id="45" name="TextBox 45"/>
            <p:cNvSpPr txBox="1"/>
            <p:nvPr/>
          </p:nvSpPr>
          <p:spPr>
            <a:xfrm>
              <a:off x="10653236" y="4205764"/>
              <a:ext cx="372428" cy="259080"/>
            </a:xfrm>
            <a:prstGeom prst="rect">
              <a:avLst/>
            </a:prstGeom>
            <a:noFill/>
            <a:ln>
              <a:noFill/>
            </a:ln>
          </p:spPr>
          <p:txBody>
            <a:bodyPr wrap="none" lIns="0" tIns="0" rIns="0" bIns="0" anchor="t" anchorCtr="0">
              <a:spAutoFit/>
            </a:bodyPr>
            <a:lstStyle/>
            <a:p>
              <a:pPr algn="ctr"/>
              <a:r>
                <a:rPr lang="zh-CN" sz="1275" dirty="0">
                  <a:solidFill>
                    <a:srgbClr val="24332E"/>
                  </a:solidFill>
                  <a:latin typeface="Arial"/>
                  <a:ea typeface="Microsoft YaHei"/>
                  <a:cs typeface="Arial"/>
                </a:rPr>
                <a:t>确认</a:t>
              </a:r>
            </a:p>
          </p:txBody>
        </p:sp>
      </p:grpSp>
      <p:sp>
        <p:nvSpPr>
          <p:cNvPr id="47" name="Rectangle 47"/>
          <p:cNvSpPr/>
          <p:nvPr/>
        </p:nvSpPr>
        <p:spPr>
          <a:xfrm>
            <a:off x="2057400" y="5048250"/>
            <a:ext cx="8077200" cy="704850"/>
          </a:xfrm>
          <a:prstGeom prst="rect">
            <a:avLst/>
          </a:prstGeom>
          <a:solidFill>
            <a:srgbClr val="FFFFFF"/>
          </a:solidFill>
          <a:ln w="19050">
            <a:solidFill>
              <a:srgbClr val="CDD8D2"/>
            </a:solidFill>
          </a:ln>
        </p:spPr>
      </p:sp>
      <p:grpSp>
        <p:nvGrpSpPr>
          <p:cNvPr id="52" name="Group 52"/>
          <p:cNvGrpSpPr/>
          <p:nvPr/>
        </p:nvGrpSpPr>
        <p:grpSpPr>
          <a:xfrm>
            <a:off x="2428875" y="5273675"/>
            <a:ext cx="285751" cy="254000"/>
            <a:chOff x="2428875" y="5273675"/>
            <a:chExt cx="285751" cy="254000"/>
          </a:xfrm>
        </p:grpSpPr>
        <p:sp>
          <p:nvSpPr>
            <p:cNvPr id="48" name="Freeform 48"/>
            <p:cNvSpPr/>
            <p:nvPr/>
          </p:nvSpPr>
          <p:spPr>
            <a:xfrm>
              <a:off x="2428875" y="5400675"/>
              <a:ext cx="285751" cy="79375"/>
            </a:xfrm>
            <a:custGeom>
              <a:avLst/>
              <a:gdLst/>
              <a:ahLst/>
              <a:cxnLst/>
              <a:rect l="l" t="t" r="r" b="b"/>
              <a:pathLst>
                <a:path w="285751" h="79375">
                  <a:moveTo>
                    <a:pt x="285751" y="79375"/>
                  </a:moveTo>
                  <a:lnTo>
                    <a:pt x="158750" y="79375"/>
                  </a:lnTo>
                  <a:lnTo>
                    <a:pt x="103188" y="0"/>
                  </a:lnTo>
                  <a:lnTo>
                    <a:pt x="0" y="0"/>
                  </a:lnTo>
                </a:path>
              </a:pathLst>
            </a:custGeom>
            <a:noFill/>
            <a:ln w="19050">
              <a:solidFill>
                <a:srgbClr val="174C43"/>
              </a:solidFill>
            </a:ln>
          </p:spPr>
        </p:sp>
        <p:sp>
          <p:nvSpPr>
            <p:cNvPr id="49" name="Freeform 49"/>
            <p:cNvSpPr/>
            <p:nvPr/>
          </p:nvSpPr>
          <p:spPr>
            <a:xfrm>
              <a:off x="2532142" y="5321300"/>
              <a:ext cx="182483" cy="79375"/>
            </a:xfrm>
            <a:custGeom>
              <a:avLst/>
              <a:gdLst/>
              <a:ahLst/>
              <a:cxnLst/>
              <a:rect l="l" t="t" r="r" b="b"/>
              <a:pathLst>
                <a:path w="182483" h="79375">
                  <a:moveTo>
                    <a:pt x="182483" y="0"/>
                  </a:moveTo>
                  <a:lnTo>
                    <a:pt x="55483" y="0"/>
                  </a:lnTo>
                  <a:lnTo>
                    <a:pt x="0" y="79375"/>
                  </a:lnTo>
                </a:path>
              </a:pathLst>
            </a:custGeom>
            <a:noFill/>
            <a:ln w="19050">
              <a:solidFill>
                <a:srgbClr val="174C43"/>
              </a:solidFill>
            </a:ln>
          </p:spPr>
        </p:sp>
        <p:sp>
          <p:nvSpPr>
            <p:cNvPr id="50" name="Freeform 50"/>
            <p:cNvSpPr/>
            <p:nvPr/>
          </p:nvSpPr>
          <p:spPr>
            <a:xfrm>
              <a:off x="2667001" y="5273675"/>
              <a:ext cx="47625" cy="95250"/>
            </a:xfrm>
            <a:custGeom>
              <a:avLst/>
              <a:gdLst/>
              <a:ahLst/>
              <a:cxnLst/>
              <a:rect l="l" t="t" r="r" b="b"/>
              <a:pathLst>
                <a:path w="47625" h="95250">
                  <a:moveTo>
                    <a:pt x="0" y="95250"/>
                  </a:moveTo>
                  <a:lnTo>
                    <a:pt x="47625" y="47625"/>
                  </a:lnTo>
                  <a:lnTo>
                    <a:pt x="0" y="0"/>
                  </a:lnTo>
                </a:path>
              </a:pathLst>
            </a:custGeom>
            <a:noFill/>
            <a:ln w="19050">
              <a:solidFill>
                <a:srgbClr val="174C43"/>
              </a:solidFill>
            </a:ln>
          </p:spPr>
        </p:sp>
        <p:sp>
          <p:nvSpPr>
            <p:cNvPr id="51" name="Freeform 51"/>
            <p:cNvSpPr/>
            <p:nvPr/>
          </p:nvSpPr>
          <p:spPr>
            <a:xfrm>
              <a:off x="2667001" y="5432425"/>
              <a:ext cx="47625" cy="95250"/>
            </a:xfrm>
            <a:custGeom>
              <a:avLst/>
              <a:gdLst/>
              <a:ahLst/>
              <a:cxnLst/>
              <a:rect l="l" t="t" r="r" b="b"/>
              <a:pathLst>
                <a:path w="47625" h="95250">
                  <a:moveTo>
                    <a:pt x="0" y="95250"/>
                  </a:moveTo>
                  <a:lnTo>
                    <a:pt x="47625" y="47625"/>
                  </a:lnTo>
                  <a:lnTo>
                    <a:pt x="0" y="0"/>
                  </a:lnTo>
                </a:path>
              </a:pathLst>
            </a:custGeom>
            <a:noFill/>
            <a:ln w="19050">
              <a:solidFill>
                <a:srgbClr val="174C43"/>
              </a:solidFill>
            </a:ln>
          </p:spPr>
        </p:sp>
      </p:grpSp>
      <p:sp>
        <p:nvSpPr>
          <p:cNvPr id="53" name="TextBox 53"/>
          <p:cNvSpPr txBox="1"/>
          <p:nvPr/>
        </p:nvSpPr>
        <p:spPr>
          <a:xfrm>
            <a:off x="3009900" y="5219700"/>
            <a:ext cx="878205" cy="304800"/>
          </a:xfrm>
          <a:prstGeom prst="rect">
            <a:avLst/>
          </a:prstGeom>
          <a:noFill/>
          <a:ln>
            <a:noFill/>
          </a:ln>
        </p:spPr>
        <p:txBody>
          <a:bodyPr wrap="none" lIns="0" tIns="0" rIns="0" bIns="0" anchor="t" anchorCtr="0">
            <a:spAutoFit/>
          </a:bodyPr>
          <a:lstStyle/>
          <a:p>
            <a:pPr algn="l"/>
            <a:r>
              <a:rPr lang="zh-CN" sz="1500" b="1" dirty="0">
                <a:solidFill>
                  <a:srgbClr val="174C43"/>
                </a:solidFill>
                <a:latin typeface="Arial"/>
                <a:ea typeface="Microsoft YaHei"/>
                <a:cs typeface="Arial"/>
              </a:rPr>
              <a:t>关键区别</a:t>
            </a:r>
          </a:p>
        </p:txBody>
      </p:sp>
      <p:sp>
        <p:nvSpPr>
          <p:cNvPr id="54" name="TextBox 54"/>
          <p:cNvSpPr txBox="1"/>
          <p:nvPr/>
        </p:nvSpPr>
        <p:spPr>
          <a:xfrm>
            <a:off x="3011805" y="5512118"/>
            <a:ext cx="5795010" cy="274320"/>
          </a:xfrm>
          <a:prstGeom prst="rect">
            <a:avLst/>
          </a:prstGeom>
          <a:noFill/>
          <a:ln>
            <a:noFill/>
          </a:ln>
        </p:spPr>
        <p:txBody>
          <a:bodyPr wrap="none" lIns="0" tIns="0" rIns="0" bIns="0" anchor="t" anchorCtr="0">
            <a:spAutoFit/>
          </a:bodyPr>
          <a:lstStyle/>
          <a:p>
            <a:pPr algn="l"/>
            <a:r>
              <a:rPr lang="zh-CN" sz="1350" dirty="0">
                <a:solidFill>
                  <a:srgbClr val="62716B"/>
                </a:solidFill>
                <a:latin typeface="Arial"/>
                <a:ea typeface="Microsoft YaHei"/>
                <a:cs typeface="Arial"/>
              </a:rPr>
              <a:t>不是固定题库顺序：每轮回答后重新提取信息、更新状态并判断下一步。</a:t>
            </a:r>
          </a:p>
        </p:txBody>
      </p:sp>
      <p:sp>
        <p:nvSpPr>
          <p:cNvPr id="55" name="TextBox 55"/>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04</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6215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04 · 内容依据</a:t>
            </a:r>
          </a:p>
        </p:txBody>
      </p:sp>
      <p:sp>
        <p:nvSpPr>
          <p:cNvPr id="4" name="TextBox 4"/>
          <p:cNvSpPr txBox="1"/>
          <p:nvPr/>
        </p:nvSpPr>
        <p:spPr>
          <a:xfrm>
            <a:off x="575310" y="908685"/>
            <a:ext cx="3471005" cy="548640"/>
          </a:xfrm>
          <a:prstGeom prst="rect">
            <a:avLst/>
          </a:prstGeom>
          <a:noFill/>
          <a:ln>
            <a:noFill/>
          </a:ln>
        </p:spPr>
        <p:txBody>
          <a:bodyPr wrap="none" lIns="0" tIns="0" rIns="0" bIns="0" anchor="t" anchorCtr="0">
            <a:spAutoFit/>
          </a:bodyPr>
          <a:lstStyle/>
          <a:p>
            <a:pPr algn="l"/>
            <a:r>
              <a:rPr lang="zh-CN" sz="2700" b="1" dirty="0">
                <a:solidFill>
                  <a:srgbClr val="174C43"/>
                </a:solidFill>
                <a:latin typeface="Arial"/>
                <a:ea typeface="Microsoft YaHei"/>
                <a:cs typeface="Arial"/>
              </a:rPr>
              <a:t>问诊问题从哪里来？</a:t>
            </a:r>
          </a:p>
        </p:txBody>
      </p:sp>
      <p:sp>
        <p:nvSpPr>
          <p:cNvPr id="5" name="Line 5"/>
          <p:cNvSpPr/>
          <p:nvPr/>
        </p:nvSpPr>
        <p:spPr>
          <a:xfrm>
            <a:off x="609600" y="1409700"/>
            <a:ext cx="10972800" cy="9525"/>
          </a:xfrm>
          <a:custGeom>
            <a:avLst/>
            <a:gdLst/>
            <a:ahLst/>
            <a:cxnLst/>
            <a:rect l="l" t="t" r="r" b="b"/>
            <a:pathLst>
              <a:path w="10972800" h="9525">
                <a:moveTo>
                  <a:pt x="0" y="0"/>
                </a:moveTo>
                <a:lnTo>
                  <a:pt x="10972800" y="0"/>
                </a:lnTo>
              </a:path>
            </a:pathLst>
          </a:custGeom>
          <a:noFill/>
          <a:ln w="19050">
            <a:solidFill>
              <a:srgbClr val="CDD8D2"/>
            </a:solidFill>
          </a:ln>
        </p:spPr>
      </p:sp>
      <p:sp>
        <p:nvSpPr>
          <p:cNvPr id="6" name="Line 6"/>
          <p:cNvSpPr/>
          <p:nvPr/>
        </p:nvSpPr>
        <p:spPr>
          <a:xfrm>
            <a:off x="2324100" y="4686300"/>
            <a:ext cx="3771900" cy="838200"/>
          </a:xfrm>
          <a:custGeom>
            <a:avLst/>
            <a:gdLst/>
            <a:ahLst/>
            <a:cxnLst/>
            <a:rect l="l" t="t" r="r" b="b"/>
            <a:pathLst>
              <a:path w="3771900" h="838200">
                <a:moveTo>
                  <a:pt x="0" y="0"/>
                </a:moveTo>
                <a:lnTo>
                  <a:pt x="3771900" y="838200"/>
                </a:lnTo>
              </a:path>
            </a:pathLst>
          </a:custGeom>
          <a:noFill/>
          <a:ln w="28575">
            <a:solidFill>
              <a:srgbClr val="6E9184"/>
            </a:solidFill>
          </a:ln>
        </p:spPr>
      </p:sp>
      <p:sp>
        <p:nvSpPr>
          <p:cNvPr id="7" name="Line 7"/>
          <p:cNvSpPr/>
          <p:nvPr/>
        </p:nvSpPr>
        <p:spPr>
          <a:xfrm>
            <a:off x="6096000" y="4686300"/>
            <a:ext cx="9525" cy="838200"/>
          </a:xfrm>
          <a:custGeom>
            <a:avLst/>
            <a:gdLst/>
            <a:ahLst/>
            <a:cxnLst/>
            <a:rect l="l" t="t" r="r" b="b"/>
            <a:pathLst>
              <a:path w="9525" h="838200">
                <a:moveTo>
                  <a:pt x="0" y="0"/>
                </a:moveTo>
                <a:lnTo>
                  <a:pt x="0" y="838200"/>
                </a:lnTo>
              </a:path>
            </a:pathLst>
          </a:custGeom>
          <a:noFill/>
          <a:ln w="28575">
            <a:solidFill>
              <a:srgbClr val="6E9184"/>
            </a:solidFill>
          </a:ln>
        </p:spPr>
      </p:sp>
      <p:sp>
        <p:nvSpPr>
          <p:cNvPr id="8" name="Line 8"/>
          <p:cNvSpPr/>
          <p:nvPr/>
        </p:nvSpPr>
        <p:spPr>
          <a:xfrm>
            <a:off x="6096000" y="4686300"/>
            <a:ext cx="3771900" cy="838200"/>
          </a:xfrm>
          <a:custGeom>
            <a:avLst/>
            <a:gdLst/>
            <a:ahLst/>
            <a:cxnLst/>
            <a:rect l="l" t="t" r="r" b="b"/>
            <a:pathLst>
              <a:path w="3771900" h="838200">
                <a:moveTo>
                  <a:pt x="3771900" y="0"/>
                </a:moveTo>
                <a:lnTo>
                  <a:pt x="0" y="838200"/>
                </a:lnTo>
              </a:path>
            </a:pathLst>
          </a:custGeom>
          <a:noFill/>
          <a:ln w="28575">
            <a:solidFill>
              <a:srgbClr val="6E9184"/>
            </a:solidFill>
          </a:ln>
        </p:spPr>
      </p:sp>
      <p:sp>
        <p:nvSpPr>
          <p:cNvPr id="9" name="Rectangle 9"/>
          <p:cNvSpPr/>
          <p:nvPr/>
        </p:nvSpPr>
        <p:spPr>
          <a:xfrm>
            <a:off x="666750" y="1885950"/>
            <a:ext cx="3314700" cy="2781300"/>
          </a:xfrm>
          <a:prstGeom prst="rect">
            <a:avLst/>
          </a:prstGeom>
          <a:solidFill>
            <a:srgbClr val="FFFFFF"/>
          </a:solidFill>
          <a:ln w="19050">
            <a:solidFill>
              <a:srgbClr val="CDD8D2"/>
            </a:solidFill>
          </a:ln>
        </p:spPr>
      </p:sp>
      <p:sp>
        <p:nvSpPr>
          <p:cNvPr id="10" name="Rectangle 10"/>
          <p:cNvSpPr/>
          <p:nvPr/>
        </p:nvSpPr>
        <p:spPr>
          <a:xfrm>
            <a:off x="4438650" y="1885950"/>
            <a:ext cx="3314700" cy="2781300"/>
          </a:xfrm>
          <a:prstGeom prst="rect">
            <a:avLst/>
          </a:prstGeom>
          <a:solidFill>
            <a:srgbClr val="FFFFFF"/>
          </a:solidFill>
          <a:ln w="19050">
            <a:solidFill>
              <a:srgbClr val="CDD8D2"/>
            </a:solidFill>
          </a:ln>
        </p:spPr>
      </p:sp>
      <p:sp>
        <p:nvSpPr>
          <p:cNvPr id="11" name="Rectangle 11"/>
          <p:cNvSpPr/>
          <p:nvPr/>
        </p:nvSpPr>
        <p:spPr>
          <a:xfrm>
            <a:off x="8210550" y="1885950"/>
            <a:ext cx="3314700" cy="2781300"/>
          </a:xfrm>
          <a:prstGeom prst="rect">
            <a:avLst/>
          </a:prstGeom>
          <a:solidFill>
            <a:srgbClr val="FFFFFF"/>
          </a:solidFill>
          <a:ln w="19050">
            <a:solidFill>
              <a:srgbClr val="CDD8D2"/>
            </a:solidFill>
          </a:ln>
        </p:spPr>
      </p:sp>
      <p:sp>
        <p:nvSpPr>
          <p:cNvPr id="12" name="Rectangle 12"/>
          <p:cNvSpPr/>
          <p:nvPr/>
        </p:nvSpPr>
        <p:spPr>
          <a:xfrm>
            <a:off x="666750" y="1885950"/>
            <a:ext cx="3314700" cy="76200"/>
          </a:xfrm>
          <a:prstGeom prst="rect">
            <a:avLst/>
          </a:prstGeom>
          <a:solidFill>
            <a:srgbClr val="174C43"/>
          </a:solidFill>
          <a:ln>
            <a:noFill/>
          </a:ln>
        </p:spPr>
      </p:sp>
      <p:sp>
        <p:nvSpPr>
          <p:cNvPr id="13" name="Rectangle 13"/>
          <p:cNvSpPr/>
          <p:nvPr/>
        </p:nvSpPr>
        <p:spPr>
          <a:xfrm>
            <a:off x="4438650" y="1885950"/>
            <a:ext cx="3314700" cy="76200"/>
          </a:xfrm>
          <a:prstGeom prst="rect">
            <a:avLst/>
          </a:prstGeom>
          <a:solidFill>
            <a:srgbClr val="6E9184"/>
          </a:solidFill>
          <a:ln>
            <a:noFill/>
          </a:ln>
        </p:spPr>
      </p:sp>
      <p:sp>
        <p:nvSpPr>
          <p:cNvPr id="14" name="Rectangle 14"/>
          <p:cNvSpPr/>
          <p:nvPr/>
        </p:nvSpPr>
        <p:spPr>
          <a:xfrm>
            <a:off x="8210550" y="1885950"/>
            <a:ext cx="3314700" cy="76200"/>
          </a:xfrm>
          <a:prstGeom prst="rect">
            <a:avLst/>
          </a:prstGeom>
          <a:solidFill>
            <a:srgbClr val="C76B3C"/>
          </a:solidFill>
          <a:ln>
            <a:noFill/>
          </a:ln>
        </p:spPr>
      </p:sp>
      <p:grpSp>
        <p:nvGrpSpPr>
          <p:cNvPr id="21" name="Group 21"/>
          <p:cNvGrpSpPr/>
          <p:nvPr/>
        </p:nvGrpSpPr>
        <p:grpSpPr>
          <a:xfrm>
            <a:off x="978694" y="2270125"/>
            <a:ext cx="271462" cy="241299"/>
            <a:chOff x="978694" y="2270125"/>
            <a:chExt cx="271462" cy="241299"/>
          </a:xfrm>
        </p:grpSpPr>
        <p:sp>
          <p:nvSpPr>
            <p:cNvPr id="15" name="Freeform 15"/>
            <p:cNvSpPr/>
            <p:nvPr/>
          </p:nvSpPr>
          <p:spPr>
            <a:xfrm>
              <a:off x="1129506" y="2285206"/>
              <a:ext cx="120650" cy="9525"/>
            </a:xfrm>
            <a:custGeom>
              <a:avLst/>
              <a:gdLst/>
              <a:ahLst/>
              <a:cxnLst/>
              <a:rect l="l" t="t" r="r" b="b"/>
              <a:pathLst>
                <a:path w="120650" h="9525">
                  <a:moveTo>
                    <a:pt x="0" y="0"/>
                  </a:moveTo>
                  <a:lnTo>
                    <a:pt x="120650" y="0"/>
                  </a:lnTo>
                </a:path>
              </a:pathLst>
            </a:custGeom>
            <a:noFill/>
            <a:ln w="19050">
              <a:solidFill>
                <a:srgbClr val="174C43"/>
              </a:solidFill>
            </a:ln>
          </p:spPr>
        </p:sp>
        <p:sp>
          <p:nvSpPr>
            <p:cNvPr id="16" name="Freeform 16"/>
            <p:cNvSpPr/>
            <p:nvPr/>
          </p:nvSpPr>
          <p:spPr>
            <a:xfrm>
              <a:off x="1129506" y="2345531"/>
              <a:ext cx="75406" cy="9525"/>
            </a:xfrm>
            <a:custGeom>
              <a:avLst/>
              <a:gdLst/>
              <a:ahLst/>
              <a:cxnLst/>
              <a:rect l="l" t="t" r="r" b="b"/>
              <a:pathLst>
                <a:path w="75406" h="9525">
                  <a:moveTo>
                    <a:pt x="0" y="0"/>
                  </a:moveTo>
                  <a:lnTo>
                    <a:pt x="75406" y="0"/>
                  </a:lnTo>
                </a:path>
              </a:pathLst>
            </a:custGeom>
            <a:noFill/>
            <a:ln w="19050">
              <a:solidFill>
                <a:srgbClr val="174C43"/>
              </a:solidFill>
            </a:ln>
          </p:spPr>
        </p:sp>
        <p:sp>
          <p:nvSpPr>
            <p:cNvPr id="17" name="Freeform 17"/>
            <p:cNvSpPr/>
            <p:nvPr/>
          </p:nvSpPr>
          <p:spPr>
            <a:xfrm>
              <a:off x="1129506" y="2436018"/>
              <a:ext cx="120650" cy="9525"/>
            </a:xfrm>
            <a:custGeom>
              <a:avLst/>
              <a:gdLst/>
              <a:ahLst/>
              <a:cxnLst/>
              <a:rect l="l" t="t" r="r" b="b"/>
              <a:pathLst>
                <a:path w="120650" h="9525">
                  <a:moveTo>
                    <a:pt x="0" y="0"/>
                  </a:moveTo>
                  <a:lnTo>
                    <a:pt x="120650" y="0"/>
                  </a:lnTo>
                </a:path>
              </a:pathLst>
            </a:custGeom>
            <a:noFill/>
            <a:ln w="19050">
              <a:solidFill>
                <a:srgbClr val="174C43"/>
              </a:solidFill>
            </a:ln>
          </p:spPr>
        </p:sp>
        <p:sp>
          <p:nvSpPr>
            <p:cNvPr id="18" name="Freeform 18"/>
            <p:cNvSpPr/>
            <p:nvPr/>
          </p:nvSpPr>
          <p:spPr>
            <a:xfrm>
              <a:off x="1129506" y="2496343"/>
              <a:ext cx="75406" cy="9525"/>
            </a:xfrm>
            <a:custGeom>
              <a:avLst/>
              <a:gdLst/>
              <a:ahLst/>
              <a:cxnLst/>
              <a:rect l="l" t="t" r="r" b="b"/>
              <a:pathLst>
                <a:path w="75406" h="9525">
                  <a:moveTo>
                    <a:pt x="0" y="0"/>
                  </a:moveTo>
                  <a:lnTo>
                    <a:pt x="75406" y="0"/>
                  </a:lnTo>
                </a:path>
              </a:pathLst>
            </a:custGeom>
            <a:noFill/>
            <a:ln w="19050">
              <a:solidFill>
                <a:srgbClr val="174C43"/>
              </a:solidFill>
            </a:ln>
          </p:spPr>
        </p:sp>
        <p:sp>
          <p:nvSpPr>
            <p:cNvPr id="19" name="Freeform 19"/>
            <p:cNvSpPr/>
            <p:nvPr/>
          </p:nvSpPr>
          <p:spPr>
            <a:xfrm>
              <a:off x="978694" y="2270125"/>
              <a:ext cx="90487" cy="90487"/>
            </a:xfrm>
            <a:custGeom>
              <a:avLst/>
              <a:gdLst/>
              <a:ahLst/>
              <a:cxnLst/>
              <a:rect l="l" t="t" r="r" b="b"/>
              <a:pathLst>
                <a:path w="90487" h="90487">
                  <a:moveTo>
                    <a:pt x="0" y="15081"/>
                  </a:moveTo>
                  <a:cubicBezTo>
                    <a:pt x="0" y="6752"/>
                    <a:pt x="6752" y="0"/>
                    <a:pt x="15081" y="0"/>
                  </a:cubicBezTo>
                  <a:lnTo>
                    <a:pt x="75406" y="0"/>
                  </a:lnTo>
                  <a:cubicBezTo>
                    <a:pt x="83735" y="0"/>
                    <a:pt x="90487" y="6752"/>
                    <a:pt x="90487" y="15081"/>
                  </a:cubicBezTo>
                  <a:lnTo>
                    <a:pt x="90487" y="75406"/>
                  </a:lnTo>
                  <a:cubicBezTo>
                    <a:pt x="90487" y="83735"/>
                    <a:pt x="83735" y="90487"/>
                    <a:pt x="75406" y="90487"/>
                  </a:cubicBezTo>
                  <a:lnTo>
                    <a:pt x="15081" y="90487"/>
                  </a:lnTo>
                  <a:cubicBezTo>
                    <a:pt x="6752" y="90487"/>
                    <a:pt x="0" y="83735"/>
                    <a:pt x="0" y="75406"/>
                  </a:cubicBezTo>
                  <a:lnTo>
                    <a:pt x="0" y="15081"/>
                  </a:lnTo>
                </a:path>
              </a:pathLst>
            </a:custGeom>
            <a:noFill/>
            <a:ln w="19050">
              <a:solidFill>
                <a:srgbClr val="174C43"/>
              </a:solidFill>
            </a:ln>
          </p:spPr>
        </p:sp>
        <p:sp>
          <p:nvSpPr>
            <p:cNvPr id="20" name="Freeform 20"/>
            <p:cNvSpPr/>
            <p:nvPr/>
          </p:nvSpPr>
          <p:spPr>
            <a:xfrm>
              <a:off x="978694" y="2420937"/>
              <a:ext cx="90487" cy="90487"/>
            </a:xfrm>
            <a:custGeom>
              <a:avLst/>
              <a:gdLst/>
              <a:ahLst/>
              <a:cxnLst/>
              <a:rect l="l" t="t" r="r" b="b"/>
              <a:pathLst>
                <a:path w="90487" h="90487">
                  <a:moveTo>
                    <a:pt x="0" y="15081"/>
                  </a:moveTo>
                  <a:cubicBezTo>
                    <a:pt x="0" y="6752"/>
                    <a:pt x="6752" y="0"/>
                    <a:pt x="15081" y="0"/>
                  </a:cubicBezTo>
                  <a:lnTo>
                    <a:pt x="75406" y="0"/>
                  </a:lnTo>
                  <a:cubicBezTo>
                    <a:pt x="83735" y="0"/>
                    <a:pt x="90487" y="6752"/>
                    <a:pt x="90487" y="15081"/>
                  </a:cubicBezTo>
                  <a:lnTo>
                    <a:pt x="90487" y="75406"/>
                  </a:lnTo>
                  <a:cubicBezTo>
                    <a:pt x="90487" y="83735"/>
                    <a:pt x="83735" y="90487"/>
                    <a:pt x="75406" y="90487"/>
                  </a:cubicBezTo>
                  <a:lnTo>
                    <a:pt x="15081" y="90487"/>
                  </a:lnTo>
                  <a:cubicBezTo>
                    <a:pt x="6752" y="90487"/>
                    <a:pt x="0" y="83735"/>
                    <a:pt x="0" y="75406"/>
                  </a:cubicBezTo>
                  <a:lnTo>
                    <a:pt x="0" y="15081"/>
                  </a:lnTo>
                </a:path>
              </a:pathLst>
            </a:custGeom>
            <a:noFill/>
            <a:ln w="19050">
              <a:solidFill>
                <a:srgbClr val="174C43"/>
              </a:solidFill>
            </a:ln>
          </p:spPr>
        </p:sp>
      </p:grpSp>
      <p:grpSp>
        <p:nvGrpSpPr>
          <p:cNvPr id="26" name="Group 26"/>
          <p:cNvGrpSpPr/>
          <p:nvPr/>
        </p:nvGrpSpPr>
        <p:grpSpPr>
          <a:xfrm>
            <a:off x="4750594" y="2270125"/>
            <a:ext cx="271462" cy="256381"/>
            <a:chOff x="4750594" y="2270125"/>
            <a:chExt cx="271462" cy="256381"/>
          </a:xfrm>
        </p:grpSpPr>
        <p:sp>
          <p:nvSpPr>
            <p:cNvPr id="22" name="Freeform 22"/>
            <p:cNvSpPr/>
            <p:nvPr/>
          </p:nvSpPr>
          <p:spPr>
            <a:xfrm>
              <a:off x="4750594" y="2270125"/>
              <a:ext cx="271462" cy="256381"/>
            </a:xfrm>
            <a:custGeom>
              <a:avLst/>
              <a:gdLst/>
              <a:ahLst/>
              <a:cxnLst/>
              <a:rect l="l" t="t" r="r" b="b"/>
              <a:pathLst>
                <a:path w="271462" h="256381">
                  <a:moveTo>
                    <a:pt x="226218" y="0"/>
                  </a:moveTo>
                  <a:cubicBezTo>
                    <a:pt x="251206" y="0"/>
                    <a:pt x="271462" y="20256"/>
                    <a:pt x="271462" y="45244"/>
                  </a:cubicBezTo>
                  <a:lnTo>
                    <a:pt x="271462" y="165893"/>
                  </a:lnTo>
                  <a:cubicBezTo>
                    <a:pt x="271462" y="190881"/>
                    <a:pt x="251206" y="211137"/>
                    <a:pt x="226218" y="211137"/>
                  </a:cubicBezTo>
                  <a:lnTo>
                    <a:pt x="150812" y="211137"/>
                  </a:lnTo>
                  <a:lnTo>
                    <a:pt x="75406" y="256381"/>
                  </a:lnTo>
                  <a:lnTo>
                    <a:pt x="75406" y="211137"/>
                  </a:lnTo>
                  <a:lnTo>
                    <a:pt x="45244" y="211137"/>
                  </a:lnTo>
                  <a:cubicBezTo>
                    <a:pt x="20256" y="211137"/>
                    <a:pt x="0" y="190881"/>
                    <a:pt x="0" y="165893"/>
                  </a:cubicBezTo>
                  <a:lnTo>
                    <a:pt x="0" y="45244"/>
                  </a:lnTo>
                  <a:cubicBezTo>
                    <a:pt x="0" y="20256"/>
                    <a:pt x="20256" y="0"/>
                    <a:pt x="45244" y="0"/>
                  </a:cubicBezTo>
                  <a:lnTo>
                    <a:pt x="226218" y="0"/>
                  </a:lnTo>
                </a:path>
              </a:pathLst>
            </a:custGeom>
            <a:noFill/>
            <a:ln w="19050">
              <a:solidFill>
                <a:srgbClr val="174C43"/>
              </a:solidFill>
            </a:ln>
          </p:spPr>
        </p:sp>
        <p:sp>
          <p:nvSpPr>
            <p:cNvPr id="23" name="Freeform 23"/>
            <p:cNvSpPr/>
            <p:nvPr/>
          </p:nvSpPr>
          <p:spPr>
            <a:xfrm>
              <a:off x="4848622" y="2345531"/>
              <a:ext cx="9525" cy="9525"/>
            </a:xfrm>
            <a:custGeom>
              <a:avLst/>
              <a:gdLst/>
              <a:ahLst/>
              <a:cxnLst/>
              <a:rect l="l" t="t" r="r" b="b"/>
              <a:pathLst>
                <a:path w="9525" h="9525">
                  <a:moveTo>
                    <a:pt x="0" y="0"/>
                  </a:moveTo>
                  <a:lnTo>
                    <a:pt x="151" y="0"/>
                  </a:lnTo>
                </a:path>
              </a:pathLst>
            </a:custGeom>
            <a:noFill/>
            <a:ln w="19050">
              <a:solidFill>
                <a:srgbClr val="174C43"/>
              </a:solidFill>
            </a:ln>
          </p:spPr>
        </p:sp>
        <p:sp>
          <p:nvSpPr>
            <p:cNvPr id="24" name="Freeform 24"/>
            <p:cNvSpPr/>
            <p:nvPr/>
          </p:nvSpPr>
          <p:spPr>
            <a:xfrm>
              <a:off x="4924028" y="2345531"/>
              <a:ext cx="9525" cy="9525"/>
            </a:xfrm>
            <a:custGeom>
              <a:avLst/>
              <a:gdLst/>
              <a:ahLst/>
              <a:cxnLst/>
              <a:rect l="l" t="t" r="r" b="b"/>
              <a:pathLst>
                <a:path w="9525" h="9525">
                  <a:moveTo>
                    <a:pt x="0" y="0"/>
                  </a:moveTo>
                  <a:lnTo>
                    <a:pt x="151" y="0"/>
                  </a:lnTo>
                </a:path>
              </a:pathLst>
            </a:custGeom>
            <a:noFill/>
            <a:ln w="19050">
              <a:solidFill>
                <a:srgbClr val="174C43"/>
              </a:solidFill>
            </a:ln>
          </p:spPr>
        </p:sp>
        <p:sp>
          <p:nvSpPr>
            <p:cNvPr id="25" name="Freeform 25"/>
            <p:cNvSpPr/>
            <p:nvPr/>
          </p:nvSpPr>
          <p:spPr>
            <a:xfrm>
              <a:off x="4848622" y="2405856"/>
              <a:ext cx="75406" cy="15843"/>
            </a:xfrm>
            <a:custGeom>
              <a:avLst/>
              <a:gdLst/>
              <a:ahLst/>
              <a:cxnLst/>
              <a:rect l="l" t="t" r="r" b="b"/>
              <a:pathLst>
                <a:path w="75406" h="15843">
                  <a:moveTo>
                    <a:pt x="0" y="0"/>
                  </a:moveTo>
                  <a:cubicBezTo>
                    <a:pt x="9928" y="10133"/>
                    <a:pt x="23517" y="15843"/>
                    <a:pt x="37703" y="15843"/>
                  </a:cubicBezTo>
                  <a:cubicBezTo>
                    <a:pt x="51889" y="15843"/>
                    <a:pt x="65478" y="10133"/>
                    <a:pt x="75406" y="0"/>
                  </a:cubicBezTo>
                </a:path>
              </a:pathLst>
            </a:custGeom>
            <a:noFill/>
            <a:ln w="19050">
              <a:solidFill>
                <a:srgbClr val="174C43"/>
              </a:solidFill>
            </a:ln>
          </p:spPr>
        </p:sp>
      </p:grpSp>
      <p:grpSp>
        <p:nvGrpSpPr>
          <p:cNvPr id="29" name="Group 29"/>
          <p:cNvGrpSpPr/>
          <p:nvPr/>
        </p:nvGrpSpPr>
        <p:grpSpPr>
          <a:xfrm>
            <a:off x="8502141" y="2255044"/>
            <a:ext cx="294509" cy="271462"/>
            <a:chOff x="8502141" y="2255044"/>
            <a:chExt cx="294509" cy="271462"/>
          </a:xfrm>
        </p:grpSpPr>
        <p:sp>
          <p:nvSpPr>
            <p:cNvPr id="27" name="Freeform 27"/>
            <p:cNvSpPr/>
            <p:nvPr/>
          </p:nvSpPr>
          <p:spPr>
            <a:xfrm>
              <a:off x="8502141" y="2255044"/>
              <a:ext cx="294509" cy="269139"/>
            </a:xfrm>
            <a:custGeom>
              <a:avLst/>
              <a:gdLst/>
              <a:ahLst/>
              <a:cxnLst/>
              <a:rect l="l" t="t" r="r" b="b"/>
              <a:pathLst>
                <a:path w="294509" h="269139">
                  <a:moveTo>
                    <a:pt x="147940" y="269139"/>
                  </a:moveTo>
                  <a:cubicBezTo>
                    <a:pt x="53463" y="239854"/>
                    <a:pt x="0" y="140141"/>
                    <a:pt x="27893" y="45244"/>
                  </a:cubicBezTo>
                  <a:cubicBezTo>
                    <a:pt x="74879" y="47394"/>
                    <a:pt x="120857" y="31166"/>
                    <a:pt x="156084" y="0"/>
                  </a:cubicBezTo>
                  <a:cubicBezTo>
                    <a:pt x="191311" y="31166"/>
                    <a:pt x="237288" y="47394"/>
                    <a:pt x="284274" y="45244"/>
                  </a:cubicBezTo>
                  <a:cubicBezTo>
                    <a:pt x="294509" y="80068"/>
                    <a:pt x="294037" y="117165"/>
                    <a:pt x="282917" y="151717"/>
                  </a:cubicBezTo>
                </a:path>
              </a:pathLst>
            </a:custGeom>
            <a:noFill/>
            <a:ln w="19050">
              <a:solidFill>
                <a:srgbClr val="C76B3C"/>
              </a:solidFill>
            </a:ln>
          </p:spPr>
        </p:sp>
        <p:sp>
          <p:nvSpPr>
            <p:cNvPr id="28" name="Freeform 28"/>
            <p:cNvSpPr/>
            <p:nvPr/>
          </p:nvSpPr>
          <p:spPr>
            <a:xfrm>
              <a:off x="8703468" y="2466181"/>
              <a:ext cx="90487" cy="60325"/>
            </a:xfrm>
            <a:custGeom>
              <a:avLst/>
              <a:gdLst/>
              <a:ahLst/>
              <a:cxnLst/>
              <a:rect l="l" t="t" r="r" b="b"/>
              <a:pathLst>
                <a:path w="90487" h="60325">
                  <a:moveTo>
                    <a:pt x="0" y="30162"/>
                  </a:moveTo>
                  <a:lnTo>
                    <a:pt x="30162" y="60325"/>
                  </a:lnTo>
                  <a:lnTo>
                    <a:pt x="90487" y="0"/>
                  </a:lnTo>
                </a:path>
              </a:pathLst>
            </a:custGeom>
            <a:noFill/>
            <a:ln w="19050">
              <a:solidFill>
                <a:srgbClr val="C76B3C"/>
              </a:solidFill>
            </a:ln>
          </p:spPr>
        </p:sp>
      </p:grpSp>
      <p:sp>
        <p:nvSpPr>
          <p:cNvPr id="30" name="TextBox 30"/>
          <p:cNvSpPr txBox="1"/>
          <p:nvPr/>
        </p:nvSpPr>
        <p:spPr>
          <a:xfrm>
            <a:off x="1407795" y="2298382"/>
            <a:ext cx="1428083" cy="335280"/>
          </a:xfrm>
          <a:prstGeom prst="rect">
            <a:avLst/>
          </a:prstGeom>
          <a:noFill/>
          <a:ln>
            <a:noFill/>
          </a:ln>
        </p:spPr>
        <p:txBody>
          <a:bodyPr wrap="none" lIns="0" tIns="0" rIns="0" bIns="0" anchor="t" anchorCtr="0">
            <a:spAutoFit/>
          </a:bodyPr>
          <a:lstStyle/>
          <a:p>
            <a:pPr algn="l"/>
            <a:r>
              <a:rPr lang="zh-CN" sz="1650" b="1" dirty="0">
                <a:solidFill>
                  <a:srgbClr val="174C43"/>
                </a:solidFill>
                <a:latin typeface="Arial"/>
                <a:ea typeface="Microsoft YaHei"/>
                <a:cs typeface="Arial"/>
              </a:rPr>
              <a:t>成人肥胖评估</a:t>
            </a:r>
          </a:p>
        </p:txBody>
      </p:sp>
      <p:sp>
        <p:nvSpPr>
          <p:cNvPr id="31" name="TextBox 31"/>
          <p:cNvSpPr txBox="1"/>
          <p:nvPr/>
        </p:nvSpPr>
        <p:spPr>
          <a:xfrm>
            <a:off x="5179695" y="2298382"/>
            <a:ext cx="1428083" cy="335280"/>
          </a:xfrm>
          <a:prstGeom prst="rect">
            <a:avLst/>
          </a:prstGeom>
          <a:noFill/>
          <a:ln>
            <a:noFill/>
          </a:ln>
        </p:spPr>
        <p:txBody>
          <a:bodyPr wrap="none" lIns="0" tIns="0" rIns="0" bIns="0" anchor="t" anchorCtr="0">
            <a:spAutoFit/>
          </a:bodyPr>
          <a:lstStyle/>
          <a:p>
            <a:pPr algn="l"/>
            <a:r>
              <a:rPr lang="zh-CN" sz="1650" b="1" dirty="0">
                <a:solidFill>
                  <a:srgbClr val="174C43"/>
                </a:solidFill>
                <a:latin typeface="Arial"/>
                <a:ea typeface="Microsoft YaHei"/>
                <a:cs typeface="Arial"/>
              </a:rPr>
              <a:t>中医问诊框架</a:t>
            </a:r>
          </a:p>
        </p:txBody>
      </p:sp>
      <p:sp>
        <p:nvSpPr>
          <p:cNvPr id="32" name="TextBox 32"/>
          <p:cNvSpPr txBox="1"/>
          <p:nvPr/>
        </p:nvSpPr>
        <p:spPr>
          <a:xfrm>
            <a:off x="8951595" y="2298382"/>
            <a:ext cx="1428083" cy="335280"/>
          </a:xfrm>
          <a:prstGeom prst="rect">
            <a:avLst/>
          </a:prstGeom>
          <a:noFill/>
          <a:ln>
            <a:noFill/>
          </a:ln>
        </p:spPr>
        <p:txBody>
          <a:bodyPr wrap="none" lIns="0" tIns="0" rIns="0" bIns="0" anchor="t" anchorCtr="0">
            <a:spAutoFit/>
          </a:bodyPr>
          <a:lstStyle/>
          <a:p>
            <a:pPr algn="l"/>
            <a:r>
              <a:rPr lang="zh-CN" sz="1650" b="1" dirty="0">
                <a:solidFill>
                  <a:srgbClr val="C76B3C"/>
                </a:solidFill>
                <a:latin typeface="Arial"/>
                <a:ea typeface="Microsoft YaHei"/>
                <a:cs typeface="Arial"/>
              </a:rPr>
              <a:t>医疗安全要求</a:t>
            </a:r>
          </a:p>
        </p:txBody>
      </p:sp>
      <p:grpSp>
        <p:nvGrpSpPr>
          <p:cNvPr id="45" name="Group 45"/>
          <p:cNvGrpSpPr/>
          <p:nvPr/>
        </p:nvGrpSpPr>
        <p:grpSpPr>
          <a:xfrm>
            <a:off x="935355" y="2864168"/>
            <a:ext cx="9378315" cy="1360170"/>
            <a:chOff x="935355" y="2864168"/>
            <a:chExt cx="9378315" cy="1360170"/>
          </a:xfrm>
        </p:grpSpPr>
        <p:sp>
          <p:nvSpPr>
            <p:cNvPr id="33" name="TextBox 33"/>
            <p:cNvSpPr txBox="1"/>
            <p:nvPr/>
          </p:nvSpPr>
          <p:spPr>
            <a:xfrm>
              <a:off x="935355" y="2864168"/>
              <a:ext cx="1654492"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体重变化与起病经过</a:t>
              </a:r>
            </a:p>
          </p:txBody>
        </p:sp>
        <p:sp>
          <p:nvSpPr>
            <p:cNvPr id="34" name="TextBox 34"/>
            <p:cNvSpPr txBox="1"/>
            <p:nvPr/>
          </p:nvSpPr>
          <p:spPr>
            <a:xfrm>
              <a:off x="935355" y="3226118"/>
              <a:ext cx="1654492"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相关诱因与既往减重</a:t>
              </a:r>
            </a:p>
          </p:txBody>
        </p:sp>
        <p:sp>
          <p:nvSpPr>
            <p:cNvPr id="35" name="TextBox 35"/>
            <p:cNvSpPr txBox="1"/>
            <p:nvPr/>
          </p:nvSpPr>
          <p:spPr>
            <a:xfrm>
              <a:off x="935355" y="3588068"/>
              <a:ext cx="1654492"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代谢风险与近期检查</a:t>
              </a:r>
            </a:p>
          </p:txBody>
        </p:sp>
        <p:sp>
          <p:nvSpPr>
            <p:cNvPr id="36" name="TextBox 36"/>
            <p:cNvSpPr txBox="1"/>
            <p:nvPr/>
          </p:nvSpPr>
          <p:spPr>
            <a:xfrm>
              <a:off x="935355" y="3950018"/>
              <a:ext cx="1834515"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饮食、运动和生活方式</a:t>
              </a:r>
            </a:p>
          </p:txBody>
        </p:sp>
        <p:sp>
          <p:nvSpPr>
            <p:cNvPr id="37" name="TextBox 37"/>
            <p:cNvSpPr txBox="1"/>
            <p:nvPr/>
          </p:nvSpPr>
          <p:spPr>
            <a:xfrm>
              <a:off x="4707255" y="2864168"/>
              <a:ext cx="1654492"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食欲口渴与寒热汗出</a:t>
              </a:r>
            </a:p>
          </p:txBody>
        </p:sp>
        <p:sp>
          <p:nvSpPr>
            <p:cNvPr id="38" name="TextBox 38"/>
            <p:cNvSpPr txBox="1"/>
            <p:nvPr/>
          </p:nvSpPr>
          <p:spPr>
            <a:xfrm>
              <a:off x="4707255" y="3226118"/>
              <a:ext cx="1474470"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二便、睡眠与情绪</a:t>
              </a:r>
            </a:p>
          </p:txBody>
        </p:sp>
        <p:sp>
          <p:nvSpPr>
            <p:cNvPr id="39" name="TextBox 39"/>
            <p:cNvSpPr txBox="1"/>
            <p:nvPr/>
          </p:nvSpPr>
          <p:spPr>
            <a:xfrm>
              <a:off x="4707255" y="3588068"/>
              <a:ext cx="1294448"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疲劳和活动耐力</a:t>
              </a:r>
            </a:p>
          </p:txBody>
        </p:sp>
        <p:sp>
          <p:nvSpPr>
            <p:cNvPr id="40" name="TextBox 40"/>
            <p:cNvSpPr txBox="1"/>
            <p:nvPr/>
          </p:nvSpPr>
          <p:spPr>
            <a:xfrm>
              <a:off x="4707255" y="3950018"/>
              <a:ext cx="1834515"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浮肿、胸腹不适与舌象</a:t>
              </a:r>
            </a:p>
          </p:txBody>
        </p:sp>
        <p:sp>
          <p:nvSpPr>
            <p:cNvPr id="41" name="TextBox 41"/>
            <p:cNvSpPr txBox="1"/>
            <p:nvPr/>
          </p:nvSpPr>
          <p:spPr>
            <a:xfrm>
              <a:off x="8479155" y="2864168"/>
              <a:ext cx="1474470"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当前用药与过敏史</a:t>
              </a:r>
            </a:p>
          </p:txBody>
        </p:sp>
        <p:sp>
          <p:nvSpPr>
            <p:cNvPr id="42" name="TextBox 42"/>
            <p:cNvSpPr txBox="1"/>
            <p:nvPr/>
          </p:nvSpPr>
          <p:spPr>
            <a:xfrm>
              <a:off x="8479155" y="3226118"/>
              <a:ext cx="1114425"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重要既往疾病</a:t>
              </a:r>
            </a:p>
          </p:txBody>
        </p:sp>
        <p:sp>
          <p:nvSpPr>
            <p:cNvPr id="43" name="TextBox 43"/>
            <p:cNvSpPr txBox="1"/>
            <p:nvPr/>
          </p:nvSpPr>
          <p:spPr>
            <a:xfrm>
              <a:off x="8479155" y="3588068"/>
              <a:ext cx="1474470"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妊娠、备孕与哺乳</a:t>
              </a:r>
            </a:p>
          </p:txBody>
        </p:sp>
        <p:sp>
          <p:nvSpPr>
            <p:cNvPr id="44" name="TextBox 44"/>
            <p:cNvSpPr txBox="1"/>
            <p:nvPr/>
          </p:nvSpPr>
          <p:spPr>
            <a:xfrm>
              <a:off x="8479155" y="3950018"/>
              <a:ext cx="1834515"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胸痛、呼吸困难、晕厥</a:t>
              </a:r>
            </a:p>
          </p:txBody>
        </p:sp>
      </p:grpSp>
      <p:sp>
        <p:nvSpPr>
          <p:cNvPr id="46" name="Rectangle 46"/>
          <p:cNvSpPr/>
          <p:nvPr/>
        </p:nvSpPr>
        <p:spPr>
          <a:xfrm>
            <a:off x="3009900" y="5391150"/>
            <a:ext cx="6172200" cy="685800"/>
          </a:xfrm>
          <a:prstGeom prst="rect">
            <a:avLst/>
          </a:prstGeom>
          <a:solidFill>
            <a:srgbClr val="E8EFEA"/>
          </a:solidFill>
          <a:ln>
            <a:noFill/>
          </a:ln>
        </p:spPr>
      </p:sp>
      <p:sp>
        <p:nvSpPr>
          <p:cNvPr id="47" name="TextBox 47"/>
          <p:cNvSpPr txBox="1"/>
          <p:nvPr/>
        </p:nvSpPr>
        <p:spPr>
          <a:xfrm>
            <a:off x="4921806" y="5505450"/>
            <a:ext cx="2348389" cy="304800"/>
          </a:xfrm>
          <a:prstGeom prst="rect">
            <a:avLst/>
          </a:prstGeom>
          <a:noFill/>
          <a:ln>
            <a:noFill/>
          </a:ln>
        </p:spPr>
        <p:txBody>
          <a:bodyPr wrap="none" lIns="0" tIns="0" rIns="0" bIns="0" anchor="t" anchorCtr="0">
            <a:spAutoFit/>
          </a:bodyPr>
          <a:lstStyle/>
          <a:p>
            <a:pPr algn="ctr"/>
            <a:r>
              <a:rPr lang="zh-CN" sz="1500" b="1" dirty="0">
                <a:solidFill>
                  <a:srgbClr val="174C43"/>
                </a:solidFill>
                <a:latin typeface="Arial"/>
                <a:ea typeface="Microsoft YaHei"/>
                <a:cs typeface="Arial"/>
              </a:rPr>
              <a:t>统一的临床信息字段体系</a:t>
            </a:r>
          </a:p>
        </p:txBody>
      </p:sp>
      <p:sp>
        <p:nvSpPr>
          <p:cNvPr id="48" name="TextBox 48"/>
          <p:cNvSpPr txBox="1"/>
          <p:nvPr/>
        </p:nvSpPr>
        <p:spPr>
          <a:xfrm>
            <a:off x="4400550" y="5804535"/>
            <a:ext cx="3390900" cy="243840"/>
          </a:xfrm>
          <a:prstGeom prst="rect">
            <a:avLst/>
          </a:prstGeom>
          <a:noFill/>
          <a:ln>
            <a:noFill/>
          </a:ln>
        </p:spPr>
        <p:txBody>
          <a:bodyPr wrap="none" lIns="0" tIns="0" rIns="0" bIns="0" anchor="t" anchorCtr="0">
            <a:spAutoFit/>
          </a:bodyPr>
          <a:lstStyle/>
          <a:p>
            <a:pPr algn="ctr"/>
            <a:r>
              <a:rPr lang="zh-CN" sz="1200" dirty="0">
                <a:solidFill>
                  <a:srgbClr val="62716B"/>
                </a:solidFill>
                <a:latin typeface="Arial"/>
                <a:ea typeface="Microsoft YaHei"/>
                <a:cs typeface="Arial"/>
              </a:rPr>
              <a:t>大模型负责理解表达，不自由决定医疗采集范围</a:t>
            </a:r>
          </a:p>
        </p:txBody>
      </p:sp>
      <p:sp>
        <p:nvSpPr>
          <p:cNvPr id="49" name="TextBox 49"/>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05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6215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05 · 信息模型</a:t>
            </a:r>
          </a:p>
        </p:txBody>
      </p:sp>
      <p:sp>
        <p:nvSpPr>
          <p:cNvPr id="4" name="TextBox 4"/>
          <p:cNvSpPr txBox="1"/>
          <p:nvPr/>
        </p:nvSpPr>
        <p:spPr>
          <a:xfrm>
            <a:off x="575310" y="908685"/>
            <a:ext cx="6873430" cy="548640"/>
          </a:xfrm>
          <a:prstGeom prst="rect">
            <a:avLst/>
          </a:prstGeom>
          <a:noFill/>
          <a:ln>
            <a:noFill/>
          </a:ln>
        </p:spPr>
        <p:txBody>
          <a:bodyPr wrap="none" lIns="0" tIns="0" rIns="0" bIns="0" anchor="t" anchorCtr="0">
            <a:spAutoFit/>
          </a:bodyPr>
          <a:lstStyle/>
          <a:p>
            <a:pPr algn="l"/>
            <a:r>
              <a:rPr lang="zh-CN" sz="2700" b="1" dirty="0">
                <a:solidFill>
                  <a:srgbClr val="174C43"/>
                </a:solidFill>
                <a:latin typeface="Arial"/>
                <a:ea typeface="Microsoft YaHei"/>
                <a:cs typeface="Arial"/>
              </a:rPr>
              <a:t>如何把问诊内容转化为可计算的信息字段</a:t>
            </a:r>
          </a:p>
        </p:txBody>
      </p:sp>
      <p:sp>
        <p:nvSpPr>
          <p:cNvPr id="5" name="Line 5"/>
          <p:cNvSpPr/>
          <p:nvPr/>
        </p:nvSpPr>
        <p:spPr>
          <a:xfrm>
            <a:off x="609600" y="1409700"/>
            <a:ext cx="10972800" cy="9525"/>
          </a:xfrm>
          <a:custGeom>
            <a:avLst/>
            <a:gdLst/>
            <a:ahLst/>
            <a:cxnLst/>
            <a:rect l="l" t="t" r="r" b="b"/>
            <a:pathLst>
              <a:path w="10972800" h="9525">
                <a:moveTo>
                  <a:pt x="0" y="0"/>
                </a:moveTo>
                <a:lnTo>
                  <a:pt x="10972800" y="0"/>
                </a:lnTo>
              </a:path>
            </a:pathLst>
          </a:custGeom>
          <a:noFill/>
          <a:ln w="19050">
            <a:solidFill>
              <a:srgbClr val="CDD8D2"/>
            </a:solidFill>
          </a:ln>
        </p:spPr>
      </p:sp>
      <p:sp>
        <p:nvSpPr>
          <p:cNvPr id="6" name="Rectangle 6"/>
          <p:cNvSpPr/>
          <p:nvPr/>
        </p:nvSpPr>
        <p:spPr>
          <a:xfrm>
            <a:off x="666750" y="1809750"/>
            <a:ext cx="4476750" cy="4095750"/>
          </a:xfrm>
          <a:prstGeom prst="rect">
            <a:avLst/>
          </a:prstGeom>
          <a:solidFill>
            <a:srgbClr val="174C43"/>
          </a:solidFill>
          <a:ln>
            <a:noFill/>
          </a:ln>
        </p:spPr>
      </p:sp>
      <p:grpSp>
        <p:nvGrpSpPr>
          <p:cNvPr id="10" name="Group 10"/>
          <p:cNvGrpSpPr/>
          <p:nvPr/>
        </p:nvGrpSpPr>
        <p:grpSpPr>
          <a:xfrm>
            <a:off x="1057275" y="2183606"/>
            <a:ext cx="266700" cy="300038"/>
            <a:chOff x="1057275" y="2183606"/>
            <a:chExt cx="266700" cy="300038"/>
          </a:xfrm>
        </p:grpSpPr>
        <p:sp>
          <p:nvSpPr>
            <p:cNvPr id="7" name="Freeform 7"/>
            <p:cNvSpPr/>
            <p:nvPr/>
          </p:nvSpPr>
          <p:spPr>
            <a:xfrm>
              <a:off x="1057275" y="2183606"/>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19050">
              <a:solidFill>
                <a:srgbClr val="F7F5EF"/>
              </a:solidFill>
            </a:ln>
          </p:spPr>
        </p:sp>
        <p:sp>
          <p:nvSpPr>
            <p:cNvPr id="8" name="Freeform 8"/>
            <p:cNvSpPr/>
            <p:nvPr/>
          </p:nvSpPr>
          <p:spPr>
            <a:xfrm>
              <a:off x="1057275" y="2233612"/>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19050">
              <a:solidFill>
                <a:srgbClr val="F7F5EF"/>
              </a:solidFill>
            </a:ln>
          </p:spPr>
        </p:sp>
        <p:sp>
          <p:nvSpPr>
            <p:cNvPr id="9" name="Freeform 9"/>
            <p:cNvSpPr/>
            <p:nvPr/>
          </p:nvSpPr>
          <p:spPr>
            <a:xfrm>
              <a:off x="1057275" y="2333625"/>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19050">
              <a:solidFill>
                <a:srgbClr val="F7F5EF"/>
              </a:solidFill>
            </a:ln>
          </p:spPr>
        </p:sp>
      </p:grpSp>
      <p:sp>
        <p:nvSpPr>
          <p:cNvPr id="11" name="TextBox 11"/>
          <p:cNvSpPr txBox="1"/>
          <p:nvPr/>
        </p:nvSpPr>
        <p:spPr>
          <a:xfrm>
            <a:off x="1557338" y="2216944"/>
            <a:ext cx="2147888" cy="381000"/>
          </a:xfrm>
          <a:prstGeom prst="rect">
            <a:avLst/>
          </a:prstGeom>
          <a:noFill/>
          <a:ln>
            <a:noFill/>
          </a:ln>
        </p:spPr>
        <p:txBody>
          <a:bodyPr wrap="none" lIns="0" tIns="0" rIns="0" bIns="0" anchor="t" anchorCtr="0">
            <a:spAutoFit/>
          </a:bodyPr>
          <a:lstStyle/>
          <a:p>
            <a:pPr algn="l"/>
            <a:r>
              <a:rPr lang="zh-CN" sz="1875" b="1" dirty="0">
                <a:solidFill>
                  <a:srgbClr val="F7F5EF"/>
                </a:solidFill>
                <a:latin typeface="Arial"/>
                <a:ea typeface="Microsoft YaHei"/>
                <a:cs typeface="Arial"/>
              </a:rPr>
              <a:t>一个字段包含什么</a:t>
            </a:r>
          </a:p>
        </p:txBody>
      </p:sp>
      <p:sp>
        <p:nvSpPr>
          <p:cNvPr id="12" name="Line 12"/>
          <p:cNvSpPr/>
          <p:nvPr/>
        </p:nvSpPr>
        <p:spPr>
          <a:xfrm>
            <a:off x="990600" y="2705100"/>
            <a:ext cx="3810000" cy="9525"/>
          </a:xfrm>
          <a:custGeom>
            <a:avLst/>
            <a:gdLst/>
            <a:ahLst/>
            <a:cxnLst/>
            <a:rect l="l" t="t" r="r" b="b"/>
            <a:pathLst>
              <a:path w="3810000" h="9525">
                <a:moveTo>
                  <a:pt x="0" y="0"/>
                </a:moveTo>
                <a:lnTo>
                  <a:pt x="3810000" y="0"/>
                </a:lnTo>
              </a:path>
            </a:pathLst>
          </a:custGeom>
          <a:noFill/>
          <a:ln w="19050">
            <a:solidFill>
              <a:srgbClr val="6E9184"/>
            </a:solidFill>
          </a:ln>
        </p:spPr>
      </p:sp>
      <p:grpSp>
        <p:nvGrpSpPr>
          <p:cNvPr id="19" name="Group 19"/>
          <p:cNvGrpSpPr/>
          <p:nvPr/>
        </p:nvGrpSpPr>
        <p:grpSpPr>
          <a:xfrm>
            <a:off x="1010602" y="2989421"/>
            <a:ext cx="2392490" cy="2385060"/>
            <a:chOff x="1010602" y="2989421"/>
            <a:chExt cx="2392490" cy="2385060"/>
          </a:xfrm>
        </p:grpSpPr>
        <p:sp>
          <p:nvSpPr>
            <p:cNvPr id="13" name="TextBox 13"/>
            <p:cNvSpPr txBox="1"/>
            <p:nvPr/>
          </p:nvSpPr>
          <p:spPr>
            <a:xfrm>
              <a:off x="1010602" y="2989421"/>
              <a:ext cx="1822418" cy="289560"/>
            </a:xfrm>
            <a:prstGeom prst="rect">
              <a:avLst/>
            </a:prstGeom>
            <a:noFill/>
            <a:ln>
              <a:noFill/>
            </a:ln>
          </p:spPr>
          <p:txBody>
            <a:bodyPr wrap="none" lIns="0" tIns="0" rIns="0" bIns="0" anchor="t" anchorCtr="0">
              <a:spAutoFit/>
            </a:bodyPr>
            <a:lstStyle/>
            <a:p>
              <a:pPr algn="l"/>
              <a:r>
                <a:rPr lang="zh-CN" sz="1425" dirty="0">
                  <a:solidFill>
                    <a:srgbClr val="F7F5EF"/>
                  </a:solidFill>
                  <a:latin typeface="Arial"/>
                  <a:ea typeface="Microsoft YaHei"/>
                  <a:cs typeface="Arial"/>
                </a:rPr>
                <a:t>01 名称与所属信息层</a:t>
              </a:r>
            </a:p>
          </p:txBody>
        </p:sp>
        <p:sp>
          <p:nvSpPr>
            <p:cNvPr id="14" name="TextBox 14"/>
            <p:cNvSpPr txBox="1"/>
            <p:nvPr/>
          </p:nvSpPr>
          <p:spPr>
            <a:xfrm>
              <a:off x="1010602" y="3408521"/>
              <a:ext cx="2202466" cy="289560"/>
            </a:xfrm>
            <a:prstGeom prst="rect">
              <a:avLst/>
            </a:prstGeom>
            <a:noFill/>
            <a:ln>
              <a:noFill/>
            </a:ln>
          </p:spPr>
          <p:txBody>
            <a:bodyPr wrap="none" lIns="0" tIns="0" rIns="0" bIns="0" anchor="t" anchorCtr="0">
              <a:spAutoFit/>
            </a:bodyPr>
            <a:lstStyle/>
            <a:p>
              <a:pPr algn="l"/>
              <a:r>
                <a:rPr lang="zh-CN" sz="1425" dirty="0">
                  <a:solidFill>
                    <a:srgbClr val="F7F5EF"/>
                  </a:solidFill>
                  <a:latin typeface="Arial"/>
                  <a:ea typeface="Microsoft YaHei"/>
                  <a:cs typeface="Arial"/>
                </a:rPr>
                <a:t>02 临床优先级与核心属性</a:t>
              </a:r>
            </a:p>
          </p:txBody>
        </p:sp>
        <p:sp>
          <p:nvSpPr>
            <p:cNvPr id="15" name="TextBox 15"/>
            <p:cNvSpPr txBox="1"/>
            <p:nvPr/>
          </p:nvSpPr>
          <p:spPr>
            <a:xfrm>
              <a:off x="1010602" y="3827621"/>
              <a:ext cx="2392490" cy="289560"/>
            </a:xfrm>
            <a:prstGeom prst="rect">
              <a:avLst/>
            </a:prstGeom>
            <a:noFill/>
            <a:ln>
              <a:noFill/>
            </a:ln>
          </p:spPr>
          <p:txBody>
            <a:bodyPr wrap="none" lIns="0" tIns="0" rIns="0" bIns="0" anchor="t" anchorCtr="0">
              <a:spAutoFit/>
            </a:bodyPr>
            <a:lstStyle/>
            <a:p>
              <a:pPr algn="l"/>
              <a:r>
                <a:rPr lang="zh-CN" sz="1425" dirty="0">
                  <a:solidFill>
                    <a:srgbClr val="F7F5EF"/>
                  </a:solidFill>
                  <a:latin typeface="Arial"/>
                  <a:ea typeface="Microsoft YaHei"/>
                  <a:cs typeface="Arial"/>
                </a:rPr>
                <a:t>03 适用条件与最大追问次数</a:t>
              </a:r>
            </a:p>
          </p:txBody>
        </p:sp>
        <p:sp>
          <p:nvSpPr>
            <p:cNvPr id="16" name="TextBox 16"/>
            <p:cNvSpPr txBox="1"/>
            <p:nvPr/>
          </p:nvSpPr>
          <p:spPr>
            <a:xfrm>
              <a:off x="1010602" y="4246721"/>
              <a:ext cx="1442371" cy="289560"/>
            </a:xfrm>
            <a:prstGeom prst="rect">
              <a:avLst/>
            </a:prstGeom>
            <a:noFill/>
            <a:ln>
              <a:noFill/>
            </a:ln>
          </p:spPr>
          <p:txBody>
            <a:bodyPr wrap="none" lIns="0" tIns="0" rIns="0" bIns="0" anchor="t" anchorCtr="0">
              <a:spAutoFit/>
            </a:bodyPr>
            <a:lstStyle/>
            <a:p>
              <a:pPr algn="l"/>
              <a:r>
                <a:rPr lang="zh-CN" sz="1425" dirty="0">
                  <a:solidFill>
                    <a:srgbClr val="F7F5EF"/>
                  </a:solidFill>
                  <a:latin typeface="Arial"/>
                  <a:ea typeface="Microsoft YaHei"/>
                  <a:cs typeface="Arial"/>
                </a:rPr>
                <a:t>04 当前回答状态</a:t>
              </a:r>
            </a:p>
          </p:txBody>
        </p:sp>
        <p:sp>
          <p:nvSpPr>
            <p:cNvPr id="17" name="TextBox 17"/>
            <p:cNvSpPr txBox="1"/>
            <p:nvPr/>
          </p:nvSpPr>
          <p:spPr>
            <a:xfrm>
              <a:off x="1010602" y="4665821"/>
              <a:ext cx="2202466" cy="289560"/>
            </a:xfrm>
            <a:prstGeom prst="rect">
              <a:avLst/>
            </a:prstGeom>
            <a:noFill/>
            <a:ln>
              <a:noFill/>
            </a:ln>
          </p:spPr>
          <p:txBody>
            <a:bodyPr wrap="none" lIns="0" tIns="0" rIns="0" bIns="0" anchor="t" anchorCtr="0">
              <a:spAutoFit/>
            </a:bodyPr>
            <a:lstStyle/>
            <a:p>
              <a:pPr algn="l"/>
              <a:r>
                <a:rPr lang="zh-CN" sz="1425" dirty="0">
                  <a:solidFill>
                    <a:srgbClr val="F7F5EF"/>
                  </a:solidFill>
                  <a:latin typeface="Arial"/>
                  <a:ea typeface="Microsoft YaHei"/>
                  <a:cs typeface="Arial"/>
                </a:rPr>
                <a:t>05 患者原始证据与置信度</a:t>
              </a:r>
            </a:p>
          </p:txBody>
        </p:sp>
        <p:sp>
          <p:nvSpPr>
            <p:cNvPr id="18" name="TextBox 18"/>
            <p:cNvSpPr txBox="1"/>
            <p:nvPr/>
          </p:nvSpPr>
          <p:spPr>
            <a:xfrm>
              <a:off x="1010602" y="5084921"/>
              <a:ext cx="2012442" cy="289560"/>
            </a:xfrm>
            <a:prstGeom prst="rect">
              <a:avLst/>
            </a:prstGeom>
            <a:noFill/>
            <a:ln>
              <a:noFill/>
            </a:ln>
          </p:spPr>
          <p:txBody>
            <a:bodyPr wrap="none" lIns="0" tIns="0" rIns="0" bIns="0" anchor="t" anchorCtr="0">
              <a:spAutoFit/>
            </a:bodyPr>
            <a:lstStyle/>
            <a:p>
              <a:pPr algn="l"/>
              <a:r>
                <a:rPr lang="zh-CN" sz="1425" dirty="0">
                  <a:solidFill>
                    <a:srgbClr val="F7F5EF"/>
                  </a:solidFill>
                  <a:latin typeface="Arial"/>
                  <a:ea typeface="Microsoft YaHei"/>
                  <a:cs typeface="Arial"/>
                </a:rPr>
                <a:t>06 冲突记录与审计信息</a:t>
              </a:r>
            </a:p>
          </p:txBody>
        </p:sp>
      </p:grpSp>
      <p:sp>
        <p:nvSpPr>
          <p:cNvPr id="20" name="TextBox 20"/>
          <p:cNvSpPr txBox="1"/>
          <p:nvPr/>
        </p:nvSpPr>
        <p:spPr>
          <a:xfrm>
            <a:off x="5564505" y="1854518"/>
            <a:ext cx="790384" cy="274320"/>
          </a:xfrm>
          <a:prstGeom prst="rect">
            <a:avLst/>
          </a:prstGeom>
          <a:noFill/>
          <a:ln>
            <a:noFill/>
          </a:ln>
        </p:spPr>
        <p:txBody>
          <a:bodyPr wrap="none" lIns="0" tIns="0" rIns="0" bIns="0" anchor="t" anchorCtr="0">
            <a:spAutoFit/>
          </a:bodyPr>
          <a:lstStyle/>
          <a:p>
            <a:pPr algn="l"/>
            <a:r>
              <a:rPr lang="zh-CN" sz="1350" b="1" dirty="0">
                <a:solidFill>
                  <a:srgbClr val="62716B"/>
                </a:solidFill>
                <a:latin typeface="Arial"/>
                <a:ea typeface="Microsoft YaHei"/>
                <a:cs typeface="Arial"/>
              </a:rPr>
              <a:t>六种状态</a:t>
            </a:r>
          </a:p>
        </p:txBody>
      </p:sp>
      <p:grpSp>
        <p:nvGrpSpPr>
          <p:cNvPr id="33" name="Group 33"/>
          <p:cNvGrpSpPr/>
          <p:nvPr/>
        </p:nvGrpSpPr>
        <p:grpSpPr>
          <a:xfrm>
            <a:off x="5581650" y="2209800"/>
            <a:ext cx="5410200" cy="1009650"/>
            <a:chOff x="5581650" y="2209800"/>
            <a:chExt cx="5410200" cy="1009650"/>
          </a:xfrm>
        </p:grpSpPr>
        <p:sp>
          <p:nvSpPr>
            <p:cNvPr id="21" name="Rectangle 21"/>
            <p:cNvSpPr/>
            <p:nvPr/>
          </p:nvSpPr>
          <p:spPr>
            <a:xfrm>
              <a:off x="5581650" y="2209800"/>
              <a:ext cx="1676400" cy="438150"/>
            </a:xfrm>
            <a:prstGeom prst="rect">
              <a:avLst/>
            </a:prstGeom>
            <a:solidFill>
              <a:srgbClr val="FFFFFF"/>
            </a:solidFill>
            <a:ln w="9525">
              <a:solidFill>
                <a:srgbClr val="CDD8D2"/>
              </a:solidFill>
            </a:ln>
          </p:spPr>
        </p:sp>
        <p:sp>
          <p:nvSpPr>
            <p:cNvPr id="22" name="TextBox 22"/>
            <p:cNvSpPr txBox="1"/>
            <p:nvPr/>
          </p:nvSpPr>
          <p:spPr>
            <a:xfrm>
              <a:off x="6148626" y="2348389"/>
              <a:ext cx="542449" cy="259080"/>
            </a:xfrm>
            <a:prstGeom prst="rect">
              <a:avLst/>
            </a:prstGeom>
            <a:noFill/>
            <a:ln>
              <a:noFill/>
            </a:ln>
          </p:spPr>
          <p:txBody>
            <a:bodyPr wrap="none" lIns="0" tIns="0" rIns="0" bIns="0" anchor="t" anchorCtr="0">
              <a:spAutoFit/>
            </a:bodyPr>
            <a:lstStyle/>
            <a:p>
              <a:pPr algn="ctr"/>
              <a:r>
                <a:rPr lang="zh-CN" sz="1275" dirty="0">
                  <a:solidFill>
                    <a:srgbClr val="62716B"/>
                  </a:solidFill>
                  <a:latin typeface="Arial"/>
                  <a:ea typeface="Microsoft YaHei"/>
                  <a:cs typeface="Arial"/>
                </a:rPr>
                <a:t>未询问</a:t>
              </a:r>
            </a:p>
          </p:txBody>
        </p:sp>
        <p:sp>
          <p:nvSpPr>
            <p:cNvPr id="23" name="Rectangle 23"/>
            <p:cNvSpPr/>
            <p:nvPr/>
          </p:nvSpPr>
          <p:spPr>
            <a:xfrm>
              <a:off x="7448550" y="2209800"/>
              <a:ext cx="1676400" cy="438150"/>
            </a:xfrm>
            <a:prstGeom prst="rect">
              <a:avLst/>
            </a:prstGeom>
            <a:solidFill>
              <a:srgbClr val="E8EFEA"/>
            </a:solidFill>
            <a:ln w="9525">
              <a:solidFill>
                <a:srgbClr val="CDD8D2"/>
              </a:solidFill>
            </a:ln>
          </p:spPr>
        </p:sp>
        <p:sp>
          <p:nvSpPr>
            <p:cNvPr id="24" name="TextBox 24"/>
            <p:cNvSpPr txBox="1"/>
            <p:nvPr/>
          </p:nvSpPr>
          <p:spPr>
            <a:xfrm>
              <a:off x="7930515" y="2348389"/>
              <a:ext cx="712470" cy="259080"/>
            </a:xfrm>
            <a:prstGeom prst="rect">
              <a:avLst/>
            </a:prstGeom>
            <a:noFill/>
            <a:ln>
              <a:noFill/>
            </a:ln>
          </p:spPr>
          <p:txBody>
            <a:bodyPr wrap="none" lIns="0" tIns="0" rIns="0" bIns="0" anchor="t" anchorCtr="0">
              <a:spAutoFit/>
            </a:bodyPr>
            <a:lstStyle/>
            <a:p>
              <a:pPr algn="ctr"/>
              <a:r>
                <a:rPr lang="zh-CN" sz="1275" dirty="0">
                  <a:solidFill>
                    <a:srgbClr val="174C43"/>
                  </a:solidFill>
                  <a:latin typeface="Arial"/>
                  <a:ea typeface="Microsoft YaHei"/>
                  <a:cs typeface="Arial"/>
                </a:rPr>
                <a:t>部分确认</a:t>
              </a:r>
            </a:p>
          </p:txBody>
        </p:sp>
        <p:sp>
          <p:nvSpPr>
            <p:cNvPr id="25" name="Rectangle 25"/>
            <p:cNvSpPr/>
            <p:nvPr/>
          </p:nvSpPr>
          <p:spPr>
            <a:xfrm>
              <a:off x="9315450" y="2209800"/>
              <a:ext cx="1676400" cy="438150"/>
            </a:xfrm>
            <a:prstGeom prst="rect">
              <a:avLst/>
            </a:prstGeom>
            <a:solidFill>
              <a:srgbClr val="DCEAE4"/>
            </a:solidFill>
            <a:ln w="9525">
              <a:solidFill>
                <a:srgbClr val="6E9184"/>
              </a:solidFill>
            </a:ln>
          </p:spPr>
        </p:sp>
        <p:sp>
          <p:nvSpPr>
            <p:cNvPr id="26" name="TextBox 26"/>
            <p:cNvSpPr txBox="1"/>
            <p:nvPr/>
          </p:nvSpPr>
          <p:spPr>
            <a:xfrm>
              <a:off x="9882426" y="2348389"/>
              <a:ext cx="542449" cy="259080"/>
            </a:xfrm>
            <a:prstGeom prst="rect">
              <a:avLst/>
            </a:prstGeom>
            <a:noFill/>
            <a:ln>
              <a:noFill/>
            </a:ln>
          </p:spPr>
          <p:txBody>
            <a:bodyPr wrap="none" lIns="0" tIns="0" rIns="0" bIns="0" anchor="t" anchorCtr="0">
              <a:spAutoFit/>
            </a:bodyPr>
            <a:lstStyle/>
            <a:p>
              <a:pPr algn="ctr"/>
              <a:r>
                <a:rPr lang="zh-CN" sz="1275" dirty="0">
                  <a:solidFill>
                    <a:srgbClr val="174C43"/>
                  </a:solidFill>
                  <a:latin typeface="Arial"/>
                  <a:ea typeface="Microsoft YaHei"/>
                  <a:cs typeface="Arial"/>
                </a:rPr>
                <a:t>已确认</a:t>
              </a:r>
            </a:p>
          </p:txBody>
        </p:sp>
        <p:sp>
          <p:nvSpPr>
            <p:cNvPr id="27" name="Rectangle 27"/>
            <p:cNvSpPr/>
            <p:nvPr/>
          </p:nvSpPr>
          <p:spPr>
            <a:xfrm>
              <a:off x="5581650" y="2781300"/>
              <a:ext cx="1676400" cy="438150"/>
            </a:xfrm>
            <a:prstGeom prst="rect">
              <a:avLst/>
            </a:prstGeom>
            <a:solidFill>
              <a:srgbClr val="F7E7DE"/>
            </a:solidFill>
            <a:ln w="9525">
              <a:solidFill>
                <a:srgbClr val="CDD8D2"/>
              </a:solidFill>
            </a:ln>
          </p:spPr>
        </p:sp>
        <p:sp>
          <p:nvSpPr>
            <p:cNvPr id="28" name="TextBox 28"/>
            <p:cNvSpPr txBox="1"/>
            <p:nvPr/>
          </p:nvSpPr>
          <p:spPr>
            <a:xfrm>
              <a:off x="6063615" y="2919889"/>
              <a:ext cx="712470" cy="259080"/>
            </a:xfrm>
            <a:prstGeom prst="rect">
              <a:avLst/>
            </a:prstGeom>
            <a:noFill/>
            <a:ln>
              <a:noFill/>
            </a:ln>
          </p:spPr>
          <p:txBody>
            <a:bodyPr wrap="none" lIns="0" tIns="0" rIns="0" bIns="0" anchor="t" anchorCtr="0">
              <a:spAutoFit/>
            </a:bodyPr>
            <a:lstStyle/>
            <a:p>
              <a:pPr algn="ctr"/>
              <a:r>
                <a:rPr lang="zh-CN" sz="1275" dirty="0">
                  <a:solidFill>
                    <a:srgbClr val="C76B3C"/>
                  </a:solidFill>
                  <a:latin typeface="Arial"/>
                  <a:ea typeface="Microsoft YaHei"/>
                  <a:cs typeface="Arial"/>
                </a:rPr>
                <a:t>无法确认</a:t>
              </a:r>
            </a:p>
          </p:txBody>
        </p:sp>
        <p:sp>
          <p:nvSpPr>
            <p:cNvPr id="29" name="Rectangle 29"/>
            <p:cNvSpPr/>
            <p:nvPr/>
          </p:nvSpPr>
          <p:spPr>
            <a:xfrm>
              <a:off x="7448550" y="2781300"/>
              <a:ext cx="1676400" cy="438150"/>
            </a:xfrm>
            <a:prstGeom prst="rect">
              <a:avLst/>
            </a:prstGeom>
            <a:solidFill>
              <a:srgbClr val="E8EFEA"/>
            </a:solidFill>
            <a:ln w="9525">
              <a:solidFill>
                <a:srgbClr val="CDD8D2"/>
              </a:solidFill>
            </a:ln>
          </p:spPr>
        </p:sp>
        <p:sp>
          <p:nvSpPr>
            <p:cNvPr id="30" name="TextBox 30"/>
            <p:cNvSpPr txBox="1"/>
            <p:nvPr/>
          </p:nvSpPr>
          <p:spPr>
            <a:xfrm>
              <a:off x="8015526" y="2919889"/>
              <a:ext cx="542449" cy="259080"/>
            </a:xfrm>
            <a:prstGeom prst="rect">
              <a:avLst/>
            </a:prstGeom>
            <a:noFill/>
            <a:ln>
              <a:noFill/>
            </a:ln>
          </p:spPr>
          <p:txBody>
            <a:bodyPr wrap="none" lIns="0" tIns="0" rIns="0" bIns="0" anchor="t" anchorCtr="0">
              <a:spAutoFit/>
            </a:bodyPr>
            <a:lstStyle/>
            <a:p>
              <a:pPr algn="ctr"/>
              <a:r>
                <a:rPr lang="zh-CN" sz="1275" dirty="0">
                  <a:solidFill>
                    <a:srgbClr val="62716B"/>
                  </a:solidFill>
                  <a:latin typeface="Arial"/>
                  <a:ea typeface="Microsoft YaHei"/>
                  <a:cs typeface="Arial"/>
                </a:rPr>
                <a:t>不适用</a:t>
              </a:r>
            </a:p>
          </p:txBody>
        </p:sp>
        <p:sp>
          <p:nvSpPr>
            <p:cNvPr id="31" name="Rectangle 31"/>
            <p:cNvSpPr/>
            <p:nvPr/>
          </p:nvSpPr>
          <p:spPr>
            <a:xfrm>
              <a:off x="9315450" y="2781300"/>
              <a:ext cx="1676400" cy="438150"/>
            </a:xfrm>
            <a:prstGeom prst="rect">
              <a:avLst/>
            </a:prstGeom>
            <a:solidFill>
              <a:srgbClr val="F7E7DE"/>
            </a:solidFill>
            <a:ln w="9525">
              <a:solidFill>
                <a:srgbClr val="C76B3C"/>
              </a:solidFill>
            </a:ln>
          </p:spPr>
        </p:sp>
        <p:sp>
          <p:nvSpPr>
            <p:cNvPr id="32" name="TextBox 32"/>
            <p:cNvSpPr txBox="1"/>
            <p:nvPr/>
          </p:nvSpPr>
          <p:spPr>
            <a:xfrm>
              <a:off x="9797415" y="2919889"/>
              <a:ext cx="712470" cy="259080"/>
            </a:xfrm>
            <a:prstGeom prst="rect">
              <a:avLst/>
            </a:prstGeom>
            <a:noFill/>
            <a:ln>
              <a:noFill/>
            </a:ln>
          </p:spPr>
          <p:txBody>
            <a:bodyPr wrap="none" lIns="0" tIns="0" rIns="0" bIns="0" anchor="t" anchorCtr="0">
              <a:spAutoFit/>
            </a:bodyPr>
            <a:lstStyle/>
            <a:p>
              <a:pPr algn="ctr"/>
              <a:r>
                <a:rPr lang="zh-CN" sz="1275" dirty="0">
                  <a:solidFill>
                    <a:srgbClr val="C76B3C"/>
                  </a:solidFill>
                  <a:latin typeface="Arial"/>
                  <a:ea typeface="Microsoft YaHei"/>
                  <a:cs typeface="Arial"/>
                </a:rPr>
                <a:t>存在冲突</a:t>
              </a:r>
            </a:p>
          </p:txBody>
        </p:sp>
      </p:grpSp>
      <p:sp>
        <p:nvSpPr>
          <p:cNvPr id="34" name="TextBox 34"/>
          <p:cNvSpPr txBox="1"/>
          <p:nvPr/>
        </p:nvSpPr>
        <p:spPr>
          <a:xfrm>
            <a:off x="5564505" y="3569018"/>
            <a:ext cx="790384" cy="274320"/>
          </a:xfrm>
          <a:prstGeom prst="rect">
            <a:avLst/>
          </a:prstGeom>
          <a:noFill/>
          <a:ln>
            <a:noFill/>
          </a:ln>
        </p:spPr>
        <p:txBody>
          <a:bodyPr wrap="none" lIns="0" tIns="0" rIns="0" bIns="0" anchor="t" anchorCtr="0">
            <a:spAutoFit/>
          </a:bodyPr>
          <a:lstStyle/>
          <a:p>
            <a:pPr algn="l"/>
            <a:r>
              <a:rPr lang="zh-CN" sz="1350" b="1" dirty="0">
                <a:solidFill>
                  <a:srgbClr val="62716B"/>
                </a:solidFill>
                <a:latin typeface="Arial"/>
                <a:ea typeface="Microsoft YaHei"/>
                <a:cs typeface="Arial"/>
              </a:rPr>
              <a:t>状态示例</a:t>
            </a:r>
          </a:p>
        </p:txBody>
      </p:sp>
      <p:sp>
        <p:nvSpPr>
          <p:cNvPr id="35" name="Rectangle 35"/>
          <p:cNvSpPr/>
          <p:nvPr/>
        </p:nvSpPr>
        <p:spPr>
          <a:xfrm>
            <a:off x="5581650" y="3905250"/>
            <a:ext cx="5410200" cy="2000250"/>
          </a:xfrm>
          <a:prstGeom prst="rect">
            <a:avLst/>
          </a:prstGeom>
          <a:solidFill>
            <a:srgbClr val="FFFFFF"/>
          </a:solidFill>
          <a:ln w="19050">
            <a:solidFill>
              <a:srgbClr val="CDD8D2"/>
            </a:solidFill>
          </a:ln>
        </p:spPr>
      </p:sp>
      <p:sp>
        <p:nvSpPr>
          <p:cNvPr id="36" name="Line 36"/>
          <p:cNvSpPr/>
          <p:nvPr/>
        </p:nvSpPr>
        <p:spPr>
          <a:xfrm>
            <a:off x="5581650" y="4324350"/>
            <a:ext cx="5410200" cy="9525"/>
          </a:xfrm>
          <a:custGeom>
            <a:avLst/>
            <a:gdLst/>
            <a:ahLst/>
            <a:cxnLst/>
            <a:rect l="l" t="t" r="r" b="b"/>
            <a:pathLst>
              <a:path w="5410200" h="9525">
                <a:moveTo>
                  <a:pt x="0" y="0"/>
                </a:moveTo>
                <a:lnTo>
                  <a:pt x="5410200" y="0"/>
                </a:lnTo>
              </a:path>
            </a:pathLst>
          </a:custGeom>
          <a:noFill/>
          <a:ln w="9525">
            <a:solidFill>
              <a:srgbClr val="CDD8D2"/>
            </a:solidFill>
          </a:ln>
        </p:spPr>
      </p:sp>
      <p:sp>
        <p:nvSpPr>
          <p:cNvPr id="37" name="Line 37"/>
          <p:cNvSpPr/>
          <p:nvPr/>
        </p:nvSpPr>
        <p:spPr>
          <a:xfrm>
            <a:off x="7639050" y="3905250"/>
            <a:ext cx="9525" cy="2000250"/>
          </a:xfrm>
          <a:custGeom>
            <a:avLst/>
            <a:gdLst/>
            <a:ahLst/>
            <a:cxnLst/>
            <a:rect l="l" t="t" r="r" b="b"/>
            <a:pathLst>
              <a:path w="9525" h="2000250">
                <a:moveTo>
                  <a:pt x="0" y="0"/>
                </a:moveTo>
                <a:lnTo>
                  <a:pt x="0" y="2000250"/>
                </a:lnTo>
              </a:path>
            </a:pathLst>
          </a:custGeom>
          <a:noFill/>
          <a:ln w="9525">
            <a:solidFill>
              <a:srgbClr val="CDD8D2"/>
            </a:solidFill>
          </a:ln>
        </p:spPr>
      </p:sp>
      <p:sp>
        <p:nvSpPr>
          <p:cNvPr id="38" name="Line 38"/>
          <p:cNvSpPr/>
          <p:nvPr/>
        </p:nvSpPr>
        <p:spPr>
          <a:xfrm>
            <a:off x="9029700" y="3905250"/>
            <a:ext cx="9525" cy="2000250"/>
          </a:xfrm>
          <a:custGeom>
            <a:avLst/>
            <a:gdLst/>
            <a:ahLst/>
            <a:cxnLst/>
            <a:rect l="l" t="t" r="r" b="b"/>
            <a:pathLst>
              <a:path w="9525" h="2000250">
                <a:moveTo>
                  <a:pt x="0" y="0"/>
                </a:moveTo>
                <a:lnTo>
                  <a:pt x="0" y="2000250"/>
                </a:lnTo>
              </a:path>
            </a:pathLst>
          </a:custGeom>
          <a:noFill/>
          <a:ln w="9525">
            <a:solidFill>
              <a:srgbClr val="CDD8D2"/>
            </a:solidFill>
          </a:ln>
        </p:spPr>
      </p:sp>
      <p:grpSp>
        <p:nvGrpSpPr>
          <p:cNvPr id="54" name="Group 54"/>
          <p:cNvGrpSpPr/>
          <p:nvPr/>
        </p:nvGrpSpPr>
        <p:grpSpPr>
          <a:xfrm>
            <a:off x="5756910" y="4042410"/>
            <a:ext cx="4774692" cy="1844040"/>
            <a:chOff x="5756910" y="4042410"/>
            <a:chExt cx="4774692" cy="1844040"/>
          </a:xfrm>
        </p:grpSpPr>
        <p:sp>
          <p:nvSpPr>
            <p:cNvPr id="39" name="TextBox 39"/>
            <p:cNvSpPr txBox="1"/>
            <p:nvPr/>
          </p:nvSpPr>
          <p:spPr>
            <a:xfrm>
              <a:off x="5756910" y="4042410"/>
              <a:ext cx="366522" cy="243840"/>
            </a:xfrm>
            <a:prstGeom prst="rect">
              <a:avLst/>
            </a:prstGeom>
            <a:noFill/>
            <a:ln>
              <a:noFill/>
            </a:ln>
          </p:spPr>
          <p:txBody>
            <a:bodyPr wrap="none" lIns="0" tIns="0" rIns="0" bIns="0" anchor="t" anchorCtr="0">
              <a:spAutoFit/>
            </a:bodyPr>
            <a:lstStyle/>
            <a:p>
              <a:pPr algn="l"/>
              <a:r>
                <a:rPr lang="zh-CN" sz="1200" b="1" dirty="0">
                  <a:solidFill>
                    <a:srgbClr val="24332E"/>
                  </a:solidFill>
                  <a:latin typeface="Arial"/>
                  <a:ea typeface="Microsoft YaHei"/>
                  <a:cs typeface="Arial"/>
                </a:rPr>
                <a:t>字段</a:t>
              </a:r>
            </a:p>
          </p:txBody>
        </p:sp>
        <p:sp>
          <p:nvSpPr>
            <p:cNvPr id="40" name="TextBox 40"/>
            <p:cNvSpPr txBox="1"/>
            <p:nvPr/>
          </p:nvSpPr>
          <p:spPr>
            <a:xfrm>
              <a:off x="7814310" y="4042410"/>
              <a:ext cx="366522" cy="243840"/>
            </a:xfrm>
            <a:prstGeom prst="rect">
              <a:avLst/>
            </a:prstGeom>
            <a:noFill/>
            <a:ln>
              <a:noFill/>
            </a:ln>
          </p:spPr>
          <p:txBody>
            <a:bodyPr wrap="none" lIns="0" tIns="0" rIns="0" bIns="0" anchor="t" anchorCtr="0">
              <a:spAutoFit/>
            </a:bodyPr>
            <a:lstStyle/>
            <a:p>
              <a:pPr algn="l"/>
              <a:r>
                <a:rPr lang="zh-CN" sz="1200" b="1" dirty="0">
                  <a:solidFill>
                    <a:srgbClr val="24332E"/>
                  </a:solidFill>
                  <a:latin typeface="Arial"/>
                  <a:ea typeface="Microsoft YaHei"/>
                  <a:cs typeface="Arial"/>
                </a:rPr>
                <a:t>状态</a:t>
              </a:r>
            </a:p>
          </p:txBody>
        </p:sp>
        <p:sp>
          <p:nvSpPr>
            <p:cNvPr id="41" name="TextBox 41"/>
            <p:cNvSpPr txBox="1"/>
            <p:nvPr/>
          </p:nvSpPr>
          <p:spPr>
            <a:xfrm>
              <a:off x="9204960" y="4042410"/>
              <a:ext cx="702564" cy="243840"/>
            </a:xfrm>
            <a:prstGeom prst="rect">
              <a:avLst/>
            </a:prstGeom>
            <a:noFill/>
            <a:ln>
              <a:noFill/>
            </a:ln>
          </p:spPr>
          <p:txBody>
            <a:bodyPr wrap="none" lIns="0" tIns="0" rIns="0" bIns="0" anchor="t" anchorCtr="0">
              <a:spAutoFit/>
            </a:bodyPr>
            <a:lstStyle/>
            <a:p>
              <a:pPr algn="l"/>
              <a:r>
                <a:rPr lang="zh-CN" sz="1200" b="1" dirty="0">
                  <a:solidFill>
                    <a:srgbClr val="24332E"/>
                  </a:solidFill>
                  <a:latin typeface="Arial"/>
                  <a:ea typeface="Microsoft YaHei"/>
                  <a:cs typeface="Arial"/>
                </a:rPr>
                <a:t>患者证据</a:t>
              </a:r>
            </a:p>
          </p:txBody>
        </p:sp>
        <p:sp>
          <p:nvSpPr>
            <p:cNvPr id="42" name="TextBox 42"/>
            <p:cNvSpPr txBox="1"/>
            <p:nvPr/>
          </p:nvSpPr>
          <p:spPr>
            <a:xfrm>
              <a:off x="5756910" y="4499610"/>
              <a:ext cx="67056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体重变化</a:t>
              </a:r>
            </a:p>
          </p:txBody>
        </p:sp>
        <p:sp>
          <p:nvSpPr>
            <p:cNvPr id="43" name="TextBox 43"/>
            <p:cNvSpPr txBox="1"/>
            <p:nvPr/>
          </p:nvSpPr>
          <p:spPr>
            <a:xfrm>
              <a:off x="7814310" y="4499610"/>
              <a:ext cx="510540" cy="243840"/>
            </a:xfrm>
            <a:prstGeom prst="rect">
              <a:avLst/>
            </a:prstGeom>
            <a:noFill/>
            <a:ln>
              <a:noFill/>
            </a:ln>
          </p:spPr>
          <p:txBody>
            <a:bodyPr wrap="none" lIns="0" tIns="0" rIns="0" bIns="0" anchor="t" anchorCtr="0">
              <a:spAutoFit/>
            </a:bodyPr>
            <a:lstStyle/>
            <a:p>
              <a:pPr algn="l"/>
              <a:r>
                <a:rPr lang="zh-CN" sz="1200" dirty="0">
                  <a:solidFill>
                    <a:srgbClr val="174C43"/>
                  </a:solidFill>
                  <a:latin typeface="Arial"/>
                  <a:ea typeface="Microsoft YaHei"/>
                  <a:cs typeface="Arial"/>
                </a:rPr>
                <a:t>已确认</a:t>
              </a:r>
            </a:p>
          </p:txBody>
        </p:sp>
        <p:sp>
          <p:nvSpPr>
            <p:cNvPr id="44" name="TextBox 44"/>
            <p:cNvSpPr txBox="1"/>
            <p:nvPr/>
          </p:nvSpPr>
          <p:spPr>
            <a:xfrm>
              <a:off x="9204960" y="4499610"/>
              <a:ext cx="1326642"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“半年胖了十公斤”</a:t>
              </a:r>
            </a:p>
          </p:txBody>
        </p:sp>
        <p:sp>
          <p:nvSpPr>
            <p:cNvPr id="45" name="TextBox 45"/>
            <p:cNvSpPr txBox="1"/>
            <p:nvPr/>
          </p:nvSpPr>
          <p:spPr>
            <a:xfrm>
              <a:off x="5756910" y="4880610"/>
              <a:ext cx="67056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睡眠情绪</a:t>
              </a:r>
            </a:p>
          </p:txBody>
        </p:sp>
        <p:sp>
          <p:nvSpPr>
            <p:cNvPr id="46" name="TextBox 46"/>
            <p:cNvSpPr txBox="1"/>
            <p:nvPr/>
          </p:nvSpPr>
          <p:spPr>
            <a:xfrm>
              <a:off x="7814310" y="4880610"/>
              <a:ext cx="670560" cy="243840"/>
            </a:xfrm>
            <a:prstGeom prst="rect">
              <a:avLst/>
            </a:prstGeom>
            <a:noFill/>
            <a:ln>
              <a:noFill/>
            </a:ln>
          </p:spPr>
          <p:txBody>
            <a:bodyPr wrap="none" lIns="0" tIns="0" rIns="0" bIns="0" anchor="t" anchorCtr="0">
              <a:spAutoFit/>
            </a:bodyPr>
            <a:lstStyle/>
            <a:p>
              <a:pPr algn="l"/>
              <a:r>
                <a:rPr lang="zh-CN" sz="1200" dirty="0">
                  <a:solidFill>
                    <a:srgbClr val="174C43"/>
                  </a:solidFill>
                  <a:latin typeface="Arial"/>
                  <a:ea typeface="Microsoft YaHei"/>
                  <a:cs typeface="Arial"/>
                </a:rPr>
                <a:t>部分确认</a:t>
              </a:r>
            </a:p>
          </p:txBody>
        </p:sp>
        <p:sp>
          <p:nvSpPr>
            <p:cNvPr id="47" name="TextBox 47"/>
            <p:cNvSpPr txBox="1"/>
            <p:nvPr/>
          </p:nvSpPr>
          <p:spPr>
            <a:xfrm>
              <a:off x="9204960" y="4880610"/>
              <a:ext cx="1006602"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“晚上总是醒”</a:t>
              </a:r>
            </a:p>
          </p:txBody>
        </p:sp>
        <p:sp>
          <p:nvSpPr>
            <p:cNvPr id="48" name="TextBox 48"/>
            <p:cNvSpPr txBox="1"/>
            <p:nvPr/>
          </p:nvSpPr>
          <p:spPr>
            <a:xfrm>
              <a:off x="5756910" y="5261610"/>
              <a:ext cx="67056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当前用药</a:t>
              </a:r>
            </a:p>
          </p:txBody>
        </p:sp>
        <p:sp>
          <p:nvSpPr>
            <p:cNvPr id="49" name="TextBox 49"/>
            <p:cNvSpPr txBox="1"/>
            <p:nvPr/>
          </p:nvSpPr>
          <p:spPr>
            <a:xfrm>
              <a:off x="7814310" y="5261610"/>
              <a:ext cx="510540" cy="243840"/>
            </a:xfrm>
            <a:prstGeom prst="rect">
              <a:avLst/>
            </a:prstGeom>
            <a:noFill/>
            <a:ln>
              <a:noFill/>
            </a:ln>
          </p:spPr>
          <p:txBody>
            <a:bodyPr wrap="none" lIns="0" tIns="0" rIns="0" bIns="0" anchor="t" anchorCtr="0">
              <a:spAutoFit/>
            </a:bodyPr>
            <a:lstStyle/>
            <a:p>
              <a:pPr algn="l"/>
              <a:r>
                <a:rPr lang="zh-CN" sz="1200" dirty="0">
                  <a:solidFill>
                    <a:srgbClr val="62716B"/>
                  </a:solidFill>
                  <a:latin typeface="Arial"/>
                  <a:ea typeface="Microsoft YaHei"/>
                  <a:cs typeface="Arial"/>
                </a:rPr>
                <a:t>未询问</a:t>
              </a:r>
            </a:p>
          </p:txBody>
        </p:sp>
        <p:sp>
          <p:nvSpPr>
            <p:cNvPr id="50" name="TextBox 50"/>
            <p:cNvSpPr txBox="1"/>
            <p:nvPr/>
          </p:nvSpPr>
          <p:spPr>
            <a:xfrm>
              <a:off x="9204960" y="5261610"/>
              <a:ext cx="35052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暂无</a:t>
              </a:r>
            </a:p>
          </p:txBody>
        </p:sp>
        <p:sp>
          <p:nvSpPr>
            <p:cNvPr id="51" name="TextBox 51"/>
            <p:cNvSpPr txBox="1"/>
            <p:nvPr/>
          </p:nvSpPr>
          <p:spPr>
            <a:xfrm>
              <a:off x="5756910" y="5642610"/>
              <a:ext cx="51054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过敏史</a:t>
              </a:r>
            </a:p>
          </p:txBody>
        </p:sp>
        <p:sp>
          <p:nvSpPr>
            <p:cNvPr id="52" name="TextBox 52"/>
            <p:cNvSpPr txBox="1"/>
            <p:nvPr/>
          </p:nvSpPr>
          <p:spPr>
            <a:xfrm>
              <a:off x="7814310" y="5642610"/>
              <a:ext cx="670560" cy="243840"/>
            </a:xfrm>
            <a:prstGeom prst="rect">
              <a:avLst/>
            </a:prstGeom>
            <a:noFill/>
            <a:ln>
              <a:noFill/>
            </a:ln>
          </p:spPr>
          <p:txBody>
            <a:bodyPr wrap="none" lIns="0" tIns="0" rIns="0" bIns="0" anchor="t" anchorCtr="0">
              <a:spAutoFit/>
            </a:bodyPr>
            <a:lstStyle/>
            <a:p>
              <a:pPr algn="l"/>
              <a:r>
                <a:rPr lang="zh-CN" sz="1200" dirty="0">
                  <a:solidFill>
                    <a:srgbClr val="C76B3C"/>
                  </a:solidFill>
                  <a:latin typeface="Arial"/>
                  <a:ea typeface="Microsoft YaHei"/>
                  <a:cs typeface="Arial"/>
                </a:rPr>
                <a:t>存在冲突</a:t>
              </a:r>
            </a:p>
          </p:txBody>
        </p:sp>
        <p:sp>
          <p:nvSpPr>
            <p:cNvPr id="53" name="TextBox 53"/>
            <p:cNvSpPr txBox="1"/>
            <p:nvPr/>
          </p:nvSpPr>
          <p:spPr>
            <a:xfrm>
              <a:off x="9204960" y="5642610"/>
              <a:ext cx="115062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前后回答不一致</a:t>
              </a:r>
            </a:p>
          </p:txBody>
        </p:sp>
      </p:grpSp>
      <p:sp>
        <p:nvSpPr>
          <p:cNvPr id="55" name="TextBox 55"/>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06</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6215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06 · 核心机制</a:t>
            </a:r>
          </a:p>
        </p:txBody>
      </p:sp>
      <p:sp>
        <p:nvSpPr>
          <p:cNvPr id="4" name="TextBox 4"/>
          <p:cNvSpPr txBox="1"/>
          <p:nvPr/>
        </p:nvSpPr>
        <p:spPr>
          <a:xfrm>
            <a:off x="575310" y="908685"/>
            <a:ext cx="3849052" cy="548640"/>
          </a:xfrm>
          <a:prstGeom prst="rect">
            <a:avLst/>
          </a:prstGeom>
          <a:noFill/>
          <a:ln>
            <a:noFill/>
          </a:ln>
        </p:spPr>
        <p:txBody>
          <a:bodyPr wrap="none" lIns="0" tIns="0" rIns="0" bIns="0" anchor="t" anchorCtr="0">
            <a:spAutoFit/>
          </a:bodyPr>
          <a:lstStyle/>
          <a:p>
            <a:pPr algn="l"/>
            <a:r>
              <a:rPr lang="zh-CN" sz="2700" b="1" dirty="0">
                <a:solidFill>
                  <a:srgbClr val="174C43"/>
                </a:solidFill>
                <a:latin typeface="Arial"/>
                <a:ea typeface="Microsoft YaHei"/>
                <a:cs typeface="Arial"/>
              </a:rPr>
              <a:t>信息完整度如何判断？</a:t>
            </a:r>
          </a:p>
        </p:txBody>
      </p:sp>
      <p:sp>
        <p:nvSpPr>
          <p:cNvPr id="5" name="Line 5"/>
          <p:cNvSpPr/>
          <p:nvPr/>
        </p:nvSpPr>
        <p:spPr>
          <a:xfrm>
            <a:off x="609600" y="1409700"/>
            <a:ext cx="10972800" cy="9525"/>
          </a:xfrm>
          <a:custGeom>
            <a:avLst/>
            <a:gdLst/>
            <a:ahLst/>
            <a:cxnLst/>
            <a:rect l="l" t="t" r="r" b="b"/>
            <a:pathLst>
              <a:path w="10972800" h="9525">
                <a:moveTo>
                  <a:pt x="0" y="0"/>
                </a:moveTo>
                <a:lnTo>
                  <a:pt x="10972800" y="0"/>
                </a:lnTo>
              </a:path>
            </a:pathLst>
          </a:custGeom>
          <a:noFill/>
          <a:ln w="19050">
            <a:solidFill>
              <a:srgbClr val="CDD8D2"/>
            </a:solidFill>
          </a:ln>
        </p:spPr>
      </p:sp>
      <p:sp>
        <p:nvSpPr>
          <p:cNvPr id="6" name="TextBox 6"/>
          <p:cNvSpPr txBox="1"/>
          <p:nvPr/>
        </p:nvSpPr>
        <p:spPr>
          <a:xfrm>
            <a:off x="706755" y="1721168"/>
            <a:ext cx="1168432" cy="274320"/>
          </a:xfrm>
          <a:prstGeom prst="rect">
            <a:avLst/>
          </a:prstGeom>
          <a:noFill/>
          <a:ln>
            <a:noFill/>
          </a:ln>
        </p:spPr>
        <p:txBody>
          <a:bodyPr wrap="none" lIns="0" tIns="0" rIns="0" bIns="0" anchor="t" anchorCtr="0">
            <a:spAutoFit/>
          </a:bodyPr>
          <a:lstStyle/>
          <a:p>
            <a:pPr algn="l"/>
            <a:r>
              <a:rPr lang="zh-CN" sz="1350" b="1" dirty="0">
                <a:solidFill>
                  <a:srgbClr val="62716B"/>
                </a:solidFill>
                <a:latin typeface="Arial"/>
                <a:ea typeface="Microsoft YaHei"/>
                <a:cs typeface="Arial"/>
              </a:rPr>
              <a:t>四层核心信息</a:t>
            </a:r>
          </a:p>
        </p:txBody>
      </p:sp>
      <p:sp>
        <p:nvSpPr>
          <p:cNvPr id="7" name="Rectangle 7"/>
          <p:cNvSpPr/>
          <p:nvPr/>
        </p:nvSpPr>
        <p:spPr>
          <a:xfrm>
            <a:off x="704850" y="2095500"/>
            <a:ext cx="6381750" cy="800100"/>
          </a:xfrm>
          <a:prstGeom prst="rect">
            <a:avLst/>
          </a:prstGeom>
          <a:solidFill>
            <a:srgbClr val="174C43"/>
          </a:solidFill>
          <a:ln>
            <a:noFill/>
          </a:ln>
        </p:spPr>
      </p:sp>
      <p:sp>
        <p:nvSpPr>
          <p:cNvPr id="8" name="Rectangle 8"/>
          <p:cNvSpPr/>
          <p:nvPr/>
        </p:nvSpPr>
        <p:spPr>
          <a:xfrm>
            <a:off x="990600" y="3028950"/>
            <a:ext cx="6096000" cy="800100"/>
          </a:xfrm>
          <a:prstGeom prst="rect">
            <a:avLst/>
          </a:prstGeom>
          <a:solidFill>
            <a:srgbClr val="6E9184"/>
          </a:solidFill>
          <a:ln>
            <a:noFill/>
          </a:ln>
        </p:spPr>
      </p:sp>
      <p:sp>
        <p:nvSpPr>
          <p:cNvPr id="9" name="Rectangle 9"/>
          <p:cNvSpPr/>
          <p:nvPr/>
        </p:nvSpPr>
        <p:spPr>
          <a:xfrm>
            <a:off x="1276350" y="3962400"/>
            <a:ext cx="5810250" cy="800100"/>
          </a:xfrm>
          <a:prstGeom prst="rect">
            <a:avLst/>
          </a:prstGeom>
          <a:solidFill>
            <a:srgbClr val="DCEAE4"/>
          </a:solidFill>
          <a:ln>
            <a:noFill/>
          </a:ln>
        </p:spPr>
      </p:sp>
      <p:sp>
        <p:nvSpPr>
          <p:cNvPr id="10" name="Rectangle 10"/>
          <p:cNvSpPr/>
          <p:nvPr/>
        </p:nvSpPr>
        <p:spPr>
          <a:xfrm>
            <a:off x="1562100" y="4895850"/>
            <a:ext cx="5524500" cy="800100"/>
          </a:xfrm>
          <a:prstGeom prst="rect">
            <a:avLst/>
          </a:prstGeom>
          <a:solidFill>
            <a:srgbClr val="F7E7DE"/>
          </a:solidFill>
          <a:ln>
            <a:noFill/>
          </a:ln>
        </p:spPr>
      </p:sp>
      <p:grpSp>
        <p:nvGrpSpPr>
          <p:cNvPr id="17" name="Group 17"/>
          <p:cNvGrpSpPr/>
          <p:nvPr/>
        </p:nvGrpSpPr>
        <p:grpSpPr>
          <a:xfrm>
            <a:off x="959644" y="2350294"/>
            <a:ext cx="271462" cy="271462"/>
            <a:chOff x="959644" y="2350294"/>
            <a:chExt cx="271462" cy="271462"/>
          </a:xfrm>
        </p:grpSpPr>
        <p:sp>
          <p:nvSpPr>
            <p:cNvPr id="11" name="Freeform 11"/>
            <p:cNvSpPr/>
            <p:nvPr/>
          </p:nvSpPr>
          <p:spPr>
            <a:xfrm>
              <a:off x="1050131" y="2350294"/>
              <a:ext cx="45244" cy="271462"/>
            </a:xfrm>
            <a:custGeom>
              <a:avLst/>
              <a:gdLst/>
              <a:ahLst/>
              <a:cxnLst/>
              <a:rect l="l" t="t" r="r" b="b"/>
              <a:pathLst>
                <a:path w="45244" h="271462">
                  <a:moveTo>
                    <a:pt x="45244" y="0"/>
                  </a:moveTo>
                  <a:cubicBezTo>
                    <a:pt x="20256" y="0"/>
                    <a:pt x="0" y="20256"/>
                    <a:pt x="0" y="45244"/>
                  </a:cubicBezTo>
                  <a:lnTo>
                    <a:pt x="0" y="226218"/>
                  </a:lnTo>
                  <a:cubicBezTo>
                    <a:pt x="0" y="251206"/>
                    <a:pt x="20256" y="271462"/>
                    <a:pt x="45244" y="271462"/>
                  </a:cubicBezTo>
                </a:path>
              </a:pathLst>
            </a:custGeom>
            <a:noFill/>
            <a:ln w="19050">
              <a:solidFill>
                <a:srgbClr val="F7F5EF"/>
              </a:solidFill>
            </a:ln>
          </p:spPr>
        </p:sp>
        <p:sp>
          <p:nvSpPr>
            <p:cNvPr id="12" name="Freeform 12"/>
            <p:cNvSpPr/>
            <p:nvPr/>
          </p:nvSpPr>
          <p:spPr>
            <a:xfrm>
              <a:off x="1004887" y="2350294"/>
              <a:ext cx="45244" cy="271462"/>
            </a:xfrm>
            <a:custGeom>
              <a:avLst/>
              <a:gdLst/>
              <a:ahLst/>
              <a:cxnLst/>
              <a:rect l="l" t="t" r="r" b="b"/>
              <a:pathLst>
                <a:path w="45244" h="271462">
                  <a:moveTo>
                    <a:pt x="0" y="0"/>
                  </a:moveTo>
                  <a:cubicBezTo>
                    <a:pt x="24987" y="0"/>
                    <a:pt x="45244" y="20256"/>
                    <a:pt x="45244" y="45244"/>
                  </a:cubicBezTo>
                  <a:lnTo>
                    <a:pt x="45244" y="226218"/>
                  </a:lnTo>
                  <a:cubicBezTo>
                    <a:pt x="45244" y="251206"/>
                    <a:pt x="24987" y="271462"/>
                    <a:pt x="0" y="271462"/>
                  </a:cubicBezTo>
                </a:path>
              </a:pathLst>
            </a:custGeom>
            <a:noFill/>
            <a:ln w="19050">
              <a:solidFill>
                <a:srgbClr val="F7F5EF"/>
              </a:solidFill>
            </a:ln>
          </p:spPr>
        </p:sp>
        <p:sp>
          <p:nvSpPr>
            <p:cNvPr id="13" name="Freeform 13"/>
            <p:cNvSpPr/>
            <p:nvPr/>
          </p:nvSpPr>
          <p:spPr>
            <a:xfrm>
              <a:off x="1110456" y="2410619"/>
              <a:ext cx="120650" cy="150812"/>
            </a:xfrm>
            <a:custGeom>
              <a:avLst/>
              <a:gdLst/>
              <a:ahLst/>
              <a:cxnLst/>
              <a:rect l="l" t="t" r="r" b="b"/>
              <a:pathLst>
                <a:path w="120650" h="150812">
                  <a:moveTo>
                    <a:pt x="0" y="0"/>
                  </a:moveTo>
                  <a:lnTo>
                    <a:pt x="105569" y="0"/>
                  </a:lnTo>
                  <a:cubicBezTo>
                    <a:pt x="113898" y="0"/>
                    <a:pt x="120650" y="6752"/>
                    <a:pt x="120650" y="15081"/>
                  </a:cubicBezTo>
                  <a:lnTo>
                    <a:pt x="120650" y="135731"/>
                  </a:lnTo>
                  <a:cubicBezTo>
                    <a:pt x="120650" y="144060"/>
                    <a:pt x="113898" y="150812"/>
                    <a:pt x="105569" y="150812"/>
                  </a:cubicBezTo>
                  <a:lnTo>
                    <a:pt x="0" y="150812"/>
                  </a:lnTo>
                </a:path>
              </a:pathLst>
            </a:custGeom>
            <a:noFill/>
            <a:ln w="19050">
              <a:solidFill>
                <a:srgbClr val="F7F5EF"/>
              </a:solidFill>
            </a:ln>
          </p:spPr>
        </p:sp>
        <p:sp>
          <p:nvSpPr>
            <p:cNvPr id="14" name="Freeform 14"/>
            <p:cNvSpPr/>
            <p:nvPr/>
          </p:nvSpPr>
          <p:spPr>
            <a:xfrm>
              <a:off x="959644" y="2410619"/>
              <a:ext cx="30162" cy="150812"/>
            </a:xfrm>
            <a:custGeom>
              <a:avLst/>
              <a:gdLst/>
              <a:ahLst/>
              <a:cxnLst/>
              <a:rect l="l" t="t" r="r" b="b"/>
              <a:pathLst>
                <a:path w="30162" h="150812">
                  <a:moveTo>
                    <a:pt x="30162" y="0"/>
                  </a:moveTo>
                  <a:lnTo>
                    <a:pt x="15081" y="0"/>
                  </a:lnTo>
                  <a:cubicBezTo>
                    <a:pt x="6752" y="0"/>
                    <a:pt x="0" y="6752"/>
                    <a:pt x="0" y="15081"/>
                  </a:cubicBezTo>
                  <a:lnTo>
                    <a:pt x="0" y="135731"/>
                  </a:lnTo>
                  <a:cubicBezTo>
                    <a:pt x="0" y="144060"/>
                    <a:pt x="6752" y="150812"/>
                    <a:pt x="15081" y="150812"/>
                  </a:cubicBezTo>
                  <a:lnTo>
                    <a:pt x="30162" y="150812"/>
                  </a:lnTo>
                </a:path>
              </a:pathLst>
            </a:custGeom>
            <a:noFill/>
            <a:ln w="19050">
              <a:solidFill>
                <a:srgbClr val="F7F5EF"/>
              </a:solidFill>
            </a:ln>
          </p:spPr>
        </p:sp>
        <p:sp>
          <p:nvSpPr>
            <p:cNvPr id="15" name="Freeform 15"/>
            <p:cNvSpPr/>
            <p:nvPr/>
          </p:nvSpPr>
          <p:spPr>
            <a:xfrm>
              <a:off x="1170781" y="2486025"/>
              <a:ext cx="9525" cy="9525"/>
            </a:xfrm>
            <a:custGeom>
              <a:avLst/>
              <a:gdLst/>
              <a:ahLst/>
              <a:cxnLst/>
              <a:rect l="l" t="t" r="r" b="b"/>
              <a:pathLst>
                <a:path w="9525" h="9525">
                  <a:moveTo>
                    <a:pt x="0" y="0"/>
                  </a:moveTo>
                  <a:lnTo>
                    <a:pt x="151" y="0"/>
                  </a:lnTo>
                </a:path>
              </a:pathLst>
            </a:custGeom>
            <a:noFill/>
            <a:ln w="19050">
              <a:solidFill>
                <a:srgbClr val="F7F5EF"/>
              </a:solidFill>
            </a:ln>
          </p:spPr>
        </p:sp>
        <p:sp>
          <p:nvSpPr>
            <p:cNvPr id="16" name="Freeform 16"/>
            <p:cNvSpPr/>
            <p:nvPr/>
          </p:nvSpPr>
          <p:spPr>
            <a:xfrm>
              <a:off x="1110456" y="2486025"/>
              <a:ext cx="9525" cy="9525"/>
            </a:xfrm>
            <a:custGeom>
              <a:avLst/>
              <a:gdLst/>
              <a:ahLst/>
              <a:cxnLst/>
              <a:rect l="l" t="t" r="r" b="b"/>
              <a:pathLst>
                <a:path w="9525" h="9525">
                  <a:moveTo>
                    <a:pt x="0" y="0"/>
                  </a:moveTo>
                  <a:lnTo>
                    <a:pt x="151" y="0"/>
                  </a:lnTo>
                </a:path>
              </a:pathLst>
            </a:custGeom>
            <a:noFill/>
            <a:ln w="19050">
              <a:solidFill>
                <a:srgbClr val="F7F5EF"/>
              </a:solidFill>
            </a:ln>
          </p:spPr>
        </p:sp>
      </p:grpSp>
      <p:grpSp>
        <p:nvGrpSpPr>
          <p:cNvPr id="20" name="Group 20"/>
          <p:cNvGrpSpPr/>
          <p:nvPr/>
        </p:nvGrpSpPr>
        <p:grpSpPr>
          <a:xfrm>
            <a:off x="1246148" y="3281637"/>
            <a:ext cx="278279" cy="284668"/>
            <a:chOff x="1246148" y="3281637"/>
            <a:chExt cx="278279" cy="284668"/>
          </a:xfrm>
        </p:grpSpPr>
        <p:sp>
          <p:nvSpPr>
            <p:cNvPr id="18" name="Freeform 18"/>
            <p:cNvSpPr/>
            <p:nvPr/>
          </p:nvSpPr>
          <p:spPr>
            <a:xfrm>
              <a:off x="1381125" y="3359150"/>
              <a:ext cx="30162" cy="90487"/>
            </a:xfrm>
            <a:custGeom>
              <a:avLst/>
              <a:gdLst/>
              <a:ahLst/>
              <a:cxnLst/>
              <a:rect l="l" t="t" r="r" b="b"/>
              <a:pathLst>
                <a:path w="30162" h="90487">
                  <a:moveTo>
                    <a:pt x="0" y="0"/>
                  </a:moveTo>
                  <a:lnTo>
                    <a:pt x="0" y="60325"/>
                  </a:lnTo>
                  <a:lnTo>
                    <a:pt x="30162" y="90487"/>
                  </a:lnTo>
                </a:path>
              </a:pathLst>
            </a:custGeom>
            <a:noFill/>
            <a:ln w="19050">
              <a:solidFill>
                <a:srgbClr val="F7F5EF"/>
              </a:solidFill>
            </a:ln>
          </p:spPr>
        </p:sp>
        <p:sp>
          <p:nvSpPr>
            <p:cNvPr id="19" name="Freeform 19"/>
            <p:cNvSpPr/>
            <p:nvPr/>
          </p:nvSpPr>
          <p:spPr>
            <a:xfrm>
              <a:off x="1246148" y="3281637"/>
              <a:ext cx="278279" cy="284668"/>
            </a:xfrm>
            <a:custGeom>
              <a:avLst/>
              <a:gdLst/>
              <a:ahLst/>
              <a:cxnLst/>
              <a:rect l="l" t="t" r="r" b="b"/>
              <a:pathLst>
                <a:path w="278279" h="284668">
                  <a:moveTo>
                    <a:pt x="0" y="122756"/>
                  </a:moveTo>
                  <a:cubicBezTo>
                    <a:pt x="6997" y="54068"/>
                    <a:pt x="64443" y="1577"/>
                    <a:pt x="133482" y="789"/>
                  </a:cubicBezTo>
                  <a:cubicBezTo>
                    <a:pt x="202521" y="0"/>
                    <a:pt x="261151" y="51165"/>
                    <a:pt x="269715" y="119675"/>
                  </a:cubicBezTo>
                  <a:cubicBezTo>
                    <a:pt x="278279" y="188186"/>
                    <a:pt x="234047" y="252208"/>
                    <a:pt x="166938" y="268438"/>
                  </a:cubicBezTo>
                  <a:cubicBezTo>
                    <a:pt x="99829" y="284668"/>
                    <a:pt x="31230" y="247933"/>
                    <a:pt x="7541" y="183081"/>
                  </a:cubicBezTo>
                  <a:moveTo>
                    <a:pt x="0" y="258487"/>
                  </a:moveTo>
                  <a:lnTo>
                    <a:pt x="0" y="183081"/>
                  </a:lnTo>
                  <a:lnTo>
                    <a:pt x="75406" y="183081"/>
                  </a:lnTo>
                </a:path>
              </a:pathLst>
            </a:custGeom>
            <a:noFill/>
            <a:ln w="19050">
              <a:solidFill>
                <a:srgbClr val="F7F5EF"/>
              </a:solidFill>
            </a:ln>
          </p:spPr>
        </p:sp>
      </p:grpSp>
      <p:grpSp>
        <p:nvGrpSpPr>
          <p:cNvPr id="25" name="Group 25"/>
          <p:cNvGrpSpPr/>
          <p:nvPr/>
        </p:nvGrpSpPr>
        <p:grpSpPr>
          <a:xfrm>
            <a:off x="1531144" y="4232275"/>
            <a:ext cx="271462" cy="256381"/>
            <a:chOff x="1531144" y="4232275"/>
            <a:chExt cx="271462" cy="256381"/>
          </a:xfrm>
        </p:grpSpPr>
        <p:sp>
          <p:nvSpPr>
            <p:cNvPr id="21" name="Freeform 21"/>
            <p:cNvSpPr/>
            <p:nvPr/>
          </p:nvSpPr>
          <p:spPr>
            <a:xfrm>
              <a:off x="1531144" y="4232275"/>
              <a:ext cx="271462" cy="256381"/>
            </a:xfrm>
            <a:custGeom>
              <a:avLst/>
              <a:gdLst/>
              <a:ahLst/>
              <a:cxnLst/>
              <a:rect l="l" t="t" r="r" b="b"/>
              <a:pathLst>
                <a:path w="271462" h="256381">
                  <a:moveTo>
                    <a:pt x="226218" y="0"/>
                  </a:moveTo>
                  <a:cubicBezTo>
                    <a:pt x="251206" y="0"/>
                    <a:pt x="271462" y="20256"/>
                    <a:pt x="271462" y="45244"/>
                  </a:cubicBezTo>
                  <a:lnTo>
                    <a:pt x="271462" y="165893"/>
                  </a:lnTo>
                  <a:cubicBezTo>
                    <a:pt x="271462" y="190881"/>
                    <a:pt x="251206" y="211137"/>
                    <a:pt x="226218" y="211137"/>
                  </a:cubicBezTo>
                  <a:lnTo>
                    <a:pt x="150812" y="211137"/>
                  </a:lnTo>
                  <a:lnTo>
                    <a:pt x="75406" y="256381"/>
                  </a:lnTo>
                  <a:lnTo>
                    <a:pt x="75406" y="211137"/>
                  </a:lnTo>
                  <a:lnTo>
                    <a:pt x="45244" y="211137"/>
                  </a:lnTo>
                  <a:cubicBezTo>
                    <a:pt x="20256" y="211137"/>
                    <a:pt x="0" y="190881"/>
                    <a:pt x="0" y="165893"/>
                  </a:cubicBezTo>
                  <a:lnTo>
                    <a:pt x="0" y="45244"/>
                  </a:lnTo>
                  <a:cubicBezTo>
                    <a:pt x="0" y="20256"/>
                    <a:pt x="20256" y="0"/>
                    <a:pt x="45244" y="0"/>
                  </a:cubicBezTo>
                  <a:lnTo>
                    <a:pt x="226218" y="0"/>
                  </a:lnTo>
                </a:path>
              </a:pathLst>
            </a:custGeom>
            <a:noFill/>
            <a:ln w="19050">
              <a:solidFill>
                <a:srgbClr val="174C43"/>
              </a:solidFill>
            </a:ln>
          </p:spPr>
        </p:sp>
        <p:sp>
          <p:nvSpPr>
            <p:cNvPr id="22" name="Freeform 22"/>
            <p:cNvSpPr/>
            <p:nvPr/>
          </p:nvSpPr>
          <p:spPr>
            <a:xfrm>
              <a:off x="1629172" y="4307681"/>
              <a:ext cx="9525" cy="9525"/>
            </a:xfrm>
            <a:custGeom>
              <a:avLst/>
              <a:gdLst/>
              <a:ahLst/>
              <a:cxnLst/>
              <a:rect l="l" t="t" r="r" b="b"/>
              <a:pathLst>
                <a:path w="9525" h="9525">
                  <a:moveTo>
                    <a:pt x="0" y="0"/>
                  </a:moveTo>
                  <a:lnTo>
                    <a:pt x="151" y="0"/>
                  </a:lnTo>
                </a:path>
              </a:pathLst>
            </a:custGeom>
            <a:noFill/>
            <a:ln w="19050">
              <a:solidFill>
                <a:srgbClr val="174C43"/>
              </a:solidFill>
            </a:ln>
          </p:spPr>
        </p:sp>
        <p:sp>
          <p:nvSpPr>
            <p:cNvPr id="23" name="Freeform 23"/>
            <p:cNvSpPr/>
            <p:nvPr/>
          </p:nvSpPr>
          <p:spPr>
            <a:xfrm>
              <a:off x="1704578" y="4307681"/>
              <a:ext cx="9525" cy="9525"/>
            </a:xfrm>
            <a:custGeom>
              <a:avLst/>
              <a:gdLst/>
              <a:ahLst/>
              <a:cxnLst/>
              <a:rect l="l" t="t" r="r" b="b"/>
              <a:pathLst>
                <a:path w="9525" h="9525">
                  <a:moveTo>
                    <a:pt x="0" y="0"/>
                  </a:moveTo>
                  <a:lnTo>
                    <a:pt x="151" y="0"/>
                  </a:lnTo>
                </a:path>
              </a:pathLst>
            </a:custGeom>
            <a:noFill/>
            <a:ln w="19050">
              <a:solidFill>
                <a:srgbClr val="174C43"/>
              </a:solidFill>
            </a:ln>
          </p:spPr>
        </p:sp>
        <p:sp>
          <p:nvSpPr>
            <p:cNvPr id="24" name="Freeform 24"/>
            <p:cNvSpPr/>
            <p:nvPr/>
          </p:nvSpPr>
          <p:spPr>
            <a:xfrm>
              <a:off x="1629172" y="4368006"/>
              <a:ext cx="75406" cy="15843"/>
            </a:xfrm>
            <a:custGeom>
              <a:avLst/>
              <a:gdLst/>
              <a:ahLst/>
              <a:cxnLst/>
              <a:rect l="l" t="t" r="r" b="b"/>
              <a:pathLst>
                <a:path w="75406" h="15843">
                  <a:moveTo>
                    <a:pt x="0" y="0"/>
                  </a:moveTo>
                  <a:cubicBezTo>
                    <a:pt x="9928" y="10133"/>
                    <a:pt x="23517" y="15843"/>
                    <a:pt x="37703" y="15843"/>
                  </a:cubicBezTo>
                  <a:cubicBezTo>
                    <a:pt x="51889" y="15843"/>
                    <a:pt x="65478" y="10133"/>
                    <a:pt x="75406" y="0"/>
                  </a:cubicBezTo>
                </a:path>
              </a:pathLst>
            </a:custGeom>
            <a:noFill/>
            <a:ln w="19050">
              <a:solidFill>
                <a:srgbClr val="174C43"/>
              </a:solidFill>
            </a:ln>
          </p:spPr>
        </p:sp>
      </p:grpSp>
      <p:grpSp>
        <p:nvGrpSpPr>
          <p:cNvPr id="28" name="Group 28"/>
          <p:cNvGrpSpPr/>
          <p:nvPr/>
        </p:nvGrpSpPr>
        <p:grpSpPr>
          <a:xfrm>
            <a:off x="1796541" y="5150644"/>
            <a:ext cx="294509" cy="271462"/>
            <a:chOff x="1796541" y="5150644"/>
            <a:chExt cx="294509" cy="271462"/>
          </a:xfrm>
        </p:grpSpPr>
        <p:sp>
          <p:nvSpPr>
            <p:cNvPr id="26" name="Freeform 26"/>
            <p:cNvSpPr/>
            <p:nvPr/>
          </p:nvSpPr>
          <p:spPr>
            <a:xfrm>
              <a:off x="1796541" y="5150644"/>
              <a:ext cx="294509" cy="269139"/>
            </a:xfrm>
            <a:custGeom>
              <a:avLst/>
              <a:gdLst/>
              <a:ahLst/>
              <a:cxnLst/>
              <a:rect l="l" t="t" r="r" b="b"/>
              <a:pathLst>
                <a:path w="294509" h="269139">
                  <a:moveTo>
                    <a:pt x="147940" y="269139"/>
                  </a:moveTo>
                  <a:cubicBezTo>
                    <a:pt x="53463" y="239854"/>
                    <a:pt x="0" y="140141"/>
                    <a:pt x="27893" y="45244"/>
                  </a:cubicBezTo>
                  <a:cubicBezTo>
                    <a:pt x="74879" y="47394"/>
                    <a:pt x="120857" y="31166"/>
                    <a:pt x="156084" y="0"/>
                  </a:cubicBezTo>
                  <a:cubicBezTo>
                    <a:pt x="191311" y="31166"/>
                    <a:pt x="237288" y="47394"/>
                    <a:pt x="284274" y="45244"/>
                  </a:cubicBezTo>
                  <a:cubicBezTo>
                    <a:pt x="294509" y="80068"/>
                    <a:pt x="294037" y="117165"/>
                    <a:pt x="282917" y="151717"/>
                  </a:cubicBezTo>
                </a:path>
              </a:pathLst>
            </a:custGeom>
            <a:noFill/>
            <a:ln w="19050">
              <a:solidFill>
                <a:srgbClr val="C76B3C"/>
              </a:solidFill>
            </a:ln>
          </p:spPr>
        </p:sp>
        <p:sp>
          <p:nvSpPr>
            <p:cNvPr id="27" name="Freeform 27"/>
            <p:cNvSpPr/>
            <p:nvPr/>
          </p:nvSpPr>
          <p:spPr>
            <a:xfrm>
              <a:off x="1997868" y="5361781"/>
              <a:ext cx="90487" cy="60325"/>
            </a:xfrm>
            <a:custGeom>
              <a:avLst/>
              <a:gdLst/>
              <a:ahLst/>
              <a:cxnLst/>
              <a:rect l="l" t="t" r="r" b="b"/>
              <a:pathLst>
                <a:path w="90487" h="60325">
                  <a:moveTo>
                    <a:pt x="0" y="30162"/>
                  </a:moveTo>
                  <a:lnTo>
                    <a:pt x="30162" y="60325"/>
                  </a:lnTo>
                  <a:lnTo>
                    <a:pt x="90487" y="0"/>
                  </a:lnTo>
                </a:path>
              </a:pathLst>
            </a:custGeom>
            <a:noFill/>
            <a:ln w="19050">
              <a:solidFill>
                <a:srgbClr val="C76B3C"/>
              </a:solidFill>
            </a:ln>
          </p:spPr>
        </p:sp>
      </p:grpSp>
      <p:sp>
        <p:nvSpPr>
          <p:cNvPr id="29" name="TextBox 29"/>
          <p:cNvSpPr txBox="1"/>
          <p:nvPr/>
        </p:nvSpPr>
        <p:spPr>
          <a:xfrm>
            <a:off x="1408748" y="2277904"/>
            <a:ext cx="922115" cy="320040"/>
          </a:xfrm>
          <a:prstGeom prst="rect">
            <a:avLst/>
          </a:prstGeom>
          <a:noFill/>
          <a:ln>
            <a:noFill/>
          </a:ln>
        </p:spPr>
        <p:txBody>
          <a:bodyPr wrap="none" lIns="0" tIns="0" rIns="0" bIns="0" anchor="t" anchorCtr="0">
            <a:spAutoFit/>
          </a:bodyPr>
          <a:lstStyle/>
          <a:p>
            <a:pPr algn="l"/>
            <a:r>
              <a:rPr lang="zh-CN" sz="1575" b="1" dirty="0">
                <a:solidFill>
                  <a:srgbClr val="F7F5EF"/>
                </a:solidFill>
                <a:latin typeface="Arial"/>
                <a:ea typeface="Microsoft YaHei"/>
                <a:cs typeface="Arial"/>
              </a:rPr>
              <a:t>基础资料</a:t>
            </a:r>
          </a:p>
        </p:txBody>
      </p:sp>
      <p:sp>
        <p:nvSpPr>
          <p:cNvPr id="30" name="TextBox 30"/>
          <p:cNvSpPr txBox="1"/>
          <p:nvPr/>
        </p:nvSpPr>
        <p:spPr>
          <a:xfrm>
            <a:off x="1413510" y="2585085"/>
            <a:ext cx="2430780" cy="243840"/>
          </a:xfrm>
          <a:prstGeom prst="rect">
            <a:avLst/>
          </a:prstGeom>
          <a:noFill/>
          <a:ln>
            <a:noFill/>
          </a:ln>
        </p:spPr>
        <p:txBody>
          <a:bodyPr wrap="none" lIns="0" tIns="0" rIns="0" bIns="0" anchor="t" anchorCtr="0">
            <a:spAutoFit/>
          </a:bodyPr>
          <a:lstStyle/>
          <a:p>
            <a:pPr algn="l"/>
            <a:r>
              <a:rPr lang="zh-CN" sz="1200" dirty="0">
                <a:solidFill>
                  <a:srgbClr val="F7F5EF"/>
                </a:solidFill>
                <a:latin typeface="Arial"/>
                <a:ea typeface="Microsoft YaHei"/>
                <a:cs typeface="Arial"/>
              </a:rPr>
              <a:t>年龄、性别、身高体重、主要诉求</a:t>
            </a:r>
          </a:p>
        </p:txBody>
      </p:sp>
      <p:sp>
        <p:nvSpPr>
          <p:cNvPr id="31" name="TextBox 31"/>
          <p:cNvSpPr txBox="1"/>
          <p:nvPr/>
        </p:nvSpPr>
        <p:spPr>
          <a:xfrm>
            <a:off x="1694498" y="3211354"/>
            <a:ext cx="1142643" cy="320040"/>
          </a:xfrm>
          <a:prstGeom prst="rect">
            <a:avLst/>
          </a:prstGeom>
          <a:noFill/>
          <a:ln>
            <a:noFill/>
          </a:ln>
        </p:spPr>
        <p:txBody>
          <a:bodyPr wrap="none" lIns="0" tIns="0" rIns="0" bIns="0" anchor="t" anchorCtr="0">
            <a:spAutoFit/>
          </a:bodyPr>
          <a:lstStyle/>
          <a:p>
            <a:pPr algn="l"/>
            <a:r>
              <a:rPr lang="zh-CN" sz="1575" b="1" dirty="0">
                <a:solidFill>
                  <a:srgbClr val="F7F5EF"/>
                </a:solidFill>
                <a:latin typeface="Arial"/>
                <a:ea typeface="Microsoft YaHei"/>
                <a:cs typeface="Arial"/>
              </a:rPr>
              <a:t>病程与风险</a:t>
            </a:r>
          </a:p>
        </p:txBody>
      </p:sp>
      <p:sp>
        <p:nvSpPr>
          <p:cNvPr id="32" name="TextBox 32"/>
          <p:cNvSpPr txBox="1"/>
          <p:nvPr/>
        </p:nvSpPr>
        <p:spPr>
          <a:xfrm>
            <a:off x="1699260" y="3518535"/>
            <a:ext cx="3550920" cy="243840"/>
          </a:xfrm>
          <a:prstGeom prst="rect">
            <a:avLst/>
          </a:prstGeom>
          <a:noFill/>
          <a:ln>
            <a:noFill/>
          </a:ln>
        </p:spPr>
        <p:txBody>
          <a:bodyPr wrap="none" lIns="0" tIns="0" rIns="0" bIns="0" anchor="t" anchorCtr="0">
            <a:spAutoFit/>
          </a:bodyPr>
          <a:lstStyle/>
          <a:p>
            <a:pPr algn="l"/>
            <a:r>
              <a:rPr lang="zh-CN" sz="1200" dirty="0">
                <a:solidFill>
                  <a:srgbClr val="F7F5EF"/>
                </a:solidFill>
                <a:latin typeface="Arial"/>
                <a:ea typeface="Microsoft YaHei"/>
                <a:cs typeface="Arial"/>
              </a:rPr>
              <a:t>体重变化、起病经过、诱因、减重经历、重要病史</a:t>
            </a:r>
          </a:p>
        </p:txBody>
      </p:sp>
      <p:sp>
        <p:nvSpPr>
          <p:cNvPr id="33" name="TextBox 33"/>
          <p:cNvSpPr txBox="1"/>
          <p:nvPr/>
        </p:nvSpPr>
        <p:spPr>
          <a:xfrm>
            <a:off x="1980248" y="4144804"/>
            <a:ext cx="1363170" cy="320040"/>
          </a:xfrm>
          <a:prstGeom prst="rect">
            <a:avLst/>
          </a:prstGeom>
          <a:noFill/>
          <a:ln>
            <a:noFill/>
          </a:ln>
        </p:spPr>
        <p:txBody>
          <a:bodyPr wrap="none" lIns="0" tIns="0" rIns="0" bIns="0" anchor="t" anchorCtr="0">
            <a:spAutoFit/>
          </a:bodyPr>
          <a:lstStyle/>
          <a:p>
            <a:pPr algn="l"/>
            <a:r>
              <a:rPr lang="zh-CN" sz="1575" b="1" dirty="0">
                <a:solidFill>
                  <a:srgbClr val="174C43"/>
                </a:solidFill>
                <a:latin typeface="Arial"/>
                <a:ea typeface="Microsoft YaHei"/>
                <a:cs typeface="Arial"/>
              </a:rPr>
              <a:t>核心中医症状</a:t>
            </a:r>
          </a:p>
        </p:txBody>
      </p:sp>
      <p:sp>
        <p:nvSpPr>
          <p:cNvPr id="34" name="TextBox 34"/>
          <p:cNvSpPr txBox="1"/>
          <p:nvPr/>
        </p:nvSpPr>
        <p:spPr>
          <a:xfrm>
            <a:off x="1985010" y="4451985"/>
            <a:ext cx="323088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食欲口渴、二便、睡眠情绪、疲劳与活动耐力</a:t>
            </a:r>
          </a:p>
        </p:txBody>
      </p:sp>
      <p:sp>
        <p:nvSpPr>
          <p:cNvPr id="35" name="TextBox 35"/>
          <p:cNvSpPr txBox="1"/>
          <p:nvPr/>
        </p:nvSpPr>
        <p:spPr>
          <a:xfrm>
            <a:off x="2265998" y="5078254"/>
            <a:ext cx="922115" cy="320040"/>
          </a:xfrm>
          <a:prstGeom prst="rect">
            <a:avLst/>
          </a:prstGeom>
          <a:noFill/>
          <a:ln>
            <a:noFill/>
          </a:ln>
        </p:spPr>
        <p:txBody>
          <a:bodyPr wrap="none" lIns="0" tIns="0" rIns="0" bIns="0" anchor="t" anchorCtr="0">
            <a:spAutoFit/>
          </a:bodyPr>
          <a:lstStyle/>
          <a:p>
            <a:pPr algn="l"/>
            <a:r>
              <a:rPr lang="zh-CN" sz="1575" b="1" dirty="0">
                <a:solidFill>
                  <a:srgbClr val="C76B3C"/>
                </a:solidFill>
                <a:latin typeface="Arial"/>
                <a:ea typeface="Microsoft YaHei"/>
                <a:cs typeface="Arial"/>
              </a:rPr>
              <a:t>安全信息</a:t>
            </a:r>
          </a:p>
        </p:txBody>
      </p:sp>
      <p:sp>
        <p:nvSpPr>
          <p:cNvPr id="36" name="TextBox 36"/>
          <p:cNvSpPr txBox="1"/>
          <p:nvPr/>
        </p:nvSpPr>
        <p:spPr>
          <a:xfrm>
            <a:off x="2270760" y="5385435"/>
            <a:ext cx="307086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用药、过敏、危险信号、适用时的妊娠信息</a:t>
            </a:r>
          </a:p>
        </p:txBody>
      </p:sp>
      <p:sp>
        <p:nvSpPr>
          <p:cNvPr id="37" name="Rectangle 37"/>
          <p:cNvSpPr/>
          <p:nvPr/>
        </p:nvSpPr>
        <p:spPr>
          <a:xfrm>
            <a:off x="7620000" y="2095500"/>
            <a:ext cx="3619500" cy="3600450"/>
          </a:xfrm>
          <a:prstGeom prst="rect">
            <a:avLst/>
          </a:prstGeom>
          <a:solidFill>
            <a:srgbClr val="FFFFFF"/>
          </a:solidFill>
          <a:ln w="19050">
            <a:solidFill>
              <a:srgbClr val="CDD8D2"/>
            </a:solidFill>
          </a:ln>
        </p:spPr>
      </p:sp>
      <p:sp>
        <p:nvSpPr>
          <p:cNvPr id="38" name="TextBox 38"/>
          <p:cNvSpPr txBox="1"/>
          <p:nvPr/>
        </p:nvSpPr>
        <p:spPr>
          <a:xfrm>
            <a:off x="7980045" y="2365058"/>
            <a:ext cx="1890141" cy="335280"/>
          </a:xfrm>
          <a:prstGeom prst="rect">
            <a:avLst/>
          </a:prstGeom>
          <a:noFill/>
          <a:ln>
            <a:noFill/>
          </a:ln>
        </p:spPr>
        <p:txBody>
          <a:bodyPr wrap="none" lIns="0" tIns="0" rIns="0" bIns="0" anchor="t" anchorCtr="0">
            <a:spAutoFit/>
          </a:bodyPr>
          <a:lstStyle/>
          <a:p>
            <a:pPr algn="l"/>
            <a:r>
              <a:rPr lang="zh-CN" sz="1650" b="1" dirty="0">
                <a:solidFill>
                  <a:srgbClr val="174C43"/>
                </a:solidFill>
                <a:latin typeface="Arial"/>
                <a:ea typeface="Microsoft YaHei"/>
                <a:cs typeface="Arial"/>
              </a:rPr>
              <a:t>仍会阻塞正常完成</a:t>
            </a:r>
          </a:p>
        </p:txBody>
      </p:sp>
      <p:sp>
        <p:nvSpPr>
          <p:cNvPr id="39" name="Line 39"/>
          <p:cNvSpPr/>
          <p:nvPr/>
        </p:nvSpPr>
        <p:spPr>
          <a:xfrm>
            <a:off x="8001000" y="2743200"/>
            <a:ext cx="2857500" cy="9525"/>
          </a:xfrm>
          <a:custGeom>
            <a:avLst/>
            <a:gdLst/>
            <a:ahLst/>
            <a:cxnLst/>
            <a:rect l="l" t="t" r="r" b="b"/>
            <a:pathLst>
              <a:path w="2857500" h="9525">
                <a:moveTo>
                  <a:pt x="0" y="0"/>
                </a:moveTo>
                <a:lnTo>
                  <a:pt x="2857500" y="0"/>
                </a:lnTo>
              </a:path>
            </a:pathLst>
          </a:custGeom>
          <a:noFill/>
          <a:ln w="9525">
            <a:solidFill>
              <a:srgbClr val="CDD8D2"/>
            </a:solidFill>
          </a:ln>
        </p:spPr>
      </p:sp>
      <p:grpSp>
        <p:nvGrpSpPr>
          <p:cNvPr id="43" name="Group 43"/>
          <p:cNvGrpSpPr/>
          <p:nvPr/>
        </p:nvGrpSpPr>
        <p:grpSpPr>
          <a:xfrm>
            <a:off x="8023799" y="3079763"/>
            <a:ext cx="240143" cy="206314"/>
            <a:chOff x="8023799" y="3079763"/>
            <a:chExt cx="240143" cy="206314"/>
          </a:xfrm>
        </p:grpSpPr>
        <p:sp>
          <p:nvSpPr>
            <p:cNvPr id="40" name="Freeform 40"/>
            <p:cNvSpPr/>
            <p:nvPr/>
          </p:nvSpPr>
          <p:spPr>
            <a:xfrm>
              <a:off x="8143875" y="3155156"/>
              <a:ext cx="9525" cy="47625"/>
            </a:xfrm>
            <a:custGeom>
              <a:avLst/>
              <a:gdLst/>
              <a:ahLst/>
              <a:cxnLst/>
              <a:rect l="l" t="t" r="r" b="b"/>
              <a:pathLst>
                <a:path w="9525" h="47625">
                  <a:moveTo>
                    <a:pt x="0" y="0"/>
                  </a:moveTo>
                  <a:lnTo>
                    <a:pt x="0" y="47625"/>
                  </a:lnTo>
                </a:path>
              </a:pathLst>
            </a:custGeom>
            <a:noFill/>
            <a:ln w="19050">
              <a:solidFill>
                <a:srgbClr val="C76B3C"/>
              </a:solidFill>
            </a:ln>
          </p:spPr>
        </p:sp>
        <p:sp>
          <p:nvSpPr>
            <p:cNvPr id="41" name="Freeform 41"/>
            <p:cNvSpPr/>
            <p:nvPr/>
          </p:nvSpPr>
          <p:spPr>
            <a:xfrm>
              <a:off x="8023799" y="307976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19050">
              <a:solidFill>
                <a:srgbClr val="C76B3C"/>
              </a:solidFill>
            </a:ln>
          </p:spPr>
        </p:sp>
        <p:sp>
          <p:nvSpPr>
            <p:cNvPr id="42" name="Freeform 42"/>
            <p:cNvSpPr/>
            <p:nvPr/>
          </p:nvSpPr>
          <p:spPr>
            <a:xfrm>
              <a:off x="8143875" y="3238500"/>
              <a:ext cx="9525" cy="9525"/>
            </a:xfrm>
            <a:custGeom>
              <a:avLst/>
              <a:gdLst/>
              <a:ahLst/>
              <a:cxnLst/>
              <a:rect l="l" t="t" r="r" b="b"/>
              <a:pathLst>
                <a:path w="9525" h="9525">
                  <a:moveTo>
                    <a:pt x="0" y="0"/>
                  </a:moveTo>
                  <a:lnTo>
                    <a:pt x="119" y="0"/>
                  </a:lnTo>
                </a:path>
              </a:pathLst>
            </a:custGeom>
            <a:noFill/>
            <a:ln w="19050">
              <a:solidFill>
                <a:srgbClr val="C76B3C"/>
              </a:solidFill>
            </a:ln>
          </p:spPr>
        </p:sp>
      </p:grpSp>
      <p:sp>
        <p:nvSpPr>
          <p:cNvPr id="44" name="TextBox 44"/>
          <p:cNvSpPr txBox="1"/>
          <p:nvPr/>
        </p:nvSpPr>
        <p:spPr>
          <a:xfrm>
            <a:off x="8441055" y="3121342"/>
            <a:ext cx="1474470"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核心字段仍然缺失</a:t>
            </a:r>
          </a:p>
        </p:txBody>
      </p:sp>
      <p:grpSp>
        <p:nvGrpSpPr>
          <p:cNvPr id="48" name="Group 48"/>
          <p:cNvGrpSpPr/>
          <p:nvPr/>
        </p:nvGrpSpPr>
        <p:grpSpPr>
          <a:xfrm>
            <a:off x="8023799" y="3670313"/>
            <a:ext cx="240143" cy="206314"/>
            <a:chOff x="8023799" y="3670313"/>
            <a:chExt cx="240143" cy="206314"/>
          </a:xfrm>
        </p:grpSpPr>
        <p:sp>
          <p:nvSpPr>
            <p:cNvPr id="45" name="Freeform 45"/>
            <p:cNvSpPr/>
            <p:nvPr/>
          </p:nvSpPr>
          <p:spPr>
            <a:xfrm>
              <a:off x="8143875" y="3745706"/>
              <a:ext cx="9525" cy="47625"/>
            </a:xfrm>
            <a:custGeom>
              <a:avLst/>
              <a:gdLst/>
              <a:ahLst/>
              <a:cxnLst/>
              <a:rect l="l" t="t" r="r" b="b"/>
              <a:pathLst>
                <a:path w="9525" h="47625">
                  <a:moveTo>
                    <a:pt x="0" y="0"/>
                  </a:moveTo>
                  <a:lnTo>
                    <a:pt x="0" y="47625"/>
                  </a:lnTo>
                </a:path>
              </a:pathLst>
            </a:custGeom>
            <a:noFill/>
            <a:ln w="19050">
              <a:solidFill>
                <a:srgbClr val="C76B3C"/>
              </a:solidFill>
            </a:ln>
          </p:spPr>
        </p:sp>
        <p:sp>
          <p:nvSpPr>
            <p:cNvPr id="46" name="Freeform 46"/>
            <p:cNvSpPr/>
            <p:nvPr/>
          </p:nvSpPr>
          <p:spPr>
            <a:xfrm>
              <a:off x="8023799" y="367031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19050">
              <a:solidFill>
                <a:srgbClr val="C76B3C"/>
              </a:solidFill>
            </a:ln>
          </p:spPr>
        </p:sp>
        <p:sp>
          <p:nvSpPr>
            <p:cNvPr id="47" name="Freeform 47"/>
            <p:cNvSpPr/>
            <p:nvPr/>
          </p:nvSpPr>
          <p:spPr>
            <a:xfrm>
              <a:off x="8143875" y="3829050"/>
              <a:ext cx="9525" cy="9525"/>
            </a:xfrm>
            <a:custGeom>
              <a:avLst/>
              <a:gdLst/>
              <a:ahLst/>
              <a:cxnLst/>
              <a:rect l="l" t="t" r="r" b="b"/>
              <a:pathLst>
                <a:path w="9525" h="9525">
                  <a:moveTo>
                    <a:pt x="0" y="0"/>
                  </a:moveTo>
                  <a:lnTo>
                    <a:pt x="119" y="0"/>
                  </a:lnTo>
                </a:path>
              </a:pathLst>
            </a:custGeom>
            <a:noFill/>
            <a:ln w="19050">
              <a:solidFill>
                <a:srgbClr val="C76B3C"/>
              </a:solidFill>
            </a:ln>
          </p:spPr>
        </p:sp>
      </p:grpSp>
      <p:sp>
        <p:nvSpPr>
          <p:cNvPr id="49" name="TextBox 49"/>
          <p:cNvSpPr txBox="1"/>
          <p:nvPr/>
        </p:nvSpPr>
        <p:spPr>
          <a:xfrm>
            <a:off x="8441055" y="3711892"/>
            <a:ext cx="1654492"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回答只形成部分信息</a:t>
            </a:r>
          </a:p>
        </p:txBody>
      </p:sp>
      <p:grpSp>
        <p:nvGrpSpPr>
          <p:cNvPr id="53" name="Group 53"/>
          <p:cNvGrpSpPr/>
          <p:nvPr/>
        </p:nvGrpSpPr>
        <p:grpSpPr>
          <a:xfrm>
            <a:off x="8023799" y="4260863"/>
            <a:ext cx="240143" cy="206314"/>
            <a:chOff x="8023799" y="4260863"/>
            <a:chExt cx="240143" cy="206314"/>
          </a:xfrm>
        </p:grpSpPr>
        <p:sp>
          <p:nvSpPr>
            <p:cNvPr id="50" name="Freeform 50"/>
            <p:cNvSpPr/>
            <p:nvPr/>
          </p:nvSpPr>
          <p:spPr>
            <a:xfrm>
              <a:off x="8143875" y="4336256"/>
              <a:ext cx="9525" cy="47625"/>
            </a:xfrm>
            <a:custGeom>
              <a:avLst/>
              <a:gdLst/>
              <a:ahLst/>
              <a:cxnLst/>
              <a:rect l="l" t="t" r="r" b="b"/>
              <a:pathLst>
                <a:path w="9525" h="47625">
                  <a:moveTo>
                    <a:pt x="0" y="0"/>
                  </a:moveTo>
                  <a:lnTo>
                    <a:pt x="0" y="47625"/>
                  </a:lnTo>
                </a:path>
              </a:pathLst>
            </a:custGeom>
            <a:noFill/>
            <a:ln w="19050">
              <a:solidFill>
                <a:srgbClr val="C76B3C"/>
              </a:solidFill>
            </a:ln>
          </p:spPr>
        </p:sp>
        <p:sp>
          <p:nvSpPr>
            <p:cNvPr id="51" name="Freeform 51"/>
            <p:cNvSpPr/>
            <p:nvPr/>
          </p:nvSpPr>
          <p:spPr>
            <a:xfrm>
              <a:off x="8023799" y="426086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19050">
              <a:solidFill>
                <a:srgbClr val="C76B3C"/>
              </a:solidFill>
            </a:ln>
          </p:spPr>
        </p:sp>
        <p:sp>
          <p:nvSpPr>
            <p:cNvPr id="52" name="Freeform 52"/>
            <p:cNvSpPr/>
            <p:nvPr/>
          </p:nvSpPr>
          <p:spPr>
            <a:xfrm>
              <a:off x="8143875" y="4419600"/>
              <a:ext cx="9525" cy="9525"/>
            </a:xfrm>
            <a:custGeom>
              <a:avLst/>
              <a:gdLst/>
              <a:ahLst/>
              <a:cxnLst/>
              <a:rect l="l" t="t" r="r" b="b"/>
              <a:pathLst>
                <a:path w="9525" h="9525">
                  <a:moveTo>
                    <a:pt x="0" y="0"/>
                  </a:moveTo>
                  <a:lnTo>
                    <a:pt x="119" y="0"/>
                  </a:lnTo>
                </a:path>
              </a:pathLst>
            </a:custGeom>
            <a:noFill/>
            <a:ln w="19050">
              <a:solidFill>
                <a:srgbClr val="C76B3C"/>
              </a:solidFill>
            </a:ln>
          </p:spPr>
        </p:sp>
      </p:grpSp>
      <p:sp>
        <p:nvSpPr>
          <p:cNvPr id="54" name="TextBox 54"/>
          <p:cNvSpPr txBox="1"/>
          <p:nvPr/>
        </p:nvSpPr>
        <p:spPr>
          <a:xfrm>
            <a:off x="8441055" y="4302442"/>
            <a:ext cx="1474470"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关键回答前后矛盾</a:t>
            </a:r>
          </a:p>
        </p:txBody>
      </p:sp>
      <p:grpSp>
        <p:nvGrpSpPr>
          <p:cNvPr id="58" name="Group 58"/>
          <p:cNvGrpSpPr/>
          <p:nvPr/>
        </p:nvGrpSpPr>
        <p:grpSpPr>
          <a:xfrm>
            <a:off x="8023799" y="4851413"/>
            <a:ext cx="240143" cy="206314"/>
            <a:chOff x="8023799" y="4851413"/>
            <a:chExt cx="240143" cy="206314"/>
          </a:xfrm>
        </p:grpSpPr>
        <p:sp>
          <p:nvSpPr>
            <p:cNvPr id="55" name="Freeform 55"/>
            <p:cNvSpPr/>
            <p:nvPr/>
          </p:nvSpPr>
          <p:spPr>
            <a:xfrm>
              <a:off x="8143875" y="4926806"/>
              <a:ext cx="9525" cy="47625"/>
            </a:xfrm>
            <a:custGeom>
              <a:avLst/>
              <a:gdLst/>
              <a:ahLst/>
              <a:cxnLst/>
              <a:rect l="l" t="t" r="r" b="b"/>
              <a:pathLst>
                <a:path w="9525" h="47625">
                  <a:moveTo>
                    <a:pt x="0" y="0"/>
                  </a:moveTo>
                  <a:lnTo>
                    <a:pt x="0" y="47625"/>
                  </a:lnTo>
                </a:path>
              </a:pathLst>
            </a:custGeom>
            <a:noFill/>
            <a:ln w="19050">
              <a:solidFill>
                <a:srgbClr val="C76B3C"/>
              </a:solidFill>
            </a:ln>
          </p:spPr>
        </p:sp>
        <p:sp>
          <p:nvSpPr>
            <p:cNvPr id="56" name="Freeform 56"/>
            <p:cNvSpPr/>
            <p:nvPr/>
          </p:nvSpPr>
          <p:spPr>
            <a:xfrm>
              <a:off x="8023799" y="485141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19050">
              <a:solidFill>
                <a:srgbClr val="C76B3C"/>
              </a:solidFill>
            </a:ln>
          </p:spPr>
        </p:sp>
        <p:sp>
          <p:nvSpPr>
            <p:cNvPr id="57" name="Freeform 57"/>
            <p:cNvSpPr/>
            <p:nvPr/>
          </p:nvSpPr>
          <p:spPr>
            <a:xfrm>
              <a:off x="8143875" y="5010150"/>
              <a:ext cx="9525" cy="9525"/>
            </a:xfrm>
            <a:custGeom>
              <a:avLst/>
              <a:gdLst/>
              <a:ahLst/>
              <a:cxnLst/>
              <a:rect l="l" t="t" r="r" b="b"/>
              <a:pathLst>
                <a:path w="9525" h="9525">
                  <a:moveTo>
                    <a:pt x="0" y="0"/>
                  </a:moveTo>
                  <a:lnTo>
                    <a:pt x="119" y="0"/>
                  </a:lnTo>
                </a:path>
              </a:pathLst>
            </a:custGeom>
            <a:noFill/>
            <a:ln w="19050">
              <a:solidFill>
                <a:srgbClr val="C76B3C"/>
              </a:solidFill>
            </a:ln>
          </p:spPr>
        </p:sp>
      </p:grpSp>
      <p:sp>
        <p:nvSpPr>
          <p:cNvPr id="59" name="TextBox 59"/>
          <p:cNvSpPr txBox="1"/>
          <p:nvPr/>
        </p:nvSpPr>
        <p:spPr>
          <a:xfrm>
            <a:off x="8441055" y="4892992"/>
            <a:ext cx="1474470"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安全信息尚未确认</a:t>
            </a:r>
          </a:p>
        </p:txBody>
      </p:sp>
      <p:sp>
        <p:nvSpPr>
          <p:cNvPr id="60" name="TextBox 60"/>
          <p:cNvSpPr txBox="1"/>
          <p:nvPr/>
        </p:nvSpPr>
        <p:spPr>
          <a:xfrm>
            <a:off x="7599045" y="5936932"/>
            <a:ext cx="2155824" cy="335280"/>
          </a:xfrm>
          <a:prstGeom prst="rect">
            <a:avLst/>
          </a:prstGeom>
          <a:noFill/>
          <a:ln>
            <a:noFill/>
          </a:ln>
        </p:spPr>
        <p:txBody>
          <a:bodyPr wrap="none" lIns="0" tIns="0" rIns="0" bIns="0" anchor="t" anchorCtr="0">
            <a:spAutoFit/>
          </a:bodyPr>
          <a:lstStyle/>
          <a:p>
            <a:pPr algn="l"/>
            <a:r>
              <a:rPr lang="zh-CN" sz="1650" b="1" dirty="0">
                <a:solidFill>
                  <a:srgbClr val="174C43"/>
                </a:solidFill>
                <a:latin typeface="Arial"/>
                <a:ea typeface="Microsoft YaHei"/>
                <a:cs typeface="Arial"/>
              </a:rPr>
              <a:t>完整度 ≠ 已回答题数</a:t>
            </a:r>
          </a:p>
        </p:txBody>
      </p:sp>
      <p:sp>
        <p:nvSpPr>
          <p:cNvPr id="61" name="TextBox 61"/>
          <p:cNvSpPr txBox="1"/>
          <p:nvPr/>
        </p:nvSpPr>
        <p:spPr>
          <a:xfrm>
            <a:off x="9812655" y="5969318"/>
            <a:ext cx="1474470" cy="274320"/>
          </a:xfrm>
          <a:prstGeom prst="rect">
            <a:avLst/>
          </a:prstGeom>
          <a:noFill/>
          <a:ln>
            <a:noFill/>
          </a:ln>
        </p:spPr>
        <p:txBody>
          <a:bodyPr wrap="none" lIns="0" tIns="0" rIns="0" bIns="0" anchor="t" anchorCtr="0">
            <a:spAutoFit/>
          </a:bodyPr>
          <a:lstStyle/>
          <a:p>
            <a:pPr algn="l"/>
            <a:r>
              <a:rPr lang="zh-CN" sz="1350" dirty="0">
                <a:solidFill>
                  <a:srgbClr val="62716B"/>
                </a:solidFill>
                <a:latin typeface="Arial"/>
                <a:ea typeface="Microsoft YaHei"/>
                <a:cs typeface="Arial"/>
              </a:rPr>
              <a:t>核心信息是否可用</a:t>
            </a:r>
          </a:p>
        </p:txBody>
      </p:sp>
      <p:sp>
        <p:nvSpPr>
          <p:cNvPr id="62" name="TextBox 62"/>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07</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6215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07 · 完成策略</a:t>
            </a:r>
          </a:p>
        </p:txBody>
      </p:sp>
      <p:sp>
        <p:nvSpPr>
          <p:cNvPr id="4" name="TextBox 4"/>
          <p:cNvSpPr txBox="1"/>
          <p:nvPr/>
        </p:nvSpPr>
        <p:spPr>
          <a:xfrm>
            <a:off x="575310" y="908685"/>
            <a:ext cx="5739289" cy="548640"/>
          </a:xfrm>
          <a:prstGeom prst="rect">
            <a:avLst/>
          </a:prstGeom>
          <a:noFill/>
          <a:ln>
            <a:noFill/>
          </a:ln>
        </p:spPr>
        <p:txBody>
          <a:bodyPr wrap="none" lIns="0" tIns="0" rIns="0" bIns="0" anchor="t" anchorCtr="0">
            <a:spAutoFit/>
          </a:bodyPr>
          <a:lstStyle/>
          <a:p>
            <a:pPr algn="l"/>
            <a:r>
              <a:rPr lang="zh-CN" sz="2700" b="1" dirty="0">
                <a:solidFill>
                  <a:srgbClr val="174C43"/>
                </a:solidFill>
                <a:latin typeface="Arial"/>
                <a:ea typeface="Microsoft YaHei"/>
                <a:cs typeface="Arial"/>
              </a:rPr>
              <a:t>为什么不要求患者回答所有问题？</a:t>
            </a:r>
          </a:p>
        </p:txBody>
      </p:sp>
      <p:sp>
        <p:nvSpPr>
          <p:cNvPr id="5" name="Line 5"/>
          <p:cNvSpPr/>
          <p:nvPr/>
        </p:nvSpPr>
        <p:spPr>
          <a:xfrm>
            <a:off x="609600" y="1409700"/>
            <a:ext cx="10972800" cy="9525"/>
          </a:xfrm>
          <a:custGeom>
            <a:avLst/>
            <a:gdLst/>
            <a:ahLst/>
            <a:cxnLst/>
            <a:rect l="l" t="t" r="r" b="b"/>
            <a:pathLst>
              <a:path w="10972800" h="9525">
                <a:moveTo>
                  <a:pt x="0" y="0"/>
                </a:moveTo>
                <a:lnTo>
                  <a:pt x="10972800" y="0"/>
                </a:lnTo>
              </a:path>
            </a:pathLst>
          </a:custGeom>
          <a:noFill/>
          <a:ln w="19050">
            <a:solidFill>
              <a:srgbClr val="CDD8D2"/>
            </a:solidFill>
          </a:ln>
        </p:spPr>
      </p:sp>
      <p:sp>
        <p:nvSpPr>
          <p:cNvPr id="6" name="Rectangle 6"/>
          <p:cNvSpPr/>
          <p:nvPr/>
        </p:nvSpPr>
        <p:spPr>
          <a:xfrm>
            <a:off x="666750" y="1943100"/>
            <a:ext cx="4762500" cy="3619500"/>
          </a:xfrm>
          <a:prstGeom prst="rect">
            <a:avLst/>
          </a:prstGeom>
          <a:solidFill>
            <a:srgbClr val="174C43"/>
          </a:solidFill>
          <a:ln>
            <a:noFill/>
          </a:ln>
        </p:spPr>
      </p:sp>
      <p:sp>
        <p:nvSpPr>
          <p:cNvPr id="7" name="Rectangle 7"/>
          <p:cNvSpPr/>
          <p:nvPr/>
        </p:nvSpPr>
        <p:spPr>
          <a:xfrm>
            <a:off x="6762750" y="1943100"/>
            <a:ext cx="4762500" cy="3619500"/>
          </a:xfrm>
          <a:prstGeom prst="rect">
            <a:avLst/>
          </a:prstGeom>
          <a:solidFill>
            <a:srgbClr val="FFFFFF"/>
          </a:solidFill>
          <a:ln w="19050">
            <a:solidFill>
              <a:srgbClr val="CDD8D2"/>
            </a:solidFill>
          </a:ln>
        </p:spPr>
      </p:sp>
      <p:grpSp>
        <p:nvGrpSpPr>
          <p:cNvPr id="10" name="Group 10"/>
          <p:cNvGrpSpPr/>
          <p:nvPr/>
        </p:nvGrpSpPr>
        <p:grpSpPr>
          <a:xfrm>
            <a:off x="1040606" y="2316956"/>
            <a:ext cx="300038" cy="300038"/>
            <a:chOff x="1040606" y="2316956"/>
            <a:chExt cx="300038" cy="300038"/>
          </a:xfrm>
        </p:grpSpPr>
        <p:sp>
          <p:nvSpPr>
            <p:cNvPr id="8" name="Freeform 8"/>
            <p:cNvSpPr/>
            <p:nvPr/>
          </p:nvSpPr>
          <p:spPr>
            <a:xfrm>
              <a:off x="1040606" y="2316956"/>
              <a:ext cx="300038" cy="300038"/>
            </a:xfrm>
            <a:custGeom>
              <a:avLst/>
              <a:gdLst/>
              <a:ahLst/>
              <a:cxnLst/>
              <a:rect l="l" t="t" r="r" b="b"/>
              <a:pathLst>
                <a:path w="300038" h="300038">
                  <a:moveTo>
                    <a:pt x="0" y="150019"/>
                  </a:moveTo>
                  <a:cubicBezTo>
                    <a:pt x="0" y="232872"/>
                    <a:pt x="67166" y="300038"/>
                    <a:pt x="150019" y="300038"/>
                  </a:cubicBezTo>
                  <a:cubicBezTo>
                    <a:pt x="232872" y="300038"/>
                    <a:pt x="300038" y="232872"/>
                    <a:pt x="300038" y="150019"/>
                  </a:cubicBezTo>
                  <a:cubicBezTo>
                    <a:pt x="300038" y="67166"/>
                    <a:pt x="232872" y="0"/>
                    <a:pt x="150019" y="0"/>
                  </a:cubicBezTo>
                  <a:cubicBezTo>
                    <a:pt x="67166" y="0"/>
                    <a:pt x="0" y="67166"/>
                    <a:pt x="0" y="150019"/>
                  </a:cubicBezTo>
                </a:path>
              </a:pathLst>
            </a:custGeom>
            <a:noFill/>
            <a:ln w="19050">
              <a:solidFill>
                <a:srgbClr val="F7F5EF"/>
              </a:solidFill>
            </a:ln>
          </p:spPr>
        </p:sp>
        <p:sp>
          <p:nvSpPr>
            <p:cNvPr id="9" name="Freeform 9"/>
            <p:cNvSpPr/>
            <p:nvPr/>
          </p:nvSpPr>
          <p:spPr>
            <a:xfrm>
              <a:off x="1140619" y="2433638"/>
              <a:ext cx="100012" cy="66675"/>
            </a:xfrm>
            <a:custGeom>
              <a:avLst/>
              <a:gdLst/>
              <a:ahLst/>
              <a:cxnLst/>
              <a:rect l="l" t="t" r="r" b="b"/>
              <a:pathLst>
                <a:path w="100012" h="66675">
                  <a:moveTo>
                    <a:pt x="0" y="33338"/>
                  </a:moveTo>
                  <a:lnTo>
                    <a:pt x="33338" y="66675"/>
                  </a:lnTo>
                  <a:lnTo>
                    <a:pt x="100012" y="0"/>
                  </a:lnTo>
                </a:path>
              </a:pathLst>
            </a:custGeom>
            <a:noFill/>
            <a:ln w="19050">
              <a:solidFill>
                <a:srgbClr val="F7F5EF"/>
              </a:solidFill>
            </a:ln>
          </p:spPr>
        </p:sp>
      </p:grpSp>
      <p:sp>
        <p:nvSpPr>
          <p:cNvPr id="11" name="TextBox 11"/>
          <p:cNvSpPr txBox="1"/>
          <p:nvPr/>
        </p:nvSpPr>
        <p:spPr>
          <a:xfrm>
            <a:off x="1556385" y="2332672"/>
            <a:ext cx="1414701" cy="396240"/>
          </a:xfrm>
          <a:prstGeom prst="rect">
            <a:avLst/>
          </a:prstGeom>
          <a:noFill/>
          <a:ln>
            <a:noFill/>
          </a:ln>
        </p:spPr>
        <p:txBody>
          <a:bodyPr wrap="none" lIns="0" tIns="0" rIns="0" bIns="0" anchor="t" anchorCtr="0">
            <a:spAutoFit/>
          </a:bodyPr>
          <a:lstStyle/>
          <a:p>
            <a:pPr algn="l"/>
            <a:r>
              <a:rPr lang="zh-CN" sz="1950" b="1" dirty="0">
                <a:solidFill>
                  <a:srgbClr val="F7F5EF"/>
                </a:solidFill>
                <a:latin typeface="Arial"/>
                <a:ea typeface="Microsoft YaHei"/>
                <a:cs typeface="Arial"/>
              </a:rPr>
              <a:t>患者完成线</a:t>
            </a:r>
          </a:p>
        </p:txBody>
      </p:sp>
      <p:sp>
        <p:nvSpPr>
          <p:cNvPr id="12" name="TextBox 12"/>
          <p:cNvSpPr txBox="1"/>
          <p:nvPr/>
        </p:nvSpPr>
        <p:spPr>
          <a:xfrm>
            <a:off x="974408" y="2910364"/>
            <a:ext cx="2072640" cy="259080"/>
          </a:xfrm>
          <a:prstGeom prst="rect">
            <a:avLst/>
          </a:prstGeom>
          <a:noFill/>
          <a:ln>
            <a:noFill/>
          </a:ln>
        </p:spPr>
        <p:txBody>
          <a:bodyPr wrap="none" lIns="0" tIns="0" rIns="0" bIns="0" anchor="t" anchorCtr="0">
            <a:spAutoFit/>
          </a:bodyPr>
          <a:lstStyle/>
          <a:p>
            <a:pPr algn="l"/>
            <a:r>
              <a:rPr lang="zh-CN" sz="1275" dirty="0">
                <a:solidFill>
                  <a:srgbClr val="E8EFEA"/>
                </a:solidFill>
                <a:latin typeface="Arial"/>
                <a:ea typeface="Microsoft YaHei"/>
                <a:cs typeface="Arial"/>
              </a:rPr>
              <a:t>在线问诊必须形成可用答案</a:t>
            </a:r>
          </a:p>
        </p:txBody>
      </p:sp>
      <p:grpSp>
        <p:nvGrpSpPr>
          <p:cNvPr id="18" name="Group 18"/>
          <p:cNvGrpSpPr/>
          <p:nvPr/>
        </p:nvGrpSpPr>
        <p:grpSpPr>
          <a:xfrm>
            <a:off x="992505" y="3378518"/>
            <a:ext cx="2374582" cy="1798320"/>
            <a:chOff x="992505" y="3378518"/>
            <a:chExt cx="2374582" cy="1798320"/>
          </a:xfrm>
        </p:grpSpPr>
        <p:sp>
          <p:nvSpPr>
            <p:cNvPr id="13" name="TextBox 13"/>
            <p:cNvSpPr txBox="1"/>
            <p:nvPr/>
          </p:nvSpPr>
          <p:spPr>
            <a:xfrm>
              <a:off x="992505" y="3378518"/>
              <a:ext cx="1654492" cy="274320"/>
            </a:xfrm>
            <a:prstGeom prst="rect">
              <a:avLst/>
            </a:prstGeom>
            <a:noFill/>
            <a:ln>
              <a:noFill/>
            </a:ln>
          </p:spPr>
          <p:txBody>
            <a:bodyPr wrap="none" lIns="0" tIns="0" rIns="0" bIns="0" anchor="t" anchorCtr="0">
              <a:spAutoFit/>
            </a:bodyPr>
            <a:lstStyle/>
            <a:p>
              <a:pPr algn="l"/>
              <a:r>
                <a:rPr lang="zh-CN" sz="1350" dirty="0">
                  <a:solidFill>
                    <a:srgbClr val="F7F5EF"/>
                  </a:solidFill>
                  <a:latin typeface="Arial"/>
                  <a:ea typeface="Microsoft YaHei"/>
                  <a:cs typeface="Arial"/>
                </a:rPr>
                <a:t>基础资料与主要诉求</a:t>
              </a:r>
            </a:p>
          </p:txBody>
        </p:sp>
        <p:sp>
          <p:nvSpPr>
            <p:cNvPr id="14" name="TextBox 14"/>
            <p:cNvSpPr txBox="1"/>
            <p:nvPr/>
          </p:nvSpPr>
          <p:spPr>
            <a:xfrm>
              <a:off x="992505" y="3759518"/>
              <a:ext cx="1654492" cy="274320"/>
            </a:xfrm>
            <a:prstGeom prst="rect">
              <a:avLst/>
            </a:prstGeom>
            <a:noFill/>
            <a:ln>
              <a:noFill/>
            </a:ln>
          </p:spPr>
          <p:txBody>
            <a:bodyPr wrap="none" lIns="0" tIns="0" rIns="0" bIns="0" anchor="t" anchorCtr="0">
              <a:spAutoFit/>
            </a:bodyPr>
            <a:lstStyle/>
            <a:p>
              <a:pPr algn="l"/>
              <a:r>
                <a:rPr lang="zh-CN" sz="1350" dirty="0">
                  <a:solidFill>
                    <a:srgbClr val="F7F5EF"/>
                  </a:solidFill>
                  <a:latin typeface="Arial"/>
                  <a:ea typeface="Microsoft YaHei"/>
                  <a:cs typeface="Arial"/>
                </a:rPr>
                <a:t>核心病程与相关诱因</a:t>
              </a:r>
            </a:p>
          </p:txBody>
        </p:sp>
        <p:sp>
          <p:nvSpPr>
            <p:cNvPr id="15" name="TextBox 15"/>
            <p:cNvSpPr txBox="1"/>
            <p:nvPr/>
          </p:nvSpPr>
          <p:spPr>
            <a:xfrm>
              <a:off x="992505" y="4140518"/>
              <a:ext cx="1114425" cy="274320"/>
            </a:xfrm>
            <a:prstGeom prst="rect">
              <a:avLst/>
            </a:prstGeom>
            <a:noFill/>
            <a:ln>
              <a:noFill/>
            </a:ln>
          </p:spPr>
          <p:txBody>
            <a:bodyPr wrap="none" lIns="0" tIns="0" rIns="0" bIns="0" anchor="t" anchorCtr="0">
              <a:spAutoFit/>
            </a:bodyPr>
            <a:lstStyle/>
            <a:p>
              <a:pPr algn="l"/>
              <a:r>
                <a:rPr lang="zh-CN" sz="1350" dirty="0">
                  <a:solidFill>
                    <a:srgbClr val="F7F5EF"/>
                  </a:solidFill>
                  <a:latin typeface="Arial"/>
                  <a:ea typeface="Microsoft YaHei"/>
                  <a:cs typeface="Arial"/>
                </a:rPr>
                <a:t>核心中医症状</a:t>
              </a:r>
            </a:p>
          </p:txBody>
        </p:sp>
        <p:sp>
          <p:nvSpPr>
            <p:cNvPr id="16" name="TextBox 16"/>
            <p:cNvSpPr txBox="1"/>
            <p:nvPr/>
          </p:nvSpPr>
          <p:spPr>
            <a:xfrm>
              <a:off x="992505" y="4521518"/>
              <a:ext cx="2374582" cy="274320"/>
            </a:xfrm>
            <a:prstGeom prst="rect">
              <a:avLst/>
            </a:prstGeom>
            <a:noFill/>
            <a:ln>
              <a:noFill/>
            </a:ln>
          </p:spPr>
          <p:txBody>
            <a:bodyPr wrap="none" lIns="0" tIns="0" rIns="0" bIns="0" anchor="t" anchorCtr="0">
              <a:spAutoFit/>
            </a:bodyPr>
            <a:lstStyle/>
            <a:p>
              <a:pPr algn="l"/>
              <a:r>
                <a:rPr lang="zh-CN" sz="1350" dirty="0">
                  <a:solidFill>
                    <a:srgbClr val="F7F5EF"/>
                  </a:solidFill>
                  <a:latin typeface="Arial"/>
                  <a:ea typeface="Microsoft YaHei"/>
                  <a:cs typeface="Arial"/>
                </a:rPr>
                <a:t>用药、过敏、病史与危险信号</a:t>
              </a:r>
            </a:p>
          </p:txBody>
        </p:sp>
        <p:sp>
          <p:nvSpPr>
            <p:cNvPr id="17" name="TextBox 17"/>
            <p:cNvSpPr txBox="1"/>
            <p:nvPr/>
          </p:nvSpPr>
          <p:spPr>
            <a:xfrm>
              <a:off x="992505" y="4902518"/>
              <a:ext cx="2014538" cy="274320"/>
            </a:xfrm>
            <a:prstGeom prst="rect">
              <a:avLst/>
            </a:prstGeom>
            <a:noFill/>
            <a:ln>
              <a:noFill/>
            </a:ln>
          </p:spPr>
          <p:txBody>
            <a:bodyPr wrap="none" lIns="0" tIns="0" rIns="0" bIns="0" anchor="t" anchorCtr="0">
              <a:spAutoFit/>
            </a:bodyPr>
            <a:lstStyle/>
            <a:p>
              <a:pPr algn="l"/>
              <a:r>
                <a:rPr lang="zh-CN" sz="1350" dirty="0">
                  <a:solidFill>
                    <a:srgbClr val="F7F5EF"/>
                  </a:solidFill>
                  <a:latin typeface="Arial"/>
                  <a:ea typeface="Microsoft YaHei"/>
                  <a:cs typeface="Arial"/>
                </a:rPr>
                <a:t>不存在未解决的关键冲突</a:t>
              </a:r>
            </a:p>
          </p:txBody>
        </p:sp>
      </p:grpSp>
      <p:grpSp>
        <p:nvGrpSpPr>
          <p:cNvPr id="24" name="Group 24"/>
          <p:cNvGrpSpPr/>
          <p:nvPr/>
        </p:nvGrpSpPr>
        <p:grpSpPr>
          <a:xfrm>
            <a:off x="7136606" y="2316956"/>
            <a:ext cx="316707" cy="300038"/>
            <a:chOff x="7136606" y="2316956"/>
            <a:chExt cx="316707" cy="300038"/>
          </a:xfrm>
        </p:grpSpPr>
        <p:sp>
          <p:nvSpPr>
            <p:cNvPr id="19" name="Freeform 19"/>
            <p:cNvSpPr/>
            <p:nvPr/>
          </p:nvSpPr>
          <p:spPr>
            <a:xfrm>
              <a:off x="7136606" y="2333625"/>
              <a:ext cx="183356" cy="183356"/>
            </a:xfrm>
            <a:custGeom>
              <a:avLst/>
              <a:gdLst/>
              <a:ahLst/>
              <a:cxnLst/>
              <a:rect l="l" t="t" r="r" b="b"/>
              <a:pathLst>
                <a:path w="183356" h="183356">
                  <a:moveTo>
                    <a:pt x="50006" y="0"/>
                  </a:moveTo>
                  <a:lnTo>
                    <a:pt x="33338" y="0"/>
                  </a:lnTo>
                  <a:cubicBezTo>
                    <a:pt x="14926" y="0"/>
                    <a:pt x="0" y="14926"/>
                    <a:pt x="0" y="33338"/>
                  </a:cubicBezTo>
                  <a:lnTo>
                    <a:pt x="0" y="91678"/>
                  </a:lnTo>
                  <a:cubicBezTo>
                    <a:pt x="0" y="142311"/>
                    <a:pt x="41046" y="183356"/>
                    <a:pt x="91678" y="183356"/>
                  </a:cubicBezTo>
                  <a:cubicBezTo>
                    <a:pt x="142311" y="183356"/>
                    <a:pt x="183356" y="142311"/>
                    <a:pt x="183356" y="91678"/>
                  </a:cubicBezTo>
                  <a:lnTo>
                    <a:pt x="183356" y="33338"/>
                  </a:lnTo>
                  <a:cubicBezTo>
                    <a:pt x="183356" y="14926"/>
                    <a:pt x="168431" y="0"/>
                    <a:pt x="150019" y="0"/>
                  </a:cubicBezTo>
                  <a:lnTo>
                    <a:pt x="133350" y="0"/>
                  </a:lnTo>
                </a:path>
              </a:pathLst>
            </a:custGeom>
            <a:noFill/>
            <a:ln w="19050">
              <a:solidFill>
                <a:srgbClr val="C76B3C"/>
              </a:solidFill>
            </a:ln>
          </p:spPr>
        </p:sp>
        <p:sp>
          <p:nvSpPr>
            <p:cNvPr id="20" name="Freeform 20"/>
            <p:cNvSpPr/>
            <p:nvPr/>
          </p:nvSpPr>
          <p:spPr>
            <a:xfrm>
              <a:off x="7219950" y="2466975"/>
              <a:ext cx="200025" cy="150019"/>
            </a:xfrm>
            <a:custGeom>
              <a:avLst/>
              <a:gdLst/>
              <a:ahLst/>
              <a:cxnLst/>
              <a:rect l="l" t="t" r="r" b="b"/>
              <a:pathLst>
                <a:path w="200025" h="150019">
                  <a:moveTo>
                    <a:pt x="0" y="50006"/>
                  </a:moveTo>
                  <a:cubicBezTo>
                    <a:pt x="0" y="105242"/>
                    <a:pt x="44777" y="150019"/>
                    <a:pt x="100012" y="150019"/>
                  </a:cubicBezTo>
                  <a:cubicBezTo>
                    <a:pt x="155248" y="150019"/>
                    <a:pt x="200025" y="105242"/>
                    <a:pt x="200025" y="50006"/>
                  </a:cubicBezTo>
                  <a:lnTo>
                    <a:pt x="200025" y="0"/>
                  </a:lnTo>
                </a:path>
              </a:pathLst>
            </a:custGeom>
            <a:noFill/>
            <a:ln w="19050">
              <a:solidFill>
                <a:srgbClr val="C76B3C"/>
              </a:solidFill>
            </a:ln>
          </p:spPr>
        </p:sp>
        <p:sp>
          <p:nvSpPr>
            <p:cNvPr id="21" name="Freeform 21"/>
            <p:cNvSpPr/>
            <p:nvPr/>
          </p:nvSpPr>
          <p:spPr>
            <a:xfrm>
              <a:off x="7269956" y="2316956"/>
              <a:ext cx="9525" cy="33338"/>
            </a:xfrm>
            <a:custGeom>
              <a:avLst/>
              <a:gdLst/>
              <a:ahLst/>
              <a:cxnLst/>
              <a:rect l="l" t="t" r="r" b="b"/>
              <a:pathLst>
                <a:path w="9525" h="33338">
                  <a:moveTo>
                    <a:pt x="0" y="0"/>
                  </a:moveTo>
                  <a:lnTo>
                    <a:pt x="0" y="33338"/>
                  </a:lnTo>
                </a:path>
              </a:pathLst>
            </a:custGeom>
            <a:noFill/>
            <a:ln w="19050">
              <a:solidFill>
                <a:srgbClr val="C76B3C"/>
              </a:solidFill>
            </a:ln>
          </p:spPr>
        </p:sp>
        <p:sp>
          <p:nvSpPr>
            <p:cNvPr id="22" name="Freeform 22"/>
            <p:cNvSpPr/>
            <p:nvPr/>
          </p:nvSpPr>
          <p:spPr>
            <a:xfrm>
              <a:off x="7186612" y="2316956"/>
              <a:ext cx="9525" cy="33338"/>
            </a:xfrm>
            <a:custGeom>
              <a:avLst/>
              <a:gdLst/>
              <a:ahLst/>
              <a:cxnLst/>
              <a:rect l="l" t="t" r="r" b="b"/>
              <a:pathLst>
                <a:path w="9525" h="33338">
                  <a:moveTo>
                    <a:pt x="0" y="0"/>
                  </a:moveTo>
                  <a:lnTo>
                    <a:pt x="0" y="33338"/>
                  </a:lnTo>
                </a:path>
              </a:pathLst>
            </a:custGeom>
            <a:noFill/>
            <a:ln w="19050">
              <a:solidFill>
                <a:srgbClr val="C76B3C"/>
              </a:solidFill>
            </a:ln>
          </p:spPr>
        </p:sp>
        <p:sp>
          <p:nvSpPr>
            <p:cNvPr id="23" name="Freeform 23"/>
            <p:cNvSpPr/>
            <p:nvPr/>
          </p:nvSpPr>
          <p:spPr>
            <a:xfrm>
              <a:off x="7386638" y="2400300"/>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19050">
              <a:solidFill>
                <a:srgbClr val="C76B3C"/>
              </a:solidFill>
            </a:ln>
          </p:spPr>
        </p:sp>
      </p:grpSp>
      <p:sp>
        <p:nvSpPr>
          <p:cNvPr id="25" name="TextBox 25"/>
          <p:cNvSpPr txBox="1"/>
          <p:nvPr/>
        </p:nvSpPr>
        <p:spPr>
          <a:xfrm>
            <a:off x="7652385" y="2332672"/>
            <a:ext cx="1414701" cy="396240"/>
          </a:xfrm>
          <a:prstGeom prst="rect">
            <a:avLst/>
          </a:prstGeom>
          <a:noFill/>
          <a:ln>
            <a:noFill/>
          </a:ln>
        </p:spPr>
        <p:txBody>
          <a:bodyPr wrap="none" lIns="0" tIns="0" rIns="0" bIns="0" anchor="t" anchorCtr="0">
            <a:spAutoFit/>
          </a:bodyPr>
          <a:lstStyle/>
          <a:p>
            <a:pPr algn="l"/>
            <a:r>
              <a:rPr lang="zh-CN" sz="1950" b="1" dirty="0">
                <a:solidFill>
                  <a:srgbClr val="174C43"/>
                </a:solidFill>
                <a:latin typeface="Arial"/>
                <a:ea typeface="Microsoft YaHei"/>
                <a:cs typeface="Arial"/>
              </a:rPr>
              <a:t>医生完善线</a:t>
            </a:r>
          </a:p>
        </p:txBody>
      </p:sp>
      <p:sp>
        <p:nvSpPr>
          <p:cNvPr id="26" name="TextBox 26"/>
          <p:cNvSpPr txBox="1"/>
          <p:nvPr/>
        </p:nvSpPr>
        <p:spPr>
          <a:xfrm>
            <a:off x="7070408" y="2910364"/>
            <a:ext cx="1562576" cy="259080"/>
          </a:xfrm>
          <a:prstGeom prst="rect">
            <a:avLst/>
          </a:prstGeom>
          <a:noFill/>
          <a:ln>
            <a:noFill/>
          </a:ln>
        </p:spPr>
        <p:txBody>
          <a:bodyPr wrap="none" lIns="0" tIns="0" rIns="0" bIns="0" anchor="t" anchorCtr="0">
            <a:spAutoFit/>
          </a:bodyPr>
          <a:lstStyle/>
          <a:p>
            <a:pPr algn="l"/>
            <a:r>
              <a:rPr lang="zh-CN" sz="1275" dirty="0">
                <a:solidFill>
                  <a:srgbClr val="62716B"/>
                </a:solidFill>
                <a:latin typeface="Arial"/>
                <a:ea typeface="Microsoft YaHei"/>
                <a:cs typeface="Arial"/>
              </a:rPr>
              <a:t>允许在诊中继续补充</a:t>
            </a:r>
          </a:p>
        </p:txBody>
      </p:sp>
      <p:grpSp>
        <p:nvGrpSpPr>
          <p:cNvPr id="32" name="Group 32"/>
          <p:cNvGrpSpPr/>
          <p:nvPr/>
        </p:nvGrpSpPr>
        <p:grpSpPr>
          <a:xfrm>
            <a:off x="7088505" y="3378518"/>
            <a:ext cx="1834515" cy="1798320"/>
            <a:chOff x="7088505" y="3378518"/>
            <a:chExt cx="1834515" cy="1798320"/>
          </a:xfrm>
        </p:grpSpPr>
        <p:sp>
          <p:nvSpPr>
            <p:cNvPr id="27" name="TextBox 27"/>
            <p:cNvSpPr txBox="1"/>
            <p:nvPr/>
          </p:nvSpPr>
          <p:spPr>
            <a:xfrm>
              <a:off x="7088505" y="3378518"/>
              <a:ext cx="1294448"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舌象等四诊细节</a:t>
              </a:r>
            </a:p>
          </p:txBody>
        </p:sp>
        <p:sp>
          <p:nvSpPr>
            <p:cNvPr id="28" name="TextBox 28"/>
            <p:cNvSpPr txBox="1"/>
            <p:nvPr/>
          </p:nvSpPr>
          <p:spPr>
            <a:xfrm>
              <a:off x="7088505" y="3759518"/>
              <a:ext cx="1834515"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饮食和运动的具体频率</a:t>
              </a:r>
            </a:p>
          </p:txBody>
        </p:sp>
        <p:sp>
          <p:nvSpPr>
            <p:cNvPr id="29" name="TextBox 29"/>
            <p:cNvSpPr txBox="1"/>
            <p:nvPr/>
          </p:nvSpPr>
          <p:spPr>
            <a:xfrm>
              <a:off x="7088505" y="4140518"/>
              <a:ext cx="1114425"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吸烟饮酒细节</a:t>
              </a:r>
            </a:p>
          </p:txBody>
        </p:sp>
        <p:sp>
          <p:nvSpPr>
            <p:cNvPr id="30" name="TextBox 30"/>
            <p:cNvSpPr txBox="1"/>
            <p:nvPr/>
          </p:nvSpPr>
          <p:spPr>
            <a:xfrm>
              <a:off x="7088505" y="4521518"/>
              <a:ext cx="1474470"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既往检查具体数值</a:t>
              </a:r>
            </a:p>
          </p:txBody>
        </p:sp>
        <p:sp>
          <p:nvSpPr>
            <p:cNvPr id="31" name="TextBox 31"/>
            <p:cNvSpPr txBox="1"/>
            <p:nvPr/>
          </p:nvSpPr>
          <p:spPr>
            <a:xfrm>
              <a:off x="7088505" y="4902518"/>
              <a:ext cx="1834515" cy="274320"/>
            </a:xfrm>
            <a:prstGeom prst="rect">
              <a:avLst/>
            </a:prstGeom>
            <a:noFill/>
            <a:ln>
              <a:noFill/>
            </a:ln>
          </p:spPr>
          <p:txBody>
            <a:bodyPr wrap="none" lIns="0" tIns="0" rIns="0" bIns="0" anchor="t" anchorCtr="0">
              <a:spAutoFit/>
            </a:bodyPr>
            <a:lstStyle/>
            <a:p>
              <a:pPr algn="l"/>
              <a:r>
                <a:rPr lang="zh-CN" sz="1350" dirty="0">
                  <a:solidFill>
                    <a:srgbClr val="24332E"/>
                  </a:solidFill>
                  <a:latin typeface="Arial"/>
                  <a:ea typeface="Microsoft YaHei"/>
                  <a:cs typeface="Arial"/>
                </a:rPr>
                <a:t>其他个体化非核心信息</a:t>
              </a:r>
            </a:p>
          </p:txBody>
        </p:sp>
      </p:grpSp>
      <p:sp>
        <p:nvSpPr>
          <p:cNvPr id="33" name="Freeform 33"/>
          <p:cNvSpPr/>
          <p:nvPr/>
        </p:nvSpPr>
        <p:spPr>
          <a:xfrm>
            <a:off x="5562600" y="3352800"/>
            <a:ext cx="1066800" cy="9525"/>
          </a:xfrm>
          <a:custGeom>
            <a:avLst/>
            <a:gdLst/>
            <a:ahLst/>
            <a:cxnLst/>
            <a:rect l="l" t="t" r="r" b="b"/>
            <a:pathLst>
              <a:path w="1066800" h="9525">
                <a:moveTo>
                  <a:pt x="0" y="0"/>
                </a:moveTo>
                <a:lnTo>
                  <a:pt x="1066800" y="0"/>
                </a:lnTo>
              </a:path>
            </a:pathLst>
          </a:custGeom>
          <a:noFill/>
          <a:ln w="47625">
            <a:solidFill>
              <a:srgbClr val="C76B3C"/>
            </a:solidFill>
          </a:ln>
        </p:spPr>
      </p:sp>
      <p:sp>
        <p:nvSpPr>
          <p:cNvPr id="34" name="Polygon 34"/>
          <p:cNvSpPr/>
          <p:nvPr/>
        </p:nvSpPr>
        <p:spPr>
          <a:xfrm>
            <a:off x="6534150" y="3248025"/>
            <a:ext cx="171450" cy="209550"/>
          </a:xfrm>
          <a:custGeom>
            <a:avLst/>
            <a:gdLst/>
            <a:ahLst/>
            <a:cxnLst/>
            <a:rect l="l" t="t" r="r" b="b"/>
            <a:pathLst>
              <a:path w="171450" h="209550">
                <a:moveTo>
                  <a:pt x="171450" y="104775"/>
                </a:moveTo>
                <a:lnTo>
                  <a:pt x="0" y="0"/>
                </a:lnTo>
                <a:lnTo>
                  <a:pt x="0" y="209550"/>
                </a:lnTo>
                <a:close/>
              </a:path>
            </a:pathLst>
          </a:custGeom>
          <a:solidFill>
            <a:srgbClr val="C76B3C"/>
          </a:solidFill>
          <a:ln>
            <a:noFill/>
          </a:ln>
        </p:spPr>
      </p:sp>
      <p:sp>
        <p:nvSpPr>
          <p:cNvPr id="35" name="TextBox 35"/>
          <p:cNvSpPr txBox="1"/>
          <p:nvPr/>
        </p:nvSpPr>
        <p:spPr>
          <a:xfrm>
            <a:off x="5744718" y="2937510"/>
            <a:ext cx="702564" cy="243840"/>
          </a:xfrm>
          <a:prstGeom prst="rect">
            <a:avLst/>
          </a:prstGeom>
          <a:noFill/>
          <a:ln>
            <a:noFill/>
          </a:ln>
        </p:spPr>
        <p:txBody>
          <a:bodyPr wrap="none" lIns="0" tIns="0" rIns="0" bIns="0" anchor="t" anchorCtr="0">
            <a:spAutoFit/>
          </a:bodyPr>
          <a:lstStyle/>
          <a:p>
            <a:pPr algn="ctr"/>
            <a:r>
              <a:rPr lang="zh-CN" sz="1200" b="1" dirty="0">
                <a:solidFill>
                  <a:srgbClr val="C76B3C"/>
                </a:solidFill>
                <a:latin typeface="Arial"/>
                <a:ea typeface="Microsoft YaHei"/>
                <a:cs typeface="Arial"/>
              </a:rPr>
              <a:t>在线完成</a:t>
            </a:r>
          </a:p>
        </p:txBody>
      </p:sp>
      <p:sp>
        <p:nvSpPr>
          <p:cNvPr id="36" name="TextBox 36"/>
          <p:cNvSpPr txBox="1"/>
          <p:nvPr/>
        </p:nvSpPr>
        <p:spPr>
          <a:xfrm>
            <a:off x="5760720" y="3585210"/>
            <a:ext cx="670560" cy="243840"/>
          </a:xfrm>
          <a:prstGeom prst="rect">
            <a:avLst/>
          </a:prstGeom>
          <a:noFill/>
          <a:ln>
            <a:noFill/>
          </a:ln>
        </p:spPr>
        <p:txBody>
          <a:bodyPr wrap="none" lIns="0" tIns="0" rIns="0" bIns="0" anchor="t" anchorCtr="0">
            <a:spAutoFit/>
          </a:bodyPr>
          <a:lstStyle/>
          <a:p>
            <a:pPr algn="ctr"/>
            <a:r>
              <a:rPr lang="zh-CN" sz="1200" dirty="0">
                <a:solidFill>
                  <a:srgbClr val="62716B"/>
                </a:solidFill>
                <a:latin typeface="Arial"/>
                <a:ea typeface="Microsoft YaHei"/>
                <a:cs typeface="Arial"/>
              </a:rPr>
              <a:t>诊中补充</a:t>
            </a:r>
          </a:p>
        </p:txBody>
      </p:sp>
      <p:sp>
        <p:nvSpPr>
          <p:cNvPr id="37" name="Rectangle 37"/>
          <p:cNvSpPr/>
          <p:nvPr/>
        </p:nvSpPr>
        <p:spPr>
          <a:xfrm>
            <a:off x="2209800" y="5867400"/>
            <a:ext cx="7772400" cy="438150"/>
          </a:xfrm>
          <a:prstGeom prst="rect">
            <a:avLst/>
          </a:prstGeom>
          <a:solidFill>
            <a:srgbClr val="E8EFEA"/>
          </a:solidFill>
          <a:ln>
            <a:noFill/>
          </a:ln>
        </p:spPr>
      </p:sp>
      <p:sp>
        <p:nvSpPr>
          <p:cNvPr id="38" name="TextBox 38"/>
          <p:cNvSpPr txBox="1"/>
          <p:nvPr/>
        </p:nvSpPr>
        <p:spPr>
          <a:xfrm>
            <a:off x="3982891" y="5999321"/>
            <a:ext cx="4226219" cy="289560"/>
          </a:xfrm>
          <a:prstGeom prst="rect">
            <a:avLst/>
          </a:prstGeom>
          <a:noFill/>
          <a:ln>
            <a:noFill/>
          </a:ln>
        </p:spPr>
        <p:txBody>
          <a:bodyPr wrap="none" lIns="0" tIns="0" rIns="0" bIns="0" anchor="t" anchorCtr="0">
            <a:spAutoFit/>
          </a:bodyPr>
          <a:lstStyle/>
          <a:p>
            <a:pPr algn="ctr"/>
            <a:r>
              <a:rPr lang="zh-CN" sz="1425" b="1" dirty="0">
                <a:solidFill>
                  <a:srgbClr val="174C43"/>
                </a:solidFill>
                <a:latin typeface="Arial"/>
                <a:ea typeface="Microsoft YaHei"/>
                <a:cs typeface="Arial"/>
              </a:rPr>
              <a:t>核心资料可用即可结束，可选细节不再阻塞患者</a:t>
            </a:r>
          </a:p>
        </p:txBody>
      </p:sp>
      <p:sp>
        <p:nvSpPr>
          <p:cNvPr id="39" name="TextBox 39"/>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08</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6215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08 · 单轮判断</a:t>
            </a:r>
          </a:p>
        </p:txBody>
      </p:sp>
      <p:sp>
        <p:nvSpPr>
          <p:cNvPr id="4" name="TextBox 4"/>
          <p:cNvSpPr txBox="1"/>
          <p:nvPr/>
        </p:nvSpPr>
        <p:spPr>
          <a:xfrm>
            <a:off x="575310" y="908685"/>
            <a:ext cx="5361242" cy="548640"/>
          </a:xfrm>
          <a:prstGeom prst="rect">
            <a:avLst/>
          </a:prstGeom>
          <a:noFill/>
          <a:ln>
            <a:noFill/>
          </a:ln>
        </p:spPr>
        <p:txBody>
          <a:bodyPr wrap="none" lIns="0" tIns="0" rIns="0" bIns="0" anchor="t" anchorCtr="0">
            <a:spAutoFit/>
          </a:bodyPr>
          <a:lstStyle/>
          <a:p>
            <a:pPr algn="l"/>
            <a:r>
              <a:rPr lang="zh-CN" sz="2700" b="1" dirty="0">
                <a:solidFill>
                  <a:srgbClr val="174C43"/>
                </a:solidFill>
                <a:latin typeface="Arial"/>
                <a:ea typeface="Microsoft YaHei"/>
                <a:cs typeface="Arial"/>
              </a:rPr>
              <a:t>一次患者回答如何影响完整度？</a:t>
            </a:r>
          </a:p>
        </p:txBody>
      </p:sp>
      <p:sp>
        <p:nvSpPr>
          <p:cNvPr id="5" name="Line 5"/>
          <p:cNvSpPr/>
          <p:nvPr/>
        </p:nvSpPr>
        <p:spPr>
          <a:xfrm>
            <a:off x="609600" y="1409700"/>
            <a:ext cx="10972800" cy="9525"/>
          </a:xfrm>
          <a:custGeom>
            <a:avLst/>
            <a:gdLst/>
            <a:ahLst/>
            <a:cxnLst/>
            <a:rect l="l" t="t" r="r" b="b"/>
            <a:pathLst>
              <a:path w="10972800" h="9525">
                <a:moveTo>
                  <a:pt x="0" y="0"/>
                </a:moveTo>
                <a:lnTo>
                  <a:pt x="10972800" y="0"/>
                </a:lnTo>
              </a:path>
            </a:pathLst>
          </a:custGeom>
          <a:noFill/>
          <a:ln w="19050">
            <a:solidFill>
              <a:srgbClr val="CDD8D2"/>
            </a:solidFill>
          </a:ln>
        </p:spPr>
      </p:sp>
      <p:sp>
        <p:nvSpPr>
          <p:cNvPr id="6" name="Rectangle 6"/>
          <p:cNvSpPr/>
          <p:nvPr/>
        </p:nvSpPr>
        <p:spPr>
          <a:xfrm>
            <a:off x="990600" y="1809750"/>
            <a:ext cx="10210800" cy="819150"/>
          </a:xfrm>
          <a:prstGeom prst="rect">
            <a:avLst/>
          </a:prstGeom>
          <a:solidFill>
            <a:srgbClr val="174C43"/>
          </a:solidFill>
          <a:ln>
            <a:noFill/>
          </a:ln>
        </p:spPr>
      </p:sp>
      <p:grpSp>
        <p:nvGrpSpPr>
          <p:cNvPr id="11" name="Group 11"/>
          <p:cNvGrpSpPr/>
          <p:nvPr/>
        </p:nvGrpSpPr>
        <p:grpSpPr>
          <a:xfrm>
            <a:off x="1323975" y="2082800"/>
            <a:ext cx="285751" cy="269876"/>
            <a:chOff x="1323975" y="2082800"/>
            <a:chExt cx="285751" cy="269876"/>
          </a:xfrm>
        </p:grpSpPr>
        <p:sp>
          <p:nvSpPr>
            <p:cNvPr id="7" name="Freeform 7"/>
            <p:cNvSpPr/>
            <p:nvPr/>
          </p:nvSpPr>
          <p:spPr>
            <a:xfrm>
              <a:off x="1323975" y="2082800"/>
              <a:ext cx="285751" cy="269876"/>
            </a:xfrm>
            <a:custGeom>
              <a:avLst/>
              <a:gdLst/>
              <a:ahLst/>
              <a:cxnLst/>
              <a:rect l="l" t="t" r="r" b="b"/>
              <a:pathLst>
                <a:path w="285751" h="269876">
                  <a:moveTo>
                    <a:pt x="238125" y="0"/>
                  </a:moveTo>
                  <a:cubicBezTo>
                    <a:pt x="264428" y="0"/>
                    <a:pt x="285751" y="21322"/>
                    <a:pt x="285751" y="47625"/>
                  </a:cubicBezTo>
                  <a:lnTo>
                    <a:pt x="285751" y="174625"/>
                  </a:lnTo>
                  <a:cubicBezTo>
                    <a:pt x="285751" y="200928"/>
                    <a:pt x="264428" y="222250"/>
                    <a:pt x="238125" y="222250"/>
                  </a:cubicBezTo>
                  <a:lnTo>
                    <a:pt x="158750" y="222250"/>
                  </a:lnTo>
                  <a:lnTo>
                    <a:pt x="79375" y="269876"/>
                  </a:lnTo>
                  <a:lnTo>
                    <a:pt x="79375" y="222250"/>
                  </a:lnTo>
                  <a:lnTo>
                    <a:pt x="47625" y="222250"/>
                  </a:lnTo>
                  <a:cubicBezTo>
                    <a:pt x="21322" y="222250"/>
                    <a:pt x="0" y="200928"/>
                    <a:pt x="0" y="174625"/>
                  </a:cubicBezTo>
                  <a:lnTo>
                    <a:pt x="0" y="47625"/>
                  </a:lnTo>
                  <a:cubicBezTo>
                    <a:pt x="0" y="21322"/>
                    <a:pt x="21322" y="0"/>
                    <a:pt x="47625" y="0"/>
                  </a:cubicBezTo>
                  <a:lnTo>
                    <a:pt x="238125" y="0"/>
                  </a:lnTo>
                </a:path>
              </a:pathLst>
            </a:custGeom>
            <a:noFill/>
            <a:ln w="19050">
              <a:solidFill>
                <a:srgbClr val="F7F5EF"/>
              </a:solidFill>
            </a:ln>
          </p:spPr>
        </p:sp>
        <p:sp>
          <p:nvSpPr>
            <p:cNvPr id="8" name="Freeform 8"/>
            <p:cNvSpPr/>
            <p:nvPr/>
          </p:nvSpPr>
          <p:spPr>
            <a:xfrm>
              <a:off x="1427163" y="2162175"/>
              <a:ext cx="9525" cy="9525"/>
            </a:xfrm>
            <a:custGeom>
              <a:avLst/>
              <a:gdLst/>
              <a:ahLst/>
              <a:cxnLst/>
              <a:rect l="l" t="t" r="r" b="b"/>
              <a:pathLst>
                <a:path w="9525" h="9525">
                  <a:moveTo>
                    <a:pt x="0" y="0"/>
                  </a:moveTo>
                  <a:lnTo>
                    <a:pt x="159" y="0"/>
                  </a:lnTo>
                </a:path>
              </a:pathLst>
            </a:custGeom>
            <a:noFill/>
            <a:ln w="19050">
              <a:solidFill>
                <a:srgbClr val="F7F5EF"/>
              </a:solidFill>
            </a:ln>
          </p:spPr>
        </p:sp>
        <p:sp>
          <p:nvSpPr>
            <p:cNvPr id="9" name="Freeform 9"/>
            <p:cNvSpPr/>
            <p:nvPr/>
          </p:nvSpPr>
          <p:spPr>
            <a:xfrm>
              <a:off x="1506538" y="2162175"/>
              <a:ext cx="9525" cy="9525"/>
            </a:xfrm>
            <a:custGeom>
              <a:avLst/>
              <a:gdLst/>
              <a:ahLst/>
              <a:cxnLst/>
              <a:rect l="l" t="t" r="r" b="b"/>
              <a:pathLst>
                <a:path w="9525" h="9525">
                  <a:moveTo>
                    <a:pt x="0" y="0"/>
                  </a:moveTo>
                  <a:lnTo>
                    <a:pt x="159" y="0"/>
                  </a:lnTo>
                </a:path>
              </a:pathLst>
            </a:custGeom>
            <a:noFill/>
            <a:ln w="19050">
              <a:solidFill>
                <a:srgbClr val="F7F5EF"/>
              </a:solidFill>
            </a:ln>
          </p:spPr>
        </p:sp>
        <p:sp>
          <p:nvSpPr>
            <p:cNvPr id="10" name="Freeform 10"/>
            <p:cNvSpPr/>
            <p:nvPr/>
          </p:nvSpPr>
          <p:spPr>
            <a:xfrm>
              <a:off x="1427163" y="2225675"/>
              <a:ext cx="79375" cy="16677"/>
            </a:xfrm>
            <a:custGeom>
              <a:avLst/>
              <a:gdLst/>
              <a:ahLst/>
              <a:cxnLst/>
              <a:rect l="l" t="t" r="r" b="b"/>
              <a:pathLst>
                <a:path w="79375" h="16677">
                  <a:moveTo>
                    <a:pt x="0" y="0"/>
                  </a:moveTo>
                  <a:cubicBezTo>
                    <a:pt x="10451" y="10666"/>
                    <a:pt x="24755" y="16677"/>
                    <a:pt x="39688" y="16677"/>
                  </a:cubicBezTo>
                  <a:cubicBezTo>
                    <a:pt x="54620" y="16677"/>
                    <a:pt x="68924" y="10666"/>
                    <a:pt x="79375" y="0"/>
                  </a:cubicBezTo>
                </a:path>
              </a:pathLst>
            </a:custGeom>
            <a:noFill/>
            <a:ln w="19050">
              <a:solidFill>
                <a:srgbClr val="F7F5EF"/>
              </a:solidFill>
            </a:ln>
          </p:spPr>
        </p:sp>
      </p:grpSp>
      <p:sp>
        <p:nvSpPr>
          <p:cNvPr id="12" name="TextBox 12"/>
          <p:cNvSpPr txBox="1"/>
          <p:nvPr/>
        </p:nvSpPr>
        <p:spPr>
          <a:xfrm>
            <a:off x="1871662" y="2031206"/>
            <a:ext cx="628650" cy="228600"/>
          </a:xfrm>
          <a:prstGeom prst="rect">
            <a:avLst/>
          </a:prstGeom>
          <a:noFill/>
          <a:ln>
            <a:noFill/>
          </a:ln>
        </p:spPr>
        <p:txBody>
          <a:bodyPr wrap="none" lIns="0" tIns="0" rIns="0" bIns="0" anchor="t" anchorCtr="0">
            <a:spAutoFit/>
          </a:bodyPr>
          <a:lstStyle/>
          <a:p>
            <a:pPr algn="l"/>
            <a:r>
              <a:rPr lang="zh-CN" sz="1125" dirty="0">
                <a:solidFill>
                  <a:srgbClr val="E8EFEA"/>
                </a:solidFill>
                <a:latin typeface="Arial"/>
                <a:ea typeface="Microsoft YaHei"/>
                <a:cs typeface="Arial"/>
              </a:rPr>
              <a:t>患者原话</a:t>
            </a:r>
          </a:p>
        </p:txBody>
      </p:sp>
      <p:sp>
        <p:nvSpPr>
          <p:cNvPr id="13" name="TextBox 13"/>
          <p:cNvSpPr txBox="1"/>
          <p:nvPr/>
        </p:nvSpPr>
        <p:spPr>
          <a:xfrm>
            <a:off x="1864995" y="2269808"/>
            <a:ext cx="6302793" cy="335280"/>
          </a:xfrm>
          <a:prstGeom prst="rect">
            <a:avLst/>
          </a:prstGeom>
          <a:noFill/>
          <a:ln>
            <a:noFill/>
          </a:ln>
        </p:spPr>
        <p:txBody>
          <a:bodyPr wrap="none" lIns="0" tIns="0" rIns="0" bIns="0" anchor="t" anchorCtr="0">
            <a:spAutoFit/>
          </a:bodyPr>
          <a:lstStyle/>
          <a:p>
            <a:pPr algn="l"/>
            <a:r>
              <a:rPr lang="zh-CN" sz="1650" b="1" dirty="0">
                <a:solidFill>
                  <a:srgbClr val="F7F5EF"/>
                </a:solidFill>
                <a:latin typeface="Arial"/>
                <a:ea typeface="Microsoft YaHei"/>
                <a:cs typeface="Arial"/>
              </a:rPr>
              <a:t>“最近半年胖了大约十公斤，晚上经常醒，白天也很容易累。”</a:t>
            </a:r>
          </a:p>
        </p:txBody>
      </p:sp>
      <p:sp>
        <p:nvSpPr>
          <p:cNvPr id="14" name="Line 14"/>
          <p:cNvSpPr/>
          <p:nvPr/>
        </p:nvSpPr>
        <p:spPr>
          <a:xfrm>
            <a:off x="2305050" y="2628900"/>
            <a:ext cx="9525" cy="476250"/>
          </a:xfrm>
          <a:custGeom>
            <a:avLst/>
            <a:gdLst/>
            <a:ahLst/>
            <a:cxnLst/>
            <a:rect l="l" t="t" r="r" b="b"/>
            <a:pathLst>
              <a:path w="9525" h="476250">
                <a:moveTo>
                  <a:pt x="0" y="0"/>
                </a:moveTo>
                <a:lnTo>
                  <a:pt x="0" y="476250"/>
                </a:lnTo>
              </a:path>
            </a:pathLst>
          </a:custGeom>
          <a:noFill/>
          <a:ln w="28575">
            <a:solidFill>
              <a:srgbClr val="6E9184"/>
            </a:solidFill>
          </a:ln>
        </p:spPr>
      </p:sp>
      <p:sp>
        <p:nvSpPr>
          <p:cNvPr id="15" name="Line 15"/>
          <p:cNvSpPr/>
          <p:nvPr/>
        </p:nvSpPr>
        <p:spPr>
          <a:xfrm>
            <a:off x="6096000" y="2628900"/>
            <a:ext cx="9525" cy="476250"/>
          </a:xfrm>
          <a:custGeom>
            <a:avLst/>
            <a:gdLst/>
            <a:ahLst/>
            <a:cxnLst/>
            <a:rect l="l" t="t" r="r" b="b"/>
            <a:pathLst>
              <a:path w="9525" h="476250">
                <a:moveTo>
                  <a:pt x="0" y="0"/>
                </a:moveTo>
                <a:lnTo>
                  <a:pt x="0" y="476250"/>
                </a:lnTo>
              </a:path>
            </a:pathLst>
          </a:custGeom>
          <a:noFill/>
          <a:ln w="28575">
            <a:solidFill>
              <a:srgbClr val="6E9184"/>
            </a:solidFill>
          </a:ln>
        </p:spPr>
      </p:sp>
      <p:sp>
        <p:nvSpPr>
          <p:cNvPr id="16" name="Line 16"/>
          <p:cNvSpPr/>
          <p:nvPr/>
        </p:nvSpPr>
        <p:spPr>
          <a:xfrm>
            <a:off x="9886950" y="2628900"/>
            <a:ext cx="9525" cy="476250"/>
          </a:xfrm>
          <a:custGeom>
            <a:avLst/>
            <a:gdLst/>
            <a:ahLst/>
            <a:cxnLst/>
            <a:rect l="l" t="t" r="r" b="b"/>
            <a:pathLst>
              <a:path w="9525" h="476250">
                <a:moveTo>
                  <a:pt x="0" y="0"/>
                </a:moveTo>
                <a:lnTo>
                  <a:pt x="0" y="476250"/>
                </a:lnTo>
              </a:path>
            </a:pathLst>
          </a:custGeom>
          <a:noFill/>
          <a:ln w="28575">
            <a:solidFill>
              <a:srgbClr val="6E9184"/>
            </a:solidFill>
          </a:ln>
        </p:spPr>
      </p:sp>
      <p:sp>
        <p:nvSpPr>
          <p:cNvPr id="17" name="Rectangle 17"/>
          <p:cNvSpPr/>
          <p:nvPr/>
        </p:nvSpPr>
        <p:spPr>
          <a:xfrm>
            <a:off x="704850" y="3105150"/>
            <a:ext cx="3200400" cy="1485900"/>
          </a:xfrm>
          <a:prstGeom prst="rect">
            <a:avLst/>
          </a:prstGeom>
          <a:solidFill>
            <a:srgbClr val="FFFFFF"/>
          </a:solidFill>
          <a:ln w="19050">
            <a:solidFill>
              <a:srgbClr val="CDD8D2"/>
            </a:solidFill>
          </a:ln>
        </p:spPr>
      </p:sp>
      <p:sp>
        <p:nvSpPr>
          <p:cNvPr id="18" name="Rectangle 18"/>
          <p:cNvSpPr/>
          <p:nvPr/>
        </p:nvSpPr>
        <p:spPr>
          <a:xfrm>
            <a:off x="4495800" y="3105150"/>
            <a:ext cx="3200400" cy="1485900"/>
          </a:xfrm>
          <a:prstGeom prst="rect">
            <a:avLst/>
          </a:prstGeom>
          <a:solidFill>
            <a:srgbClr val="FFFFFF"/>
          </a:solidFill>
          <a:ln w="19050">
            <a:solidFill>
              <a:srgbClr val="CDD8D2"/>
            </a:solidFill>
          </a:ln>
        </p:spPr>
      </p:sp>
      <p:sp>
        <p:nvSpPr>
          <p:cNvPr id="19" name="Rectangle 19"/>
          <p:cNvSpPr/>
          <p:nvPr/>
        </p:nvSpPr>
        <p:spPr>
          <a:xfrm>
            <a:off x="8286750" y="3105150"/>
            <a:ext cx="3200400" cy="1485900"/>
          </a:xfrm>
          <a:prstGeom prst="rect">
            <a:avLst/>
          </a:prstGeom>
          <a:solidFill>
            <a:srgbClr val="FFFFFF"/>
          </a:solidFill>
          <a:ln w="19050">
            <a:solidFill>
              <a:srgbClr val="CDD8D2"/>
            </a:solidFill>
          </a:ln>
        </p:spPr>
      </p:sp>
      <p:sp>
        <p:nvSpPr>
          <p:cNvPr id="20" name="TextBox 20"/>
          <p:cNvSpPr txBox="1"/>
          <p:nvPr/>
        </p:nvSpPr>
        <p:spPr>
          <a:xfrm>
            <a:off x="955358" y="3338989"/>
            <a:ext cx="746474" cy="259080"/>
          </a:xfrm>
          <a:prstGeom prst="rect">
            <a:avLst/>
          </a:prstGeom>
          <a:noFill/>
          <a:ln>
            <a:noFill/>
          </a:ln>
        </p:spPr>
        <p:txBody>
          <a:bodyPr wrap="none" lIns="0" tIns="0" rIns="0" bIns="0" anchor="t" anchorCtr="0">
            <a:spAutoFit/>
          </a:bodyPr>
          <a:lstStyle/>
          <a:p>
            <a:pPr algn="l"/>
            <a:r>
              <a:rPr lang="zh-CN" sz="1275" b="1" dirty="0">
                <a:solidFill>
                  <a:srgbClr val="62716B"/>
                </a:solidFill>
                <a:latin typeface="Arial"/>
                <a:ea typeface="Microsoft YaHei"/>
                <a:cs typeface="Arial"/>
              </a:rPr>
              <a:t>体重变化</a:t>
            </a:r>
          </a:p>
        </p:txBody>
      </p:sp>
      <p:sp>
        <p:nvSpPr>
          <p:cNvPr id="21" name="TextBox 21"/>
          <p:cNvSpPr txBox="1"/>
          <p:nvPr/>
        </p:nvSpPr>
        <p:spPr>
          <a:xfrm>
            <a:off x="951548" y="3706654"/>
            <a:ext cx="2046806" cy="320040"/>
          </a:xfrm>
          <a:prstGeom prst="rect">
            <a:avLst/>
          </a:prstGeom>
          <a:noFill/>
          <a:ln>
            <a:noFill/>
          </a:ln>
        </p:spPr>
        <p:txBody>
          <a:bodyPr wrap="none" lIns="0" tIns="0" rIns="0" bIns="0" anchor="t" anchorCtr="0">
            <a:spAutoFit/>
          </a:bodyPr>
          <a:lstStyle/>
          <a:p>
            <a:pPr algn="l"/>
            <a:r>
              <a:rPr lang="zh-CN" sz="1575" b="1" dirty="0">
                <a:solidFill>
                  <a:srgbClr val="174C43"/>
                </a:solidFill>
                <a:latin typeface="Arial"/>
                <a:ea typeface="Microsoft YaHei"/>
                <a:cs typeface="Arial"/>
              </a:rPr>
              <a:t>近半年增加约10公斤</a:t>
            </a:r>
          </a:p>
        </p:txBody>
      </p:sp>
      <p:sp>
        <p:nvSpPr>
          <p:cNvPr id="22" name="TextBox 22"/>
          <p:cNvSpPr txBox="1"/>
          <p:nvPr/>
        </p:nvSpPr>
        <p:spPr>
          <a:xfrm>
            <a:off x="956310" y="4194810"/>
            <a:ext cx="1174623" cy="243840"/>
          </a:xfrm>
          <a:prstGeom prst="rect">
            <a:avLst/>
          </a:prstGeom>
          <a:noFill/>
          <a:ln>
            <a:noFill/>
          </a:ln>
        </p:spPr>
        <p:txBody>
          <a:bodyPr wrap="none" lIns="0" tIns="0" rIns="0" bIns="0" anchor="t" anchorCtr="0">
            <a:spAutoFit/>
          </a:bodyPr>
          <a:lstStyle/>
          <a:p>
            <a:pPr algn="l"/>
            <a:r>
              <a:rPr lang="zh-CN" sz="1200" dirty="0">
                <a:solidFill>
                  <a:srgbClr val="C76B3C"/>
                </a:solidFill>
                <a:latin typeface="Arial"/>
                <a:ea typeface="Microsoft YaHei"/>
                <a:cs typeface="Arial"/>
              </a:rPr>
              <a:t>未询问 → 已确认</a:t>
            </a:r>
          </a:p>
        </p:txBody>
      </p:sp>
      <p:sp>
        <p:nvSpPr>
          <p:cNvPr id="23" name="TextBox 23"/>
          <p:cNvSpPr txBox="1"/>
          <p:nvPr/>
        </p:nvSpPr>
        <p:spPr>
          <a:xfrm>
            <a:off x="4746308" y="3338989"/>
            <a:ext cx="746474" cy="259080"/>
          </a:xfrm>
          <a:prstGeom prst="rect">
            <a:avLst/>
          </a:prstGeom>
          <a:noFill/>
          <a:ln>
            <a:noFill/>
          </a:ln>
        </p:spPr>
        <p:txBody>
          <a:bodyPr wrap="none" lIns="0" tIns="0" rIns="0" bIns="0" anchor="t" anchorCtr="0">
            <a:spAutoFit/>
          </a:bodyPr>
          <a:lstStyle/>
          <a:p>
            <a:pPr algn="l"/>
            <a:r>
              <a:rPr lang="zh-CN" sz="1275" b="1" dirty="0">
                <a:solidFill>
                  <a:srgbClr val="62716B"/>
                </a:solidFill>
                <a:latin typeface="Arial"/>
                <a:ea typeface="Microsoft YaHei"/>
                <a:cs typeface="Arial"/>
              </a:rPr>
              <a:t>睡眠情绪</a:t>
            </a:r>
          </a:p>
        </p:txBody>
      </p:sp>
      <p:sp>
        <p:nvSpPr>
          <p:cNvPr id="24" name="TextBox 24"/>
          <p:cNvSpPr txBox="1"/>
          <p:nvPr/>
        </p:nvSpPr>
        <p:spPr>
          <a:xfrm>
            <a:off x="4742498" y="3706654"/>
            <a:ext cx="1142643" cy="320040"/>
          </a:xfrm>
          <a:prstGeom prst="rect">
            <a:avLst/>
          </a:prstGeom>
          <a:noFill/>
          <a:ln>
            <a:noFill/>
          </a:ln>
        </p:spPr>
        <p:txBody>
          <a:bodyPr wrap="none" lIns="0" tIns="0" rIns="0" bIns="0" anchor="t" anchorCtr="0">
            <a:spAutoFit/>
          </a:bodyPr>
          <a:lstStyle/>
          <a:p>
            <a:pPr algn="l"/>
            <a:r>
              <a:rPr lang="zh-CN" sz="1575" b="1" dirty="0">
                <a:solidFill>
                  <a:srgbClr val="174C43"/>
                </a:solidFill>
                <a:latin typeface="Arial"/>
                <a:ea typeface="Microsoft YaHei"/>
                <a:cs typeface="Arial"/>
              </a:rPr>
              <a:t>夜间经常醒</a:t>
            </a:r>
          </a:p>
        </p:txBody>
      </p:sp>
      <p:sp>
        <p:nvSpPr>
          <p:cNvPr id="25" name="TextBox 25"/>
          <p:cNvSpPr txBox="1"/>
          <p:nvPr/>
        </p:nvSpPr>
        <p:spPr>
          <a:xfrm>
            <a:off x="4747260" y="4194810"/>
            <a:ext cx="1334643" cy="243840"/>
          </a:xfrm>
          <a:prstGeom prst="rect">
            <a:avLst/>
          </a:prstGeom>
          <a:noFill/>
          <a:ln>
            <a:noFill/>
          </a:ln>
        </p:spPr>
        <p:txBody>
          <a:bodyPr wrap="none" lIns="0" tIns="0" rIns="0" bIns="0" anchor="t" anchorCtr="0">
            <a:spAutoFit/>
          </a:bodyPr>
          <a:lstStyle/>
          <a:p>
            <a:pPr algn="l"/>
            <a:r>
              <a:rPr lang="zh-CN" sz="1200" dirty="0">
                <a:solidFill>
                  <a:srgbClr val="C76B3C"/>
                </a:solidFill>
                <a:latin typeface="Arial"/>
                <a:ea typeface="Microsoft YaHei"/>
                <a:cs typeface="Arial"/>
              </a:rPr>
              <a:t>未询问 → 部分确认</a:t>
            </a:r>
          </a:p>
        </p:txBody>
      </p:sp>
      <p:sp>
        <p:nvSpPr>
          <p:cNvPr id="26" name="TextBox 26"/>
          <p:cNvSpPr txBox="1"/>
          <p:nvPr/>
        </p:nvSpPr>
        <p:spPr>
          <a:xfrm>
            <a:off x="8537258" y="3338989"/>
            <a:ext cx="746474" cy="259080"/>
          </a:xfrm>
          <a:prstGeom prst="rect">
            <a:avLst/>
          </a:prstGeom>
          <a:noFill/>
          <a:ln>
            <a:noFill/>
          </a:ln>
        </p:spPr>
        <p:txBody>
          <a:bodyPr wrap="none" lIns="0" tIns="0" rIns="0" bIns="0" anchor="t" anchorCtr="0">
            <a:spAutoFit/>
          </a:bodyPr>
          <a:lstStyle/>
          <a:p>
            <a:pPr algn="l"/>
            <a:r>
              <a:rPr lang="zh-CN" sz="1275" b="1" dirty="0">
                <a:solidFill>
                  <a:srgbClr val="62716B"/>
                </a:solidFill>
                <a:latin typeface="Arial"/>
                <a:ea typeface="Microsoft YaHei"/>
                <a:cs typeface="Arial"/>
              </a:rPr>
              <a:t>疲劳活动</a:t>
            </a:r>
          </a:p>
        </p:txBody>
      </p:sp>
      <p:sp>
        <p:nvSpPr>
          <p:cNvPr id="27" name="TextBox 27"/>
          <p:cNvSpPr txBox="1"/>
          <p:nvPr/>
        </p:nvSpPr>
        <p:spPr>
          <a:xfrm>
            <a:off x="8533448" y="3706654"/>
            <a:ext cx="1363170" cy="320040"/>
          </a:xfrm>
          <a:prstGeom prst="rect">
            <a:avLst/>
          </a:prstGeom>
          <a:noFill/>
          <a:ln>
            <a:noFill/>
          </a:ln>
        </p:spPr>
        <p:txBody>
          <a:bodyPr wrap="none" lIns="0" tIns="0" rIns="0" bIns="0" anchor="t" anchorCtr="0">
            <a:spAutoFit/>
          </a:bodyPr>
          <a:lstStyle/>
          <a:p>
            <a:pPr algn="l"/>
            <a:r>
              <a:rPr lang="zh-CN" sz="1575" b="1" dirty="0">
                <a:solidFill>
                  <a:srgbClr val="174C43"/>
                </a:solidFill>
                <a:latin typeface="Arial"/>
                <a:ea typeface="Microsoft YaHei"/>
                <a:cs typeface="Arial"/>
              </a:rPr>
              <a:t>白天容易疲劳</a:t>
            </a:r>
          </a:p>
        </p:txBody>
      </p:sp>
      <p:sp>
        <p:nvSpPr>
          <p:cNvPr id="28" name="TextBox 28"/>
          <p:cNvSpPr txBox="1"/>
          <p:nvPr/>
        </p:nvSpPr>
        <p:spPr>
          <a:xfrm>
            <a:off x="8538210" y="4194810"/>
            <a:ext cx="1334643" cy="243840"/>
          </a:xfrm>
          <a:prstGeom prst="rect">
            <a:avLst/>
          </a:prstGeom>
          <a:noFill/>
          <a:ln>
            <a:noFill/>
          </a:ln>
        </p:spPr>
        <p:txBody>
          <a:bodyPr wrap="none" lIns="0" tIns="0" rIns="0" bIns="0" anchor="t" anchorCtr="0">
            <a:spAutoFit/>
          </a:bodyPr>
          <a:lstStyle/>
          <a:p>
            <a:pPr algn="l"/>
            <a:r>
              <a:rPr lang="zh-CN" sz="1200" dirty="0">
                <a:solidFill>
                  <a:srgbClr val="C76B3C"/>
                </a:solidFill>
                <a:latin typeface="Arial"/>
                <a:ea typeface="Microsoft YaHei"/>
                <a:cs typeface="Arial"/>
              </a:rPr>
              <a:t>未询问 → 部分确认</a:t>
            </a:r>
          </a:p>
        </p:txBody>
      </p:sp>
      <p:sp>
        <p:nvSpPr>
          <p:cNvPr id="29" name="Line 29"/>
          <p:cNvSpPr/>
          <p:nvPr/>
        </p:nvSpPr>
        <p:spPr>
          <a:xfrm>
            <a:off x="2305050" y="4591050"/>
            <a:ext cx="9525" cy="476250"/>
          </a:xfrm>
          <a:custGeom>
            <a:avLst/>
            <a:gdLst/>
            <a:ahLst/>
            <a:cxnLst/>
            <a:rect l="l" t="t" r="r" b="b"/>
            <a:pathLst>
              <a:path w="9525" h="476250">
                <a:moveTo>
                  <a:pt x="0" y="0"/>
                </a:moveTo>
                <a:lnTo>
                  <a:pt x="0" y="476250"/>
                </a:lnTo>
              </a:path>
            </a:pathLst>
          </a:custGeom>
          <a:noFill/>
          <a:ln w="28575">
            <a:solidFill>
              <a:srgbClr val="6E9184"/>
            </a:solidFill>
          </a:ln>
        </p:spPr>
      </p:sp>
      <p:sp>
        <p:nvSpPr>
          <p:cNvPr id="30" name="Line 30"/>
          <p:cNvSpPr/>
          <p:nvPr/>
        </p:nvSpPr>
        <p:spPr>
          <a:xfrm>
            <a:off x="6096000" y="4591050"/>
            <a:ext cx="9525" cy="476250"/>
          </a:xfrm>
          <a:custGeom>
            <a:avLst/>
            <a:gdLst/>
            <a:ahLst/>
            <a:cxnLst/>
            <a:rect l="l" t="t" r="r" b="b"/>
            <a:pathLst>
              <a:path w="9525" h="476250">
                <a:moveTo>
                  <a:pt x="0" y="0"/>
                </a:moveTo>
                <a:lnTo>
                  <a:pt x="0" y="476250"/>
                </a:lnTo>
              </a:path>
            </a:pathLst>
          </a:custGeom>
          <a:noFill/>
          <a:ln w="28575">
            <a:solidFill>
              <a:srgbClr val="6E9184"/>
            </a:solidFill>
          </a:ln>
        </p:spPr>
      </p:sp>
      <p:sp>
        <p:nvSpPr>
          <p:cNvPr id="31" name="Line 31"/>
          <p:cNvSpPr/>
          <p:nvPr/>
        </p:nvSpPr>
        <p:spPr>
          <a:xfrm>
            <a:off x="9886950" y="4591050"/>
            <a:ext cx="9525" cy="476250"/>
          </a:xfrm>
          <a:custGeom>
            <a:avLst/>
            <a:gdLst/>
            <a:ahLst/>
            <a:cxnLst/>
            <a:rect l="l" t="t" r="r" b="b"/>
            <a:pathLst>
              <a:path w="9525" h="476250">
                <a:moveTo>
                  <a:pt x="0" y="0"/>
                </a:moveTo>
                <a:lnTo>
                  <a:pt x="0" y="476250"/>
                </a:lnTo>
              </a:path>
            </a:pathLst>
          </a:custGeom>
          <a:noFill/>
          <a:ln w="28575">
            <a:solidFill>
              <a:srgbClr val="6E9184"/>
            </a:solidFill>
          </a:ln>
        </p:spPr>
      </p:sp>
      <p:sp>
        <p:nvSpPr>
          <p:cNvPr id="32" name="Rectangle 32"/>
          <p:cNvSpPr/>
          <p:nvPr/>
        </p:nvSpPr>
        <p:spPr>
          <a:xfrm>
            <a:off x="1390650" y="5067300"/>
            <a:ext cx="9410700" cy="933450"/>
          </a:xfrm>
          <a:prstGeom prst="rect">
            <a:avLst/>
          </a:prstGeom>
          <a:solidFill>
            <a:srgbClr val="E8EFEA"/>
          </a:solidFill>
          <a:ln>
            <a:noFill/>
          </a:ln>
        </p:spPr>
      </p:sp>
      <p:sp>
        <p:nvSpPr>
          <p:cNvPr id="33" name="TextBox 33"/>
          <p:cNvSpPr txBox="1"/>
          <p:nvPr/>
        </p:nvSpPr>
        <p:spPr>
          <a:xfrm>
            <a:off x="1792605" y="5264468"/>
            <a:ext cx="790384" cy="274320"/>
          </a:xfrm>
          <a:prstGeom prst="rect">
            <a:avLst/>
          </a:prstGeom>
          <a:noFill/>
          <a:ln>
            <a:noFill/>
          </a:ln>
        </p:spPr>
        <p:txBody>
          <a:bodyPr wrap="none" lIns="0" tIns="0" rIns="0" bIns="0" anchor="t" anchorCtr="0">
            <a:spAutoFit/>
          </a:bodyPr>
          <a:lstStyle/>
          <a:p>
            <a:pPr algn="l"/>
            <a:r>
              <a:rPr lang="zh-CN" sz="1350" b="1" dirty="0">
                <a:solidFill>
                  <a:srgbClr val="174C43"/>
                </a:solidFill>
                <a:latin typeface="Arial"/>
                <a:ea typeface="Microsoft YaHei"/>
                <a:cs typeface="Arial"/>
              </a:rPr>
              <a:t>重新判断</a:t>
            </a:r>
          </a:p>
        </p:txBody>
      </p:sp>
      <p:sp>
        <p:nvSpPr>
          <p:cNvPr id="34" name="TextBox 34"/>
          <p:cNvSpPr txBox="1"/>
          <p:nvPr/>
        </p:nvSpPr>
        <p:spPr>
          <a:xfrm>
            <a:off x="1793558" y="5596414"/>
            <a:ext cx="4988504"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有效证据 · 否定/不确定 · 前后冲突 · 核心缺口 · 继续追问或结束</a:t>
            </a:r>
          </a:p>
        </p:txBody>
      </p:sp>
      <p:grpSp>
        <p:nvGrpSpPr>
          <p:cNvPr id="37" name="Group 37"/>
          <p:cNvGrpSpPr/>
          <p:nvPr/>
        </p:nvGrpSpPr>
        <p:grpSpPr>
          <a:xfrm>
            <a:off x="10125075" y="5353050"/>
            <a:ext cx="285750" cy="285750"/>
            <a:chOff x="10125075" y="5353050"/>
            <a:chExt cx="285750" cy="285750"/>
          </a:xfrm>
        </p:grpSpPr>
        <p:sp>
          <p:nvSpPr>
            <p:cNvPr id="35" name="Freeform 35"/>
            <p:cNvSpPr/>
            <p:nvPr/>
          </p:nvSpPr>
          <p:spPr>
            <a:xfrm>
              <a:off x="10125075" y="5353050"/>
              <a:ext cx="222250" cy="222250"/>
            </a:xfrm>
            <a:custGeom>
              <a:avLst/>
              <a:gdLst/>
              <a:ahLst/>
              <a:cxnLst/>
              <a:rect l="l" t="t" r="r" b="b"/>
              <a:pathLst>
                <a:path w="222250" h="222250">
                  <a:moveTo>
                    <a:pt x="0" y="111125"/>
                  </a:moveTo>
                  <a:cubicBezTo>
                    <a:pt x="0" y="172498"/>
                    <a:pt x="49752" y="222250"/>
                    <a:pt x="111125" y="222250"/>
                  </a:cubicBezTo>
                  <a:cubicBezTo>
                    <a:pt x="172498" y="222250"/>
                    <a:pt x="222250" y="172498"/>
                    <a:pt x="222250" y="111125"/>
                  </a:cubicBezTo>
                  <a:cubicBezTo>
                    <a:pt x="222250" y="49752"/>
                    <a:pt x="172498" y="0"/>
                    <a:pt x="111125" y="0"/>
                  </a:cubicBezTo>
                  <a:cubicBezTo>
                    <a:pt x="49752" y="0"/>
                    <a:pt x="0" y="49752"/>
                    <a:pt x="0" y="111125"/>
                  </a:cubicBezTo>
                </a:path>
              </a:pathLst>
            </a:custGeom>
            <a:noFill/>
            <a:ln w="19050">
              <a:solidFill>
                <a:srgbClr val="174C43"/>
              </a:solidFill>
            </a:ln>
          </p:spPr>
        </p:sp>
        <p:sp>
          <p:nvSpPr>
            <p:cNvPr id="36" name="Freeform 36"/>
            <p:cNvSpPr/>
            <p:nvPr/>
          </p:nvSpPr>
          <p:spPr>
            <a:xfrm>
              <a:off x="10315575" y="5543550"/>
              <a:ext cx="95250" cy="95250"/>
            </a:xfrm>
            <a:custGeom>
              <a:avLst/>
              <a:gdLst/>
              <a:ahLst/>
              <a:cxnLst/>
              <a:rect l="l" t="t" r="r" b="b"/>
              <a:pathLst>
                <a:path w="95250" h="95250">
                  <a:moveTo>
                    <a:pt x="95250" y="95250"/>
                  </a:moveTo>
                  <a:lnTo>
                    <a:pt x="0" y="0"/>
                  </a:lnTo>
                </a:path>
              </a:pathLst>
            </a:custGeom>
            <a:noFill/>
            <a:ln w="19050">
              <a:solidFill>
                <a:srgbClr val="174C43"/>
              </a:solidFill>
            </a:ln>
          </p:spPr>
        </p:sp>
      </p:grpSp>
      <p:sp>
        <p:nvSpPr>
          <p:cNvPr id="38" name="TextBox 38"/>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09</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6215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09 · 停止规则</a:t>
            </a:r>
          </a:p>
        </p:txBody>
      </p:sp>
      <p:sp>
        <p:nvSpPr>
          <p:cNvPr id="4" name="TextBox 4"/>
          <p:cNvSpPr txBox="1"/>
          <p:nvPr/>
        </p:nvSpPr>
        <p:spPr>
          <a:xfrm>
            <a:off x="575310" y="908685"/>
            <a:ext cx="5361242" cy="548640"/>
          </a:xfrm>
          <a:prstGeom prst="rect">
            <a:avLst/>
          </a:prstGeom>
          <a:noFill/>
          <a:ln>
            <a:noFill/>
          </a:ln>
        </p:spPr>
        <p:txBody>
          <a:bodyPr wrap="none" lIns="0" tIns="0" rIns="0" bIns="0" anchor="t" anchorCtr="0">
            <a:spAutoFit/>
          </a:bodyPr>
          <a:lstStyle/>
          <a:p>
            <a:pPr algn="l"/>
            <a:r>
              <a:rPr lang="zh-CN" sz="2700" b="1" dirty="0">
                <a:solidFill>
                  <a:srgbClr val="174C43"/>
                </a:solidFill>
                <a:latin typeface="Arial"/>
                <a:ea typeface="Microsoft YaHei"/>
                <a:cs typeface="Arial"/>
              </a:rPr>
              <a:t>系统何时继续追问，何时停止？</a:t>
            </a:r>
          </a:p>
        </p:txBody>
      </p:sp>
      <p:sp>
        <p:nvSpPr>
          <p:cNvPr id="5" name="Line 5"/>
          <p:cNvSpPr/>
          <p:nvPr/>
        </p:nvSpPr>
        <p:spPr>
          <a:xfrm>
            <a:off x="609600" y="1409700"/>
            <a:ext cx="10972800" cy="9525"/>
          </a:xfrm>
          <a:custGeom>
            <a:avLst/>
            <a:gdLst/>
            <a:ahLst/>
            <a:cxnLst/>
            <a:rect l="l" t="t" r="r" b="b"/>
            <a:pathLst>
              <a:path w="10972800" h="9525">
                <a:moveTo>
                  <a:pt x="0" y="0"/>
                </a:moveTo>
                <a:lnTo>
                  <a:pt x="10972800" y="0"/>
                </a:lnTo>
              </a:path>
            </a:pathLst>
          </a:custGeom>
          <a:noFill/>
          <a:ln w="19050">
            <a:solidFill>
              <a:srgbClr val="CDD8D2"/>
            </a:solidFill>
          </a:ln>
        </p:spPr>
      </p:sp>
      <p:sp>
        <p:nvSpPr>
          <p:cNvPr id="6" name="Rectangle 6"/>
          <p:cNvSpPr/>
          <p:nvPr/>
        </p:nvSpPr>
        <p:spPr>
          <a:xfrm>
            <a:off x="609600" y="1847850"/>
            <a:ext cx="3219450" cy="3924300"/>
          </a:xfrm>
          <a:prstGeom prst="rect">
            <a:avLst/>
          </a:prstGeom>
          <a:solidFill>
            <a:srgbClr val="FFFFFF"/>
          </a:solidFill>
          <a:ln w="19050">
            <a:solidFill>
              <a:srgbClr val="CDD8D2"/>
            </a:solidFill>
          </a:ln>
        </p:spPr>
      </p:sp>
      <p:sp>
        <p:nvSpPr>
          <p:cNvPr id="7" name="Rectangle 7"/>
          <p:cNvSpPr/>
          <p:nvPr/>
        </p:nvSpPr>
        <p:spPr>
          <a:xfrm>
            <a:off x="4038600" y="1695450"/>
            <a:ext cx="4114800" cy="4229100"/>
          </a:xfrm>
          <a:prstGeom prst="rect">
            <a:avLst/>
          </a:prstGeom>
          <a:solidFill>
            <a:srgbClr val="174C43"/>
          </a:solidFill>
          <a:ln>
            <a:noFill/>
          </a:ln>
        </p:spPr>
      </p:sp>
      <p:sp>
        <p:nvSpPr>
          <p:cNvPr id="8" name="Rectangle 8"/>
          <p:cNvSpPr/>
          <p:nvPr/>
        </p:nvSpPr>
        <p:spPr>
          <a:xfrm>
            <a:off x="8362950" y="1847850"/>
            <a:ext cx="3219450" cy="3924300"/>
          </a:xfrm>
          <a:prstGeom prst="rect">
            <a:avLst/>
          </a:prstGeom>
          <a:solidFill>
            <a:srgbClr val="FFFFFF"/>
          </a:solidFill>
          <a:ln w="19050">
            <a:solidFill>
              <a:srgbClr val="C76B3C"/>
            </a:solidFill>
          </a:ln>
        </p:spPr>
      </p:sp>
      <p:grpSp>
        <p:nvGrpSpPr>
          <p:cNvPr id="13" name="Group 13"/>
          <p:cNvGrpSpPr/>
          <p:nvPr/>
        </p:nvGrpSpPr>
        <p:grpSpPr>
          <a:xfrm>
            <a:off x="940594" y="2193925"/>
            <a:ext cx="271462" cy="256381"/>
            <a:chOff x="940594" y="2193925"/>
            <a:chExt cx="271462" cy="256381"/>
          </a:xfrm>
        </p:grpSpPr>
        <p:sp>
          <p:nvSpPr>
            <p:cNvPr id="9" name="Freeform 9"/>
            <p:cNvSpPr/>
            <p:nvPr/>
          </p:nvSpPr>
          <p:spPr>
            <a:xfrm>
              <a:off x="940594" y="2193925"/>
              <a:ext cx="271462" cy="256381"/>
            </a:xfrm>
            <a:custGeom>
              <a:avLst/>
              <a:gdLst/>
              <a:ahLst/>
              <a:cxnLst/>
              <a:rect l="l" t="t" r="r" b="b"/>
              <a:pathLst>
                <a:path w="271462" h="256381">
                  <a:moveTo>
                    <a:pt x="226218" y="0"/>
                  </a:moveTo>
                  <a:cubicBezTo>
                    <a:pt x="251206" y="0"/>
                    <a:pt x="271462" y="20256"/>
                    <a:pt x="271462" y="45244"/>
                  </a:cubicBezTo>
                  <a:lnTo>
                    <a:pt x="271462" y="165893"/>
                  </a:lnTo>
                  <a:cubicBezTo>
                    <a:pt x="271462" y="190881"/>
                    <a:pt x="251206" y="211137"/>
                    <a:pt x="226218" y="211137"/>
                  </a:cubicBezTo>
                  <a:lnTo>
                    <a:pt x="150812" y="211137"/>
                  </a:lnTo>
                  <a:lnTo>
                    <a:pt x="75406" y="256381"/>
                  </a:lnTo>
                  <a:lnTo>
                    <a:pt x="75406" y="211137"/>
                  </a:lnTo>
                  <a:lnTo>
                    <a:pt x="45244" y="211137"/>
                  </a:lnTo>
                  <a:cubicBezTo>
                    <a:pt x="20256" y="211137"/>
                    <a:pt x="0" y="190881"/>
                    <a:pt x="0" y="165893"/>
                  </a:cubicBezTo>
                  <a:lnTo>
                    <a:pt x="0" y="45244"/>
                  </a:lnTo>
                  <a:cubicBezTo>
                    <a:pt x="0" y="20256"/>
                    <a:pt x="20256" y="0"/>
                    <a:pt x="45244" y="0"/>
                  </a:cubicBezTo>
                  <a:lnTo>
                    <a:pt x="226218" y="0"/>
                  </a:lnTo>
                </a:path>
              </a:pathLst>
            </a:custGeom>
            <a:noFill/>
            <a:ln w="19050">
              <a:solidFill>
                <a:srgbClr val="174C43"/>
              </a:solidFill>
            </a:ln>
          </p:spPr>
        </p:sp>
        <p:sp>
          <p:nvSpPr>
            <p:cNvPr id="10" name="Freeform 10"/>
            <p:cNvSpPr/>
            <p:nvPr/>
          </p:nvSpPr>
          <p:spPr>
            <a:xfrm>
              <a:off x="1038622" y="2269331"/>
              <a:ext cx="9525" cy="9525"/>
            </a:xfrm>
            <a:custGeom>
              <a:avLst/>
              <a:gdLst/>
              <a:ahLst/>
              <a:cxnLst/>
              <a:rect l="l" t="t" r="r" b="b"/>
              <a:pathLst>
                <a:path w="9525" h="9525">
                  <a:moveTo>
                    <a:pt x="0" y="0"/>
                  </a:moveTo>
                  <a:lnTo>
                    <a:pt x="151" y="0"/>
                  </a:lnTo>
                </a:path>
              </a:pathLst>
            </a:custGeom>
            <a:noFill/>
            <a:ln w="19050">
              <a:solidFill>
                <a:srgbClr val="174C43"/>
              </a:solidFill>
            </a:ln>
          </p:spPr>
        </p:sp>
        <p:sp>
          <p:nvSpPr>
            <p:cNvPr id="11" name="Freeform 11"/>
            <p:cNvSpPr/>
            <p:nvPr/>
          </p:nvSpPr>
          <p:spPr>
            <a:xfrm>
              <a:off x="1114028" y="2269331"/>
              <a:ext cx="9525" cy="9525"/>
            </a:xfrm>
            <a:custGeom>
              <a:avLst/>
              <a:gdLst/>
              <a:ahLst/>
              <a:cxnLst/>
              <a:rect l="l" t="t" r="r" b="b"/>
              <a:pathLst>
                <a:path w="9525" h="9525">
                  <a:moveTo>
                    <a:pt x="0" y="0"/>
                  </a:moveTo>
                  <a:lnTo>
                    <a:pt x="151" y="0"/>
                  </a:lnTo>
                </a:path>
              </a:pathLst>
            </a:custGeom>
            <a:noFill/>
            <a:ln w="19050">
              <a:solidFill>
                <a:srgbClr val="174C43"/>
              </a:solidFill>
            </a:ln>
          </p:spPr>
        </p:sp>
        <p:sp>
          <p:nvSpPr>
            <p:cNvPr id="12" name="Freeform 12"/>
            <p:cNvSpPr/>
            <p:nvPr/>
          </p:nvSpPr>
          <p:spPr>
            <a:xfrm>
              <a:off x="1038622" y="2329656"/>
              <a:ext cx="75406" cy="15843"/>
            </a:xfrm>
            <a:custGeom>
              <a:avLst/>
              <a:gdLst/>
              <a:ahLst/>
              <a:cxnLst/>
              <a:rect l="l" t="t" r="r" b="b"/>
              <a:pathLst>
                <a:path w="75406" h="15843">
                  <a:moveTo>
                    <a:pt x="0" y="0"/>
                  </a:moveTo>
                  <a:cubicBezTo>
                    <a:pt x="9928" y="10133"/>
                    <a:pt x="23517" y="15843"/>
                    <a:pt x="37703" y="15843"/>
                  </a:cubicBezTo>
                  <a:cubicBezTo>
                    <a:pt x="51889" y="15843"/>
                    <a:pt x="65478" y="10133"/>
                    <a:pt x="75406" y="0"/>
                  </a:cubicBezTo>
                </a:path>
              </a:pathLst>
            </a:custGeom>
            <a:noFill/>
            <a:ln w="19050">
              <a:solidFill>
                <a:srgbClr val="174C43"/>
              </a:solidFill>
            </a:ln>
          </p:spPr>
        </p:sp>
      </p:grpSp>
      <p:sp>
        <p:nvSpPr>
          <p:cNvPr id="14" name="TextBox 14"/>
          <p:cNvSpPr txBox="1"/>
          <p:nvPr/>
        </p:nvSpPr>
        <p:spPr>
          <a:xfrm>
            <a:off x="1386840" y="2215515"/>
            <a:ext cx="1053846" cy="365760"/>
          </a:xfrm>
          <a:prstGeom prst="rect">
            <a:avLst/>
          </a:prstGeom>
          <a:noFill/>
          <a:ln>
            <a:noFill/>
          </a:ln>
        </p:spPr>
        <p:txBody>
          <a:bodyPr wrap="none" lIns="0" tIns="0" rIns="0" bIns="0" anchor="t" anchorCtr="0">
            <a:spAutoFit/>
          </a:bodyPr>
          <a:lstStyle/>
          <a:p>
            <a:pPr algn="l"/>
            <a:r>
              <a:rPr lang="zh-CN" sz="1800" b="1" dirty="0">
                <a:solidFill>
                  <a:srgbClr val="174C43"/>
                </a:solidFill>
                <a:latin typeface="Arial"/>
                <a:ea typeface="Microsoft YaHei"/>
                <a:cs typeface="Arial"/>
              </a:rPr>
              <a:t>继续追问</a:t>
            </a:r>
          </a:p>
        </p:txBody>
      </p:sp>
      <p:grpSp>
        <p:nvGrpSpPr>
          <p:cNvPr id="21" name="Group 21"/>
          <p:cNvGrpSpPr/>
          <p:nvPr/>
        </p:nvGrpSpPr>
        <p:grpSpPr>
          <a:xfrm>
            <a:off x="898208" y="2872264"/>
            <a:ext cx="1732598" cy="2259330"/>
            <a:chOff x="898208" y="2872264"/>
            <a:chExt cx="1732598" cy="2259330"/>
          </a:xfrm>
        </p:grpSpPr>
        <p:sp>
          <p:nvSpPr>
            <p:cNvPr id="15" name="TextBox 15"/>
            <p:cNvSpPr txBox="1"/>
            <p:nvPr/>
          </p:nvSpPr>
          <p:spPr>
            <a:xfrm>
              <a:off x="898208" y="2872264"/>
              <a:ext cx="1392555"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核心字段尚未询问</a:t>
              </a:r>
            </a:p>
          </p:txBody>
        </p:sp>
        <p:sp>
          <p:nvSpPr>
            <p:cNvPr id="16" name="TextBox 16"/>
            <p:cNvSpPr txBox="1"/>
            <p:nvPr/>
          </p:nvSpPr>
          <p:spPr>
            <a:xfrm>
              <a:off x="898208" y="3272314"/>
              <a:ext cx="1562576"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回答只覆盖部分内容</a:t>
              </a:r>
            </a:p>
          </p:txBody>
        </p:sp>
        <p:sp>
          <p:nvSpPr>
            <p:cNvPr id="17" name="TextBox 17"/>
            <p:cNvSpPr txBox="1"/>
            <p:nvPr/>
          </p:nvSpPr>
          <p:spPr>
            <a:xfrm>
              <a:off x="898208" y="3672364"/>
              <a:ext cx="1392555"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安全信息仍未确认</a:t>
              </a:r>
            </a:p>
          </p:txBody>
        </p:sp>
        <p:sp>
          <p:nvSpPr>
            <p:cNvPr id="18" name="TextBox 18"/>
            <p:cNvSpPr txBox="1"/>
            <p:nvPr/>
          </p:nvSpPr>
          <p:spPr>
            <a:xfrm>
              <a:off x="898208" y="4072414"/>
              <a:ext cx="1392555"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回答前后存在冲突</a:t>
              </a:r>
            </a:p>
          </p:txBody>
        </p:sp>
        <p:sp>
          <p:nvSpPr>
            <p:cNvPr id="19" name="TextBox 19"/>
            <p:cNvSpPr txBox="1"/>
            <p:nvPr/>
          </p:nvSpPr>
          <p:spPr>
            <a:xfrm>
              <a:off x="898208" y="4472464"/>
              <a:ext cx="1562576"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患者未理解当前问题</a:t>
              </a:r>
            </a:p>
          </p:txBody>
        </p:sp>
        <p:sp>
          <p:nvSpPr>
            <p:cNvPr id="20" name="TextBox 20"/>
            <p:cNvSpPr txBox="1"/>
            <p:nvPr/>
          </p:nvSpPr>
          <p:spPr>
            <a:xfrm>
              <a:off x="898208" y="4872514"/>
              <a:ext cx="1732598"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仍有一次合理澄清机会</a:t>
              </a:r>
            </a:p>
          </p:txBody>
        </p:sp>
      </p:grpSp>
      <p:grpSp>
        <p:nvGrpSpPr>
          <p:cNvPr id="24" name="Group 24"/>
          <p:cNvGrpSpPr/>
          <p:nvPr/>
        </p:nvGrpSpPr>
        <p:grpSpPr>
          <a:xfrm>
            <a:off x="4412456" y="2069306"/>
            <a:ext cx="300038" cy="300038"/>
            <a:chOff x="4412456" y="2069306"/>
            <a:chExt cx="300038" cy="300038"/>
          </a:xfrm>
        </p:grpSpPr>
        <p:sp>
          <p:nvSpPr>
            <p:cNvPr id="22" name="Freeform 22"/>
            <p:cNvSpPr/>
            <p:nvPr/>
          </p:nvSpPr>
          <p:spPr>
            <a:xfrm>
              <a:off x="4412456" y="2069306"/>
              <a:ext cx="300038" cy="300038"/>
            </a:xfrm>
            <a:custGeom>
              <a:avLst/>
              <a:gdLst/>
              <a:ahLst/>
              <a:cxnLst/>
              <a:rect l="l" t="t" r="r" b="b"/>
              <a:pathLst>
                <a:path w="300038" h="300038">
                  <a:moveTo>
                    <a:pt x="0" y="150019"/>
                  </a:moveTo>
                  <a:cubicBezTo>
                    <a:pt x="0" y="232872"/>
                    <a:pt x="67166" y="300038"/>
                    <a:pt x="150019" y="300038"/>
                  </a:cubicBezTo>
                  <a:cubicBezTo>
                    <a:pt x="232872" y="300038"/>
                    <a:pt x="300038" y="232872"/>
                    <a:pt x="300038" y="150019"/>
                  </a:cubicBezTo>
                  <a:cubicBezTo>
                    <a:pt x="300038" y="67166"/>
                    <a:pt x="232872" y="0"/>
                    <a:pt x="150019" y="0"/>
                  </a:cubicBezTo>
                  <a:cubicBezTo>
                    <a:pt x="67166" y="0"/>
                    <a:pt x="0" y="67166"/>
                    <a:pt x="0" y="150019"/>
                  </a:cubicBezTo>
                </a:path>
              </a:pathLst>
            </a:custGeom>
            <a:noFill/>
            <a:ln w="19050">
              <a:solidFill>
                <a:srgbClr val="F7F5EF"/>
              </a:solidFill>
            </a:ln>
          </p:spPr>
        </p:sp>
        <p:sp>
          <p:nvSpPr>
            <p:cNvPr id="23" name="Freeform 23"/>
            <p:cNvSpPr/>
            <p:nvPr/>
          </p:nvSpPr>
          <p:spPr>
            <a:xfrm>
              <a:off x="4512469" y="2185988"/>
              <a:ext cx="100012" cy="66675"/>
            </a:xfrm>
            <a:custGeom>
              <a:avLst/>
              <a:gdLst/>
              <a:ahLst/>
              <a:cxnLst/>
              <a:rect l="l" t="t" r="r" b="b"/>
              <a:pathLst>
                <a:path w="100012" h="66675">
                  <a:moveTo>
                    <a:pt x="0" y="33338"/>
                  </a:moveTo>
                  <a:lnTo>
                    <a:pt x="33338" y="66675"/>
                  </a:lnTo>
                  <a:lnTo>
                    <a:pt x="100012" y="0"/>
                  </a:lnTo>
                </a:path>
              </a:pathLst>
            </a:custGeom>
            <a:noFill/>
            <a:ln w="19050">
              <a:solidFill>
                <a:srgbClr val="F7F5EF"/>
              </a:solidFill>
            </a:ln>
          </p:spPr>
        </p:sp>
      </p:grpSp>
      <p:sp>
        <p:nvSpPr>
          <p:cNvPr id="25" name="TextBox 25"/>
          <p:cNvSpPr txBox="1"/>
          <p:nvPr/>
        </p:nvSpPr>
        <p:spPr>
          <a:xfrm>
            <a:off x="4928235" y="2113598"/>
            <a:ext cx="1141667" cy="396240"/>
          </a:xfrm>
          <a:prstGeom prst="rect">
            <a:avLst/>
          </a:prstGeom>
          <a:noFill/>
          <a:ln>
            <a:noFill/>
          </a:ln>
        </p:spPr>
        <p:txBody>
          <a:bodyPr wrap="none" lIns="0" tIns="0" rIns="0" bIns="0" anchor="t" anchorCtr="0">
            <a:spAutoFit/>
          </a:bodyPr>
          <a:lstStyle/>
          <a:p>
            <a:pPr algn="l"/>
            <a:r>
              <a:rPr lang="zh-CN" sz="1950" b="1" dirty="0">
                <a:solidFill>
                  <a:srgbClr val="F7F5EF"/>
                </a:solidFill>
                <a:latin typeface="Arial"/>
                <a:ea typeface="Microsoft YaHei"/>
                <a:cs typeface="Arial"/>
              </a:rPr>
              <a:t>正常停止</a:t>
            </a:r>
          </a:p>
        </p:txBody>
      </p:sp>
      <p:sp>
        <p:nvSpPr>
          <p:cNvPr id="26" name="TextBox 26"/>
          <p:cNvSpPr txBox="1"/>
          <p:nvPr/>
        </p:nvSpPr>
        <p:spPr>
          <a:xfrm>
            <a:off x="4344352" y="2703671"/>
            <a:ext cx="1366361" cy="289560"/>
          </a:xfrm>
          <a:prstGeom prst="rect">
            <a:avLst/>
          </a:prstGeom>
          <a:noFill/>
          <a:ln>
            <a:noFill/>
          </a:ln>
        </p:spPr>
        <p:txBody>
          <a:bodyPr wrap="none" lIns="0" tIns="0" rIns="0" bIns="0" anchor="t" anchorCtr="0">
            <a:spAutoFit/>
          </a:bodyPr>
          <a:lstStyle/>
          <a:p>
            <a:pPr algn="l"/>
            <a:r>
              <a:rPr lang="zh-CN" sz="1425" dirty="0">
                <a:solidFill>
                  <a:srgbClr val="E8EFEA"/>
                </a:solidFill>
                <a:latin typeface="Consolas"/>
                <a:ea typeface="Microsoft YaHei"/>
                <a:cs typeface="Consolas"/>
              </a:rPr>
              <a:t>基础资料已确认</a:t>
            </a:r>
          </a:p>
        </p:txBody>
      </p:sp>
      <p:sp>
        <p:nvSpPr>
          <p:cNvPr id="27" name="TextBox 27"/>
          <p:cNvSpPr txBox="1"/>
          <p:nvPr/>
        </p:nvSpPr>
        <p:spPr>
          <a:xfrm>
            <a:off x="4344352" y="3103721"/>
            <a:ext cx="2021468" cy="289560"/>
          </a:xfrm>
          <a:prstGeom prst="rect">
            <a:avLst/>
          </a:prstGeom>
          <a:noFill/>
          <a:ln>
            <a:noFill/>
          </a:ln>
        </p:spPr>
        <p:txBody>
          <a:bodyPr wrap="none" lIns="0" tIns="0" rIns="0" bIns="0" anchor="t" anchorCtr="0">
            <a:spAutoFit/>
          </a:bodyPr>
          <a:lstStyle/>
          <a:p>
            <a:pPr algn="l"/>
            <a:r>
              <a:rPr lang="zh-CN" sz="1425" b="1" dirty="0">
                <a:solidFill>
                  <a:srgbClr val="F7F5EF"/>
                </a:solidFill>
                <a:latin typeface="Consolas"/>
                <a:ea typeface="Microsoft YaHei"/>
                <a:cs typeface="Consolas"/>
              </a:rPr>
              <a:t>AND 核心病程信息可用</a:t>
            </a:r>
          </a:p>
        </p:txBody>
      </p:sp>
      <p:sp>
        <p:nvSpPr>
          <p:cNvPr id="28" name="TextBox 28"/>
          <p:cNvSpPr txBox="1"/>
          <p:nvPr/>
        </p:nvSpPr>
        <p:spPr>
          <a:xfrm>
            <a:off x="4344352" y="3503771"/>
            <a:ext cx="2021468" cy="289560"/>
          </a:xfrm>
          <a:prstGeom prst="rect">
            <a:avLst/>
          </a:prstGeom>
          <a:noFill/>
          <a:ln>
            <a:noFill/>
          </a:ln>
        </p:spPr>
        <p:txBody>
          <a:bodyPr wrap="none" lIns="0" tIns="0" rIns="0" bIns="0" anchor="t" anchorCtr="0">
            <a:spAutoFit/>
          </a:bodyPr>
          <a:lstStyle/>
          <a:p>
            <a:pPr algn="l"/>
            <a:r>
              <a:rPr lang="zh-CN" sz="1425" b="1" dirty="0">
                <a:solidFill>
                  <a:srgbClr val="F7F5EF"/>
                </a:solidFill>
                <a:latin typeface="Consolas"/>
                <a:ea typeface="Microsoft YaHei"/>
                <a:cs typeface="Consolas"/>
              </a:rPr>
              <a:t>AND 核心症状信息可用</a:t>
            </a:r>
          </a:p>
        </p:txBody>
      </p:sp>
      <p:sp>
        <p:nvSpPr>
          <p:cNvPr id="29" name="TextBox 29"/>
          <p:cNvSpPr txBox="1"/>
          <p:nvPr/>
        </p:nvSpPr>
        <p:spPr>
          <a:xfrm>
            <a:off x="4344352" y="3903821"/>
            <a:ext cx="1821943" cy="289560"/>
          </a:xfrm>
          <a:prstGeom prst="rect">
            <a:avLst/>
          </a:prstGeom>
          <a:noFill/>
          <a:ln>
            <a:noFill/>
          </a:ln>
        </p:spPr>
        <p:txBody>
          <a:bodyPr wrap="none" lIns="0" tIns="0" rIns="0" bIns="0" anchor="t" anchorCtr="0">
            <a:spAutoFit/>
          </a:bodyPr>
          <a:lstStyle/>
          <a:p>
            <a:pPr algn="l"/>
            <a:r>
              <a:rPr lang="zh-CN" sz="1425" b="1" dirty="0">
                <a:solidFill>
                  <a:srgbClr val="F7F5EF"/>
                </a:solidFill>
                <a:latin typeface="Consolas"/>
                <a:ea typeface="Microsoft YaHei"/>
                <a:cs typeface="Consolas"/>
              </a:rPr>
              <a:t>AND 安全信息已确认</a:t>
            </a:r>
          </a:p>
        </p:txBody>
      </p:sp>
      <p:sp>
        <p:nvSpPr>
          <p:cNvPr id="30" name="TextBox 30"/>
          <p:cNvSpPr txBox="1"/>
          <p:nvPr/>
        </p:nvSpPr>
        <p:spPr>
          <a:xfrm>
            <a:off x="4344352" y="4303871"/>
            <a:ext cx="2021468" cy="289560"/>
          </a:xfrm>
          <a:prstGeom prst="rect">
            <a:avLst/>
          </a:prstGeom>
          <a:noFill/>
          <a:ln>
            <a:noFill/>
          </a:ln>
        </p:spPr>
        <p:txBody>
          <a:bodyPr wrap="none" lIns="0" tIns="0" rIns="0" bIns="0" anchor="t" anchorCtr="0">
            <a:spAutoFit/>
          </a:bodyPr>
          <a:lstStyle/>
          <a:p>
            <a:pPr algn="l"/>
            <a:r>
              <a:rPr lang="zh-CN" sz="1425" b="1" dirty="0">
                <a:solidFill>
                  <a:srgbClr val="F7F5EF"/>
                </a:solidFill>
                <a:latin typeface="Consolas"/>
                <a:ea typeface="Microsoft YaHei"/>
                <a:cs typeface="Consolas"/>
              </a:rPr>
              <a:t>AND 无未解决关键冲突</a:t>
            </a:r>
          </a:p>
        </p:txBody>
      </p:sp>
      <p:sp>
        <p:nvSpPr>
          <p:cNvPr id="31" name="Line 31"/>
          <p:cNvSpPr/>
          <p:nvPr/>
        </p:nvSpPr>
        <p:spPr>
          <a:xfrm>
            <a:off x="4362450" y="4838700"/>
            <a:ext cx="3448050" cy="9525"/>
          </a:xfrm>
          <a:custGeom>
            <a:avLst/>
            <a:gdLst/>
            <a:ahLst/>
            <a:cxnLst/>
            <a:rect l="l" t="t" r="r" b="b"/>
            <a:pathLst>
              <a:path w="3448050" h="9525">
                <a:moveTo>
                  <a:pt x="0" y="0"/>
                </a:moveTo>
                <a:lnTo>
                  <a:pt x="3448050" y="0"/>
                </a:lnTo>
              </a:path>
            </a:pathLst>
          </a:custGeom>
          <a:noFill/>
          <a:ln w="19050">
            <a:solidFill>
              <a:srgbClr val="6E9184"/>
            </a:solidFill>
          </a:ln>
        </p:spPr>
      </p:sp>
      <p:sp>
        <p:nvSpPr>
          <p:cNvPr id="32" name="TextBox 32"/>
          <p:cNvSpPr txBox="1"/>
          <p:nvPr/>
        </p:nvSpPr>
        <p:spPr>
          <a:xfrm>
            <a:off x="4345305" y="5112068"/>
            <a:ext cx="2554605" cy="274320"/>
          </a:xfrm>
          <a:prstGeom prst="rect">
            <a:avLst/>
          </a:prstGeom>
          <a:noFill/>
          <a:ln>
            <a:noFill/>
          </a:ln>
        </p:spPr>
        <p:txBody>
          <a:bodyPr wrap="none" lIns="0" tIns="0" rIns="0" bIns="0" anchor="t" anchorCtr="0">
            <a:spAutoFit/>
          </a:bodyPr>
          <a:lstStyle/>
          <a:p>
            <a:pPr algn="l"/>
            <a:r>
              <a:rPr lang="zh-CN" sz="1350" dirty="0">
                <a:solidFill>
                  <a:srgbClr val="E8EFEA"/>
                </a:solidFill>
                <a:latin typeface="Arial"/>
                <a:ea typeface="Microsoft YaHei"/>
                <a:cs typeface="Arial"/>
              </a:rPr>
              <a:t>达到核心可用状态后立即结束，</a:t>
            </a:r>
          </a:p>
        </p:txBody>
      </p:sp>
      <p:sp>
        <p:nvSpPr>
          <p:cNvPr id="33" name="TextBox 33"/>
          <p:cNvSpPr txBox="1"/>
          <p:nvPr/>
        </p:nvSpPr>
        <p:spPr>
          <a:xfrm>
            <a:off x="4345305" y="5397818"/>
            <a:ext cx="2194560" cy="274320"/>
          </a:xfrm>
          <a:prstGeom prst="rect">
            <a:avLst/>
          </a:prstGeom>
          <a:noFill/>
          <a:ln>
            <a:noFill/>
          </a:ln>
        </p:spPr>
        <p:txBody>
          <a:bodyPr wrap="none" lIns="0" tIns="0" rIns="0" bIns="0" anchor="t" anchorCtr="0">
            <a:spAutoFit/>
          </a:bodyPr>
          <a:lstStyle/>
          <a:p>
            <a:pPr algn="l"/>
            <a:r>
              <a:rPr lang="zh-CN" sz="1350" dirty="0">
                <a:solidFill>
                  <a:srgbClr val="E8EFEA"/>
                </a:solidFill>
                <a:latin typeface="Arial"/>
                <a:ea typeface="Microsoft YaHei"/>
                <a:cs typeface="Arial"/>
              </a:rPr>
              <a:t>不再为可选细节延长问诊。</a:t>
            </a:r>
          </a:p>
        </p:txBody>
      </p:sp>
      <p:grpSp>
        <p:nvGrpSpPr>
          <p:cNvPr id="37" name="Group 37"/>
          <p:cNvGrpSpPr/>
          <p:nvPr/>
        </p:nvGrpSpPr>
        <p:grpSpPr>
          <a:xfrm>
            <a:off x="8677579" y="2173833"/>
            <a:ext cx="304180" cy="261331"/>
            <a:chOff x="8677579" y="2173833"/>
            <a:chExt cx="304180" cy="261331"/>
          </a:xfrm>
        </p:grpSpPr>
        <p:sp>
          <p:nvSpPr>
            <p:cNvPr id="34" name="Freeform 34"/>
            <p:cNvSpPr/>
            <p:nvPr/>
          </p:nvSpPr>
          <p:spPr>
            <a:xfrm>
              <a:off x="8829675" y="2269331"/>
              <a:ext cx="9525" cy="60325"/>
            </a:xfrm>
            <a:custGeom>
              <a:avLst/>
              <a:gdLst/>
              <a:ahLst/>
              <a:cxnLst/>
              <a:rect l="l" t="t" r="r" b="b"/>
              <a:pathLst>
                <a:path w="9525" h="60325">
                  <a:moveTo>
                    <a:pt x="0" y="0"/>
                  </a:moveTo>
                  <a:lnTo>
                    <a:pt x="0" y="60325"/>
                  </a:lnTo>
                </a:path>
              </a:pathLst>
            </a:custGeom>
            <a:noFill/>
            <a:ln w="19050">
              <a:solidFill>
                <a:srgbClr val="C76B3C"/>
              </a:solidFill>
            </a:ln>
          </p:spPr>
        </p:sp>
        <p:sp>
          <p:nvSpPr>
            <p:cNvPr id="35" name="Freeform 35"/>
            <p:cNvSpPr/>
            <p:nvPr/>
          </p:nvSpPr>
          <p:spPr>
            <a:xfrm>
              <a:off x="8677579" y="2173833"/>
              <a:ext cx="304180" cy="261331"/>
            </a:xfrm>
            <a:custGeom>
              <a:avLst/>
              <a:gdLst/>
              <a:ahLst/>
              <a:cxnLst/>
              <a:rect l="l" t="t" r="r" b="b"/>
              <a:pathLst>
                <a:path w="304180" h="261331">
                  <a:moveTo>
                    <a:pt x="127408" y="13923"/>
                  </a:moveTo>
                  <a:lnTo>
                    <a:pt x="5160" y="218032"/>
                  </a:lnTo>
                  <a:cubicBezTo>
                    <a:pt x="31" y="226913"/>
                    <a:pt x="0" y="237848"/>
                    <a:pt x="5077" y="246758"/>
                  </a:cubicBezTo>
                  <a:cubicBezTo>
                    <a:pt x="10155" y="255668"/>
                    <a:pt x="19578" y="261215"/>
                    <a:pt x="29832" y="261331"/>
                  </a:cubicBezTo>
                  <a:lnTo>
                    <a:pt x="274359" y="261331"/>
                  </a:lnTo>
                  <a:cubicBezTo>
                    <a:pt x="284609" y="261212"/>
                    <a:pt x="294027" y="255667"/>
                    <a:pt x="299104" y="246762"/>
                  </a:cubicBezTo>
                  <a:cubicBezTo>
                    <a:pt x="304180" y="237857"/>
                    <a:pt x="304153" y="226927"/>
                    <a:pt x="299032" y="218048"/>
                  </a:cubicBezTo>
                  <a:lnTo>
                    <a:pt x="176784" y="13908"/>
                  </a:lnTo>
                  <a:cubicBezTo>
                    <a:pt x="171553" y="5274"/>
                    <a:pt x="162191" y="0"/>
                    <a:pt x="152096" y="0"/>
                  </a:cubicBezTo>
                  <a:cubicBezTo>
                    <a:pt x="142001" y="0"/>
                    <a:pt x="132639" y="5274"/>
                    <a:pt x="127408" y="13908"/>
                  </a:cubicBezTo>
                </a:path>
              </a:pathLst>
            </a:custGeom>
            <a:noFill/>
            <a:ln w="19050">
              <a:solidFill>
                <a:srgbClr val="C76B3C"/>
              </a:solidFill>
            </a:ln>
          </p:spPr>
        </p:sp>
        <p:sp>
          <p:nvSpPr>
            <p:cNvPr id="36" name="Freeform 36"/>
            <p:cNvSpPr/>
            <p:nvPr/>
          </p:nvSpPr>
          <p:spPr>
            <a:xfrm>
              <a:off x="8829675" y="2374899"/>
              <a:ext cx="9525" cy="9525"/>
            </a:xfrm>
            <a:custGeom>
              <a:avLst/>
              <a:gdLst/>
              <a:ahLst/>
              <a:cxnLst/>
              <a:rect l="l" t="t" r="r" b="b"/>
              <a:pathLst>
                <a:path w="9525" h="9525">
                  <a:moveTo>
                    <a:pt x="0" y="0"/>
                  </a:moveTo>
                  <a:lnTo>
                    <a:pt x="151" y="0"/>
                  </a:lnTo>
                </a:path>
              </a:pathLst>
            </a:custGeom>
            <a:noFill/>
            <a:ln w="19050">
              <a:solidFill>
                <a:srgbClr val="C76B3C"/>
              </a:solidFill>
            </a:ln>
          </p:spPr>
        </p:sp>
      </p:grpSp>
      <p:sp>
        <p:nvSpPr>
          <p:cNvPr id="38" name="TextBox 38"/>
          <p:cNvSpPr txBox="1"/>
          <p:nvPr/>
        </p:nvSpPr>
        <p:spPr>
          <a:xfrm>
            <a:off x="9140190" y="2215515"/>
            <a:ext cx="1305878" cy="365760"/>
          </a:xfrm>
          <a:prstGeom prst="rect">
            <a:avLst/>
          </a:prstGeom>
          <a:noFill/>
          <a:ln>
            <a:noFill/>
          </a:ln>
        </p:spPr>
        <p:txBody>
          <a:bodyPr wrap="none" lIns="0" tIns="0" rIns="0" bIns="0" anchor="t" anchorCtr="0">
            <a:spAutoFit/>
          </a:bodyPr>
          <a:lstStyle/>
          <a:p>
            <a:pPr algn="l"/>
            <a:r>
              <a:rPr lang="zh-CN" sz="1800" b="1" dirty="0">
                <a:solidFill>
                  <a:srgbClr val="C76B3C"/>
                </a:solidFill>
                <a:latin typeface="Arial"/>
                <a:ea typeface="Microsoft YaHei"/>
                <a:cs typeface="Arial"/>
              </a:rPr>
              <a:t>保护性停止</a:t>
            </a:r>
          </a:p>
        </p:txBody>
      </p:sp>
      <p:grpSp>
        <p:nvGrpSpPr>
          <p:cNvPr id="44" name="Group 44"/>
          <p:cNvGrpSpPr/>
          <p:nvPr/>
        </p:nvGrpSpPr>
        <p:grpSpPr>
          <a:xfrm>
            <a:off x="8651558" y="2872264"/>
            <a:ext cx="1392555" cy="1859280"/>
            <a:chOff x="8651558" y="2872264"/>
            <a:chExt cx="1392555" cy="1859280"/>
          </a:xfrm>
        </p:grpSpPr>
        <p:sp>
          <p:nvSpPr>
            <p:cNvPr id="39" name="TextBox 39"/>
            <p:cNvSpPr txBox="1"/>
            <p:nvPr/>
          </p:nvSpPr>
          <p:spPr>
            <a:xfrm>
              <a:off x="8651558" y="2872264"/>
              <a:ext cx="1222534"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连续表示不知道</a:t>
              </a:r>
            </a:p>
          </p:txBody>
        </p:sp>
        <p:sp>
          <p:nvSpPr>
            <p:cNvPr id="40" name="TextBox 40"/>
            <p:cNvSpPr txBox="1"/>
            <p:nvPr/>
          </p:nvSpPr>
          <p:spPr>
            <a:xfrm>
              <a:off x="8651558" y="3272314"/>
              <a:ext cx="712470"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拒绝回答</a:t>
              </a:r>
            </a:p>
          </p:txBody>
        </p:sp>
        <p:sp>
          <p:nvSpPr>
            <p:cNvPr id="41" name="TextBox 41"/>
            <p:cNvSpPr txBox="1"/>
            <p:nvPr/>
          </p:nvSpPr>
          <p:spPr>
            <a:xfrm>
              <a:off x="8651558" y="3672364"/>
              <a:ext cx="1392555"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在线无法继续确认</a:t>
              </a:r>
            </a:p>
          </p:txBody>
        </p:sp>
        <p:sp>
          <p:nvSpPr>
            <p:cNvPr id="42" name="TextBox 42"/>
            <p:cNvSpPr txBox="1"/>
            <p:nvPr/>
          </p:nvSpPr>
          <p:spPr>
            <a:xfrm>
              <a:off x="8651558" y="4072414"/>
              <a:ext cx="1392555"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达到最大追问次数</a:t>
              </a:r>
            </a:p>
          </p:txBody>
        </p:sp>
        <p:sp>
          <p:nvSpPr>
            <p:cNvPr id="43" name="TextBox 43"/>
            <p:cNvSpPr txBox="1"/>
            <p:nvPr/>
          </p:nvSpPr>
          <p:spPr>
            <a:xfrm>
              <a:off x="8651558" y="4472464"/>
              <a:ext cx="1392555" cy="259080"/>
            </a:xfrm>
            <a:prstGeom prst="rect">
              <a:avLst/>
            </a:prstGeom>
            <a:noFill/>
            <a:ln>
              <a:noFill/>
            </a:ln>
          </p:spPr>
          <p:txBody>
            <a:bodyPr wrap="none" lIns="0" tIns="0" rIns="0" bIns="0" anchor="t" anchorCtr="0">
              <a:spAutoFit/>
            </a:bodyPr>
            <a:lstStyle/>
            <a:p>
              <a:pPr algn="l"/>
              <a:r>
                <a:rPr lang="zh-CN" sz="1275" dirty="0">
                  <a:solidFill>
                    <a:srgbClr val="24332E"/>
                  </a:solidFill>
                  <a:latin typeface="Arial"/>
                  <a:ea typeface="Microsoft YaHei"/>
                  <a:cs typeface="Arial"/>
                </a:rPr>
                <a:t>模型或服务不可用</a:t>
              </a:r>
            </a:p>
          </p:txBody>
        </p:sp>
      </p:grpSp>
      <p:sp>
        <p:nvSpPr>
          <p:cNvPr id="45" name="Rectangle 45"/>
          <p:cNvSpPr/>
          <p:nvPr/>
        </p:nvSpPr>
        <p:spPr>
          <a:xfrm>
            <a:off x="8667750" y="5010150"/>
            <a:ext cx="2609850" cy="514350"/>
          </a:xfrm>
          <a:prstGeom prst="rect">
            <a:avLst/>
          </a:prstGeom>
          <a:solidFill>
            <a:srgbClr val="F7E7DE"/>
          </a:solidFill>
          <a:ln>
            <a:noFill/>
          </a:ln>
        </p:spPr>
      </p:sp>
      <p:sp>
        <p:nvSpPr>
          <p:cNvPr id="46" name="TextBox 46"/>
          <p:cNvSpPr txBox="1"/>
          <p:nvPr/>
        </p:nvSpPr>
        <p:spPr>
          <a:xfrm>
            <a:off x="9331654" y="5196364"/>
            <a:ext cx="1282041" cy="259080"/>
          </a:xfrm>
          <a:prstGeom prst="rect">
            <a:avLst/>
          </a:prstGeom>
          <a:noFill/>
          <a:ln>
            <a:noFill/>
          </a:ln>
        </p:spPr>
        <p:txBody>
          <a:bodyPr wrap="none" lIns="0" tIns="0" rIns="0" bIns="0" anchor="t" anchorCtr="0">
            <a:spAutoFit/>
          </a:bodyPr>
          <a:lstStyle/>
          <a:p>
            <a:pPr algn="ctr"/>
            <a:r>
              <a:rPr lang="zh-CN" sz="1275" b="1" dirty="0">
                <a:solidFill>
                  <a:srgbClr val="C76B3C"/>
                </a:solidFill>
                <a:latin typeface="Arial"/>
                <a:ea typeface="Microsoft YaHei"/>
                <a:cs typeface="Arial"/>
              </a:rPr>
              <a:t>待医生诊中确认</a:t>
            </a:r>
          </a:p>
        </p:txBody>
      </p:sp>
      <p:sp>
        <p:nvSpPr>
          <p:cNvPr id="47" name="TextBox 47"/>
          <p:cNvSpPr txBox="1"/>
          <p:nvPr/>
        </p:nvSpPr>
        <p:spPr>
          <a:xfrm>
            <a:off x="4944713" y="6216968"/>
            <a:ext cx="2302574" cy="274320"/>
          </a:xfrm>
          <a:prstGeom prst="rect">
            <a:avLst/>
          </a:prstGeom>
          <a:noFill/>
          <a:ln>
            <a:noFill/>
          </a:ln>
        </p:spPr>
        <p:txBody>
          <a:bodyPr wrap="none" lIns="0" tIns="0" rIns="0" bIns="0" anchor="t" anchorCtr="0">
            <a:spAutoFit/>
          </a:bodyPr>
          <a:lstStyle/>
          <a:p>
            <a:pPr algn="ctr"/>
            <a:r>
              <a:rPr lang="zh-CN" sz="1350" b="1" dirty="0">
                <a:solidFill>
                  <a:srgbClr val="174C43"/>
                </a:solidFill>
                <a:latin typeface="Arial"/>
                <a:ea typeface="Microsoft YaHei"/>
                <a:cs typeface="Arial"/>
              </a:rPr>
              <a:t>不草率完成，也不无限追问</a:t>
            </a:r>
          </a:p>
        </p:txBody>
      </p:sp>
      <p:sp>
        <p:nvSpPr>
          <p:cNvPr id="48" name="TextBox 48"/>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10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6215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10 · 技术实现</a:t>
            </a:r>
          </a:p>
        </p:txBody>
      </p:sp>
      <p:sp>
        <p:nvSpPr>
          <p:cNvPr id="4" name="TextBox 4"/>
          <p:cNvSpPr txBox="1"/>
          <p:nvPr/>
        </p:nvSpPr>
        <p:spPr>
          <a:xfrm>
            <a:off x="575310" y="908685"/>
            <a:ext cx="4227100" cy="548640"/>
          </a:xfrm>
          <a:prstGeom prst="rect">
            <a:avLst/>
          </a:prstGeom>
          <a:noFill/>
          <a:ln>
            <a:noFill/>
          </a:ln>
        </p:spPr>
        <p:txBody>
          <a:bodyPr wrap="none" lIns="0" tIns="0" rIns="0" bIns="0" anchor="t" anchorCtr="0">
            <a:spAutoFit/>
          </a:bodyPr>
          <a:lstStyle/>
          <a:p>
            <a:pPr algn="l"/>
            <a:r>
              <a:rPr lang="zh-CN" sz="2700" b="1" dirty="0">
                <a:solidFill>
                  <a:srgbClr val="174C43"/>
                </a:solidFill>
                <a:latin typeface="Arial"/>
                <a:ea typeface="Microsoft YaHei"/>
                <a:cs typeface="Arial"/>
              </a:rPr>
              <a:t>关键技术问题与当前实现</a:t>
            </a:r>
          </a:p>
        </p:txBody>
      </p:sp>
      <p:sp>
        <p:nvSpPr>
          <p:cNvPr id="5" name="Line 5"/>
          <p:cNvSpPr/>
          <p:nvPr/>
        </p:nvSpPr>
        <p:spPr>
          <a:xfrm>
            <a:off x="609600" y="1409700"/>
            <a:ext cx="10972800" cy="9525"/>
          </a:xfrm>
          <a:custGeom>
            <a:avLst/>
            <a:gdLst/>
            <a:ahLst/>
            <a:cxnLst/>
            <a:rect l="l" t="t" r="r" b="b"/>
            <a:pathLst>
              <a:path w="10972800" h="9525">
                <a:moveTo>
                  <a:pt x="0" y="0"/>
                </a:moveTo>
                <a:lnTo>
                  <a:pt x="10972800" y="0"/>
                </a:lnTo>
              </a:path>
            </a:pathLst>
          </a:custGeom>
          <a:noFill/>
          <a:ln w="19050">
            <a:solidFill>
              <a:srgbClr val="CDD8D2"/>
            </a:solidFill>
          </a:ln>
        </p:spPr>
      </p:sp>
      <p:sp>
        <p:nvSpPr>
          <p:cNvPr id="6" name="Rectangle 6"/>
          <p:cNvSpPr/>
          <p:nvPr/>
        </p:nvSpPr>
        <p:spPr>
          <a:xfrm>
            <a:off x="609600" y="1771650"/>
            <a:ext cx="10972800" cy="514350"/>
          </a:xfrm>
          <a:prstGeom prst="rect">
            <a:avLst/>
          </a:prstGeom>
          <a:solidFill>
            <a:srgbClr val="174C43"/>
          </a:solidFill>
          <a:ln>
            <a:noFill/>
          </a:ln>
        </p:spPr>
      </p:sp>
      <p:sp>
        <p:nvSpPr>
          <p:cNvPr id="7" name="Line 7"/>
          <p:cNvSpPr/>
          <p:nvPr/>
        </p:nvSpPr>
        <p:spPr>
          <a:xfrm>
            <a:off x="3619500" y="1771650"/>
            <a:ext cx="9525" cy="3695700"/>
          </a:xfrm>
          <a:custGeom>
            <a:avLst/>
            <a:gdLst/>
            <a:ahLst/>
            <a:cxnLst/>
            <a:rect l="l" t="t" r="r" b="b"/>
            <a:pathLst>
              <a:path w="9525" h="3695700">
                <a:moveTo>
                  <a:pt x="0" y="0"/>
                </a:moveTo>
                <a:lnTo>
                  <a:pt x="0" y="3695700"/>
                </a:lnTo>
              </a:path>
            </a:pathLst>
          </a:custGeom>
          <a:noFill/>
          <a:ln w="9525">
            <a:solidFill>
              <a:srgbClr val="CDD8D2"/>
            </a:solidFill>
          </a:ln>
        </p:spPr>
      </p:sp>
      <p:sp>
        <p:nvSpPr>
          <p:cNvPr id="8" name="Line 8"/>
          <p:cNvSpPr/>
          <p:nvPr/>
        </p:nvSpPr>
        <p:spPr>
          <a:xfrm>
            <a:off x="8782050" y="1771650"/>
            <a:ext cx="9525" cy="3695700"/>
          </a:xfrm>
          <a:custGeom>
            <a:avLst/>
            <a:gdLst/>
            <a:ahLst/>
            <a:cxnLst/>
            <a:rect l="l" t="t" r="r" b="b"/>
            <a:pathLst>
              <a:path w="9525" h="3695700">
                <a:moveTo>
                  <a:pt x="0" y="0"/>
                </a:moveTo>
                <a:lnTo>
                  <a:pt x="0" y="3695700"/>
                </a:lnTo>
              </a:path>
            </a:pathLst>
          </a:custGeom>
          <a:noFill/>
          <a:ln w="9525">
            <a:solidFill>
              <a:srgbClr val="CDD8D2"/>
            </a:solidFill>
          </a:ln>
        </p:spPr>
      </p:sp>
      <p:grpSp>
        <p:nvGrpSpPr>
          <p:cNvPr id="12" name="Group 12"/>
          <p:cNvGrpSpPr/>
          <p:nvPr/>
        </p:nvGrpSpPr>
        <p:grpSpPr>
          <a:xfrm>
            <a:off x="822008" y="1957864"/>
            <a:ext cx="8937974" cy="259080"/>
            <a:chOff x="822008" y="1957864"/>
            <a:chExt cx="8937974" cy="259080"/>
          </a:xfrm>
        </p:grpSpPr>
        <p:sp>
          <p:nvSpPr>
            <p:cNvPr id="9" name="TextBox 9"/>
            <p:cNvSpPr txBox="1"/>
            <p:nvPr/>
          </p:nvSpPr>
          <p:spPr>
            <a:xfrm>
              <a:off x="822008" y="1957864"/>
              <a:ext cx="1103519" cy="259080"/>
            </a:xfrm>
            <a:prstGeom prst="rect">
              <a:avLst/>
            </a:prstGeom>
            <a:noFill/>
            <a:ln>
              <a:noFill/>
            </a:ln>
          </p:spPr>
          <p:txBody>
            <a:bodyPr wrap="none" lIns="0" tIns="0" rIns="0" bIns="0" anchor="t" anchorCtr="0">
              <a:spAutoFit/>
            </a:bodyPr>
            <a:lstStyle/>
            <a:p>
              <a:pPr algn="l"/>
              <a:r>
                <a:rPr lang="zh-CN" sz="1275" b="1" dirty="0">
                  <a:solidFill>
                    <a:srgbClr val="F7F5EF"/>
                  </a:solidFill>
                  <a:latin typeface="Arial"/>
                  <a:ea typeface="Microsoft YaHei"/>
                  <a:cs typeface="Arial"/>
                </a:rPr>
                <a:t>关键技术问题</a:t>
              </a:r>
            </a:p>
          </p:txBody>
        </p:sp>
        <p:sp>
          <p:nvSpPr>
            <p:cNvPr id="10" name="TextBox 10"/>
            <p:cNvSpPr txBox="1"/>
            <p:nvPr/>
          </p:nvSpPr>
          <p:spPr>
            <a:xfrm>
              <a:off x="3850958" y="1957864"/>
              <a:ext cx="1103519" cy="259080"/>
            </a:xfrm>
            <a:prstGeom prst="rect">
              <a:avLst/>
            </a:prstGeom>
            <a:noFill/>
            <a:ln>
              <a:noFill/>
            </a:ln>
          </p:spPr>
          <p:txBody>
            <a:bodyPr wrap="none" lIns="0" tIns="0" rIns="0" bIns="0" anchor="t" anchorCtr="0">
              <a:spAutoFit/>
            </a:bodyPr>
            <a:lstStyle/>
            <a:p>
              <a:pPr algn="l"/>
              <a:r>
                <a:rPr lang="zh-CN" sz="1275" b="1" dirty="0">
                  <a:solidFill>
                    <a:srgbClr val="F7F5EF"/>
                  </a:solidFill>
                  <a:latin typeface="Arial"/>
                  <a:ea typeface="Microsoft YaHei"/>
                  <a:cs typeface="Arial"/>
                </a:rPr>
                <a:t>当前处理方式</a:t>
              </a:r>
            </a:p>
          </p:txBody>
        </p:sp>
        <p:sp>
          <p:nvSpPr>
            <p:cNvPr id="11" name="TextBox 11"/>
            <p:cNvSpPr txBox="1"/>
            <p:nvPr/>
          </p:nvSpPr>
          <p:spPr>
            <a:xfrm>
              <a:off x="9013508" y="1957864"/>
              <a:ext cx="746474" cy="259080"/>
            </a:xfrm>
            <a:prstGeom prst="rect">
              <a:avLst/>
            </a:prstGeom>
            <a:noFill/>
            <a:ln>
              <a:noFill/>
            </a:ln>
          </p:spPr>
          <p:txBody>
            <a:bodyPr wrap="none" lIns="0" tIns="0" rIns="0" bIns="0" anchor="t" anchorCtr="0">
              <a:spAutoFit/>
            </a:bodyPr>
            <a:lstStyle/>
            <a:p>
              <a:pPr algn="l"/>
              <a:r>
                <a:rPr lang="zh-CN" sz="1275" b="1" dirty="0">
                  <a:solidFill>
                    <a:srgbClr val="F7F5EF"/>
                  </a:solidFill>
                  <a:latin typeface="Arial"/>
                  <a:ea typeface="Microsoft YaHei"/>
                  <a:cs typeface="Arial"/>
                </a:rPr>
                <a:t>当前状态</a:t>
              </a:r>
            </a:p>
          </p:txBody>
        </p:sp>
      </p:grpSp>
      <p:grpSp>
        <p:nvGrpSpPr>
          <p:cNvPr id="18" name="Group 18"/>
          <p:cNvGrpSpPr/>
          <p:nvPr/>
        </p:nvGrpSpPr>
        <p:grpSpPr>
          <a:xfrm>
            <a:off x="609600" y="2933700"/>
            <a:ext cx="10972800" cy="2543175"/>
            <a:chOff x="609600" y="2933700"/>
            <a:chExt cx="10972800" cy="2543175"/>
          </a:xfrm>
        </p:grpSpPr>
        <p:sp>
          <p:nvSpPr>
            <p:cNvPr id="13" name="Line 13"/>
            <p:cNvSpPr/>
            <p:nvPr/>
          </p:nvSpPr>
          <p:spPr>
            <a:xfrm>
              <a:off x="609600" y="2933700"/>
              <a:ext cx="10972800" cy="9525"/>
            </a:xfrm>
            <a:custGeom>
              <a:avLst/>
              <a:gdLst/>
              <a:ahLst/>
              <a:cxnLst/>
              <a:rect l="l" t="t" r="r" b="b"/>
              <a:pathLst>
                <a:path w="10972800" h="9525">
                  <a:moveTo>
                    <a:pt x="0" y="0"/>
                  </a:moveTo>
                  <a:lnTo>
                    <a:pt x="10972800" y="0"/>
                  </a:lnTo>
                </a:path>
              </a:pathLst>
            </a:custGeom>
            <a:noFill/>
            <a:ln w="9525">
              <a:solidFill>
                <a:srgbClr val="CDD8D2"/>
              </a:solidFill>
            </a:ln>
          </p:spPr>
        </p:sp>
        <p:sp>
          <p:nvSpPr>
            <p:cNvPr id="14" name="Line 14"/>
            <p:cNvSpPr/>
            <p:nvPr/>
          </p:nvSpPr>
          <p:spPr>
            <a:xfrm>
              <a:off x="609600" y="3581400"/>
              <a:ext cx="10972800" cy="9525"/>
            </a:xfrm>
            <a:custGeom>
              <a:avLst/>
              <a:gdLst/>
              <a:ahLst/>
              <a:cxnLst/>
              <a:rect l="l" t="t" r="r" b="b"/>
              <a:pathLst>
                <a:path w="10972800" h="9525">
                  <a:moveTo>
                    <a:pt x="0" y="0"/>
                  </a:moveTo>
                  <a:lnTo>
                    <a:pt x="10972800" y="0"/>
                  </a:lnTo>
                </a:path>
              </a:pathLst>
            </a:custGeom>
            <a:noFill/>
            <a:ln w="9525">
              <a:solidFill>
                <a:srgbClr val="CDD8D2"/>
              </a:solidFill>
            </a:ln>
          </p:spPr>
        </p:sp>
        <p:sp>
          <p:nvSpPr>
            <p:cNvPr id="15" name="Line 15"/>
            <p:cNvSpPr/>
            <p:nvPr/>
          </p:nvSpPr>
          <p:spPr>
            <a:xfrm>
              <a:off x="609600" y="4229100"/>
              <a:ext cx="10972800" cy="9525"/>
            </a:xfrm>
            <a:custGeom>
              <a:avLst/>
              <a:gdLst/>
              <a:ahLst/>
              <a:cxnLst/>
              <a:rect l="l" t="t" r="r" b="b"/>
              <a:pathLst>
                <a:path w="10972800" h="9525">
                  <a:moveTo>
                    <a:pt x="0" y="0"/>
                  </a:moveTo>
                  <a:lnTo>
                    <a:pt x="10972800" y="0"/>
                  </a:lnTo>
                </a:path>
              </a:pathLst>
            </a:custGeom>
            <a:noFill/>
            <a:ln w="9525">
              <a:solidFill>
                <a:srgbClr val="CDD8D2"/>
              </a:solidFill>
            </a:ln>
          </p:spPr>
        </p:sp>
        <p:sp>
          <p:nvSpPr>
            <p:cNvPr id="16" name="Line 16"/>
            <p:cNvSpPr/>
            <p:nvPr/>
          </p:nvSpPr>
          <p:spPr>
            <a:xfrm>
              <a:off x="609600" y="4876800"/>
              <a:ext cx="10972800" cy="9525"/>
            </a:xfrm>
            <a:custGeom>
              <a:avLst/>
              <a:gdLst/>
              <a:ahLst/>
              <a:cxnLst/>
              <a:rect l="l" t="t" r="r" b="b"/>
              <a:pathLst>
                <a:path w="10972800" h="9525">
                  <a:moveTo>
                    <a:pt x="0" y="0"/>
                  </a:moveTo>
                  <a:lnTo>
                    <a:pt x="10972800" y="0"/>
                  </a:lnTo>
                </a:path>
              </a:pathLst>
            </a:custGeom>
            <a:noFill/>
            <a:ln w="9525">
              <a:solidFill>
                <a:srgbClr val="CDD8D2"/>
              </a:solidFill>
            </a:ln>
          </p:spPr>
        </p:sp>
        <p:sp>
          <p:nvSpPr>
            <p:cNvPr id="17" name="Line 17"/>
            <p:cNvSpPr/>
            <p:nvPr/>
          </p:nvSpPr>
          <p:spPr>
            <a:xfrm>
              <a:off x="609600" y="5467350"/>
              <a:ext cx="10972800" cy="9525"/>
            </a:xfrm>
            <a:custGeom>
              <a:avLst/>
              <a:gdLst/>
              <a:ahLst/>
              <a:cxnLst/>
              <a:rect l="l" t="t" r="r" b="b"/>
              <a:pathLst>
                <a:path w="10972800" h="9525">
                  <a:moveTo>
                    <a:pt x="0" y="0"/>
                  </a:moveTo>
                  <a:lnTo>
                    <a:pt x="10972800" y="0"/>
                  </a:lnTo>
                </a:path>
              </a:pathLst>
            </a:custGeom>
            <a:noFill/>
            <a:ln w="9525">
              <a:solidFill>
                <a:srgbClr val="CDD8D2"/>
              </a:solidFill>
            </a:ln>
          </p:spPr>
        </p:sp>
      </p:grpSp>
      <p:grpSp>
        <p:nvGrpSpPr>
          <p:cNvPr id="36" name="Group 36"/>
          <p:cNvGrpSpPr/>
          <p:nvPr/>
        </p:nvGrpSpPr>
        <p:grpSpPr>
          <a:xfrm>
            <a:off x="822960" y="2385060"/>
            <a:ext cx="9982200" cy="2967990"/>
            <a:chOff x="822960" y="2385060"/>
            <a:chExt cx="9982200" cy="2967990"/>
          </a:xfrm>
        </p:grpSpPr>
        <p:sp>
          <p:nvSpPr>
            <p:cNvPr id="19" name="TextBox 19"/>
            <p:cNvSpPr txBox="1"/>
            <p:nvPr/>
          </p:nvSpPr>
          <p:spPr>
            <a:xfrm>
              <a:off x="822960" y="2480310"/>
              <a:ext cx="163068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一句话包含多个信息点</a:t>
              </a:r>
            </a:p>
          </p:txBody>
        </p:sp>
        <p:sp>
          <p:nvSpPr>
            <p:cNvPr id="20" name="TextBox 20"/>
            <p:cNvSpPr txBox="1"/>
            <p:nvPr/>
          </p:nvSpPr>
          <p:spPr>
            <a:xfrm>
              <a:off x="3851910" y="2385060"/>
              <a:ext cx="147066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一次提取多个字段，</a:t>
              </a:r>
            </a:p>
          </p:txBody>
        </p:sp>
        <p:sp>
          <p:nvSpPr>
            <p:cNvPr id="21" name="TextBox 21"/>
            <p:cNvSpPr txBox="1"/>
            <p:nvPr/>
          </p:nvSpPr>
          <p:spPr>
            <a:xfrm>
              <a:off x="3851910" y="2623185"/>
              <a:ext cx="147066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并保留患者原始证据</a:t>
              </a:r>
            </a:p>
          </p:txBody>
        </p:sp>
        <p:sp>
          <p:nvSpPr>
            <p:cNvPr id="22" name="TextBox 22"/>
            <p:cNvSpPr txBox="1"/>
            <p:nvPr/>
          </p:nvSpPr>
          <p:spPr>
            <a:xfrm>
              <a:off x="9014460" y="2499360"/>
              <a:ext cx="1470660" cy="243840"/>
            </a:xfrm>
            <a:prstGeom prst="rect">
              <a:avLst/>
            </a:prstGeom>
            <a:noFill/>
            <a:ln>
              <a:noFill/>
            </a:ln>
          </p:spPr>
          <p:txBody>
            <a:bodyPr wrap="none" lIns="0" tIns="0" rIns="0" bIns="0" anchor="t" anchorCtr="0">
              <a:spAutoFit/>
            </a:bodyPr>
            <a:lstStyle/>
            <a:p>
              <a:pPr algn="l"/>
              <a:r>
                <a:rPr lang="zh-CN" sz="1200" dirty="0">
                  <a:solidFill>
                    <a:srgbClr val="174C43"/>
                  </a:solidFill>
                  <a:latin typeface="Arial"/>
                  <a:ea typeface="Microsoft YaHei"/>
                  <a:cs typeface="Arial"/>
                </a:rPr>
                <a:t>已实现，待病例验证</a:t>
              </a:r>
            </a:p>
          </p:txBody>
        </p:sp>
        <p:sp>
          <p:nvSpPr>
            <p:cNvPr id="23" name="TextBox 23"/>
            <p:cNvSpPr txBox="1"/>
            <p:nvPr/>
          </p:nvSpPr>
          <p:spPr>
            <a:xfrm>
              <a:off x="822960" y="3204210"/>
              <a:ext cx="147066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否定、不确定和拒答</a:t>
              </a:r>
            </a:p>
          </p:txBody>
        </p:sp>
        <p:sp>
          <p:nvSpPr>
            <p:cNvPr id="24" name="TextBox 24"/>
            <p:cNvSpPr txBox="1"/>
            <p:nvPr/>
          </p:nvSpPr>
          <p:spPr>
            <a:xfrm>
              <a:off x="3851910" y="3204210"/>
              <a:ext cx="243078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分状态记录，并使用本地规则过滤</a:t>
              </a:r>
            </a:p>
          </p:txBody>
        </p:sp>
        <p:sp>
          <p:nvSpPr>
            <p:cNvPr id="25" name="TextBox 25"/>
            <p:cNvSpPr txBox="1"/>
            <p:nvPr/>
          </p:nvSpPr>
          <p:spPr>
            <a:xfrm>
              <a:off x="9014460" y="3204210"/>
              <a:ext cx="1150620" cy="243840"/>
            </a:xfrm>
            <a:prstGeom prst="rect">
              <a:avLst/>
            </a:prstGeom>
            <a:noFill/>
            <a:ln>
              <a:noFill/>
            </a:ln>
          </p:spPr>
          <p:txBody>
            <a:bodyPr wrap="none" lIns="0" tIns="0" rIns="0" bIns="0" anchor="t" anchorCtr="0">
              <a:spAutoFit/>
            </a:bodyPr>
            <a:lstStyle/>
            <a:p>
              <a:pPr algn="l"/>
              <a:r>
                <a:rPr lang="zh-CN" sz="1200" dirty="0">
                  <a:solidFill>
                    <a:srgbClr val="174C43"/>
                  </a:solidFill>
                  <a:latin typeface="Arial"/>
                  <a:ea typeface="Microsoft YaHei"/>
                  <a:cs typeface="Arial"/>
                </a:rPr>
                <a:t>已实现基础处理</a:t>
              </a:r>
            </a:p>
          </p:txBody>
        </p:sp>
        <p:sp>
          <p:nvSpPr>
            <p:cNvPr id="26" name="TextBox 26"/>
            <p:cNvSpPr txBox="1"/>
            <p:nvPr/>
          </p:nvSpPr>
          <p:spPr>
            <a:xfrm>
              <a:off x="822960" y="3851910"/>
              <a:ext cx="131064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回答前后存在矛盾</a:t>
              </a:r>
            </a:p>
          </p:txBody>
        </p:sp>
        <p:sp>
          <p:nvSpPr>
            <p:cNvPr id="27" name="TextBox 27"/>
            <p:cNvSpPr txBox="1"/>
            <p:nvPr/>
          </p:nvSpPr>
          <p:spPr>
            <a:xfrm>
              <a:off x="3851910" y="3851910"/>
              <a:ext cx="227076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保留新旧证据，标记冲突并澄清</a:t>
              </a:r>
            </a:p>
          </p:txBody>
        </p:sp>
        <p:sp>
          <p:nvSpPr>
            <p:cNvPr id="28" name="TextBox 28"/>
            <p:cNvSpPr txBox="1"/>
            <p:nvPr/>
          </p:nvSpPr>
          <p:spPr>
            <a:xfrm>
              <a:off x="9014460" y="3851910"/>
              <a:ext cx="510540" cy="243840"/>
            </a:xfrm>
            <a:prstGeom prst="rect">
              <a:avLst/>
            </a:prstGeom>
            <a:noFill/>
            <a:ln>
              <a:noFill/>
            </a:ln>
          </p:spPr>
          <p:txBody>
            <a:bodyPr wrap="none" lIns="0" tIns="0" rIns="0" bIns="0" anchor="t" anchorCtr="0">
              <a:spAutoFit/>
            </a:bodyPr>
            <a:lstStyle/>
            <a:p>
              <a:pPr algn="l"/>
              <a:r>
                <a:rPr lang="zh-CN" sz="1200" dirty="0">
                  <a:solidFill>
                    <a:srgbClr val="174C43"/>
                  </a:solidFill>
                  <a:latin typeface="Arial"/>
                  <a:ea typeface="Microsoft YaHei"/>
                  <a:cs typeface="Arial"/>
                </a:rPr>
                <a:t>已实现</a:t>
              </a:r>
            </a:p>
          </p:txBody>
        </p:sp>
        <p:sp>
          <p:nvSpPr>
            <p:cNvPr id="29" name="TextBox 29"/>
            <p:cNvSpPr txBox="1"/>
            <p:nvPr/>
          </p:nvSpPr>
          <p:spPr>
            <a:xfrm>
              <a:off x="822960" y="4499610"/>
              <a:ext cx="147066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大模型输出存在波动</a:t>
              </a:r>
            </a:p>
          </p:txBody>
        </p:sp>
        <p:sp>
          <p:nvSpPr>
            <p:cNvPr id="30" name="TextBox 30"/>
            <p:cNvSpPr txBox="1"/>
            <p:nvPr/>
          </p:nvSpPr>
          <p:spPr>
            <a:xfrm>
              <a:off x="3851910" y="4404360"/>
              <a:ext cx="227076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模型负责理解，规则控制状态、</a:t>
              </a:r>
            </a:p>
          </p:txBody>
        </p:sp>
        <p:sp>
          <p:nvSpPr>
            <p:cNvPr id="31" name="TextBox 31"/>
            <p:cNvSpPr txBox="1"/>
            <p:nvPr/>
          </p:nvSpPr>
          <p:spPr>
            <a:xfrm>
              <a:off x="3851910" y="4642485"/>
              <a:ext cx="147066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重试次数与停止条件</a:t>
              </a:r>
            </a:p>
          </p:txBody>
        </p:sp>
        <p:sp>
          <p:nvSpPr>
            <p:cNvPr id="32" name="TextBox 32"/>
            <p:cNvSpPr txBox="1"/>
            <p:nvPr/>
          </p:nvSpPr>
          <p:spPr>
            <a:xfrm>
              <a:off x="9014460" y="4499610"/>
              <a:ext cx="510540" cy="243840"/>
            </a:xfrm>
            <a:prstGeom prst="rect">
              <a:avLst/>
            </a:prstGeom>
            <a:noFill/>
            <a:ln>
              <a:noFill/>
            </a:ln>
          </p:spPr>
          <p:txBody>
            <a:bodyPr wrap="none" lIns="0" tIns="0" rIns="0" bIns="0" anchor="t" anchorCtr="0">
              <a:spAutoFit/>
            </a:bodyPr>
            <a:lstStyle/>
            <a:p>
              <a:pPr algn="l"/>
              <a:r>
                <a:rPr lang="zh-CN" sz="1200" dirty="0">
                  <a:solidFill>
                    <a:srgbClr val="174C43"/>
                  </a:solidFill>
                  <a:latin typeface="Arial"/>
                  <a:ea typeface="Microsoft YaHei"/>
                  <a:cs typeface="Arial"/>
                </a:rPr>
                <a:t>已实现</a:t>
              </a:r>
            </a:p>
          </p:txBody>
        </p:sp>
        <p:sp>
          <p:nvSpPr>
            <p:cNvPr id="33" name="TextBox 33"/>
            <p:cNvSpPr txBox="1"/>
            <p:nvPr/>
          </p:nvSpPr>
          <p:spPr>
            <a:xfrm>
              <a:off x="822960" y="5109210"/>
              <a:ext cx="131064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完整度与患者负担</a:t>
              </a:r>
            </a:p>
          </p:txBody>
        </p:sp>
        <p:sp>
          <p:nvSpPr>
            <p:cNvPr id="34" name="TextBox 34"/>
            <p:cNvSpPr txBox="1"/>
            <p:nvPr/>
          </p:nvSpPr>
          <p:spPr>
            <a:xfrm>
              <a:off x="3851910" y="5109210"/>
              <a:ext cx="2110740" cy="243840"/>
            </a:xfrm>
            <a:prstGeom prst="rect">
              <a:avLst/>
            </a:prstGeom>
            <a:noFill/>
            <a:ln>
              <a:noFill/>
            </a:ln>
          </p:spPr>
          <p:txBody>
            <a:bodyPr wrap="none" lIns="0" tIns="0" rIns="0" bIns="0" anchor="t" anchorCtr="0">
              <a:spAutoFit/>
            </a:bodyPr>
            <a:lstStyle/>
            <a:p>
              <a:pPr algn="l"/>
              <a:r>
                <a:rPr lang="zh-CN" sz="1200" dirty="0">
                  <a:solidFill>
                    <a:srgbClr val="24332E"/>
                  </a:solidFill>
                  <a:latin typeface="Arial"/>
                  <a:ea typeface="Microsoft YaHei"/>
                  <a:cs typeface="Arial"/>
                </a:rPr>
                <a:t>患者完成线与医生完善线分离</a:t>
              </a:r>
            </a:p>
          </p:txBody>
        </p:sp>
        <p:sp>
          <p:nvSpPr>
            <p:cNvPr id="35" name="TextBox 35"/>
            <p:cNvSpPr txBox="1"/>
            <p:nvPr/>
          </p:nvSpPr>
          <p:spPr>
            <a:xfrm>
              <a:off x="9014460" y="5109210"/>
              <a:ext cx="1790700" cy="243840"/>
            </a:xfrm>
            <a:prstGeom prst="rect">
              <a:avLst/>
            </a:prstGeom>
            <a:noFill/>
            <a:ln>
              <a:noFill/>
            </a:ln>
          </p:spPr>
          <p:txBody>
            <a:bodyPr wrap="none" lIns="0" tIns="0" rIns="0" bIns="0" anchor="t" anchorCtr="0">
              <a:spAutoFit/>
            </a:bodyPr>
            <a:lstStyle/>
            <a:p>
              <a:pPr algn="l"/>
              <a:r>
                <a:rPr lang="zh-CN" sz="1200" dirty="0">
                  <a:solidFill>
                    <a:srgbClr val="C76B3C"/>
                  </a:solidFill>
                  <a:latin typeface="Arial"/>
                  <a:ea typeface="Microsoft YaHei"/>
                  <a:cs typeface="Arial"/>
                </a:rPr>
                <a:t>规则已实现，待临床审核</a:t>
              </a:r>
            </a:p>
          </p:txBody>
        </p:sp>
      </p:grpSp>
      <p:sp>
        <p:nvSpPr>
          <p:cNvPr id="37" name="Rectangle 37"/>
          <p:cNvSpPr/>
          <p:nvPr/>
        </p:nvSpPr>
        <p:spPr>
          <a:xfrm>
            <a:off x="1524000" y="5810250"/>
            <a:ext cx="9144000" cy="476250"/>
          </a:xfrm>
          <a:prstGeom prst="rect">
            <a:avLst/>
          </a:prstGeom>
          <a:solidFill>
            <a:srgbClr val="E8EFEA"/>
          </a:solidFill>
          <a:ln>
            <a:noFill/>
          </a:ln>
        </p:spPr>
      </p:sp>
      <p:sp>
        <p:nvSpPr>
          <p:cNvPr id="38" name="TextBox 38"/>
          <p:cNvSpPr txBox="1"/>
          <p:nvPr/>
        </p:nvSpPr>
        <p:spPr>
          <a:xfrm>
            <a:off x="3134812" y="5959792"/>
            <a:ext cx="5922376" cy="274320"/>
          </a:xfrm>
          <a:prstGeom prst="rect">
            <a:avLst/>
          </a:prstGeom>
          <a:noFill/>
          <a:ln>
            <a:noFill/>
          </a:ln>
        </p:spPr>
        <p:txBody>
          <a:bodyPr wrap="none" lIns="0" tIns="0" rIns="0" bIns="0" anchor="t" anchorCtr="0">
            <a:spAutoFit/>
          </a:bodyPr>
          <a:lstStyle/>
          <a:p>
            <a:pPr algn="ctr"/>
            <a:r>
              <a:rPr lang="zh-CN" sz="1350" b="1" dirty="0">
                <a:solidFill>
                  <a:srgbClr val="174C43"/>
                </a:solidFill>
                <a:latin typeface="Arial"/>
                <a:ea typeface="Microsoft YaHei"/>
                <a:cs typeface="Arial"/>
              </a:rPr>
              <a:t>工程实现 ≠ 临床验证：下一阶段需用标准病例与专家评价验证实际效果</a:t>
            </a:r>
          </a:p>
        </p:txBody>
      </p:sp>
      <p:sp>
        <p:nvSpPr>
          <p:cNvPr id="39" name="TextBox 39"/>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11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5834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11 · 操作展示</a:t>
            </a:r>
          </a:p>
        </p:txBody>
      </p:sp>
      <p:sp>
        <p:nvSpPr>
          <p:cNvPr id="4" name="TextBox 4"/>
          <p:cNvSpPr txBox="1"/>
          <p:nvPr/>
        </p:nvSpPr>
        <p:spPr>
          <a:xfrm>
            <a:off x="577215" y="867728"/>
            <a:ext cx="6491573" cy="518160"/>
          </a:xfrm>
          <a:prstGeom prst="rect">
            <a:avLst/>
          </a:prstGeom>
          <a:noFill/>
          <a:ln>
            <a:noFill/>
          </a:ln>
        </p:spPr>
        <p:txBody>
          <a:bodyPr wrap="none" lIns="0" tIns="0" rIns="0" bIns="0" anchor="t" anchorCtr="0">
            <a:spAutoFit/>
          </a:bodyPr>
          <a:lstStyle/>
          <a:p>
            <a:pPr algn="l"/>
            <a:r>
              <a:rPr lang="zh-CN" sz="2550" b="1" dirty="0">
                <a:solidFill>
                  <a:srgbClr val="174C43"/>
                </a:solidFill>
                <a:latin typeface="Arial"/>
                <a:ea typeface="Microsoft YaHei"/>
                <a:cs typeface="Arial"/>
              </a:rPr>
              <a:t>项目操作展示（一）：建立患者基础资料</a:t>
            </a:r>
          </a:p>
        </p:txBody>
      </p:sp>
      <p:sp>
        <p:nvSpPr>
          <p:cNvPr id="5" name="TextBox 5"/>
          <p:cNvSpPr txBox="1"/>
          <p:nvPr/>
        </p:nvSpPr>
        <p:spPr>
          <a:xfrm>
            <a:off x="593408" y="1329214"/>
            <a:ext cx="5915120" cy="259080"/>
          </a:xfrm>
          <a:prstGeom prst="rect">
            <a:avLst/>
          </a:prstGeom>
          <a:noFill/>
          <a:ln>
            <a:noFill/>
          </a:ln>
        </p:spPr>
        <p:txBody>
          <a:bodyPr wrap="none" lIns="0" tIns="0" rIns="0" bIns="0" anchor="t" anchorCtr="0">
            <a:spAutoFit/>
          </a:bodyPr>
          <a:lstStyle/>
          <a:p>
            <a:pPr algn="l"/>
            <a:r>
              <a:rPr lang="zh-CN" sz="1275" dirty="0">
                <a:solidFill>
                  <a:srgbClr val="62716B"/>
                </a:solidFill>
                <a:latin typeface="Arial"/>
                <a:ea typeface="Microsoft YaHei"/>
                <a:cs typeface="Arial"/>
              </a:rPr>
              <a:t>患者填写基础测量信息和主要诉求，系统完成BMI计算并建立本次问诊上下文。</a:t>
            </a:r>
          </a:p>
        </p:txBody>
      </p:sp>
      <p:sp>
        <p:nvSpPr>
          <p:cNvPr id="6" name="Rectangle 6"/>
          <p:cNvSpPr/>
          <p:nvPr/>
        </p:nvSpPr>
        <p:spPr>
          <a:xfrm>
            <a:off x="685800" y="1752600"/>
            <a:ext cx="10820400" cy="3771900"/>
          </a:xfrm>
          <a:prstGeom prst="rect">
            <a:avLst/>
          </a:prstGeom>
          <a:solidFill>
            <a:srgbClr val="FFFFFF"/>
          </a:solidFill>
          <a:ln w="19050">
            <a:solidFill>
              <a:srgbClr val="6E9184"/>
            </a:solidFill>
            <a:prstDash val="lgDash"/>
          </a:ln>
        </p:spPr>
      </p:sp>
      <p:grpSp>
        <p:nvGrpSpPr>
          <p:cNvPr id="13" name="Group 13"/>
          <p:cNvGrpSpPr/>
          <p:nvPr/>
        </p:nvGrpSpPr>
        <p:grpSpPr>
          <a:xfrm>
            <a:off x="5738813" y="3071813"/>
            <a:ext cx="714375" cy="714376"/>
            <a:chOff x="5738813" y="3071813"/>
            <a:chExt cx="714375" cy="714376"/>
          </a:xfrm>
        </p:grpSpPr>
        <p:sp>
          <p:nvSpPr>
            <p:cNvPr id="7" name="Freeform 7"/>
            <p:cNvSpPr/>
            <p:nvPr/>
          </p:nvSpPr>
          <p:spPr>
            <a:xfrm>
              <a:off x="5976938" y="3071813"/>
              <a:ext cx="119063" cy="714376"/>
            </a:xfrm>
            <a:custGeom>
              <a:avLst/>
              <a:gdLst/>
              <a:ahLst/>
              <a:cxnLst/>
              <a:rect l="l" t="t" r="r" b="b"/>
              <a:pathLst>
                <a:path w="119063" h="714376">
                  <a:moveTo>
                    <a:pt x="119063" y="0"/>
                  </a:moveTo>
                  <a:cubicBezTo>
                    <a:pt x="53306" y="0"/>
                    <a:pt x="0" y="53306"/>
                    <a:pt x="0" y="119063"/>
                  </a:cubicBezTo>
                  <a:lnTo>
                    <a:pt x="0" y="595313"/>
                  </a:lnTo>
                  <a:cubicBezTo>
                    <a:pt x="0" y="661069"/>
                    <a:pt x="53306" y="714376"/>
                    <a:pt x="119063" y="714376"/>
                  </a:cubicBezTo>
                </a:path>
              </a:pathLst>
            </a:custGeom>
            <a:noFill/>
            <a:ln w="19050">
              <a:solidFill>
                <a:srgbClr val="6E9184"/>
              </a:solidFill>
            </a:ln>
          </p:spPr>
        </p:sp>
        <p:sp>
          <p:nvSpPr>
            <p:cNvPr id="8" name="Freeform 8"/>
            <p:cNvSpPr/>
            <p:nvPr/>
          </p:nvSpPr>
          <p:spPr>
            <a:xfrm>
              <a:off x="5857875" y="3071813"/>
              <a:ext cx="119063" cy="714376"/>
            </a:xfrm>
            <a:custGeom>
              <a:avLst/>
              <a:gdLst/>
              <a:ahLst/>
              <a:cxnLst/>
              <a:rect l="l" t="t" r="r" b="b"/>
              <a:pathLst>
                <a:path w="119063" h="714376">
                  <a:moveTo>
                    <a:pt x="0" y="0"/>
                  </a:moveTo>
                  <a:cubicBezTo>
                    <a:pt x="65756" y="0"/>
                    <a:pt x="119063" y="53306"/>
                    <a:pt x="119063" y="119063"/>
                  </a:cubicBezTo>
                  <a:lnTo>
                    <a:pt x="119063" y="595313"/>
                  </a:lnTo>
                  <a:cubicBezTo>
                    <a:pt x="119063" y="661069"/>
                    <a:pt x="65756" y="714376"/>
                    <a:pt x="0" y="714376"/>
                  </a:cubicBezTo>
                </a:path>
              </a:pathLst>
            </a:custGeom>
            <a:noFill/>
            <a:ln w="19050">
              <a:solidFill>
                <a:srgbClr val="6E9184"/>
              </a:solidFill>
            </a:ln>
          </p:spPr>
        </p:sp>
        <p:sp>
          <p:nvSpPr>
            <p:cNvPr id="9" name="Freeform 9"/>
            <p:cNvSpPr/>
            <p:nvPr/>
          </p:nvSpPr>
          <p:spPr>
            <a:xfrm>
              <a:off x="6135688" y="3230563"/>
              <a:ext cx="317500" cy="396875"/>
            </a:xfrm>
            <a:custGeom>
              <a:avLst/>
              <a:gdLst/>
              <a:ahLst/>
              <a:cxnLst/>
              <a:rect l="l" t="t" r="r" b="b"/>
              <a:pathLst>
                <a:path w="317500" h="396875">
                  <a:moveTo>
                    <a:pt x="0" y="0"/>
                  </a:moveTo>
                  <a:lnTo>
                    <a:pt x="277813" y="0"/>
                  </a:lnTo>
                  <a:cubicBezTo>
                    <a:pt x="299732" y="0"/>
                    <a:pt x="317500" y="17769"/>
                    <a:pt x="317500" y="39688"/>
                  </a:cubicBezTo>
                  <a:lnTo>
                    <a:pt x="317500" y="357188"/>
                  </a:lnTo>
                  <a:cubicBezTo>
                    <a:pt x="317500" y="379107"/>
                    <a:pt x="299732" y="396875"/>
                    <a:pt x="277813" y="396875"/>
                  </a:cubicBezTo>
                  <a:lnTo>
                    <a:pt x="0" y="396875"/>
                  </a:lnTo>
                </a:path>
              </a:pathLst>
            </a:custGeom>
            <a:noFill/>
            <a:ln w="19050">
              <a:solidFill>
                <a:srgbClr val="6E9184"/>
              </a:solidFill>
            </a:ln>
          </p:spPr>
        </p:sp>
        <p:sp>
          <p:nvSpPr>
            <p:cNvPr id="10" name="Freeform 10"/>
            <p:cNvSpPr/>
            <p:nvPr/>
          </p:nvSpPr>
          <p:spPr>
            <a:xfrm>
              <a:off x="5738813" y="3230563"/>
              <a:ext cx="79375" cy="396875"/>
            </a:xfrm>
            <a:custGeom>
              <a:avLst/>
              <a:gdLst/>
              <a:ahLst/>
              <a:cxnLst/>
              <a:rect l="l" t="t" r="r" b="b"/>
              <a:pathLst>
                <a:path w="79375" h="396875">
                  <a:moveTo>
                    <a:pt x="79375" y="0"/>
                  </a:moveTo>
                  <a:lnTo>
                    <a:pt x="39688" y="0"/>
                  </a:lnTo>
                  <a:cubicBezTo>
                    <a:pt x="17769" y="0"/>
                    <a:pt x="0" y="17769"/>
                    <a:pt x="0" y="39688"/>
                  </a:cubicBezTo>
                  <a:lnTo>
                    <a:pt x="0" y="357188"/>
                  </a:lnTo>
                  <a:cubicBezTo>
                    <a:pt x="0" y="379107"/>
                    <a:pt x="17769" y="396875"/>
                    <a:pt x="39688" y="396875"/>
                  </a:cubicBezTo>
                  <a:lnTo>
                    <a:pt x="79375" y="396875"/>
                  </a:lnTo>
                </a:path>
              </a:pathLst>
            </a:custGeom>
            <a:noFill/>
            <a:ln w="19050">
              <a:solidFill>
                <a:srgbClr val="6E9184"/>
              </a:solidFill>
            </a:ln>
          </p:spPr>
        </p:sp>
        <p:sp>
          <p:nvSpPr>
            <p:cNvPr id="11" name="Freeform 11"/>
            <p:cNvSpPr/>
            <p:nvPr/>
          </p:nvSpPr>
          <p:spPr>
            <a:xfrm>
              <a:off x="6294438" y="3429000"/>
              <a:ext cx="9525" cy="9525"/>
            </a:xfrm>
            <a:custGeom>
              <a:avLst/>
              <a:gdLst/>
              <a:ahLst/>
              <a:cxnLst/>
              <a:rect l="l" t="t" r="r" b="b"/>
              <a:pathLst>
                <a:path w="9525" h="9525">
                  <a:moveTo>
                    <a:pt x="0" y="0"/>
                  </a:moveTo>
                  <a:lnTo>
                    <a:pt x="397" y="0"/>
                  </a:lnTo>
                </a:path>
              </a:pathLst>
            </a:custGeom>
            <a:noFill/>
            <a:ln w="19050">
              <a:solidFill>
                <a:srgbClr val="6E9184"/>
              </a:solidFill>
            </a:ln>
          </p:spPr>
        </p:sp>
        <p:sp>
          <p:nvSpPr>
            <p:cNvPr id="12" name="Freeform 12"/>
            <p:cNvSpPr/>
            <p:nvPr/>
          </p:nvSpPr>
          <p:spPr>
            <a:xfrm>
              <a:off x="6135688" y="3429000"/>
              <a:ext cx="9525" cy="9525"/>
            </a:xfrm>
            <a:custGeom>
              <a:avLst/>
              <a:gdLst/>
              <a:ahLst/>
              <a:cxnLst/>
              <a:rect l="l" t="t" r="r" b="b"/>
              <a:pathLst>
                <a:path w="9525" h="9525">
                  <a:moveTo>
                    <a:pt x="0" y="0"/>
                  </a:moveTo>
                  <a:lnTo>
                    <a:pt x="397" y="0"/>
                  </a:lnTo>
                </a:path>
              </a:pathLst>
            </a:custGeom>
            <a:noFill/>
            <a:ln w="19050">
              <a:solidFill>
                <a:srgbClr val="6E9184"/>
              </a:solidFill>
            </a:ln>
          </p:spPr>
        </p:sp>
      </p:grpSp>
      <p:sp>
        <p:nvSpPr>
          <p:cNvPr id="14" name="TextBox 14"/>
          <p:cNvSpPr txBox="1"/>
          <p:nvPr/>
        </p:nvSpPr>
        <p:spPr>
          <a:xfrm>
            <a:off x="3603231" y="4034790"/>
            <a:ext cx="4985537" cy="365760"/>
          </a:xfrm>
          <a:prstGeom prst="rect">
            <a:avLst/>
          </a:prstGeom>
          <a:noFill/>
          <a:ln>
            <a:noFill/>
          </a:ln>
        </p:spPr>
        <p:txBody>
          <a:bodyPr wrap="none" lIns="0" tIns="0" rIns="0" bIns="0" anchor="t" anchorCtr="0">
            <a:spAutoFit/>
          </a:bodyPr>
          <a:lstStyle/>
          <a:p>
            <a:pPr algn="ctr"/>
            <a:r>
              <a:rPr lang="zh-CN" sz="1800" b="1" dirty="0">
                <a:solidFill>
                  <a:srgbClr val="174C43"/>
                </a:solidFill>
                <a:latin typeface="Arial"/>
                <a:ea typeface="Microsoft YaHei"/>
                <a:cs typeface="Arial"/>
              </a:rPr>
              <a:t>在此插入：基础资料填写或BMI评估页面截图</a:t>
            </a:r>
          </a:p>
        </p:txBody>
      </p:sp>
      <p:sp>
        <p:nvSpPr>
          <p:cNvPr id="15" name="TextBox 15"/>
          <p:cNvSpPr txBox="1"/>
          <p:nvPr/>
        </p:nvSpPr>
        <p:spPr>
          <a:xfrm>
            <a:off x="4464558" y="4442460"/>
            <a:ext cx="3262884" cy="243840"/>
          </a:xfrm>
          <a:prstGeom prst="rect">
            <a:avLst/>
          </a:prstGeom>
          <a:noFill/>
          <a:ln>
            <a:noFill/>
          </a:ln>
        </p:spPr>
        <p:txBody>
          <a:bodyPr wrap="none" lIns="0" tIns="0" rIns="0" bIns="0" anchor="t" anchorCtr="0">
            <a:spAutoFit/>
          </a:bodyPr>
          <a:lstStyle/>
          <a:p>
            <a:pPr algn="ctr"/>
            <a:r>
              <a:rPr lang="zh-CN" sz="1200" dirty="0">
                <a:solidFill>
                  <a:srgbClr val="62716B"/>
                </a:solidFill>
                <a:latin typeface="Arial"/>
                <a:ea typeface="Microsoft YaHei"/>
                <a:cs typeface="Arial"/>
              </a:rPr>
              <a:t>建议使用16:9或宽屏裁切，覆盖整个虚线区域</a:t>
            </a:r>
          </a:p>
        </p:txBody>
      </p:sp>
      <p:sp>
        <p:nvSpPr>
          <p:cNvPr id="16" name="Line 16"/>
          <p:cNvSpPr/>
          <p:nvPr/>
        </p:nvSpPr>
        <p:spPr>
          <a:xfrm>
            <a:off x="1619250" y="6000750"/>
            <a:ext cx="8953500" cy="9525"/>
          </a:xfrm>
          <a:custGeom>
            <a:avLst/>
            <a:gdLst/>
            <a:ahLst/>
            <a:cxnLst/>
            <a:rect l="l" t="t" r="r" b="b"/>
            <a:pathLst>
              <a:path w="8953500" h="9525">
                <a:moveTo>
                  <a:pt x="0" y="0"/>
                </a:moveTo>
                <a:lnTo>
                  <a:pt x="8953500" y="0"/>
                </a:lnTo>
              </a:path>
            </a:pathLst>
          </a:custGeom>
          <a:noFill/>
          <a:ln w="28575">
            <a:solidFill>
              <a:srgbClr val="6E9184"/>
            </a:solidFill>
          </a:ln>
        </p:spPr>
      </p:sp>
      <p:grpSp>
        <p:nvGrpSpPr>
          <p:cNvPr id="29" name="Group 29"/>
          <p:cNvGrpSpPr/>
          <p:nvPr/>
        </p:nvGrpSpPr>
        <p:grpSpPr>
          <a:xfrm>
            <a:off x="1352550" y="5829300"/>
            <a:ext cx="9345930" cy="685800"/>
            <a:chOff x="1352550" y="5829300"/>
            <a:chExt cx="9345930" cy="685800"/>
          </a:xfrm>
        </p:grpSpPr>
        <p:sp>
          <p:nvSpPr>
            <p:cNvPr id="17" name="Ellipse 17"/>
            <p:cNvSpPr/>
            <p:nvPr/>
          </p:nvSpPr>
          <p:spPr>
            <a:xfrm>
              <a:off x="1676400" y="5829300"/>
              <a:ext cx="342900" cy="342900"/>
            </a:xfrm>
            <a:prstGeom prst="ellipse">
              <a:avLst/>
            </a:prstGeom>
            <a:solidFill>
              <a:srgbClr val="174C43"/>
            </a:solidFill>
            <a:ln>
              <a:noFill/>
            </a:ln>
          </p:spPr>
        </p:sp>
        <p:sp>
          <p:nvSpPr>
            <p:cNvPr id="18" name="TextBox 18"/>
            <p:cNvSpPr txBox="1"/>
            <p:nvPr/>
          </p:nvSpPr>
          <p:spPr>
            <a:xfrm>
              <a:off x="1788604" y="5928360"/>
              <a:ext cx="118491" cy="243840"/>
            </a:xfrm>
            <a:prstGeom prst="rect">
              <a:avLst/>
            </a:prstGeom>
            <a:noFill/>
            <a:ln>
              <a:noFill/>
            </a:ln>
          </p:spPr>
          <p:txBody>
            <a:bodyPr wrap="none" lIns="0" tIns="0" rIns="0" bIns="0" anchor="t" anchorCtr="0">
              <a:spAutoFit/>
            </a:bodyPr>
            <a:lstStyle/>
            <a:p>
              <a:pPr algn="ctr"/>
              <a:r>
                <a:rPr lang="en-US" sz="1200" dirty="0">
                  <a:solidFill>
                    <a:srgbClr val="F7F5EF"/>
                  </a:solidFill>
                  <a:latin typeface="Arial"/>
                  <a:ea typeface="Arial"/>
                  <a:cs typeface="Arial"/>
                </a:rPr>
                <a:t>1</a:t>
              </a:r>
            </a:p>
          </p:txBody>
        </p:sp>
        <p:sp>
          <p:nvSpPr>
            <p:cNvPr id="19" name="TextBox 19"/>
            <p:cNvSpPr txBox="1"/>
            <p:nvPr/>
          </p:nvSpPr>
          <p:spPr>
            <a:xfrm>
              <a:off x="1352550" y="6271260"/>
              <a:ext cx="990600" cy="243840"/>
            </a:xfrm>
            <a:prstGeom prst="rect">
              <a:avLst/>
            </a:prstGeom>
            <a:noFill/>
            <a:ln>
              <a:noFill/>
            </a:ln>
          </p:spPr>
          <p:txBody>
            <a:bodyPr wrap="none" lIns="0" tIns="0" rIns="0" bIns="0" anchor="t" anchorCtr="0">
              <a:spAutoFit/>
            </a:bodyPr>
            <a:lstStyle/>
            <a:p>
              <a:pPr algn="ctr"/>
              <a:r>
                <a:rPr lang="zh-CN" sz="1200" dirty="0">
                  <a:solidFill>
                    <a:srgbClr val="24332E"/>
                  </a:solidFill>
                  <a:latin typeface="Arial"/>
                  <a:ea typeface="Microsoft YaHei"/>
                  <a:cs typeface="Arial"/>
                </a:rPr>
                <a:t>基础资料确认</a:t>
              </a:r>
            </a:p>
          </p:txBody>
        </p:sp>
        <p:sp>
          <p:nvSpPr>
            <p:cNvPr id="20" name="Ellipse 20"/>
            <p:cNvSpPr/>
            <p:nvPr/>
          </p:nvSpPr>
          <p:spPr>
            <a:xfrm>
              <a:off x="4514850" y="5829300"/>
              <a:ext cx="342900" cy="342900"/>
            </a:xfrm>
            <a:prstGeom prst="ellipse">
              <a:avLst/>
            </a:prstGeom>
            <a:solidFill>
              <a:srgbClr val="174C43"/>
            </a:solidFill>
            <a:ln>
              <a:noFill/>
            </a:ln>
          </p:spPr>
        </p:sp>
        <p:sp>
          <p:nvSpPr>
            <p:cNvPr id="21" name="TextBox 21"/>
            <p:cNvSpPr txBox="1"/>
            <p:nvPr/>
          </p:nvSpPr>
          <p:spPr>
            <a:xfrm>
              <a:off x="4627054" y="5928360"/>
              <a:ext cx="118491" cy="243840"/>
            </a:xfrm>
            <a:prstGeom prst="rect">
              <a:avLst/>
            </a:prstGeom>
            <a:noFill/>
            <a:ln>
              <a:noFill/>
            </a:ln>
          </p:spPr>
          <p:txBody>
            <a:bodyPr wrap="none" lIns="0" tIns="0" rIns="0" bIns="0" anchor="t" anchorCtr="0">
              <a:spAutoFit/>
            </a:bodyPr>
            <a:lstStyle/>
            <a:p>
              <a:pPr algn="ctr"/>
              <a:r>
                <a:rPr lang="en-US" sz="1200" dirty="0">
                  <a:solidFill>
                    <a:srgbClr val="F7F5EF"/>
                  </a:solidFill>
                  <a:latin typeface="Arial"/>
                  <a:ea typeface="Arial"/>
                  <a:cs typeface="Arial"/>
                </a:rPr>
                <a:t>2</a:t>
              </a:r>
            </a:p>
          </p:txBody>
        </p:sp>
        <p:sp>
          <p:nvSpPr>
            <p:cNvPr id="22" name="TextBox 22"/>
            <p:cNvSpPr txBox="1"/>
            <p:nvPr/>
          </p:nvSpPr>
          <p:spPr>
            <a:xfrm>
              <a:off x="4383024" y="6271260"/>
              <a:ext cx="606552" cy="243840"/>
            </a:xfrm>
            <a:prstGeom prst="rect">
              <a:avLst/>
            </a:prstGeom>
            <a:noFill/>
            <a:ln>
              <a:noFill/>
            </a:ln>
          </p:spPr>
          <p:txBody>
            <a:bodyPr wrap="none" lIns="0" tIns="0" rIns="0" bIns="0" anchor="t" anchorCtr="0">
              <a:spAutoFit/>
            </a:bodyPr>
            <a:lstStyle/>
            <a:p>
              <a:pPr algn="ctr"/>
              <a:r>
                <a:rPr lang="zh-CN" sz="1200" dirty="0">
                  <a:solidFill>
                    <a:srgbClr val="24332E"/>
                  </a:solidFill>
                  <a:latin typeface="Arial"/>
                  <a:ea typeface="Microsoft YaHei"/>
                  <a:cs typeface="Arial"/>
                </a:rPr>
                <a:t>BMI评估</a:t>
              </a:r>
            </a:p>
          </p:txBody>
        </p:sp>
        <p:sp>
          <p:nvSpPr>
            <p:cNvPr id="23" name="Ellipse 23"/>
            <p:cNvSpPr/>
            <p:nvPr/>
          </p:nvSpPr>
          <p:spPr>
            <a:xfrm>
              <a:off x="7353300" y="5829300"/>
              <a:ext cx="342900" cy="342900"/>
            </a:xfrm>
            <a:prstGeom prst="ellipse">
              <a:avLst/>
            </a:prstGeom>
            <a:solidFill>
              <a:srgbClr val="174C43"/>
            </a:solidFill>
            <a:ln>
              <a:noFill/>
            </a:ln>
          </p:spPr>
        </p:sp>
        <p:sp>
          <p:nvSpPr>
            <p:cNvPr id="24" name="TextBox 24"/>
            <p:cNvSpPr txBox="1"/>
            <p:nvPr/>
          </p:nvSpPr>
          <p:spPr>
            <a:xfrm>
              <a:off x="7465504" y="5928360"/>
              <a:ext cx="118491" cy="243840"/>
            </a:xfrm>
            <a:prstGeom prst="rect">
              <a:avLst/>
            </a:prstGeom>
            <a:noFill/>
            <a:ln>
              <a:noFill/>
            </a:ln>
          </p:spPr>
          <p:txBody>
            <a:bodyPr wrap="none" lIns="0" tIns="0" rIns="0" bIns="0" anchor="t" anchorCtr="0">
              <a:spAutoFit/>
            </a:bodyPr>
            <a:lstStyle/>
            <a:p>
              <a:pPr algn="ctr"/>
              <a:r>
                <a:rPr lang="en-US" sz="1200" dirty="0">
                  <a:solidFill>
                    <a:srgbClr val="F7F5EF"/>
                  </a:solidFill>
                  <a:latin typeface="Arial"/>
                  <a:ea typeface="Arial"/>
                  <a:cs typeface="Arial"/>
                </a:rPr>
                <a:t>3</a:t>
              </a:r>
            </a:p>
          </p:txBody>
        </p:sp>
        <p:sp>
          <p:nvSpPr>
            <p:cNvPr id="25" name="TextBox 25"/>
            <p:cNvSpPr txBox="1"/>
            <p:nvPr/>
          </p:nvSpPr>
          <p:spPr>
            <a:xfrm>
              <a:off x="7029450" y="6271260"/>
              <a:ext cx="990600" cy="243840"/>
            </a:xfrm>
            <a:prstGeom prst="rect">
              <a:avLst/>
            </a:prstGeom>
            <a:noFill/>
            <a:ln>
              <a:noFill/>
            </a:ln>
          </p:spPr>
          <p:txBody>
            <a:bodyPr wrap="none" lIns="0" tIns="0" rIns="0" bIns="0" anchor="t" anchorCtr="0">
              <a:spAutoFit/>
            </a:bodyPr>
            <a:lstStyle/>
            <a:p>
              <a:pPr algn="ctr"/>
              <a:r>
                <a:rPr lang="zh-CN" sz="1200" dirty="0">
                  <a:solidFill>
                    <a:srgbClr val="24332E"/>
                  </a:solidFill>
                  <a:latin typeface="Arial"/>
                  <a:ea typeface="Microsoft YaHei"/>
                  <a:cs typeface="Arial"/>
                </a:rPr>
                <a:t>提交主要诉求</a:t>
              </a:r>
            </a:p>
          </p:txBody>
        </p:sp>
        <p:sp>
          <p:nvSpPr>
            <p:cNvPr id="26" name="Ellipse 26"/>
            <p:cNvSpPr/>
            <p:nvPr/>
          </p:nvSpPr>
          <p:spPr>
            <a:xfrm>
              <a:off x="10191750" y="5829300"/>
              <a:ext cx="342900" cy="342900"/>
            </a:xfrm>
            <a:prstGeom prst="ellipse">
              <a:avLst/>
            </a:prstGeom>
            <a:solidFill>
              <a:srgbClr val="C76B3C"/>
            </a:solidFill>
            <a:ln>
              <a:noFill/>
            </a:ln>
          </p:spPr>
        </p:sp>
        <p:sp>
          <p:nvSpPr>
            <p:cNvPr id="27" name="TextBox 27"/>
            <p:cNvSpPr txBox="1"/>
            <p:nvPr/>
          </p:nvSpPr>
          <p:spPr>
            <a:xfrm>
              <a:off x="10303955" y="5928360"/>
              <a:ext cx="118491" cy="243840"/>
            </a:xfrm>
            <a:prstGeom prst="rect">
              <a:avLst/>
            </a:prstGeom>
            <a:noFill/>
            <a:ln>
              <a:noFill/>
            </a:ln>
          </p:spPr>
          <p:txBody>
            <a:bodyPr wrap="none" lIns="0" tIns="0" rIns="0" bIns="0" anchor="t" anchorCtr="0">
              <a:spAutoFit/>
            </a:bodyPr>
            <a:lstStyle/>
            <a:p>
              <a:pPr algn="ctr"/>
              <a:r>
                <a:rPr lang="en-US" sz="1200" dirty="0">
                  <a:solidFill>
                    <a:srgbClr val="F7F5EF"/>
                  </a:solidFill>
                  <a:latin typeface="Arial"/>
                  <a:ea typeface="Arial"/>
                  <a:cs typeface="Arial"/>
                </a:rPr>
                <a:t>4</a:t>
              </a:r>
            </a:p>
          </p:txBody>
        </p:sp>
        <p:sp>
          <p:nvSpPr>
            <p:cNvPr id="28" name="TextBox 28"/>
            <p:cNvSpPr txBox="1"/>
            <p:nvPr/>
          </p:nvSpPr>
          <p:spPr>
            <a:xfrm>
              <a:off x="10027920" y="6271260"/>
              <a:ext cx="670560" cy="243840"/>
            </a:xfrm>
            <a:prstGeom prst="rect">
              <a:avLst/>
            </a:prstGeom>
            <a:noFill/>
            <a:ln>
              <a:noFill/>
            </a:ln>
          </p:spPr>
          <p:txBody>
            <a:bodyPr wrap="none" lIns="0" tIns="0" rIns="0" bIns="0" anchor="t" anchorCtr="0">
              <a:spAutoFit/>
            </a:bodyPr>
            <a:lstStyle/>
            <a:p>
              <a:pPr algn="ctr"/>
              <a:r>
                <a:rPr lang="zh-CN" sz="1200" dirty="0">
                  <a:solidFill>
                    <a:srgbClr val="24332E"/>
                  </a:solidFill>
                  <a:latin typeface="Arial"/>
                  <a:ea typeface="Microsoft YaHei"/>
                  <a:cs typeface="Arial"/>
                </a:rPr>
                <a:t>开始问诊</a:t>
              </a:r>
            </a:p>
          </p:txBody>
        </p:sp>
      </p:grpSp>
      <p:sp>
        <p:nvSpPr>
          <p:cNvPr id="30" name="TextBox 30"/>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12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5834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12 · 操作展示</a:t>
            </a:r>
          </a:p>
        </p:txBody>
      </p:sp>
      <p:sp>
        <p:nvSpPr>
          <p:cNvPr id="4" name="TextBox 4"/>
          <p:cNvSpPr txBox="1"/>
          <p:nvPr/>
        </p:nvSpPr>
        <p:spPr>
          <a:xfrm>
            <a:off x="577215" y="867728"/>
            <a:ext cx="7919752" cy="518160"/>
          </a:xfrm>
          <a:prstGeom prst="rect">
            <a:avLst/>
          </a:prstGeom>
          <a:noFill/>
          <a:ln>
            <a:noFill/>
          </a:ln>
        </p:spPr>
        <p:txBody>
          <a:bodyPr wrap="none" lIns="0" tIns="0" rIns="0" bIns="0" anchor="t" anchorCtr="0">
            <a:spAutoFit/>
          </a:bodyPr>
          <a:lstStyle/>
          <a:p>
            <a:pPr algn="l"/>
            <a:r>
              <a:rPr lang="zh-CN" sz="2550" b="1" dirty="0">
                <a:solidFill>
                  <a:srgbClr val="174C43"/>
                </a:solidFill>
                <a:latin typeface="Arial"/>
                <a:ea typeface="Microsoft YaHei"/>
                <a:cs typeface="Arial"/>
              </a:rPr>
              <a:t>项目操作展示（二）：根据核心信息缺口动态追问</a:t>
            </a:r>
          </a:p>
        </p:txBody>
      </p:sp>
      <p:sp>
        <p:nvSpPr>
          <p:cNvPr id="5" name="TextBox 5"/>
          <p:cNvSpPr txBox="1"/>
          <p:nvPr/>
        </p:nvSpPr>
        <p:spPr>
          <a:xfrm>
            <a:off x="593408" y="1329214"/>
            <a:ext cx="5813108" cy="259080"/>
          </a:xfrm>
          <a:prstGeom prst="rect">
            <a:avLst/>
          </a:prstGeom>
          <a:noFill/>
          <a:ln>
            <a:noFill/>
          </a:ln>
        </p:spPr>
        <p:txBody>
          <a:bodyPr wrap="none" lIns="0" tIns="0" rIns="0" bIns="0" anchor="t" anchorCtr="0">
            <a:spAutoFit/>
          </a:bodyPr>
          <a:lstStyle/>
          <a:p>
            <a:pPr algn="l"/>
            <a:r>
              <a:rPr lang="zh-CN" sz="1275" dirty="0">
                <a:solidFill>
                  <a:srgbClr val="62716B"/>
                </a:solidFill>
                <a:latin typeface="Arial"/>
                <a:ea typeface="Microsoft YaHei"/>
                <a:cs typeface="Arial"/>
              </a:rPr>
              <a:t>系统从患者自由描述中提取已有信息，并围绕尚未完成的核心字段继续追问。</a:t>
            </a:r>
          </a:p>
        </p:txBody>
      </p:sp>
      <p:sp>
        <p:nvSpPr>
          <p:cNvPr id="6" name="Rectangle 6"/>
          <p:cNvSpPr/>
          <p:nvPr/>
        </p:nvSpPr>
        <p:spPr>
          <a:xfrm>
            <a:off x="609600" y="1847850"/>
            <a:ext cx="5219700" cy="3771900"/>
          </a:xfrm>
          <a:prstGeom prst="rect">
            <a:avLst/>
          </a:prstGeom>
          <a:solidFill>
            <a:srgbClr val="FFFFFF"/>
          </a:solidFill>
          <a:ln w="19050">
            <a:solidFill>
              <a:srgbClr val="6E9184"/>
            </a:solidFill>
            <a:prstDash val="lgDash"/>
          </a:ln>
        </p:spPr>
      </p:sp>
      <p:sp>
        <p:nvSpPr>
          <p:cNvPr id="7" name="Rectangle 7"/>
          <p:cNvSpPr/>
          <p:nvPr/>
        </p:nvSpPr>
        <p:spPr>
          <a:xfrm>
            <a:off x="6362700" y="1847850"/>
            <a:ext cx="5219700" cy="3771900"/>
          </a:xfrm>
          <a:prstGeom prst="rect">
            <a:avLst/>
          </a:prstGeom>
          <a:solidFill>
            <a:srgbClr val="FFFFFF"/>
          </a:solidFill>
          <a:ln w="19050">
            <a:solidFill>
              <a:srgbClr val="6E9184"/>
            </a:solidFill>
            <a:prstDash val="lgDash"/>
          </a:ln>
        </p:spPr>
      </p:sp>
      <p:grpSp>
        <p:nvGrpSpPr>
          <p:cNvPr id="12" name="Group 12"/>
          <p:cNvGrpSpPr/>
          <p:nvPr/>
        </p:nvGrpSpPr>
        <p:grpSpPr>
          <a:xfrm>
            <a:off x="2919412" y="3143250"/>
            <a:ext cx="600075" cy="566738"/>
            <a:chOff x="2919412" y="3143250"/>
            <a:chExt cx="600075" cy="566738"/>
          </a:xfrm>
        </p:grpSpPr>
        <p:sp>
          <p:nvSpPr>
            <p:cNvPr id="8" name="Freeform 8"/>
            <p:cNvSpPr/>
            <p:nvPr/>
          </p:nvSpPr>
          <p:spPr>
            <a:xfrm>
              <a:off x="2919412" y="3143250"/>
              <a:ext cx="600075" cy="566738"/>
            </a:xfrm>
            <a:custGeom>
              <a:avLst/>
              <a:gdLst/>
              <a:ahLst/>
              <a:cxnLst/>
              <a:rect l="l" t="t" r="r" b="b"/>
              <a:pathLst>
                <a:path w="600075" h="566738">
                  <a:moveTo>
                    <a:pt x="500062" y="0"/>
                  </a:moveTo>
                  <a:cubicBezTo>
                    <a:pt x="555298" y="0"/>
                    <a:pt x="600075" y="44777"/>
                    <a:pt x="600075" y="100012"/>
                  </a:cubicBezTo>
                  <a:lnTo>
                    <a:pt x="600075" y="366712"/>
                  </a:lnTo>
                  <a:cubicBezTo>
                    <a:pt x="600075" y="421948"/>
                    <a:pt x="555298" y="466725"/>
                    <a:pt x="500062" y="466725"/>
                  </a:cubicBezTo>
                  <a:lnTo>
                    <a:pt x="333375" y="466725"/>
                  </a:lnTo>
                  <a:lnTo>
                    <a:pt x="166688" y="566738"/>
                  </a:lnTo>
                  <a:lnTo>
                    <a:pt x="166688" y="466725"/>
                  </a:lnTo>
                  <a:lnTo>
                    <a:pt x="100012" y="466725"/>
                  </a:lnTo>
                  <a:cubicBezTo>
                    <a:pt x="44777" y="466725"/>
                    <a:pt x="0" y="421948"/>
                    <a:pt x="0" y="366712"/>
                  </a:cubicBezTo>
                  <a:lnTo>
                    <a:pt x="0" y="100012"/>
                  </a:lnTo>
                  <a:cubicBezTo>
                    <a:pt x="0" y="44777"/>
                    <a:pt x="44777" y="0"/>
                    <a:pt x="100012" y="0"/>
                  </a:cubicBezTo>
                  <a:lnTo>
                    <a:pt x="500062" y="0"/>
                  </a:lnTo>
                </a:path>
              </a:pathLst>
            </a:custGeom>
            <a:noFill/>
            <a:ln w="19050">
              <a:solidFill>
                <a:srgbClr val="6E9184"/>
              </a:solidFill>
            </a:ln>
          </p:spPr>
        </p:sp>
        <p:sp>
          <p:nvSpPr>
            <p:cNvPr id="9" name="Freeform 9"/>
            <p:cNvSpPr/>
            <p:nvPr/>
          </p:nvSpPr>
          <p:spPr>
            <a:xfrm>
              <a:off x="3136106" y="3309938"/>
              <a:ext cx="9525" cy="9525"/>
            </a:xfrm>
            <a:custGeom>
              <a:avLst/>
              <a:gdLst/>
              <a:ahLst/>
              <a:cxnLst/>
              <a:rect l="l" t="t" r="r" b="b"/>
              <a:pathLst>
                <a:path w="9525" h="9525">
                  <a:moveTo>
                    <a:pt x="0" y="0"/>
                  </a:moveTo>
                  <a:lnTo>
                    <a:pt x="333" y="0"/>
                  </a:lnTo>
                </a:path>
              </a:pathLst>
            </a:custGeom>
            <a:noFill/>
            <a:ln w="19050">
              <a:solidFill>
                <a:srgbClr val="6E9184"/>
              </a:solidFill>
            </a:ln>
          </p:spPr>
        </p:sp>
        <p:sp>
          <p:nvSpPr>
            <p:cNvPr id="10" name="Freeform 10"/>
            <p:cNvSpPr/>
            <p:nvPr/>
          </p:nvSpPr>
          <p:spPr>
            <a:xfrm>
              <a:off x="3302794" y="3309938"/>
              <a:ext cx="9525" cy="9525"/>
            </a:xfrm>
            <a:custGeom>
              <a:avLst/>
              <a:gdLst/>
              <a:ahLst/>
              <a:cxnLst/>
              <a:rect l="l" t="t" r="r" b="b"/>
              <a:pathLst>
                <a:path w="9525" h="9525">
                  <a:moveTo>
                    <a:pt x="0" y="0"/>
                  </a:moveTo>
                  <a:lnTo>
                    <a:pt x="333" y="0"/>
                  </a:lnTo>
                </a:path>
              </a:pathLst>
            </a:custGeom>
            <a:noFill/>
            <a:ln w="19050">
              <a:solidFill>
                <a:srgbClr val="6E9184"/>
              </a:solidFill>
            </a:ln>
          </p:spPr>
        </p:sp>
        <p:sp>
          <p:nvSpPr>
            <p:cNvPr id="11" name="Freeform 11"/>
            <p:cNvSpPr/>
            <p:nvPr/>
          </p:nvSpPr>
          <p:spPr>
            <a:xfrm>
              <a:off x="3136106" y="3443288"/>
              <a:ext cx="166688" cy="35021"/>
            </a:xfrm>
            <a:custGeom>
              <a:avLst/>
              <a:gdLst/>
              <a:ahLst/>
              <a:cxnLst/>
              <a:rect l="l" t="t" r="r" b="b"/>
              <a:pathLst>
                <a:path w="166688" h="35021">
                  <a:moveTo>
                    <a:pt x="0" y="0"/>
                  </a:moveTo>
                  <a:cubicBezTo>
                    <a:pt x="21946" y="22399"/>
                    <a:pt x="51985" y="35021"/>
                    <a:pt x="83344" y="35021"/>
                  </a:cubicBezTo>
                  <a:cubicBezTo>
                    <a:pt x="114702" y="35021"/>
                    <a:pt x="144741" y="22399"/>
                    <a:pt x="166688" y="0"/>
                  </a:cubicBezTo>
                </a:path>
              </a:pathLst>
            </a:custGeom>
            <a:noFill/>
            <a:ln w="19050">
              <a:solidFill>
                <a:srgbClr val="6E9184"/>
              </a:solidFill>
            </a:ln>
          </p:spPr>
        </p:sp>
      </p:grpSp>
      <p:grpSp>
        <p:nvGrpSpPr>
          <p:cNvPr id="15" name="Group 15"/>
          <p:cNvGrpSpPr/>
          <p:nvPr/>
        </p:nvGrpSpPr>
        <p:grpSpPr>
          <a:xfrm>
            <a:off x="8672512" y="3109912"/>
            <a:ext cx="600075" cy="600075"/>
            <a:chOff x="8672512" y="3109912"/>
            <a:chExt cx="600075" cy="600075"/>
          </a:xfrm>
        </p:grpSpPr>
        <p:sp>
          <p:nvSpPr>
            <p:cNvPr id="13" name="Freeform 13"/>
            <p:cNvSpPr/>
            <p:nvPr/>
          </p:nvSpPr>
          <p:spPr>
            <a:xfrm>
              <a:off x="8672512" y="3109912"/>
              <a:ext cx="466725" cy="466725"/>
            </a:xfrm>
            <a:custGeom>
              <a:avLst/>
              <a:gdLst/>
              <a:ahLst/>
              <a:cxnLst/>
              <a:rect l="l" t="t" r="r" b="b"/>
              <a:pathLst>
                <a:path w="466725" h="466725">
                  <a:moveTo>
                    <a:pt x="0" y="233362"/>
                  </a:moveTo>
                  <a:cubicBezTo>
                    <a:pt x="0" y="362245"/>
                    <a:pt x="104480" y="466725"/>
                    <a:pt x="233362" y="466725"/>
                  </a:cubicBezTo>
                  <a:cubicBezTo>
                    <a:pt x="362245" y="466725"/>
                    <a:pt x="466725" y="362245"/>
                    <a:pt x="466725" y="233362"/>
                  </a:cubicBezTo>
                  <a:cubicBezTo>
                    <a:pt x="466725" y="104480"/>
                    <a:pt x="362245" y="0"/>
                    <a:pt x="233362" y="0"/>
                  </a:cubicBezTo>
                  <a:cubicBezTo>
                    <a:pt x="104480" y="0"/>
                    <a:pt x="0" y="104480"/>
                    <a:pt x="0" y="233362"/>
                  </a:cubicBezTo>
                </a:path>
              </a:pathLst>
            </a:custGeom>
            <a:noFill/>
            <a:ln w="19050">
              <a:solidFill>
                <a:srgbClr val="6E9184"/>
              </a:solidFill>
            </a:ln>
          </p:spPr>
        </p:sp>
        <p:sp>
          <p:nvSpPr>
            <p:cNvPr id="14" name="Freeform 14"/>
            <p:cNvSpPr/>
            <p:nvPr/>
          </p:nvSpPr>
          <p:spPr>
            <a:xfrm>
              <a:off x="9072562" y="3509962"/>
              <a:ext cx="200025" cy="200025"/>
            </a:xfrm>
            <a:custGeom>
              <a:avLst/>
              <a:gdLst/>
              <a:ahLst/>
              <a:cxnLst/>
              <a:rect l="l" t="t" r="r" b="b"/>
              <a:pathLst>
                <a:path w="200025" h="200025">
                  <a:moveTo>
                    <a:pt x="200025" y="200025"/>
                  </a:moveTo>
                  <a:lnTo>
                    <a:pt x="0" y="0"/>
                  </a:lnTo>
                </a:path>
              </a:pathLst>
            </a:custGeom>
            <a:noFill/>
            <a:ln w="19050">
              <a:solidFill>
                <a:srgbClr val="6E9184"/>
              </a:solidFill>
            </a:ln>
          </p:spPr>
        </p:sp>
      </p:grpSp>
      <p:sp>
        <p:nvSpPr>
          <p:cNvPr id="16" name="TextBox 16"/>
          <p:cNvSpPr txBox="1"/>
          <p:nvPr/>
        </p:nvSpPr>
        <p:spPr>
          <a:xfrm>
            <a:off x="1766018" y="4001929"/>
            <a:ext cx="2906863" cy="320040"/>
          </a:xfrm>
          <a:prstGeom prst="rect">
            <a:avLst/>
          </a:prstGeom>
          <a:noFill/>
          <a:ln>
            <a:noFill/>
          </a:ln>
        </p:spPr>
        <p:txBody>
          <a:bodyPr wrap="none" lIns="0" tIns="0" rIns="0" bIns="0" anchor="t" anchorCtr="0">
            <a:spAutoFit/>
          </a:bodyPr>
          <a:lstStyle/>
          <a:p>
            <a:pPr algn="ctr"/>
            <a:r>
              <a:rPr lang="zh-CN" sz="1575" b="1" dirty="0">
                <a:solidFill>
                  <a:srgbClr val="174C43"/>
                </a:solidFill>
                <a:latin typeface="Arial"/>
                <a:ea typeface="Microsoft YaHei"/>
                <a:cs typeface="Arial"/>
              </a:rPr>
              <a:t>插入：患者自由描述页面截图</a:t>
            </a:r>
          </a:p>
        </p:txBody>
      </p:sp>
      <p:sp>
        <p:nvSpPr>
          <p:cNvPr id="17" name="TextBox 17"/>
          <p:cNvSpPr txBox="1"/>
          <p:nvPr/>
        </p:nvSpPr>
        <p:spPr>
          <a:xfrm>
            <a:off x="7519118" y="4001929"/>
            <a:ext cx="2906863" cy="320040"/>
          </a:xfrm>
          <a:prstGeom prst="rect">
            <a:avLst/>
          </a:prstGeom>
          <a:noFill/>
          <a:ln>
            <a:noFill/>
          </a:ln>
        </p:spPr>
        <p:txBody>
          <a:bodyPr wrap="none" lIns="0" tIns="0" rIns="0" bIns="0" anchor="t" anchorCtr="0">
            <a:spAutoFit/>
          </a:bodyPr>
          <a:lstStyle/>
          <a:p>
            <a:pPr algn="ctr"/>
            <a:r>
              <a:rPr lang="zh-CN" sz="1575" b="1" dirty="0">
                <a:solidFill>
                  <a:srgbClr val="174C43"/>
                </a:solidFill>
                <a:latin typeface="Arial"/>
                <a:ea typeface="Microsoft YaHei"/>
                <a:cs typeface="Arial"/>
              </a:rPr>
              <a:t>插入：系统动态追问页面截图</a:t>
            </a:r>
          </a:p>
        </p:txBody>
      </p:sp>
      <p:sp>
        <p:nvSpPr>
          <p:cNvPr id="18" name="TextBox 18"/>
          <p:cNvSpPr txBox="1"/>
          <p:nvPr/>
        </p:nvSpPr>
        <p:spPr>
          <a:xfrm>
            <a:off x="2230041" y="4431506"/>
            <a:ext cx="1978819" cy="228600"/>
          </a:xfrm>
          <a:prstGeom prst="rect">
            <a:avLst/>
          </a:prstGeom>
          <a:noFill/>
          <a:ln>
            <a:noFill/>
          </a:ln>
        </p:spPr>
        <p:txBody>
          <a:bodyPr wrap="none" lIns="0" tIns="0" rIns="0" bIns="0" anchor="t" anchorCtr="0">
            <a:spAutoFit/>
          </a:bodyPr>
          <a:lstStyle/>
          <a:p>
            <a:pPr algn="ctr"/>
            <a:r>
              <a:rPr lang="zh-CN" sz="1125" dirty="0">
                <a:solidFill>
                  <a:srgbClr val="62716B"/>
                </a:solidFill>
                <a:latin typeface="Arial"/>
                <a:ea typeface="Microsoft YaHei"/>
                <a:cs typeface="Arial"/>
              </a:rPr>
              <a:t>突出自然语言输入与已有信息</a:t>
            </a:r>
          </a:p>
        </p:txBody>
      </p:sp>
      <p:sp>
        <p:nvSpPr>
          <p:cNvPr id="19" name="TextBox 19"/>
          <p:cNvSpPr txBox="1"/>
          <p:nvPr/>
        </p:nvSpPr>
        <p:spPr>
          <a:xfrm>
            <a:off x="7908131" y="4431506"/>
            <a:ext cx="2128838" cy="228600"/>
          </a:xfrm>
          <a:prstGeom prst="rect">
            <a:avLst/>
          </a:prstGeom>
          <a:noFill/>
          <a:ln>
            <a:noFill/>
          </a:ln>
        </p:spPr>
        <p:txBody>
          <a:bodyPr wrap="none" lIns="0" tIns="0" rIns="0" bIns="0" anchor="t" anchorCtr="0">
            <a:spAutoFit/>
          </a:bodyPr>
          <a:lstStyle/>
          <a:p>
            <a:pPr algn="ctr"/>
            <a:r>
              <a:rPr lang="zh-CN" sz="1125" dirty="0">
                <a:solidFill>
                  <a:srgbClr val="62716B"/>
                </a:solidFill>
                <a:latin typeface="Arial"/>
                <a:ea typeface="Microsoft YaHei"/>
                <a:cs typeface="Arial"/>
              </a:rPr>
              <a:t>突出连续对话与下一项核心问题</a:t>
            </a:r>
          </a:p>
        </p:txBody>
      </p:sp>
      <p:sp>
        <p:nvSpPr>
          <p:cNvPr id="20" name="Freeform 20"/>
          <p:cNvSpPr/>
          <p:nvPr/>
        </p:nvSpPr>
        <p:spPr>
          <a:xfrm>
            <a:off x="5905500" y="3676650"/>
            <a:ext cx="381000" cy="9525"/>
          </a:xfrm>
          <a:custGeom>
            <a:avLst/>
            <a:gdLst/>
            <a:ahLst/>
            <a:cxnLst/>
            <a:rect l="l" t="t" r="r" b="b"/>
            <a:pathLst>
              <a:path w="381000" h="9525">
                <a:moveTo>
                  <a:pt x="0" y="0"/>
                </a:moveTo>
                <a:lnTo>
                  <a:pt x="381000" y="0"/>
                </a:lnTo>
              </a:path>
            </a:pathLst>
          </a:custGeom>
          <a:noFill/>
          <a:ln w="38100">
            <a:solidFill>
              <a:srgbClr val="C76B3C"/>
            </a:solidFill>
          </a:ln>
        </p:spPr>
      </p:sp>
      <p:sp>
        <p:nvSpPr>
          <p:cNvPr id="21" name="Polygon 21"/>
          <p:cNvSpPr/>
          <p:nvPr/>
        </p:nvSpPr>
        <p:spPr>
          <a:xfrm>
            <a:off x="6210300" y="3600450"/>
            <a:ext cx="133350" cy="152400"/>
          </a:xfrm>
          <a:custGeom>
            <a:avLst/>
            <a:gdLst/>
            <a:ahLst/>
            <a:cxnLst/>
            <a:rect l="l" t="t" r="r" b="b"/>
            <a:pathLst>
              <a:path w="133350" h="152400">
                <a:moveTo>
                  <a:pt x="133350" y="76200"/>
                </a:moveTo>
                <a:lnTo>
                  <a:pt x="0" y="0"/>
                </a:lnTo>
                <a:lnTo>
                  <a:pt x="0" y="152400"/>
                </a:lnTo>
                <a:close/>
              </a:path>
            </a:pathLst>
          </a:custGeom>
          <a:solidFill>
            <a:srgbClr val="C76B3C"/>
          </a:solidFill>
          <a:ln>
            <a:noFill/>
          </a:ln>
        </p:spPr>
      </p:sp>
      <p:sp>
        <p:nvSpPr>
          <p:cNvPr id="22" name="TextBox 22"/>
          <p:cNvSpPr txBox="1"/>
          <p:nvPr/>
        </p:nvSpPr>
        <p:spPr>
          <a:xfrm>
            <a:off x="5802630" y="3353752"/>
            <a:ext cx="586740" cy="213360"/>
          </a:xfrm>
          <a:prstGeom prst="rect">
            <a:avLst/>
          </a:prstGeom>
          <a:noFill/>
          <a:ln>
            <a:noFill/>
          </a:ln>
        </p:spPr>
        <p:txBody>
          <a:bodyPr wrap="none" lIns="0" tIns="0" rIns="0" bIns="0" anchor="t" anchorCtr="0">
            <a:spAutoFit/>
          </a:bodyPr>
          <a:lstStyle/>
          <a:p>
            <a:pPr algn="ctr"/>
            <a:r>
              <a:rPr lang="zh-CN" sz="1050" dirty="0">
                <a:solidFill>
                  <a:srgbClr val="C76B3C"/>
                </a:solidFill>
                <a:latin typeface="Arial"/>
                <a:ea typeface="Microsoft YaHei"/>
                <a:cs typeface="Arial"/>
              </a:rPr>
              <a:t>缺口判断</a:t>
            </a:r>
          </a:p>
        </p:txBody>
      </p:sp>
      <p:sp>
        <p:nvSpPr>
          <p:cNvPr id="23" name="TextBox 23"/>
          <p:cNvSpPr txBox="1"/>
          <p:nvPr/>
        </p:nvSpPr>
        <p:spPr>
          <a:xfrm>
            <a:off x="2068163" y="5950268"/>
            <a:ext cx="2302574" cy="274320"/>
          </a:xfrm>
          <a:prstGeom prst="rect">
            <a:avLst/>
          </a:prstGeom>
          <a:noFill/>
          <a:ln>
            <a:noFill/>
          </a:ln>
        </p:spPr>
        <p:txBody>
          <a:bodyPr wrap="none" lIns="0" tIns="0" rIns="0" bIns="0" anchor="t" anchorCtr="0">
            <a:spAutoFit/>
          </a:bodyPr>
          <a:lstStyle/>
          <a:p>
            <a:pPr algn="ctr"/>
            <a:r>
              <a:rPr lang="zh-CN" sz="1350" b="1" dirty="0">
                <a:solidFill>
                  <a:srgbClr val="174C43"/>
                </a:solidFill>
                <a:latin typeface="Arial"/>
                <a:ea typeface="Microsoft YaHei"/>
                <a:cs typeface="Arial"/>
              </a:rPr>
              <a:t>患者可以一次描述多项情况</a:t>
            </a:r>
          </a:p>
        </p:txBody>
      </p:sp>
      <p:sp>
        <p:nvSpPr>
          <p:cNvPr id="24" name="TextBox 24"/>
          <p:cNvSpPr txBox="1"/>
          <p:nvPr/>
        </p:nvSpPr>
        <p:spPr>
          <a:xfrm>
            <a:off x="7821263" y="5950268"/>
            <a:ext cx="2302574" cy="274320"/>
          </a:xfrm>
          <a:prstGeom prst="rect">
            <a:avLst/>
          </a:prstGeom>
          <a:noFill/>
          <a:ln>
            <a:noFill/>
          </a:ln>
        </p:spPr>
        <p:txBody>
          <a:bodyPr wrap="none" lIns="0" tIns="0" rIns="0" bIns="0" anchor="t" anchorCtr="0">
            <a:spAutoFit/>
          </a:bodyPr>
          <a:lstStyle/>
          <a:p>
            <a:pPr algn="ctr"/>
            <a:r>
              <a:rPr lang="zh-CN" sz="1350" b="1" dirty="0">
                <a:solidFill>
                  <a:srgbClr val="174C43"/>
                </a:solidFill>
                <a:latin typeface="Arial"/>
                <a:ea typeface="Microsoft YaHei"/>
                <a:cs typeface="Arial"/>
              </a:rPr>
              <a:t>已获得的信息不再重复询问</a:t>
            </a:r>
          </a:p>
        </p:txBody>
      </p:sp>
      <p:sp>
        <p:nvSpPr>
          <p:cNvPr id="25" name="TextBox 25"/>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13</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5EF"/>
          </a:solidFill>
          <a:ln>
            <a:noFill/>
          </a:ln>
        </p:spPr>
      </p:sp>
      <p:sp>
        <p:nvSpPr>
          <p:cNvPr id="3" name="TextBox 3"/>
          <p:cNvSpPr txBox="1"/>
          <p:nvPr/>
        </p:nvSpPr>
        <p:spPr>
          <a:xfrm>
            <a:off x="595312" y="583406"/>
            <a:ext cx="1013073" cy="228600"/>
          </a:xfrm>
          <a:prstGeom prst="rect">
            <a:avLst/>
          </a:prstGeom>
          <a:noFill/>
          <a:ln>
            <a:noFill/>
          </a:ln>
        </p:spPr>
        <p:txBody>
          <a:bodyPr wrap="none" lIns="0" tIns="0" rIns="0" bIns="0" anchor="t" anchorCtr="0">
            <a:spAutoFit/>
          </a:bodyPr>
          <a:lstStyle/>
          <a:p>
            <a:pPr algn="l"/>
            <a:r>
              <a:rPr lang="zh-CN" sz="1125" b="1" dirty="0">
                <a:solidFill>
                  <a:srgbClr val="C76B3C"/>
                </a:solidFill>
                <a:latin typeface="Arial"/>
                <a:ea typeface="Microsoft YaHei"/>
                <a:cs typeface="Arial"/>
              </a:rPr>
              <a:t>13 · 操作展示</a:t>
            </a:r>
          </a:p>
        </p:txBody>
      </p:sp>
      <p:sp>
        <p:nvSpPr>
          <p:cNvPr id="4" name="TextBox 4"/>
          <p:cNvSpPr txBox="1"/>
          <p:nvPr/>
        </p:nvSpPr>
        <p:spPr>
          <a:xfrm>
            <a:off x="577215" y="867728"/>
            <a:ext cx="6848618" cy="518160"/>
          </a:xfrm>
          <a:prstGeom prst="rect">
            <a:avLst/>
          </a:prstGeom>
          <a:noFill/>
          <a:ln>
            <a:noFill/>
          </a:ln>
        </p:spPr>
        <p:txBody>
          <a:bodyPr wrap="none" lIns="0" tIns="0" rIns="0" bIns="0" anchor="t" anchorCtr="0">
            <a:spAutoFit/>
          </a:bodyPr>
          <a:lstStyle/>
          <a:p>
            <a:pPr algn="l"/>
            <a:r>
              <a:rPr lang="zh-CN" sz="2550" b="1" dirty="0">
                <a:solidFill>
                  <a:srgbClr val="174C43"/>
                </a:solidFill>
                <a:latin typeface="Arial"/>
                <a:ea typeface="Microsoft YaHei"/>
                <a:cs typeface="Arial"/>
              </a:rPr>
              <a:t>项目操作展示（三）：生成并保存诊前档案</a:t>
            </a:r>
          </a:p>
        </p:txBody>
      </p:sp>
      <p:sp>
        <p:nvSpPr>
          <p:cNvPr id="5" name="TextBox 5"/>
          <p:cNvSpPr txBox="1"/>
          <p:nvPr/>
        </p:nvSpPr>
        <p:spPr>
          <a:xfrm>
            <a:off x="593408" y="1329214"/>
            <a:ext cx="7003256" cy="259080"/>
          </a:xfrm>
          <a:prstGeom prst="rect">
            <a:avLst/>
          </a:prstGeom>
          <a:noFill/>
          <a:ln>
            <a:noFill/>
          </a:ln>
        </p:spPr>
        <p:txBody>
          <a:bodyPr wrap="none" lIns="0" tIns="0" rIns="0" bIns="0" anchor="t" anchorCtr="0">
            <a:spAutoFit/>
          </a:bodyPr>
          <a:lstStyle/>
          <a:p>
            <a:pPr algn="l"/>
            <a:r>
              <a:rPr lang="zh-CN" sz="1275" dirty="0">
                <a:solidFill>
                  <a:srgbClr val="62716B"/>
                </a:solidFill>
                <a:latin typeface="Arial"/>
                <a:ea typeface="Microsoft YaHei"/>
                <a:cs typeface="Arial"/>
              </a:rPr>
              <a:t>核心信息达到可用状态后，系统停止在线追问、自动保存档案，并生成患者端和医生端视图。</a:t>
            </a:r>
          </a:p>
        </p:txBody>
      </p:sp>
      <p:sp>
        <p:nvSpPr>
          <p:cNvPr id="6" name="Rectangle 6"/>
          <p:cNvSpPr/>
          <p:nvPr/>
        </p:nvSpPr>
        <p:spPr>
          <a:xfrm>
            <a:off x="609600" y="1847850"/>
            <a:ext cx="5219700" cy="3390900"/>
          </a:xfrm>
          <a:prstGeom prst="rect">
            <a:avLst/>
          </a:prstGeom>
          <a:solidFill>
            <a:srgbClr val="FFFFFF"/>
          </a:solidFill>
          <a:ln w="19050">
            <a:solidFill>
              <a:srgbClr val="6E9184"/>
            </a:solidFill>
            <a:prstDash val="lgDash"/>
          </a:ln>
        </p:spPr>
      </p:sp>
      <p:sp>
        <p:nvSpPr>
          <p:cNvPr id="7" name="Rectangle 7"/>
          <p:cNvSpPr/>
          <p:nvPr/>
        </p:nvSpPr>
        <p:spPr>
          <a:xfrm>
            <a:off x="6362700" y="1847850"/>
            <a:ext cx="5219700" cy="3390900"/>
          </a:xfrm>
          <a:prstGeom prst="rect">
            <a:avLst/>
          </a:prstGeom>
          <a:solidFill>
            <a:srgbClr val="FFFFFF"/>
          </a:solidFill>
          <a:ln w="19050">
            <a:solidFill>
              <a:srgbClr val="6E9184"/>
            </a:solidFill>
            <a:prstDash val="lgDash"/>
          </a:ln>
        </p:spPr>
      </p:sp>
      <p:grpSp>
        <p:nvGrpSpPr>
          <p:cNvPr id="10" name="Group 10"/>
          <p:cNvGrpSpPr/>
          <p:nvPr/>
        </p:nvGrpSpPr>
        <p:grpSpPr>
          <a:xfrm>
            <a:off x="3038475" y="2928938"/>
            <a:ext cx="361950" cy="542925"/>
            <a:chOff x="3038475" y="2928938"/>
            <a:chExt cx="361950" cy="542925"/>
          </a:xfrm>
        </p:grpSpPr>
        <p:sp>
          <p:nvSpPr>
            <p:cNvPr id="8" name="Freeform 8"/>
            <p:cNvSpPr/>
            <p:nvPr/>
          </p:nvSpPr>
          <p:spPr>
            <a:xfrm>
              <a:off x="3098800" y="2928938"/>
              <a:ext cx="241300" cy="241300"/>
            </a:xfrm>
            <a:custGeom>
              <a:avLst/>
              <a:gdLst/>
              <a:ahLst/>
              <a:cxnLst/>
              <a:rect l="l" t="t" r="r" b="b"/>
              <a:pathLst>
                <a:path w="241300" h="241300">
                  <a:moveTo>
                    <a:pt x="0" y="120650"/>
                  </a:moveTo>
                  <a:cubicBezTo>
                    <a:pt x="0" y="187283"/>
                    <a:pt x="54017" y="241300"/>
                    <a:pt x="120650" y="241300"/>
                  </a:cubicBezTo>
                  <a:cubicBezTo>
                    <a:pt x="187283" y="241300"/>
                    <a:pt x="241300" y="187283"/>
                    <a:pt x="241300" y="120650"/>
                  </a:cubicBezTo>
                  <a:cubicBezTo>
                    <a:pt x="241300" y="54017"/>
                    <a:pt x="187283" y="0"/>
                    <a:pt x="120650" y="0"/>
                  </a:cubicBezTo>
                  <a:cubicBezTo>
                    <a:pt x="54017" y="0"/>
                    <a:pt x="0" y="54017"/>
                    <a:pt x="0" y="120650"/>
                  </a:cubicBezTo>
                </a:path>
              </a:pathLst>
            </a:custGeom>
            <a:noFill/>
            <a:ln w="19050">
              <a:solidFill>
                <a:srgbClr val="6E9184"/>
              </a:solidFill>
            </a:ln>
          </p:spPr>
        </p:sp>
        <p:sp>
          <p:nvSpPr>
            <p:cNvPr id="9" name="Freeform 9"/>
            <p:cNvSpPr/>
            <p:nvPr/>
          </p:nvSpPr>
          <p:spPr>
            <a:xfrm>
              <a:off x="3038475" y="3290888"/>
              <a:ext cx="361950" cy="180975"/>
            </a:xfrm>
            <a:custGeom>
              <a:avLst/>
              <a:gdLst/>
              <a:ahLst/>
              <a:cxnLst/>
              <a:rect l="l" t="t" r="r" b="b"/>
              <a:pathLst>
                <a:path w="361950" h="180975">
                  <a:moveTo>
                    <a:pt x="0" y="180975"/>
                  </a:moveTo>
                  <a:lnTo>
                    <a:pt x="0" y="120650"/>
                  </a:lnTo>
                  <a:cubicBezTo>
                    <a:pt x="0" y="54017"/>
                    <a:pt x="54017" y="0"/>
                    <a:pt x="120650" y="0"/>
                  </a:cubicBezTo>
                  <a:lnTo>
                    <a:pt x="241300" y="0"/>
                  </a:lnTo>
                  <a:cubicBezTo>
                    <a:pt x="307933" y="0"/>
                    <a:pt x="361950" y="54017"/>
                    <a:pt x="361950" y="120650"/>
                  </a:cubicBezTo>
                  <a:lnTo>
                    <a:pt x="361950" y="180975"/>
                  </a:lnTo>
                </a:path>
              </a:pathLst>
            </a:custGeom>
            <a:noFill/>
            <a:ln w="19050">
              <a:solidFill>
                <a:srgbClr val="6E9184"/>
              </a:solidFill>
            </a:ln>
          </p:spPr>
        </p:sp>
      </p:grpSp>
      <p:grpSp>
        <p:nvGrpSpPr>
          <p:cNvPr id="16" name="Group 16"/>
          <p:cNvGrpSpPr/>
          <p:nvPr/>
        </p:nvGrpSpPr>
        <p:grpSpPr>
          <a:xfrm>
            <a:off x="8701088" y="2928938"/>
            <a:ext cx="573088" cy="542925"/>
            <a:chOff x="8701088" y="2928938"/>
            <a:chExt cx="573088" cy="542925"/>
          </a:xfrm>
        </p:grpSpPr>
        <p:sp>
          <p:nvSpPr>
            <p:cNvPr id="11" name="Freeform 11"/>
            <p:cNvSpPr/>
            <p:nvPr/>
          </p:nvSpPr>
          <p:spPr>
            <a:xfrm>
              <a:off x="8701088" y="2959100"/>
              <a:ext cx="331788" cy="331788"/>
            </a:xfrm>
            <a:custGeom>
              <a:avLst/>
              <a:gdLst/>
              <a:ahLst/>
              <a:cxnLst/>
              <a:rect l="l" t="t" r="r" b="b"/>
              <a:pathLst>
                <a:path w="331788" h="331788">
                  <a:moveTo>
                    <a:pt x="90488" y="0"/>
                  </a:moveTo>
                  <a:lnTo>
                    <a:pt x="60325" y="0"/>
                  </a:lnTo>
                  <a:cubicBezTo>
                    <a:pt x="27008" y="0"/>
                    <a:pt x="0" y="27008"/>
                    <a:pt x="0" y="60325"/>
                  </a:cubicBezTo>
                  <a:lnTo>
                    <a:pt x="0" y="165894"/>
                  </a:lnTo>
                  <a:cubicBezTo>
                    <a:pt x="0" y="257515"/>
                    <a:pt x="74273" y="331788"/>
                    <a:pt x="165894" y="331788"/>
                  </a:cubicBezTo>
                  <a:cubicBezTo>
                    <a:pt x="257515" y="331788"/>
                    <a:pt x="331788" y="257515"/>
                    <a:pt x="331788" y="165894"/>
                  </a:cubicBezTo>
                  <a:lnTo>
                    <a:pt x="331788" y="60325"/>
                  </a:lnTo>
                  <a:cubicBezTo>
                    <a:pt x="331788" y="27008"/>
                    <a:pt x="304779" y="0"/>
                    <a:pt x="271463" y="0"/>
                  </a:cubicBezTo>
                  <a:lnTo>
                    <a:pt x="241300" y="0"/>
                  </a:lnTo>
                </a:path>
              </a:pathLst>
            </a:custGeom>
            <a:noFill/>
            <a:ln w="19050">
              <a:solidFill>
                <a:srgbClr val="C76B3C"/>
              </a:solidFill>
            </a:ln>
          </p:spPr>
        </p:sp>
        <p:sp>
          <p:nvSpPr>
            <p:cNvPr id="12" name="Freeform 12"/>
            <p:cNvSpPr/>
            <p:nvPr/>
          </p:nvSpPr>
          <p:spPr>
            <a:xfrm>
              <a:off x="8851900" y="3200400"/>
              <a:ext cx="361950" cy="271463"/>
            </a:xfrm>
            <a:custGeom>
              <a:avLst/>
              <a:gdLst/>
              <a:ahLst/>
              <a:cxnLst/>
              <a:rect l="l" t="t" r="r" b="b"/>
              <a:pathLst>
                <a:path w="361950" h="271463">
                  <a:moveTo>
                    <a:pt x="0" y="90488"/>
                  </a:moveTo>
                  <a:cubicBezTo>
                    <a:pt x="0" y="190437"/>
                    <a:pt x="81025" y="271463"/>
                    <a:pt x="180975" y="271463"/>
                  </a:cubicBezTo>
                  <a:cubicBezTo>
                    <a:pt x="280925" y="271463"/>
                    <a:pt x="361950" y="190437"/>
                    <a:pt x="361950" y="90488"/>
                  </a:cubicBezTo>
                  <a:lnTo>
                    <a:pt x="361950" y="0"/>
                  </a:lnTo>
                </a:path>
              </a:pathLst>
            </a:custGeom>
            <a:noFill/>
            <a:ln w="19050">
              <a:solidFill>
                <a:srgbClr val="C76B3C"/>
              </a:solidFill>
            </a:ln>
          </p:spPr>
        </p:sp>
        <p:sp>
          <p:nvSpPr>
            <p:cNvPr id="13" name="Freeform 13"/>
            <p:cNvSpPr/>
            <p:nvPr/>
          </p:nvSpPr>
          <p:spPr>
            <a:xfrm>
              <a:off x="8942388" y="2928938"/>
              <a:ext cx="9525" cy="60325"/>
            </a:xfrm>
            <a:custGeom>
              <a:avLst/>
              <a:gdLst/>
              <a:ahLst/>
              <a:cxnLst/>
              <a:rect l="l" t="t" r="r" b="b"/>
              <a:pathLst>
                <a:path w="9525" h="60325">
                  <a:moveTo>
                    <a:pt x="0" y="0"/>
                  </a:moveTo>
                  <a:lnTo>
                    <a:pt x="0" y="60325"/>
                  </a:lnTo>
                </a:path>
              </a:pathLst>
            </a:custGeom>
            <a:noFill/>
            <a:ln w="19050">
              <a:solidFill>
                <a:srgbClr val="C76B3C"/>
              </a:solidFill>
            </a:ln>
          </p:spPr>
        </p:sp>
        <p:sp>
          <p:nvSpPr>
            <p:cNvPr id="14" name="Freeform 14"/>
            <p:cNvSpPr/>
            <p:nvPr/>
          </p:nvSpPr>
          <p:spPr>
            <a:xfrm>
              <a:off x="8791575" y="2928938"/>
              <a:ext cx="9525" cy="60325"/>
            </a:xfrm>
            <a:custGeom>
              <a:avLst/>
              <a:gdLst/>
              <a:ahLst/>
              <a:cxnLst/>
              <a:rect l="l" t="t" r="r" b="b"/>
              <a:pathLst>
                <a:path w="9525" h="60325">
                  <a:moveTo>
                    <a:pt x="0" y="0"/>
                  </a:moveTo>
                  <a:lnTo>
                    <a:pt x="0" y="60325"/>
                  </a:lnTo>
                </a:path>
              </a:pathLst>
            </a:custGeom>
            <a:noFill/>
            <a:ln w="19050">
              <a:solidFill>
                <a:srgbClr val="C76B3C"/>
              </a:solidFill>
            </a:ln>
          </p:spPr>
        </p:sp>
        <p:sp>
          <p:nvSpPr>
            <p:cNvPr id="15" name="Freeform 15"/>
            <p:cNvSpPr/>
            <p:nvPr/>
          </p:nvSpPr>
          <p:spPr>
            <a:xfrm>
              <a:off x="9153526" y="3079750"/>
              <a:ext cx="120650" cy="120650"/>
            </a:xfrm>
            <a:custGeom>
              <a:avLst/>
              <a:gdLst/>
              <a:ahLst/>
              <a:cxnLst/>
              <a:rect l="l" t="t" r="r" b="b"/>
              <a:pathLst>
                <a:path w="120650" h="120650">
                  <a:moveTo>
                    <a:pt x="0" y="60325"/>
                  </a:moveTo>
                  <a:cubicBezTo>
                    <a:pt x="0" y="93642"/>
                    <a:pt x="27008" y="120650"/>
                    <a:pt x="60325" y="120650"/>
                  </a:cubicBezTo>
                  <a:cubicBezTo>
                    <a:pt x="93642" y="120650"/>
                    <a:pt x="120650" y="93642"/>
                    <a:pt x="120650" y="60325"/>
                  </a:cubicBezTo>
                  <a:cubicBezTo>
                    <a:pt x="120650" y="27008"/>
                    <a:pt x="93642" y="0"/>
                    <a:pt x="60325" y="0"/>
                  </a:cubicBezTo>
                  <a:cubicBezTo>
                    <a:pt x="27008" y="0"/>
                    <a:pt x="0" y="27008"/>
                    <a:pt x="0" y="60325"/>
                  </a:cubicBezTo>
                </a:path>
              </a:pathLst>
            </a:custGeom>
            <a:noFill/>
            <a:ln w="19050">
              <a:solidFill>
                <a:srgbClr val="C76B3C"/>
              </a:solidFill>
            </a:ln>
          </p:spPr>
        </p:sp>
      </p:grpSp>
      <p:sp>
        <p:nvSpPr>
          <p:cNvPr id="17" name="TextBox 17"/>
          <p:cNvSpPr txBox="1"/>
          <p:nvPr/>
        </p:nvSpPr>
        <p:spPr>
          <a:xfrm>
            <a:off x="1876282" y="3773329"/>
            <a:ext cx="2686336" cy="320040"/>
          </a:xfrm>
          <a:prstGeom prst="rect">
            <a:avLst/>
          </a:prstGeom>
          <a:noFill/>
          <a:ln>
            <a:noFill/>
          </a:ln>
        </p:spPr>
        <p:txBody>
          <a:bodyPr wrap="none" lIns="0" tIns="0" rIns="0" bIns="0" anchor="t" anchorCtr="0">
            <a:spAutoFit/>
          </a:bodyPr>
          <a:lstStyle/>
          <a:p>
            <a:pPr algn="ctr"/>
            <a:r>
              <a:rPr lang="zh-CN" sz="1575" b="1" dirty="0">
                <a:solidFill>
                  <a:srgbClr val="174C43"/>
                </a:solidFill>
                <a:latin typeface="Arial"/>
                <a:ea typeface="Microsoft YaHei"/>
                <a:cs typeface="Arial"/>
              </a:rPr>
              <a:t>插入：患者端结果页面截图</a:t>
            </a:r>
          </a:p>
        </p:txBody>
      </p:sp>
      <p:sp>
        <p:nvSpPr>
          <p:cNvPr id="18" name="TextBox 18"/>
          <p:cNvSpPr txBox="1"/>
          <p:nvPr/>
        </p:nvSpPr>
        <p:spPr>
          <a:xfrm>
            <a:off x="7629382" y="3773329"/>
            <a:ext cx="2686336" cy="320040"/>
          </a:xfrm>
          <a:prstGeom prst="rect">
            <a:avLst/>
          </a:prstGeom>
          <a:noFill/>
          <a:ln>
            <a:noFill/>
          </a:ln>
        </p:spPr>
        <p:txBody>
          <a:bodyPr wrap="none" lIns="0" tIns="0" rIns="0" bIns="0" anchor="t" anchorCtr="0">
            <a:spAutoFit/>
          </a:bodyPr>
          <a:lstStyle/>
          <a:p>
            <a:pPr algn="ctr"/>
            <a:r>
              <a:rPr lang="zh-CN" sz="1575" b="1" dirty="0">
                <a:solidFill>
                  <a:srgbClr val="174C43"/>
                </a:solidFill>
                <a:latin typeface="Arial"/>
                <a:ea typeface="Microsoft YaHei"/>
                <a:cs typeface="Arial"/>
              </a:rPr>
              <a:t>插入：医生端档案页面截图</a:t>
            </a:r>
          </a:p>
        </p:txBody>
      </p:sp>
      <p:sp>
        <p:nvSpPr>
          <p:cNvPr id="19" name="TextBox 19"/>
          <p:cNvSpPr txBox="1"/>
          <p:nvPr/>
        </p:nvSpPr>
        <p:spPr>
          <a:xfrm>
            <a:off x="2132528" y="4221956"/>
            <a:ext cx="2173843" cy="228600"/>
          </a:xfrm>
          <a:prstGeom prst="rect">
            <a:avLst/>
          </a:prstGeom>
          <a:noFill/>
          <a:ln>
            <a:noFill/>
          </a:ln>
        </p:spPr>
        <p:txBody>
          <a:bodyPr wrap="none" lIns="0" tIns="0" rIns="0" bIns="0" anchor="t" anchorCtr="0">
            <a:spAutoFit/>
          </a:bodyPr>
          <a:lstStyle/>
          <a:p>
            <a:pPr algn="ctr"/>
            <a:r>
              <a:rPr lang="zh-CN" sz="1125" dirty="0">
                <a:solidFill>
                  <a:srgbClr val="62716B"/>
                </a:solidFill>
                <a:latin typeface="Arial"/>
                <a:ea typeface="Microsoft YaHei"/>
                <a:cs typeface="Arial"/>
              </a:rPr>
              <a:t>整理结果 · 检查准备 · 历史档案</a:t>
            </a:r>
          </a:p>
        </p:txBody>
      </p:sp>
      <p:sp>
        <p:nvSpPr>
          <p:cNvPr id="20" name="TextBox 20"/>
          <p:cNvSpPr txBox="1"/>
          <p:nvPr/>
        </p:nvSpPr>
        <p:spPr>
          <a:xfrm>
            <a:off x="7810619" y="4221956"/>
            <a:ext cx="2323862" cy="228600"/>
          </a:xfrm>
          <a:prstGeom prst="rect">
            <a:avLst/>
          </a:prstGeom>
          <a:noFill/>
          <a:ln>
            <a:noFill/>
          </a:ln>
        </p:spPr>
        <p:txBody>
          <a:bodyPr wrap="none" lIns="0" tIns="0" rIns="0" bIns="0" anchor="t" anchorCtr="0">
            <a:spAutoFit/>
          </a:bodyPr>
          <a:lstStyle/>
          <a:p>
            <a:pPr algn="ctr"/>
            <a:r>
              <a:rPr lang="zh-CN" sz="1125" dirty="0">
                <a:solidFill>
                  <a:srgbClr val="62716B"/>
                </a:solidFill>
                <a:latin typeface="Arial"/>
                <a:ea typeface="Microsoft YaHei"/>
                <a:cs typeface="Arial"/>
              </a:rPr>
              <a:t>字段证据 · 待确认项 · 冲突与风险</a:t>
            </a:r>
          </a:p>
        </p:txBody>
      </p:sp>
      <p:sp>
        <p:nvSpPr>
          <p:cNvPr id="21" name="Rectangle 21"/>
          <p:cNvSpPr/>
          <p:nvPr/>
        </p:nvSpPr>
        <p:spPr>
          <a:xfrm>
            <a:off x="1085850" y="5581650"/>
            <a:ext cx="10020300" cy="609600"/>
          </a:xfrm>
          <a:prstGeom prst="rect">
            <a:avLst/>
          </a:prstGeom>
          <a:solidFill>
            <a:srgbClr val="E8EFEA"/>
          </a:solidFill>
          <a:ln>
            <a:noFill/>
          </a:ln>
        </p:spPr>
      </p:sp>
      <p:sp>
        <p:nvSpPr>
          <p:cNvPr id="22" name="TextBox 22"/>
          <p:cNvSpPr txBox="1"/>
          <p:nvPr/>
        </p:nvSpPr>
        <p:spPr>
          <a:xfrm>
            <a:off x="3451622" y="5800725"/>
            <a:ext cx="5288756" cy="304800"/>
          </a:xfrm>
          <a:prstGeom prst="rect">
            <a:avLst/>
          </a:prstGeom>
          <a:noFill/>
          <a:ln>
            <a:noFill/>
          </a:ln>
        </p:spPr>
        <p:txBody>
          <a:bodyPr wrap="none" lIns="0" tIns="0" rIns="0" bIns="0" anchor="t" anchorCtr="0">
            <a:spAutoFit/>
          </a:bodyPr>
          <a:lstStyle/>
          <a:p>
            <a:pPr algn="ctr"/>
            <a:r>
              <a:rPr lang="zh-CN" sz="1500" b="1" dirty="0">
                <a:solidFill>
                  <a:srgbClr val="174C43"/>
                </a:solidFill>
                <a:latin typeface="Arial"/>
                <a:ea typeface="Microsoft YaHei"/>
                <a:cs typeface="Arial"/>
              </a:rPr>
              <a:t>同一份问诊数据：患者易理解，医生可追溯、可继续确认</a:t>
            </a:r>
          </a:p>
        </p:txBody>
      </p:sp>
      <p:sp>
        <p:nvSpPr>
          <p:cNvPr id="23" name="TextBox 23"/>
          <p:cNvSpPr txBox="1"/>
          <p:nvPr/>
        </p:nvSpPr>
        <p:spPr>
          <a:xfrm>
            <a:off x="11415046" y="6401752"/>
            <a:ext cx="180689" cy="213360"/>
          </a:xfrm>
          <a:prstGeom prst="rect">
            <a:avLst/>
          </a:prstGeom>
          <a:noFill/>
          <a:ln>
            <a:noFill/>
          </a:ln>
        </p:spPr>
        <p:txBody>
          <a:bodyPr wrap="none" lIns="0" tIns="0" rIns="0" bIns="0" anchor="t" anchorCtr="0">
            <a:spAutoFit/>
          </a:bodyPr>
          <a:lstStyle/>
          <a:p>
            <a:pPr algn="r"/>
            <a:r>
              <a:rPr lang="en-US" sz="1050" dirty="0">
                <a:solidFill>
                  <a:srgbClr val="62716B"/>
                </a:solidFill>
                <a:latin typeface="Arial"/>
                <a:ea typeface="Arial"/>
                <a:cs typeface="Arial"/>
              </a:rPr>
              <a:t>14</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3478</Words>
  <Application>Microsoft Office PowerPoint</Application>
  <PresentationFormat>宽屏</PresentationFormat>
  <Paragraphs>279</Paragraphs>
  <Slides>14</Slides>
  <Notes>14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14</vt:i4>
      </vt:variant>
    </vt:vector>
  </HeadingPairs>
  <TitlesOfParts>
    <vt:vector size="18" baseType="lpstr">
      <vt:lpstr>Arial</vt:lpstr>
      <vt:lpstr>Calibri</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其贵 马</cp:lastModifiedBy>
  <cp:revision>2</cp:revision>
  <dcterms:created xsi:type="dcterms:W3CDTF">2026-08-30T03:31:26Z</dcterms:created>
  <dcterms:modified xsi:type="dcterms:W3CDTF">2026-08-30T03:36:47Z</dcterms:modified>
  <cp:category/>
  <cp:contentStatus/>
  <dc:language/>
</cp:coreProperties>
</file>