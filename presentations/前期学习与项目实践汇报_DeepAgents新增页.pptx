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f542c3aed4e3a" /><Relationship Type="http://schemas.openxmlformats.org/officeDocument/2006/relationships/extended-properties" Target="/docProps/app.xml" Id="R0f817bda3d4a487d" /><Relationship Type="http://schemas.openxmlformats.org/officeDocument/2006/relationships/officeDocument" Target="/ppt/presentation.xml" Id="Rf7fe24db81a9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7a319ad3c4d3b"/>
  </p:sldMasterIdLst>
  <p:notesMasterIdLst>
    <p:notesMasterId xmlns:r="http://schemas.openxmlformats.org/officeDocument/2006/relationships" r:id="R45e96652ae394c50"/>
  </p:notesMasterIdLst>
  <p:sldIdLst>
    <p:sldId xmlns:r="http://schemas.openxmlformats.org/officeDocument/2006/relationships" id="256" r:id="Ra69be40e93224d7e"/>
    <p:sldId xmlns:r="http://schemas.openxmlformats.org/officeDocument/2006/relationships" id="257" r:id="R2f4b5d10ebb04457"/>
    <p:sldId xmlns:r="http://schemas.openxmlformats.org/officeDocument/2006/relationships" id="258" r:id="Re1aba6afb173429a"/>
    <p:sldId xmlns:r="http://schemas.openxmlformats.org/officeDocument/2006/relationships" id="259" r:id="R1e83fd17a3364202"/>
    <p:sldId xmlns:r="http://schemas.openxmlformats.org/officeDocument/2006/relationships" id="260" r:id="Rf6ea6e1b5719437d"/>
    <p:sldId xmlns:r="http://schemas.openxmlformats.org/officeDocument/2006/relationships" id="261" r:id="R50ea5cafb54e4f0c"/>
    <p:sldId xmlns:r="http://schemas.openxmlformats.org/officeDocument/2006/relationships" id="262" r:id="R99a14a70772e48a3"/>
    <p:sldId xmlns:r="http://schemas.openxmlformats.org/officeDocument/2006/relationships" id="263" r:id="R26aeb3a3609d428c"/>
    <p:sldId xmlns:r="http://schemas.openxmlformats.org/officeDocument/2006/relationships" id="264" r:id="R69713b9b76e0453a"/>
    <p:sldId xmlns:r="http://schemas.openxmlformats.org/officeDocument/2006/relationships" id="265" r:id="R5f81218b51a0402a"/>
    <p:sldId xmlns:r="http://schemas.openxmlformats.org/officeDocument/2006/relationships" id="266" r:id="R848c71352ee8422b"/>
    <p:sldId xmlns:r="http://schemas.openxmlformats.org/officeDocument/2006/relationships" id="267" r:id="R2b1be2d53eb74d44"/>
    <p:sldId xmlns:r="http://schemas.openxmlformats.org/officeDocument/2006/relationships" id="268" r:id="Rf57712a12fae4c9a"/>
    <p:sldId xmlns:r="http://schemas.openxmlformats.org/officeDocument/2006/relationships" id="269" r:id="R5baf0283386a41f4"/>
    <p:sldId xmlns:r="http://schemas.openxmlformats.org/officeDocument/2006/relationships" id="270" r:id="R6b4857a246444306"/>
    <p:sldId xmlns:r="http://schemas.openxmlformats.org/officeDocument/2006/relationships" id="271" r:id="R8e73e096d4eb4dc7"/>
    <p:sldId xmlns:r="http://schemas.openxmlformats.org/officeDocument/2006/relationships" id="272" r:id="R8142f55c745e4c82"/>
    <p:sldId xmlns:r="http://schemas.openxmlformats.org/officeDocument/2006/relationships" id="273" r:id="R9b850f774a654cd0"/>
    <p:sldId xmlns:r="http://schemas.openxmlformats.org/officeDocument/2006/relationships" id="274" r:id="R28fb086da4b04e71"/>
    <p:sldId xmlns:r="http://schemas.openxmlformats.org/officeDocument/2006/relationships" id="275" r:id="Rcbd9fc6a1af84825"/>
    <p:sldId xmlns:r="http://schemas.openxmlformats.org/officeDocument/2006/relationships" id="276" r:id="R75c128b349e64bcf"/>
    <p:sldId xmlns:r="http://schemas.openxmlformats.org/officeDocument/2006/relationships" id="277" r:id="Rccf26013599244d0"/>
    <p:sldId xmlns:r="http://schemas.openxmlformats.org/officeDocument/2006/relationships" id="278" r:id="R65edffd899a846a8"/>
    <p:sldId xmlns:r="http://schemas.openxmlformats.org/officeDocument/2006/relationships" id="279" r:id="R26752df7867b4879"/>
    <p:sldId xmlns:r="http://schemas.openxmlformats.org/officeDocument/2006/relationships" id="280" r:id="R8da51983d6eb4533"/>
    <p:sldId xmlns:r="http://schemas.openxmlformats.org/officeDocument/2006/relationships" id="281" r:id="Rf2a8498aa44c43d5"/>
    <p:sldId xmlns:r="http://schemas.openxmlformats.org/officeDocument/2006/relationships" id="282" r:id="R43cd5e725e6e4994"/>
    <p:sldId xmlns:r="http://schemas.openxmlformats.org/officeDocument/2006/relationships" id="283" r:id="Rabd0c284fd4e414d"/>
    <p:sldId xmlns:r="http://schemas.openxmlformats.org/officeDocument/2006/relationships" id="284" r:id="Rf0200c8f1d934066"/>
    <p:sldId xmlns:r="http://schemas.openxmlformats.org/officeDocument/2006/relationships" id="285" r:id="Rbaafe39261314658"/>
    <p:sldId xmlns:r="http://schemas.openxmlformats.org/officeDocument/2006/relationships" id="286" r:id="R28c807bb6fc94f49"/>
    <p:sldId xmlns:r="http://schemas.openxmlformats.org/officeDocument/2006/relationships" id="287" r:id="Rcb0231a5e0b844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3a53a64c2247fe" /><Relationship Type="http://schemas.openxmlformats.org/officeDocument/2006/relationships/slideMaster" Target="/ppt/slideMasters/slideMaster1.xml" Id="R3a17a319ad3c4d3b" /><Relationship Type="http://schemas.openxmlformats.org/officeDocument/2006/relationships/notesMaster" Target="/ppt/notesMasters/notesMaster1.xml" Id="R45e96652ae394c50" /><Relationship Type="http://schemas.openxmlformats.org/officeDocument/2006/relationships/presProps" Target="/ppt/presProps.xml" Id="Rdeb2e7d50bb84199" /><Relationship Type="http://schemas.openxmlformats.org/officeDocument/2006/relationships/viewProps" Target="/ppt/viewProps.xml" Id="R7cd3c6e5c2c5452c" /><Relationship Type="http://schemas.openxmlformats.org/officeDocument/2006/relationships/tableStyles" Target="/ppt/tableStyles.xml" Id="R46908f1e411e4010" /><Relationship Type="http://schemas.openxmlformats.org/officeDocument/2006/relationships/slide" Target="/ppt/slides/slide1.xml" Id="Ra69be40e93224d7e" /><Relationship Type="http://schemas.openxmlformats.org/officeDocument/2006/relationships/slide" Target="/ppt/slides/slide2.xml" Id="R2f4b5d10ebb04457" /><Relationship Type="http://schemas.openxmlformats.org/officeDocument/2006/relationships/slide" Target="/ppt/slides/slide3.xml" Id="Re1aba6afb173429a" /><Relationship Type="http://schemas.openxmlformats.org/officeDocument/2006/relationships/slide" Target="/ppt/slides/slide4.xml" Id="R1e83fd17a3364202" /><Relationship Type="http://schemas.openxmlformats.org/officeDocument/2006/relationships/slide" Target="/ppt/slides/slide5.xml" Id="Rf6ea6e1b5719437d" /><Relationship Type="http://schemas.openxmlformats.org/officeDocument/2006/relationships/slide" Target="/ppt/slides/slide6.xml" Id="R50ea5cafb54e4f0c" /><Relationship Type="http://schemas.openxmlformats.org/officeDocument/2006/relationships/slide" Target="/ppt/slides/slide7.xml" Id="R99a14a70772e48a3" /><Relationship Type="http://schemas.openxmlformats.org/officeDocument/2006/relationships/slide" Target="/ppt/slides/slide8.xml" Id="R26aeb3a3609d428c" /><Relationship Type="http://schemas.openxmlformats.org/officeDocument/2006/relationships/slide" Target="/ppt/slides/slide9.xml" Id="R69713b9b76e0453a" /><Relationship Type="http://schemas.openxmlformats.org/officeDocument/2006/relationships/slide" Target="/ppt/slides/slide10.xml" Id="R5f81218b51a0402a" /><Relationship Type="http://schemas.openxmlformats.org/officeDocument/2006/relationships/slide" Target="/ppt/slides/slide11.xml" Id="R848c71352ee8422b" /><Relationship Type="http://schemas.openxmlformats.org/officeDocument/2006/relationships/slide" Target="/ppt/slides/slide12.xml" Id="R2b1be2d53eb74d44" /><Relationship Type="http://schemas.openxmlformats.org/officeDocument/2006/relationships/slide" Target="/ppt/slides/slide13.xml" Id="Rf57712a12fae4c9a" /><Relationship Type="http://schemas.openxmlformats.org/officeDocument/2006/relationships/slide" Target="/ppt/slides/slide14.xml" Id="R5baf0283386a41f4" /><Relationship Type="http://schemas.openxmlformats.org/officeDocument/2006/relationships/slide" Target="/ppt/slides/slide15.xml" Id="R6b4857a246444306" /><Relationship Type="http://schemas.openxmlformats.org/officeDocument/2006/relationships/slide" Target="/ppt/slides/slide16.xml" Id="R8e73e096d4eb4dc7" /><Relationship Type="http://schemas.openxmlformats.org/officeDocument/2006/relationships/slide" Target="/ppt/slides/slide17.xml" Id="R8142f55c745e4c82" /><Relationship Type="http://schemas.openxmlformats.org/officeDocument/2006/relationships/slide" Target="/ppt/slides/slide18.xml" Id="R9b850f774a654cd0" /><Relationship Type="http://schemas.openxmlformats.org/officeDocument/2006/relationships/slide" Target="/ppt/slides/slide19.xml" Id="R28fb086da4b04e71" /><Relationship Type="http://schemas.openxmlformats.org/officeDocument/2006/relationships/slide" Target="/ppt/slides/slide20.xml" Id="Rcbd9fc6a1af84825" /><Relationship Type="http://schemas.openxmlformats.org/officeDocument/2006/relationships/slide" Target="/ppt/slides/slide21.xml" Id="R75c128b349e64bcf" /><Relationship Type="http://schemas.openxmlformats.org/officeDocument/2006/relationships/slide" Target="/ppt/slides/slide22.xml" Id="Rccf26013599244d0" /><Relationship Type="http://schemas.openxmlformats.org/officeDocument/2006/relationships/slide" Target="/ppt/slides/slide23.xml" Id="R65edffd899a846a8" /><Relationship Type="http://schemas.openxmlformats.org/officeDocument/2006/relationships/slide" Target="/ppt/slides/slide24.xml" Id="R26752df7867b4879" /><Relationship Type="http://schemas.openxmlformats.org/officeDocument/2006/relationships/slide" Target="/ppt/slides/slide25.xml" Id="R8da51983d6eb4533" /><Relationship Type="http://schemas.openxmlformats.org/officeDocument/2006/relationships/slide" Target="/ppt/slides/slide26.xml" Id="Rf2a8498aa44c43d5" /><Relationship Type="http://schemas.openxmlformats.org/officeDocument/2006/relationships/slide" Target="/ppt/slides/slide27.xml" Id="R43cd5e725e6e4994" /><Relationship Type="http://schemas.openxmlformats.org/officeDocument/2006/relationships/slide" Target="/ppt/slides/slide28.xml" Id="Rabd0c284fd4e414d" /><Relationship Type="http://schemas.openxmlformats.org/officeDocument/2006/relationships/slide" Target="/ppt/slides/slide29.xml" Id="Rf0200c8f1d934066" /><Relationship Type="http://schemas.openxmlformats.org/officeDocument/2006/relationships/slide" Target="/ppt/slides/slide30.xml" Id="Rbaafe39261314658" /><Relationship Type="http://schemas.openxmlformats.org/officeDocument/2006/relationships/slide" Target="/ppt/slides/slide31.xml" Id="R28c807bb6fc94f49" /><Relationship Type="http://schemas.openxmlformats.org/officeDocument/2006/relationships/slide" Target="/ppt/slides/slide32.xml" Id="Rcb0231a5e0b8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8388aa2a484b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75780c78f64414" /><Relationship Type="http://schemas.openxmlformats.org/officeDocument/2006/relationships/notesMaster" Target="/ppt/notesMasters/notesMaster1.xml" Id="R995b866cd509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69dfd338e141db" /><Relationship Type="http://schemas.openxmlformats.org/officeDocument/2006/relationships/notesMaster" Target="/ppt/notesMasters/notesMaster1.xml" Id="R0b6193b3829d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4ecc3bcbf4248" /><Relationship Type="http://schemas.openxmlformats.org/officeDocument/2006/relationships/notesMaster" Target="/ppt/notesMasters/notesMaster1.xml" Id="R46757f9c4f274d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d31e0cddd4895" /><Relationship Type="http://schemas.openxmlformats.org/officeDocument/2006/relationships/notesMaster" Target="/ppt/notesMasters/notesMaster1.xml" Id="Rb3523b595309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f2668f30df45f0" /><Relationship Type="http://schemas.openxmlformats.org/officeDocument/2006/relationships/notesMaster" Target="/ppt/notesMasters/notesMaster1.xml" Id="R241efd6501a7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f4de0bb58402b" /><Relationship Type="http://schemas.openxmlformats.org/officeDocument/2006/relationships/notesMaster" Target="/ppt/notesMasters/notesMaster1.xml" Id="R810081aeb82147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82818d4024e84" /><Relationship Type="http://schemas.openxmlformats.org/officeDocument/2006/relationships/notesMaster" Target="/ppt/notesMasters/notesMaster1.xml" Id="R061569feb7f14b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b7b3a7b1d45b0" /><Relationship Type="http://schemas.openxmlformats.org/officeDocument/2006/relationships/notesMaster" Target="/ppt/notesMasters/notesMaster1.xml" Id="R3bff139e7ee649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dd412060524531" /><Relationship Type="http://schemas.openxmlformats.org/officeDocument/2006/relationships/notesMaster" Target="/ppt/notesMasters/notesMaster1.xml" Id="Radd50f59ab42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769f45051d4643" /><Relationship Type="http://schemas.openxmlformats.org/officeDocument/2006/relationships/notesMaster" Target="/ppt/notesMasters/notesMaster1.xml" Id="R0d111c0d7a5d4d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750b0149b3494d" /><Relationship Type="http://schemas.openxmlformats.org/officeDocument/2006/relationships/notesMaster" Target="/ppt/notesMasters/notesMaster1.xml" Id="R76e64363aea547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e472d76874dc2" /><Relationship Type="http://schemas.openxmlformats.org/officeDocument/2006/relationships/notesMaster" Target="/ppt/notesMasters/notesMaster1.xml" Id="Raecf6564ad9147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76a0c7b752450c" /><Relationship Type="http://schemas.openxmlformats.org/officeDocument/2006/relationships/notesMaster" Target="/ppt/notesMasters/notesMaster1.xml" Id="R51fb6802bd8940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2f915b806444a3" /><Relationship Type="http://schemas.openxmlformats.org/officeDocument/2006/relationships/notesMaster" Target="/ppt/notesMasters/notesMaster1.xml" Id="R6bd5d0097caa45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e3afcf19944e8f" /><Relationship Type="http://schemas.openxmlformats.org/officeDocument/2006/relationships/notesMaster" Target="/ppt/notesMasters/notesMaster1.xml" Id="Rd6475b6a6ea84e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247c306dd34290" /><Relationship Type="http://schemas.openxmlformats.org/officeDocument/2006/relationships/notesMaster" Target="/ppt/notesMasters/notesMaster1.xml" Id="R1b2ab1069af34d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1eb592f4574175" /><Relationship Type="http://schemas.openxmlformats.org/officeDocument/2006/relationships/notesMaster" Target="/ppt/notesMasters/notesMaster1.xml" Id="Rdebde9bd5e9742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dec48237c84b4f" /><Relationship Type="http://schemas.openxmlformats.org/officeDocument/2006/relationships/notesMaster" Target="/ppt/notesMasters/notesMaster1.xml" Id="Rb5979dee2f344c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594a3c113c46e0" /><Relationship Type="http://schemas.openxmlformats.org/officeDocument/2006/relationships/notesMaster" Target="/ppt/notesMasters/notesMaster1.xml" Id="Rae18f82d6b434c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a14496e02944e9" /><Relationship Type="http://schemas.openxmlformats.org/officeDocument/2006/relationships/notesMaster" Target="/ppt/notesMasters/notesMaster1.xml" Id="R23ba6d9a92de45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af9f192289492d" /><Relationship Type="http://schemas.openxmlformats.org/officeDocument/2006/relationships/notesMaster" Target="/ppt/notesMasters/notesMaster1.xml" Id="Rc460cd8365ac4c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f2f48d1c9244c5" /><Relationship Type="http://schemas.openxmlformats.org/officeDocument/2006/relationships/notesMaster" Target="/ppt/notesMasters/notesMaster1.xml" Id="Rf08320c288d94e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52f6b275044df9" /><Relationship Type="http://schemas.openxmlformats.org/officeDocument/2006/relationships/notesMaster" Target="/ppt/notesMasters/notesMaster1.xml" Id="R9a5d319059cb4c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61074fc9a64345" /><Relationship Type="http://schemas.openxmlformats.org/officeDocument/2006/relationships/notesMaster" Target="/ppt/notesMasters/notesMaster1.xml" Id="R246b72abb01b45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4721d02242429f" /><Relationship Type="http://schemas.openxmlformats.org/officeDocument/2006/relationships/notesMaster" Target="/ppt/notesMasters/notesMaster1.xml" Id="Rf67e4ff3ac6b41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49a2fd1b384e78" /><Relationship Type="http://schemas.openxmlformats.org/officeDocument/2006/relationships/notesMaster" Target="/ppt/notesMasters/notesMaster1.xml" Id="Raa1938bb48e14a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2fde6041854cc8" /><Relationship Type="http://schemas.openxmlformats.org/officeDocument/2006/relationships/notesMaster" Target="/ppt/notesMasters/notesMaster1.xml" Id="R9efe1b9f696e44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2d6015c8e3421d" /><Relationship Type="http://schemas.openxmlformats.org/officeDocument/2006/relationships/notesMaster" Target="/ppt/notesMasters/notesMaster1.xml" Id="R418e324e753449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4d9f986c3f45d6" /><Relationship Type="http://schemas.openxmlformats.org/officeDocument/2006/relationships/notesMaster" Target="/ppt/notesMasters/notesMaster1.xml" Id="R09cfd2592ddf4f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eeff44370b4660" /><Relationship Type="http://schemas.openxmlformats.org/officeDocument/2006/relationships/notesMaster" Target="/ppt/notesMasters/notesMaster1.xml" Id="R42e5c01029a142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4c8e130433e48a0" /><Relationship Type="http://schemas.openxmlformats.org/officeDocument/2006/relationships/notesMaster" Target="/ppt/notesMasters/notesMaster1.xml" Id="Rd81d720e4933426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1b0e282d184deb" /><Relationship Type="http://schemas.openxmlformats.org/officeDocument/2006/relationships/notesMaster" Target="/ppt/notesMasters/notesMaster1.xml" Id="R2a6443a68b99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这一部分汇报前期学习如何为当前项目建立能力基础。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学习分为前端、后端和 Agent 三条线，最后在医疗 AI 场景中汇合。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每条学习线都通过可运行的练习原型验证，而不是只停留在阅读知识点。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从页面交互、接口规则到智能流程，能力逐步迁移到医生可用的诊前资料服务。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前端学习使我能够组织用户输入、状态变化和清晰的页面反馈。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 List 练习覆盖了常见的表单、编辑、筛选、状态和持久化交互。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这些前端能力后来用于问诊表单、进度、聊天历史和结果展示。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后端学习的重点是将输入、规则和响应封装成可验证的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BMI 计算器跑通了前端输入、后端规则计算与 JSON 结果展示的闭环。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BMI 原型让我明确：关键数值和阈值要由规则计算，模型更适合理解语言。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 API 原型用于探索症状资料如何进入结构化处理流程。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接口可靠性还依赖密钥管理、JSON 解析、参数校验和失败兜底。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Dify 和 Ollama 的平台实践帮助我快速理解模型、知识库、提示词和工具的组合方式。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练习跑通了资料上传、检索和拼接提示词的完整链路。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对话原型重点练习多轮采集和结构化总结，当前项目已收敛了它的医疗边界。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 Calling 和 MCP 让我理解 Agent 如何按需调用外部工具。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学习把 RAG 从平台能力拆解为可独立理解的模块。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练习说明多轮状态与长期记录需要分别管理。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DeepAgents 实践将工具、记忆和数据层编排为可运行的智能体原型。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本页展示基于 DeepAgents 框架实现的中医复诊智能体原型。左侧说明框架如何查询历史、结合当前症状与舌象完成分析，并保存记录生成复诊对比；右侧预留实际运行截图位置。该项目仅用于学习与原型验证，不替代医生诊断。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前期学习验证技术路径，当前项目则将能力收敛为安全、可核对的诊前信息采集。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下面进入项目实践部分：成人肥胖诊前问诊系统。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系统服务于诊中准备，最终判断仍由医生完成。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项目改造解决固定问答、状态不稳和过早结束三类问题。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规则负责确定性判断，AI 负责理解、解释和自然追问。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系统从基础资料开始，经过开放描述和分层追问，最后输出档案与检查候选。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成人流程先校验基础资料，BMI 等数值由服务端规则计算。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对话式追问一次推进一个信息目标，并保留用户历史表达。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完整度由基础资料、病因风险、中医资料和安全信息四层共同决定。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追问结束不依赖固定轮次，而取决于资料、风险、矛盾和澄清状态。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患者端提供安全可理解的摘要，医生端提供证据、冲突与执行依据。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下一步将补充端到端测试、访问控制与文档收口。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e23bf905f4e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42f85a1ce4e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f3ff4dd79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18cc499c54a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5fa5259f14a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5790d81ac4e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2810f650d46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169f0d00c4c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dd818b1e242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b0c64fc7147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7e5bdd83d4e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0C2570-A5D7-45F5-B2EB-F961B5013F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568801F-6BEC-47CC-A2FD-177638CF36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6C7EDD-C42A-4BAB-B5CD-F99C0CFDAA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6DB72E-5438-4DAE-9ADA-5117EAF72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09045E-7750-42D2-96A1-1A9417EF24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388477-5422-41E1-B64D-B31562D46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789C7-28B7-41FF-BFA0-ABB9198FE2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4BBB30-F858-4BF7-9586-A4D9862874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5F5442-387F-4557-BAE2-6E72F1BCBA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23A79-7387-481D-9703-23FFB4A664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3574F9-7DDB-4E85-AE01-0B922EBEA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899BEE-5927-4458-BFF4-1E2CD0E358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64B582-5053-4955-924C-FC9C52413A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2A86FB-415A-4084-99D9-EFD7838CAA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E45B6A-3E35-4120-8881-2771C2667E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D0CC-BF9F-4BCF-8108-FF57482C2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F82403-8FCD-4ECA-97EE-526EC3B8D1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30E2FFA-95F6-4F62-BF52-77C06650C0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4A3DC3-05E1-4C53-86D5-64CD6DBCBD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2A7FDD-9C93-43F1-945A-00FD260392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3632F0D-1F68-4A10-819C-A24D8F6C8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24CD23-D9DC-4602-9A73-9E01C1BB3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140D13-E183-4701-B294-B1441FC0AF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776F64F-FC70-4B0E-A860-A508D93297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A0A448D-330C-4DA2-92BD-BE9BE1495E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A75B5EA-A562-48E0-B3D5-11DEA77F2F9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61276E8-AD21-4037-BC2C-E8A7D189EA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7DC54D9-EDC3-480D-B0EA-D3468F572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A1FDE25-4418-4C9A-8438-94AEE9B4A1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23BE49-5015-45CC-B6A1-5096CD7E57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D87B2F-980A-4DBC-9A6B-9B1938FABF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5F892DE-A887-4AB8-A205-27929DC59B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ADC724-6898-4A84-9368-A0E5102BA2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6A91443-B2C7-4BF4-AF5B-73EA24446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454F932-84FA-4BD6-BE17-F22CB1B99A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9CEEC7-815F-4C40-9091-856056D97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EBC046-9A59-41C5-BE76-F02930CD2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148849-FC00-4E2D-BFC5-D2A843109A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0895CD1-1D61-40A8-B7A5-0ADF6FC608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E423AF-48F7-46AB-88C6-7A750C027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0482EF-E82D-492E-B6E9-B467F8FA2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231F7D6-1EE5-4F7A-973E-BE1175BF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FBF97A-8B00-4BD8-8474-AD150407F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321258-B099-4406-BD38-DBC5F024617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FA1C3B-20D5-4B62-9F7B-D8FEF85FD9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1A7DB05-3021-47D3-840E-2DF51EF905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197DAE-B79C-4EEE-81B5-00863FDE1E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F94E314-75F4-41C7-B5F9-EFD24BE941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2685BA-1C30-4763-92E0-50F8BFAC6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2808AE-9FE8-4909-8389-4496D4BC8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F5ABF7-7CEE-48BA-9F72-4C4EF6A71F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047F5C-389C-4E15-8D7B-EB866A01BA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D8EE86-4D05-46F2-915C-0D8767FCC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314A874-B964-4761-8401-C5B158FC1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3E3545-4E27-4AEE-B08B-1F71DD6CC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3CE526-EAA2-4A0E-ADF7-EEEFDA56E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06A1A-BB47-4822-AC6E-B6162EBDF9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0066DB-A686-49CA-A987-470534D75B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54ffd9ccc40ff" /><Relationship Type="http://schemas.openxmlformats.org/officeDocument/2006/relationships/slideLayout" Target="/ppt/slideLayouts/slideLayout1.xml" Id="R059b428cc53b4a93" /><Relationship Type="http://schemas.openxmlformats.org/officeDocument/2006/relationships/slideLayout" Target="/ppt/slideLayouts/slideLayout2.xml" Id="R8bc0857ebe754b73" /><Relationship Type="http://schemas.openxmlformats.org/officeDocument/2006/relationships/slideLayout" Target="/ppt/slideLayouts/slideLayout3.xml" Id="R52c44c49a85545b6" /><Relationship Type="http://schemas.openxmlformats.org/officeDocument/2006/relationships/slideLayout" Target="/ppt/slideLayouts/slideLayout4.xml" Id="R74ab7de9dcca4f50" /><Relationship Type="http://schemas.openxmlformats.org/officeDocument/2006/relationships/slideLayout" Target="/ppt/slideLayouts/slideLayout5.xml" Id="Rf7c89fca8bc04563" /><Relationship Type="http://schemas.openxmlformats.org/officeDocument/2006/relationships/slideLayout" Target="/ppt/slideLayouts/slideLayout6.xml" Id="R7545f1f2c51e47c3" /><Relationship Type="http://schemas.openxmlformats.org/officeDocument/2006/relationships/slideLayout" Target="/ppt/slideLayouts/slideLayout7.xml" Id="Rd63d4ba5f2db493c" /><Relationship Type="http://schemas.openxmlformats.org/officeDocument/2006/relationships/slideLayout" Target="/ppt/slideLayouts/slideLayout8.xml" Id="R7bfa736d79814c33" /><Relationship Type="http://schemas.openxmlformats.org/officeDocument/2006/relationships/slideLayout" Target="/ppt/slideLayouts/slideLayout9.xml" Id="Rfb7fbdb162f14b8f" /><Relationship Type="http://schemas.openxmlformats.org/officeDocument/2006/relationships/slideLayout" Target="/ppt/slideLayouts/slideLayout10.xml" Id="R01496a16bad245bf" /><Relationship Type="http://schemas.openxmlformats.org/officeDocument/2006/relationships/slideLayout" Target="/ppt/slideLayouts/slideLayout11.xml" Id="Re844f0143a9a437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76B32EE-DA7F-46FC-B883-6E1C0281B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7B7206-F6BE-4D10-8ED9-E5D22CE59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80AE32-5F11-4DF0-84D7-E23141AF4D7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7A9DB9-9976-4052-A48A-01AA10C3C1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06BD25-F670-4662-9BC9-C365702210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b428cc53b4a93"/>
    <p:sldLayoutId xmlns:r="http://schemas.openxmlformats.org/officeDocument/2006/relationships" id="2147483650" r:id="R8bc0857ebe754b73"/>
    <p:sldLayoutId xmlns:r="http://schemas.openxmlformats.org/officeDocument/2006/relationships" id="2147483651" r:id="R52c44c49a85545b6"/>
    <p:sldLayoutId xmlns:r="http://schemas.openxmlformats.org/officeDocument/2006/relationships" id="2147483652" r:id="R74ab7de9dcca4f50"/>
    <p:sldLayoutId xmlns:r="http://schemas.openxmlformats.org/officeDocument/2006/relationships" id="2147483653" r:id="Rf7c89fca8bc04563"/>
    <p:sldLayoutId xmlns:r="http://schemas.openxmlformats.org/officeDocument/2006/relationships" id="2147483654" r:id="R7545f1f2c51e47c3"/>
    <p:sldLayoutId xmlns:r="http://schemas.openxmlformats.org/officeDocument/2006/relationships" id="2147483655" r:id="Rd63d4ba5f2db493c"/>
    <p:sldLayoutId xmlns:r="http://schemas.openxmlformats.org/officeDocument/2006/relationships" id="2147483656" r:id="R7bfa736d79814c33"/>
    <p:sldLayoutId xmlns:r="http://schemas.openxmlformats.org/officeDocument/2006/relationships" id="2147483657" r:id="Rfb7fbdb162f14b8f"/>
    <p:sldLayoutId xmlns:r="http://schemas.openxmlformats.org/officeDocument/2006/relationships" id="2147483658" r:id="R01496a16bad245bf"/>
    <p:sldLayoutId xmlns:r="http://schemas.openxmlformats.org/officeDocument/2006/relationships" id="2147483659" r:id="Re844f0143a9a437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6a62aaefd400a" /><Relationship Type="http://schemas.openxmlformats.org/officeDocument/2006/relationships/notesSlide" Target="/ppt/notesSlides/notesSlide1.xml" Id="R3796b5f2c96c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0546d36db4490" /><Relationship Type="http://schemas.openxmlformats.org/officeDocument/2006/relationships/notesSlide" Target="/ppt/notesSlides/notesSlide2.xml" Id="R66573de10aff46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584b223b4e64" /><Relationship Type="http://schemas.openxmlformats.org/officeDocument/2006/relationships/notesSlide" Target="/ppt/notesSlides/notesSlide3.xml" Id="R1564341ae44e42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7947c252445f7" /><Relationship Type="http://schemas.openxmlformats.org/officeDocument/2006/relationships/notesSlide" Target="/ppt/notesSlides/notesSlide4.xml" Id="Re0b544478c1e49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2d75dde054713" /><Relationship Type="http://schemas.openxmlformats.org/officeDocument/2006/relationships/notesSlide" Target="/ppt/notesSlides/notesSlide5.xml" Id="R20e2390b11c643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527ce298e463c" /><Relationship Type="http://schemas.openxmlformats.org/officeDocument/2006/relationships/notesSlide" Target="/ppt/notesSlides/notesSlide6.xml" Id="Rd778882f663a43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ebc39579247a4" /><Relationship Type="http://schemas.openxmlformats.org/officeDocument/2006/relationships/notesSlide" Target="/ppt/notesSlides/notesSlide7.xml" Id="Ra342554e31a14a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1f4bcf5943fc" /><Relationship Type="http://schemas.openxmlformats.org/officeDocument/2006/relationships/notesSlide" Target="/ppt/notesSlides/notesSlide8.xml" Id="R8248daa6b728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fb2776b3748d5" /><Relationship Type="http://schemas.openxmlformats.org/officeDocument/2006/relationships/notesSlide" Target="/ppt/notesSlides/notesSlide9.xml" Id="R0e61f8613f7941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d0f65bdf44676" /><Relationship Type="http://schemas.openxmlformats.org/officeDocument/2006/relationships/notesSlide" Target="/ppt/notesSlides/notesSlide10.xml" Id="Rc8d551b049c840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00ed1479f4d96" /><Relationship Type="http://schemas.openxmlformats.org/officeDocument/2006/relationships/notesSlide" Target="/ppt/notesSlides/notesSlide11.xml" Id="R8dc67aa16fde45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ea6755508408c" /><Relationship Type="http://schemas.openxmlformats.org/officeDocument/2006/relationships/notesSlide" Target="/ppt/notesSlides/notesSlide12.xml" Id="R1b0579d4b1964b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687e0f92443bb" /><Relationship Type="http://schemas.openxmlformats.org/officeDocument/2006/relationships/notesSlide" Target="/ppt/notesSlides/notesSlide13.xml" Id="R9573483acc5e42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13bebec014fdd" /><Relationship Type="http://schemas.openxmlformats.org/officeDocument/2006/relationships/notesSlide" Target="/ppt/notesSlides/notesSlide14.xml" Id="Ra004a83b4a9a4e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77a121e684515" /><Relationship Type="http://schemas.openxmlformats.org/officeDocument/2006/relationships/notesSlide" Target="/ppt/notesSlides/notesSlide15.xml" Id="R0896fe2c4a5242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1f3b698d54075" /><Relationship Type="http://schemas.openxmlformats.org/officeDocument/2006/relationships/notesSlide" Target="/ppt/notesSlides/notesSlide16.xml" Id="R9b558452011d4d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02b041c3442ed" /><Relationship Type="http://schemas.openxmlformats.org/officeDocument/2006/relationships/notesSlide" Target="/ppt/notesSlides/notesSlide17.xml" Id="R0a073ee518cb42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43a36d0d94ff0" /><Relationship Type="http://schemas.openxmlformats.org/officeDocument/2006/relationships/notesSlide" Target="/ppt/notesSlides/notesSlide18.xml" Id="Ra537164d868744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81f4224db4812" /><Relationship Type="http://schemas.openxmlformats.org/officeDocument/2006/relationships/notesSlide" Target="/ppt/notesSlides/notesSlide19.xml" Id="R17d57201ad7f49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e6c1d10d4208" /><Relationship Type="http://schemas.openxmlformats.org/officeDocument/2006/relationships/notesSlide" Target="/ppt/notesSlides/notesSlide20.xml" Id="R4b267dfd8b2f4a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9385ce7d54e8d" /><Relationship Type="http://schemas.openxmlformats.org/officeDocument/2006/relationships/notesSlide" Target="/ppt/notesSlides/notesSlide21.xml" Id="Re17843fb5b1545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c7c5357024065" /><Relationship Type="http://schemas.openxmlformats.org/officeDocument/2006/relationships/notesSlide" Target="/ppt/notesSlides/notesSlide22.xml" Id="R34c650b7ddc84d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d86f09c1e4de6" /><Relationship Type="http://schemas.openxmlformats.org/officeDocument/2006/relationships/notesSlide" Target="/ppt/notesSlides/notesSlide23.xml" Id="R65edc4feee604a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569d6a6eb44f0" /><Relationship Type="http://schemas.openxmlformats.org/officeDocument/2006/relationships/notesSlide" Target="/ppt/notesSlides/notesSlide24.xml" Id="Rea2de4b93ee24a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0f88c17114eb1" /><Relationship Type="http://schemas.openxmlformats.org/officeDocument/2006/relationships/notesSlide" Target="/ppt/notesSlides/notesSlide25.xml" Id="R4818a29685f24f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55c210fc34e8a" /><Relationship Type="http://schemas.openxmlformats.org/officeDocument/2006/relationships/notesSlide" Target="/ppt/notesSlides/notesSlide26.xml" Id="Rbb2487e67cc74f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21ef5439940bc" /><Relationship Type="http://schemas.openxmlformats.org/officeDocument/2006/relationships/image" Target="/ppt/media/image.png" Id="R6cd53867ed214977" /><Relationship Type="http://schemas.openxmlformats.org/officeDocument/2006/relationships/notesSlide" Target="/ppt/notesSlides/notesSlide27.xml" Id="R9669a27b7dfc47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816099f0459f" /><Relationship Type="http://schemas.openxmlformats.org/officeDocument/2006/relationships/image" Target="/ppt/media/image2.png" Id="Rc13be9fc45134721" /><Relationship Type="http://schemas.openxmlformats.org/officeDocument/2006/relationships/notesSlide" Target="/ppt/notesSlides/notesSlide28.xml" Id="R0b007d1d9c8a43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ce19b98a04be7" /><Relationship Type="http://schemas.openxmlformats.org/officeDocument/2006/relationships/notesSlide" Target="/ppt/notesSlides/notesSlide29.xml" Id="R12c4e37b8b0a4b0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5ead6942a4c31" /><Relationship Type="http://schemas.openxmlformats.org/officeDocument/2006/relationships/notesSlide" Target="/ppt/notesSlides/notesSlide30.xml" Id="R6a6b8662fe0140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3730bbe6d4b5c" /><Relationship Type="http://schemas.openxmlformats.org/officeDocument/2006/relationships/image" Target="/ppt/media/image3.png" Id="R8d4d17c795f64023" /><Relationship Type="http://schemas.openxmlformats.org/officeDocument/2006/relationships/image" Target="/ppt/media/image4.png" Id="Raf70179748d54768" /><Relationship Type="http://schemas.openxmlformats.org/officeDocument/2006/relationships/notesSlide" Target="/ppt/notesSlides/notesSlide31.xml" Id="R5a59c0386c2f48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c1533da514934" /><Relationship Type="http://schemas.openxmlformats.org/officeDocument/2006/relationships/notesSlide" Target="/ppt/notesSlides/notesSlide32.xml" Id="R3461c5fbc09646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AE50786-6378-4184-9328-15B1E4F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6BAE347-0A72-4932-9801-7D2F897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2407977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第一部分 / 前期学习与能力准备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8D3BE5B7-2850-4323-ADDB-0A61D94C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0668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14FCBB0-3891-46A8-B532-21405348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35" y="1989772"/>
            <a:ext cx="2898076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前期学习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08BA927-DCC5-46A5-B096-95F76A9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35" y="2742248"/>
            <a:ext cx="3591163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与能力准备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3817B23-E5FB-42A2-BE53-F073E267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3619500"/>
            <a:ext cx="781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F6C4B64-C018-4F85-A82F-B3757D90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788" y="3940969"/>
            <a:ext cx="46732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>
                <a:solidFill>
                  <a:srgbClr val="5E6D65"/>
                </a:solidFill>
                <a:latin typeface="Arial"/>
                <a:ea typeface="Arial"/>
                <a:cs typeface="Arial"/>
              </a:rPr>
              <a:t>从前后端基础到医疗 AI Agent 的能力积累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5F562582-910C-4D02-9A25-17D52E2A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6800" y="2000250"/>
            <a:ext cx="9525" cy="2724150"/>
          </a:xfrm>
          <a:custGeom xmlns:a="http://schemas.openxmlformats.org/drawingml/2006/main">
            <a:rect l="l" t="t" r="r" b="b"/>
            <a:pathLst>
              <a:path w="9525" h="2724150">
                <a:moveTo>
                  <a:pt x="0" y="0"/>
                </a:moveTo>
                <a:lnTo>
                  <a:pt x="0" y="2724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CB572F45-928B-4D17-8EE6-9A36901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2475" y="17811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0E71265B-8AE9-4FF9-91DA-9F20BDAF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2475" y="30384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8B1D0840-6E10-46E6-8FB9-BE505745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2475" y="42957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6646277-F76F-49E7-AEDA-64849C6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737" y="2019300"/>
            <a:ext cx="24812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前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5F27A7-2AF8-4A4A-94AC-6A39AFE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737" y="3276600"/>
            <a:ext cx="24812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后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C1C22F-66C2-457D-9C4A-3B09968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2737" y="4533900"/>
            <a:ext cx="24812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智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A4794F-D7FB-45C1-8E00-FAF8210F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7342" y="19854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前端交互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D67086B-C29C-4685-9B36-9DC943B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7342" y="32427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服务接口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767253B-B82F-4C47-B69B-CBEDEE3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7342" y="4500086"/>
            <a:ext cx="126354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Agent 能力</a:t>
            </a:r>
          </a:p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D2DDC09B-43C6-4D62-AF19-2E7AC25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1150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3FDCB42-2A2A-497A-B486-E6F782F0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328410"/>
            <a:ext cx="1494663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学习积累 → 项目实践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B28FD3-E7D8-41F9-A5CF-9076C5B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2841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43891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16ACA7-7B77-4C0E-B86E-F23DE9DD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F3025B0-EC14-42EB-BC4F-5D693DE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学习路线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7BAAE7D-DD71-4D55-BE6A-DACC4D2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513009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从基础开发到医疗 AI 应用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26143CB-F899-4F7A-BE01-BEF92C5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29066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基本要求提供方向，学习内容通过可运行练习逐步沉淀。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7E78F66-C813-40ED-8026-9993D04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610" y="2404110"/>
            <a:ext cx="753561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8495613-339C-4BE7-A3D0-D35BD51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280" y="3249930"/>
            <a:ext cx="122948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前端学习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3E1FE0C-6A5E-49E9-8517-E18B12A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695700"/>
            <a:ext cx="23583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HTML · CSS · JavaScript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148845F-E02B-4809-ADB5-ECD9DD7D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981450"/>
            <a:ext cx="226837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Vue · Vite · TypeScript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808337-9211-479A-B458-B58AD055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910" y="2404110"/>
            <a:ext cx="753561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EC87FF-E295-41A8-9789-62DBC7B8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0580" y="3249930"/>
            <a:ext cx="122948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后端学习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2E1A54D-82CA-4B29-914D-EACCF38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3695700"/>
            <a:ext cx="247840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FastAPI · REST API · JSON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D38135-338E-469D-889E-6AC505D5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3981450"/>
            <a:ext cx="186832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规则计算 · 参数校验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E00D864-4522-4D8B-B085-1EBD556B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8210" y="2404110"/>
            <a:ext cx="753561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F7B4FA41-C4E1-4095-BD4F-2AF0EFC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64880" y="3249930"/>
            <a:ext cx="1538226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Agent 学习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21F1A3-471A-4B00-82D7-A09DBED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0" y="3695700"/>
            <a:ext cx="15882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Dify · RAG · MCP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B93E18-E2ED-4871-A305-FC7C0DF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0" y="3981450"/>
            <a:ext cx="352853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LangChain · LangGraph · DeepAgents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547CA13-B249-4BE6-A459-29547C39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57800"/>
            <a:ext cx="10972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58FC42F-1A82-4F5B-A6B0-3EA281C4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492" y="5500211"/>
            <a:ext cx="8255841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三条学习线最终交汇为：可交互的界面、可验证的服务、可控的智能化流程。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C98C65B-8488-4255-8D95-636759FC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865878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6BE3EC8-98EE-42FF-9474-C53ED89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88011C9-0CF7-4907-8D13-052C1BBB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3860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学习成果总览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3DE2B21-4C0C-4D37-A812-1A04D6E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已完成的学习不止停留在知识点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E18EEBB-3557-4A3F-8085-B1375B68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08063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每条学习线都通过一个或多个可运行原型来检验理解。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7140D1-872B-4DA7-9520-0633F54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381250"/>
            <a:ext cx="33337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D443FEE-7A68-440D-B819-8F82557D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6778" y="2775109"/>
            <a:ext cx="127339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页面交互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520E84A-9226-44A8-A259-1BAEEBA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3298508"/>
            <a:ext cx="145008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Vue Todo List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B0AA33-C3CF-44B0-B028-B77436F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55" y="3683318"/>
            <a:ext cx="237458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列表、编辑、筛选、状态切换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15687C-479B-44B0-AA87-0E0F493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55" y="3969068"/>
            <a:ext cx="201453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本地持久化与响应式渲染</a:t>
            </a:r>
          </a:p>
        </p:txBody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8CB2E6C-54EA-4C62-8C6C-2DC7729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9125" y="2381250"/>
            <a:ext cx="33337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19065D3-48FB-49D8-856E-55D5676E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6302" y="2775109"/>
            <a:ext cx="127339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服务接口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0693D77-C623-43C3-A4F5-F46D220C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2970" y="3298508"/>
            <a:ext cx="238520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FastAPI BMI 与 LLM API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7BFF09-E2C3-44C0-9034-BDD8B34A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6780" y="3683318"/>
            <a:ext cx="250059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参数、规则、JSON 与异常处理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8A303F5-01F6-45F1-806D-09BAB105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6780" y="39690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前端请求到后端响应的闭环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C448F9A-CE60-419C-8DEF-3ED0312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381250"/>
            <a:ext cx="3333750" cy="264795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E45DA78-A554-4432-919F-235C1706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828" y="2775109"/>
            <a:ext cx="1577935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智能体流程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191B1F-B07F-402D-B15F-01FD2C8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2495" y="3298508"/>
            <a:ext cx="224218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RAG 与持久记忆 Agent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F500413-AA8C-460D-ADC5-3A12C468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305" y="3683318"/>
            <a:ext cx="237458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知识库、工具调用与状态管理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1F070C1-D35C-486A-9ABA-5C9008F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6305" y="3969068"/>
            <a:ext cx="165449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多轮对话的流程编排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BDB38E7-0E04-4B92-84BF-7B79EFB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692" y="5719286"/>
            <a:ext cx="68066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学习方式：以小原型验证抽象概念，再将能力迁移到实际项目。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6313835-6A88-4A81-A956-8D3E9D0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85505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18EA75-89E1-414A-9962-9F20187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3E18D97-A42B-4374-B43C-4E2708B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能力迁移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F1CF0B0-20B0-44EF-B9A1-81450E69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学习内容如何逐步指向医疗场景</a:t>
            </a:r>
          </a:p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F33DEAB4-E59E-4171-8941-F5A60B5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3476625"/>
            <a:ext cx="8724900" cy="9525"/>
          </a:xfrm>
          <a:custGeom xmlns:a="http://schemas.openxmlformats.org/drawingml/2006/main">
            <a:rect l="l" t="t" r="r" b="b"/>
            <a:pathLst>
              <a:path w="8724900" h="9525">
                <a:moveTo>
                  <a:pt x="0" y="0"/>
                </a:moveTo>
                <a:lnTo>
                  <a:pt x="872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D7CE"/>
            </a:solidFill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39697263-7F0F-4C0C-A397-C4790C7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9813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E8304377-5828-430C-9819-E1A7DDBE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05300" y="29813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1B0397DC-5421-46DC-97F4-FE8DC9C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29813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80DD5E15-D70B-4249-A406-490CA34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8400" y="29813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333718-4C8C-4989-9FD3-A2F8894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9158" y="3377565"/>
            <a:ext cx="54978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交互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26B3F4-8A6B-456D-9199-B55DFF5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5708" y="3377565"/>
            <a:ext cx="54978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接口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568BD32-811C-4FED-859F-EEE6AC16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2258" y="3377565"/>
            <a:ext cx="54978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智能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9499FA5-0A08-4B7B-A85A-F3D5918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8808" y="3377565"/>
            <a:ext cx="54978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服务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1007D0B-9211-4BE5-932E-3B3C54E5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2729" y="4230529"/>
            <a:ext cx="114264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输入与反馈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8238161-C051-4E92-B9E2-0E4C1D1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279" y="4230529"/>
            <a:ext cx="114264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规则与数据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8D21AEE-389E-4ECB-B0F7-37D2CBD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5829" y="4230529"/>
            <a:ext cx="114264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检索与追问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5AD808-4060-4291-AB46-97B1ACE8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2642" y="4230529"/>
            <a:ext cx="92211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医生核对</a:t>
            </a:r>
          </a:p>
        </p:txBody>
      </p:sp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949E4D1-F513-4BB3-B5F6-21F796A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448300"/>
            <a:ext cx="109728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38C700-CB47-49BE-BF27-21135EF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4398" y="5630704"/>
            <a:ext cx="659282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前期学习的价值，在于把“能做出原型”推进到“能拆解可靠业务流程”。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8333811-F432-409C-A084-0129DE28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5869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9B5B44-A94D-49D0-9635-E8D0278E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D227BA2-3385-4E2C-BB12-92C180C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前端学习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C191AE7-5B8E-4737-ABBC-932E100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493161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先理解页面如何响应用户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6B9AFE8-6104-4480-B6E0-6372775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792349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以 HTML、CSS、JavaScript 为基础，使用 Vue 组织可维护的交互页面。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90C30C0-7358-4777-9911-65D4C6C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820" y="2741295"/>
            <a:ext cx="867461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03EC7296-6DF4-410B-BBEB-50722C56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3190875"/>
            <a:ext cx="3238500" cy="9525"/>
          </a:xfrm>
          <a:custGeom xmlns:a="http://schemas.openxmlformats.org/drawingml/2006/main"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A2CA6B0-33B9-4ECC-A3FF-2064FBA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3409950"/>
            <a:ext cx="1438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页面结构与语义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1F2578-F0C0-45B2-8CA7-E9FE58E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6270" y="2741295"/>
            <a:ext cx="615429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CSS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5145BAB9-E9FA-493F-A822-FB97F1B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3190875"/>
            <a:ext cx="3238500" cy="9525"/>
          </a:xfrm>
          <a:custGeom xmlns:a="http://schemas.openxmlformats.org/drawingml/2006/main"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B2BCD86-E18E-40EE-B32E-89D138A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7700" y="34099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布局、视觉层级与响应式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0E766B-D141-4778-8478-AF6E2B2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46720" y="2741295"/>
            <a:ext cx="18251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0D870CAE-47C3-4110-82B7-1C2124FF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3190875"/>
            <a:ext cx="3238500" cy="9525"/>
          </a:xfrm>
          <a:custGeom xmlns:a="http://schemas.openxmlformats.org/drawingml/2006/main"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B2E3864-9CD9-4129-BFBE-67213C02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8150" y="34099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事件、状态与数据交互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3B2895A-C2A4-4D45-8599-B7CA2A3B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52950"/>
            <a:ext cx="109728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8513288-CBF4-41E3-A51D-B66C4CFC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635" y="4790122"/>
            <a:ext cx="9005049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Vue 3 的作用：将界面状态、用户操作和页面更新组织成清晰的组件逻辑。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7337B5E-E0BF-4412-A4E6-096CD88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55" y="5159692"/>
            <a:ext cx="518293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同步学习 Vite、TypeScript、Git 和 npm/pnpm 等工程化工具。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808B015-9421-4DB0-A863-B3EBEB6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44445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FA47EA2-03C0-4D53-8C6A-AF6EDB7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6637AF4-DF41-461E-B509-A15F366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30205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Vue 练习原型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52F38D4-6697-427E-B90E-363475D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777642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Todo List：用完整交互理解响应式开发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2827A1F-4C67-4E40-8F48-1F5BFC8A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95500"/>
            <a:ext cx="109728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D6EBB19-25E0-4412-9D9F-6377D9A7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492" y="2290286"/>
            <a:ext cx="5538627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任务添加 → 编辑 → 完成 → 筛选 → 清除 → 本地持久化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486D936-EABF-4349-8412-5B3C0B8E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9138" y="3178969"/>
            <a:ext cx="13602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输入与事件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745BF50-A371-4C15-A7BD-719D3AFA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852" y="3551396"/>
            <a:ext cx="3228594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5E6D65"/>
                </a:solidFill>
                <a:latin typeface="Arial"/>
                <a:ea typeface="Arial"/>
                <a:cs typeface="Arial"/>
              </a:rPr>
              <a:t>v-model、键盘事件、点击与失焦处理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8DC6B7-0F26-4083-A3B2-8608D9F9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6238" y="3178969"/>
            <a:ext cx="13602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状态与渲染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5D5739-B6FE-4056-9C8E-BFF2BD12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1952" y="3551396"/>
            <a:ext cx="2687026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5E6D65"/>
                </a:solidFill>
                <a:latin typeface="Arial"/>
                <a:ea typeface="Arial"/>
                <a:cs typeface="Arial"/>
              </a:rPr>
              <a:t>ref、computed、v-for、v-if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0CC4CC1-1112-470D-B7BE-1C917C48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3338" y="3178969"/>
            <a:ext cx="162282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体验与持久化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5724E3-DD9D-41CD-BF95-D103E0EE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9052" y="3551396"/>
            <a:ext cx="2905554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5E6D65"/>
                </a:solidFill>
                <a:latin typeface="Arial"/>
                <a:ea typeface="Arial"/>
                <a:cs typeface="Arial"/>
              </a:rPr>
              <a:t>编辑聚焦、空状态、localStorage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F00E95-91D5-4D1A-A0C6-B7B35444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714875"/>
            <a:ext cx="109728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94402B9-BB0A-437C-9F23-7D339E3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302" y="4942046"/>
            <a:ext cx="83429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学习收获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CD2E7A-C32D-4611-ABDD-4BAE4FE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492" y="5252561"/>
            <a:ext cx="857788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把一个“用户操作”拆成状态变化、界面更新与数据保存，为后续业务页面打下基础。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17B6F6E-2AEC-456D-925C-52ED40B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9014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77C1D4-6F7C-4372-BA4E-02F5CFC9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4E93B95-0C4D-4A76-A2B2-BCB8BCF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3860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前端能力沉淀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6431C72-01E5-41E7-BCA8-3E37EA05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537267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从练习页面带走的三类能力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6025259-773A-48AA-9D3B-2E1639C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665" y="2248852"/>
            <a:ext cx="123701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状态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BF1B977-C374-4BE7-9164-76BAE057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45" y="2965132"/>
            <a:ext cx="246221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把用户填写、进度和结果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2F06AEF-BD43-4653-8352-B4B9F2A6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9145" y="3260408"/>
            <a:ext cx="224218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变为可管理的数据状态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881ED1-6BFB-46FD-8733-836D90F1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9115" y="2248852"/>
            <a:ext cx="123701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渲染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A3BFFC2-238D-49DA-8104-A3B8093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9595" y="2965132"/>
            <a:ext cx="246221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根据状态实时更新页面，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9E17A8-49E6-49AB-B30C-8218922E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9595" y="3260408"/>
            <a:ext cx="18791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减少手动操作 DOM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885FA5-A5AE-4452-8A02-A28ADCD7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49565" y="2248852"/>
            <a:ext cx="1237012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体验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01A2D34-528F-4E5C-BC06-AB3677A2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0045" y="2965132"/>
            <a:ext cx="246221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关注输入、提示、空状态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1B909F-9347-4A4E-AD40-F1DD5CB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0045" y="3260408"/>
            <a:ext cx="2022158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与异常场景的连续性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3B4B62C-054D-4344-8779-1EB91F9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953000"/>
            <a:ext cx="109728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AA174CA-B970-4394-9BA5-B2412FD1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5225415"/>
            <a:ext cx="785869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迁移到项目：支撑了诊前资料表单、对话历史、流程进度和结果展示。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8A70F2-1C08-4902-A2B9-1DC8BF5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19764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B69986-4FA1-49A1-8AB9-A8B4F155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B8C8146-CAAE-434B-A3D8-5541D3B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后端学习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C5829BE-54C2-4CB8-A388-7714772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把业务规则封装为可验证的服务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4571554-26CA-4D8A-ACE3-EF53E1D0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17277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以 FastAPI 为主，练习路由、参数、响应、异常和本地服务启动。</a:t>
            </a:r>
          </a:p>
        </p:txBody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146CE63A-D850-45DC-B142-A23A10B8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29337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D8BED67-B03C-4D55-B66A-3A91C50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5355" y="341709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请求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88E62A0D-233B-4B39-B1D9-C512A18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62250" y="3524250"/>
            <a:ext cx="1885950" cy="9525"/>
          </a:xfrm>
          <a:custGeom xmlns:a="http://schemas.openxmlformats.org/drawingml/2006/main"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0" name="Polygon 10">
            <a:extLst xmlns:a="http://schemas.openxmlformats.org/drawingml/2006/main">
              <a:ext uri="{FF2B5EF4-FFF2-40B4-BE49-F238E27FC236}">
                <a16:creationId xmlns:a16="http://schemas.microsoft.com/office/drawing/2014/main" id="{A9B70BA6-9066-4220-8488-C4E7039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750" y="3419475"/>
            <a:ext cx="171450" cy="209550"/>
          </a:xfrm>
          <a:custGeom xmlns:a="http://schemas.openxmlformats.org/drawingml/2006/main">
            <a:rect l="l" t="t" r="r" b="b"/>
            <a:pathLst>
              <a:path w="171450" h="209550">
                <a:moveTo>
                  <a:pt x="171450" y="104775"/>
                </a:moveTo>
                <a:lnTo>
                  <a:pt x="0" y="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6595FA72-1978-44AA-94A3-CDAB4E8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4900" y="28765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F84C687-0A03-46CE-9CA7-CD4370B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9162" y="3261836"/>
            <a:ext cx="52687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规则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D23B73-116D-472C-9D3F-DF25D02A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9162" y="3538061"/>
            <a:ext cx="52687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服务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4653A57C-1500-4603-8A04-CB697CEE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0300" y="3524250"/>
            <a:ext cx="1885950" cy="9525"/>
          </a:xfrm>
          <a:custGeom xmlns:a="http://schemas.openxmlformats.org/drawingml/2006/main">
            <a:rect l="l" t="t" r="r" b="b"/>
            <a:pathLst>
              <a:path w="1885950" h="9525">
                <a:moveTo>
                  <a:pt x="0" y="0"/>
                </a:moveTo>
                <a:lnTo>
                  <a:pt x="1885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5" name="Polygon 15">
            <a:extLst xmlns:a="http://schemas.openxmlformats.org/drawingml/2006/main">
              <a:ext uri="{FF2B5EF4-FFF2-40B4-BE49-F238E27FC236}">
                <a16:creationId xmlns:a16="http://schemas.microsoft.com/office/drawing/2014/main" id="{EF1AFB6A-E280-4651-B4F3-CA77EAC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4800" y="3419475"/>
            <a:ext cx="171450" cy="209550"/>
          </a:xfrm>
          <a:custGeom xmlns:a="http://schemas.openxmlformats.org/drawingml/2006/main">
            <a:rect l="l" t="t" r="r" b="b"/>
            <a:pathLst>
              <a:path w="171450" h="209550">
                <a:moveTo>
                  <a:pt x="171450" y="104775"/>
                </a:moveTo>
                <a:lnTo>
                  <a:pt x="0" y="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F704F97B-E603-4FB5-B4EE-6B01751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0100" y="29337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A5799CF-E977-4A15-9147-F870B24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4305" y="341709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响应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8AB0984-3CC7-44FB-BF4A-2EC90F8E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4935379"/>
            <a:ext cx="7096887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接口承担的三件事：接收可信输入、执行确定性规则、返回结构化数据。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B5B189-046C-44F0-A316-41D9ADD2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455" y="5350192"/>
            <a:ext cx="469687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这也是后续把 BMI、流程状态和档案结果交给前端的基础。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F40CFA7-7822-4453-8D72-24443469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33376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9E926A-97B7-4ECC-9458-D482197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4ACF693-59EC-42D9-AC8D-6975928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35784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FastAPI 练习原型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E680969-8C43-490E-A47D-8865F12B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65173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BMI 计算器：完成一次前后端闭环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D153B8-FE09-4EEF-9A18-F8C4E97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324100"/>
            <a:ext cx="26479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970C824-4F3F-4922-826F-2EE9DE6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635" y="2666048"/>
            <a:ext cx="11416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前端输入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7D170CA-2CE2-41B6-87DA-18D22D9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3174682"/>
            <a:ext cx="48196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身高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1100028-8664-4C29-93B5-1219526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3546158"/>
            <a:ext cx="48196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体重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3C8968-B64A-4248-8286-E6464BB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55" y="4045268"/>
            <a:ext cx="1303449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fetch 发送请求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517577C-BF52-4FD8-8240-7BB2C2E6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2025" y="2324100"/>
            <a:ext cx="26479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114023D-6220-4660-86AF-5C13AE96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2060" y="2666048"/>
            <a:ext cx="1059756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后端 API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8DAC52F-7BEF-42C6-B790-722DED26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5870" y="3174682"/>
            <a:ext cx="900017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F7F9F6"/>
                </a:solidFill>
                <a:latin typeface="Arial"/>
                <a:ea typeface="Arial"/>
                <a:cs typeface="Arial"/>
              </a:rPr>
              <a:t>计算 BMI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0CC31B7-32CD-42E8-827C-58E5B8F5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5870" y="3546158"/>
            <a:ext cx="136207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F7F9F6"/>
                </a:solidFill>
                <a:latin typeface="Arial"/>
                <a:ea typeface="Arial"/>
                <a:cs typeface="Arial"/>
              </a:rPr>
              <a:t>判断体重等级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FCF3DD0-09FC-47A1-A186-ACAF090E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9680" y="4045268"/>
            <a:ext cx="88039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F7F9F6"/>
                </a:solidFill>
                <a:latin typeface="Arial"/>
                <a:ea typeface="Arial"/>
                <a:cs typeface="Arial"/>
              </a:rPr>
              <a:t>返回 JSON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7B35772-1901-48C4-A119-9CDDCBB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0" y="2324100"/>
            <a:ext cx="26479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27E2283-2A31-4587-989F-541746E1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4485" y="2666048"/>
            <a:ext cx="11416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页面反馈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6AEC44E-C79C-4435-8E2A-A77F2CA4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8295" y="3174682"/>
            <a:ext cx="900017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BMI 数值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6996D14-E034-43C8-BA10-186A5433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8295" y="3546158"/>
            <a:ext cx="9220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体重等级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28E9DB-F4EC-4FA8-A58B-F54E3B9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2105" y="4045268"/>
            <a:ext cx="1114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动态渲染结果</a:t>
            </a:r>
          </a:p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027ABB3A-234F-4DF5-9D62-B6F3B1C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57550" y="3514725"/>
            <a:ext cx="1514475" cy="9525"/>
          </a:xfrm>
          <a:custGeom xmlns:a="http://schemas.openxmlformats.org/drawingml/2006/main">
            <a:rect l="l" t="t" r="r" b="b"/>
            <a:pathLst>
              <a:path w="1514475" h="9525">
                <a:moveTo>
                  <a:pt x="0" y="0"/>
                </a:move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14950572-D5F5-4891-A900-F62F141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9975" y="3514725"/>
            <a:ext cx="1514475" cy="9525"/>
          </a:xfrm>
          <a:custGeom xmlns:a="http://schemas.openxmlformats.org/drawingml/2006/main">
            <a:rect l="l" t="t" r="r" b="b"/>
            <a:pathLst>
              <a:path w="1514475" h="9525">
                <a:moveTo>
                  <a:pt x="0" y="0"/>
                </a:moveTo>
                <a:lnTo>
                  <a:pt x="1514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AB4ABC7-DAF0-486A-BF93-CD17859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45" y="5403532"/>
            <a:ext cx="789689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收获：理解了页面、接口、确定性规则和结构化响应如何组成一个可用工具。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5B9B3B-56D2-4DF8-81F7-409B0F1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52103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238360-59C2-4764-9F27-F659CE8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4AC3F4B-FA2C-402F-9879-5F2067A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206627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规则计算的启发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63EEC34-9600-4080-828F-FEDBC5E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537267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关键数值由确定性规则计算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4E5A31F-F954-41F1-A10C-51E75775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715989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BMI 原型带来的重要认识：涉及阈值和安全边界的内容，不能交给模型猜测。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62DA2D3-275D-4E99-B0CA-E1424560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8725" y="2900362"/>
            <a:ext cx="131730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规则擅长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B30AFDA-0F51-4FE2-A123-0BD11BC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6345" y="3469958"/>
            <a:ext cx="48196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计算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66C2A6B-CB80-4A94-B345-8BB8031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6345" y="3822382"/>
            <a:ext cx="48196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2C03F7-7EBE-4150-8C9E-DF51AA4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6345" y="4174808"/>
            <a:ext cx="48196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分级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4990203E-14F0-42A2-96E6-4F64617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667000"/>
            <a:ext cx="9525" cy="2019300"/>
          </a:xfrm>
          <a:custGeom xmlns:a="http://schemas.openxmlformats.org/drawingml/2006/main">
            <a:rect l="l" t="t" r="r" b="b"/>
            <a:pathLst>
              <a:path w="9525" h="2019300">
                <a:moveTo>
                  <a:pt x="0" y="0"/>
                </a:moveTo>
                <a:lnTo>
                  <a:pt x="0" y="2019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D7CE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F896E8E-4B57-4780-AD47-CB25E40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2900362"/>
            <a:ext cx="131730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模型擅长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E0DA1E-2978-4851-BE8C-EDE43FF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1145" y="3469958"/>
            <a:ext cx="136207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理解自然语言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B8B688-97EB-4A38-AC84-597039B7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1145" y="3822382"/>
            <a:ext cx="9220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解释术语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0C7E14D-E228-460F-8B2B-7D6A312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1145" y="4174808"/>
            <a:ext cx="9220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组织追问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086C855-AC20-4186-B606-FAEB82A6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314950"/>
            <a:ext cx="109728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CF80B3-FC4B-4699-B10C-ECB84DB0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5527358"/>
            <a:ext cx="726156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这条分工直接成为当前项目“规则负责判断，AI 负责理解”的设计原则。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119B35-E42B-4D0C-95C3-547A4AA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87408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B2F10F-9BE7-415C-B2E3-5957E7B1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F067732-111A-4D7C-B4DB-A9F2F0C5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206627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大模型 API 原型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D504EE1-EC41-40D4-BEE4-12838CB8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757794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完成症状信息到结构化结果的接口探索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9646EB1-A5F0-4906-BA0B-87D3345B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74014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使用 FastAPI 接收症状与舌象，将提示词发送给兼容 OpenAI 协议的模型服务。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2652073-5C17-4469-B24A-C69C437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714625"/>
            <a:ext cx="2571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AF795A7-1F3D-42A1-A34F-3FA9390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588" y="303609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BA8A1A1-F3B2-421E-AC18-DCCF30E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302" y="3446621"/>
            <a:ext cx="155638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15221C"/>
                </a:solidFill>
                <a:latin typeface="Arial"/>
                <a:ea typeface="Arial"/>
                <a:cs typeface="Arial"/>
              </a:rPr>
              <a:t>症状、舌象等资料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3B2A13-9976-4575-BDFE-7CC9DE8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25" y="2714625"/>
            <a:ext cx="2571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3C174E7-5798-4339-807F-3FF5827F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1112" y="303609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模型调用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1B3766A-E635-44AD-8E6B-8EC73A6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6828" y="3446621"/>
            <a:ext cx="155638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F7F9F6"/>
                </a:solidFill>
                <a:latin typeface="Arial"/>
                <a:ea typeface="Arial"/>
                <a:cs typeface="Arial"/>
              </a:rPr>
              <a:t>提示词与响应解析</a:t>
            </a:r>
          </a:p>
        </p:txBody>
      </p:sp>
      <p:sp>
        <p:nvSpPr>
          <p:cNvPr id="13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05D133A-2B65-4BF0-A0DB-CA062841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0650" y="2714625"/>
            <a:ext cx="2571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7B2F55D-4AC7-47FF-9A11-D5E2B3A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1638" y="303609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597CB4F-DFDD-48AD-BE7C-D83CDCF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7352" y="3446621"/>
            <a:ext cx="155638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结构化字段与提示</a:t>
            </a:r>
          </a:p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4468C489-F5C9-4C9B-8675-752824C7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1350" y="3333750"/>
            <a:ext cx="1628775" cy="9525"/>
          </a:xfrm>
          <a:custGeom xmlns:a="http://schemas.openxmlformats.org/drawingml/2006/main">
            <a:rect l="l" t="t" r="r" b="b"/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8086080C-A4E6-4DC2-9DB3-D8D13E9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3333750"/>
            <a:ext cx="1628775" cy="9525"/>
          </a:xfrm>
          <a:custGeom xmlns:a="http://schemas.openxmlformats.org/drawingml/2006/main">
            <a:rect l="l" t="t" r="r" b="b"/>
            <a:pathLst>
              <a:path w="1628775" h="9525">
                <a:moveTo>
                  <a:pt x="0" y="0"/>
                </a:move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F0CC21-F1E6-4580-9B06-6C2E38D9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5259229"/>
            <a:ext cx="842005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C94A3D"/>
                </a:solidFill>
                <a:latin typeface="Arial"/>
                <a:ea typeface="Arial"/>
                <a:cs typeface="Arial"/>
              </a:rPr>
              <a:t>定位：这是能力探索原型；当前项目已将对模型的使用收敛到理解、追问与资料整理。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578B2E8-5FCD-4920-BCA4-A473FBB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17869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850B63-B62E-4A1A-A0DA-ECF4CA1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2D31202-DF4E-4FC9-BC45-ED547605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870585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可靠性学习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105EDBF-1D09-46BF-8E9F-1B34A3E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结构化输出不是只写一个提示词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FCE8CE5-B8C8-4362-BE80-116D2A85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515" y="2325052"/>
            <a:ext cx="72664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7CADC9D-7521-4D3A-8D7C-82B9760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0188" y="2559844"/>
            <a:ext cx="21478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环境变量管理密钥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E4F4FDC-BE16-4465-AE10-C1FA21F2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6855" y="2921318"/>
            <a:ext cx="200553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避免把 API Key 写入代码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A6B1959-7DC2-4114-9CDC-DFDC6F4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1515" y="3372802"/>
            <a:ext cx="72664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2CDD93-5CA8-48D1-8632-0DE157B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0188" y="3607594"/>
            <a:ext cx="319801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多层 JSON 解析与错误兜底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C5D742-2803-4045-9A0D-40088DE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6855" y="3969068"/>
            <a:ext cx="345471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处理模型返回代码块、额外文本或字段缺失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B36B64-3A76-4075-A28D-A8805D1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7515" y="2325052"/>
            <a:ext cx="72664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180924-7027-4E28-89D3-A2329DC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6188" y="2559844"/>
            <a:ext cx="279109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Pydantic 定义接口边界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0FAB25D-52A2-49FE-BE85-B9DF55C8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2855" y="2921318"/>
            <a:ext cx="273462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校验输入输出，自动形成接口文档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E652BF7-020A-46B9-A4F4-CBFD93C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7515" y="3372802"/>
            <a:ext cx="726648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AAC7ED-F90A-4CCE-8AD2-1A3E6DF1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6188" y="3607594"/>
            <a:ext cx="319801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服务失败时保持流程可继续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EC90D3-4A3A-4AB3-8A0E-F1CAE98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02855" y="3969068"/>
            <a:ext cx="237458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为后续系统降级策略提供经验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04D6E9-5C3C-44D7-ADC8-60442A1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38750"/>
            <a:ext cx="109728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93F117-31F3-4C8D-8AFE-64A2309C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5451158"/>
            <a:ext cx="771206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从“调用模型”到“让服务在不确定输出下仍可控”，是学习阶段的重要提升。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CA2476-B51B-431B-8A43-09CC032C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9993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11450C-9EF2-48E0-B27B-07461D4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071245D-947E-49E4-B4EE-EE9B63FB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383049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Agent 平台级入门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7F3FCDD-3D9D-4D0A-86AF-2EB2F62D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876879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通过 Dify 与 Ollama 建立第一条 Agent 链路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6A08AA3-258C-44C6-A31E-C1999F14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430" y="2440305"/>
            <a:ext cx="64141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部署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6447347-269E-4DEF-B3DA-18DC5FC7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886075"/>
            <a:ext cx="134826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部署 Dify 平台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8F1CC78-0EB6-4EB4-B367-860A4DA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9480" y="2440305"/>
            <a:ext cx="64141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模型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2FCECC2-5C35-4106-8E4E-094E255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7100" y="2886075"/>
            <a:ext cx="207835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Ollama 本地模型与 API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0AB7014-2944-45B7-AC21-97921F7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6530" y="2440305"/>
            <a:ext cx="64141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知识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170EAA-1425-4EDF-BE06-35AEAC86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4150" y="2886075"/>
            <a:ext cx="1438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挂载古籍知识库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797EC5-4026-4355-8944-6FEC487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98330" y="2440305"/>
            <a:ext cx="64141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对话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309B75D-E1C1-4600-A35A-38CAEEE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05950" y="28860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多轮问答与提示词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DF0A0D07-44B4-432C-84A9-CBB878B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" y="3524250"/>
            <a:ext cx="10248900" cy="9525"/>
          </a:xfrm>
          <a:custGeom xmlns:a="http://schemas.openxmlformats.org/drawingml/2006/main">
            <a:rect l="l" t="t" r="r" b="b"/>
            <a:pathLst>
              <a:path w="10248900" h="9525">
                <a:moveTo>
                  <a:pt x="0" y="0"/>
                </a:moveTo>
                <a:lnTo>
                  <a:pt x="1024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1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F0D2A2-F929-4380-B41E-F8B3BB8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572000"/>
            <a:ext cx="109728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9547BFB-D091-4291-B601-D3F9C040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492" y="4814411"/>
            <a:ext cx="102122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平台实践解决的问题：快速看见“模型、知识库、提示词、工具”如何共同组成一个可交互应用。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940467-D4B4-42F2-85D8-636A047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7255" y="5159692"/>
            <a:ext cx="670412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随后再进入 LangChain、LangGraph 和 DeepAgents，理解它们背后的模块化实现。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FA657F-0C7B-43F8-9EBC-8BD02A47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31259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D2E55F-14F1-4B80-8979-AD56C3E1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AC56DB1-9F63-40B5-9599-6E29F854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19822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RAG 知识库流程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990FFE9-2280-4B66-9756-22A7B68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让模型回答时参考可检索的资料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90D3E61-85C4-4AA2-A814-5090DDD0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533650"/>
            <a:ext cx="19621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FCE443B-779E-444A-AA13-DE1EA969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707" y="28617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上传资料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85455A-F63D-4E63-A67E-C873F5A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0850" y="2533650"/>
            <a:ext cx="19621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538A991-B68B-42A0-8B0A-0AD5632C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25427" y="2861786"/>
            <a:ext cx="149299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切分与向量化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6C4F34-4F36-4C7F-8744-C415E62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2100" y="2533650"/>
            <a:ext cx="19621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6C78E81-6BF6-4690-8013-3345CEA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06677" y="2861786"/>
            <a:ext cx="149299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检索相关片段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6BF423-7337-4299-9241-4D9F59D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3350" y="2533650"/>
            <a:ext cx="19621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BCCB8D6-3765-44B6-BBF9-B33E5F88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8692" y="2861786"/>
            <a:ext cx="125146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拼接提示词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CFC6EE7-B9EE-4C37-8922-86C69D53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34600" y="2533650"/>
            <a:ext cx="14478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BD07B8-C5FA-4FAA-AF86-63B11F1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5062" y="2861786"/>
            <a:ext cx="52687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回答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444C140-31BE-44A1-946E-693D7A9D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835" y="4304348"/>
            <a:ext cx="9059656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实践内容：创建知识库并上传中医古籍，观察检索内容如何进入模型回答。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991B985-B255-45DC-B73A-B293459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791075"/>
            <a:ext cx="76590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学习重点不是“让模型背资料”，而是理解知识来源、检索范围和回答引用之间的关系。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146C430-81F0-496D-9FB8-213F9E58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60690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0C6869-FDBD-409A-AF11-26A037FA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94E4809-A504-49A5-B3C2-FED8AD86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3860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对话原型实践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1837E1-53C5-43D3-B6F6-173CFEEB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80631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“克隆老中医”：用多轮对话练习采集流程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CA84FF3-6A30-43C5-B3CC-EDBB9C5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450306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基于 Dify、知识库和模型服务构建的学习原型。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1F2ED6-FF53-4253-8135-45EF7A6A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457450"/>
            <a:ext cx="6667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79AE9BE-361C-490D-A746-A082442F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" y="27336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患者：描述不适与生活状态</a:t>
            </a:r>
          </a:p>
        </p:txBody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E59F79-37DE-422A-A334-89B2D20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7900" y="3371850"/>
            <a:ext cx="6667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F9EE5D-9103-4586-B6D6-9C74404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3650" y="3648075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助手：围绕饮食、睡眠、情绪等维度继续追问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A51A03-0428-44D4-9E9D-28974689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286250"/>
            <a:ext cx="6667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A97CBA-EB61-40D4-9D34-99B276A7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" y="45624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系统：汇总为结构化记录，附带知识库检索内容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BF9F4F7-45D0-4D35-81D0-3740FAE0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0538" y="2616994"/>
            <a:ext cx="162282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练习到的能力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93ED25-58D3-4E2A-BA9A-99E0605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4348" y="3154204"/>
            <a:ext cx="130016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多轮流程控制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230511A-F867-4227-A153-65F4E76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4348" y="3554254"/>
            <a:ext cx="10901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结构化总结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F976DB-8D2B-4474-AC0B-6DBD2DE1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4348" y="3954304"/>
            <a:ext cx="109013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知识库回答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217A90B-26B6-40DD-82C1-B9FCE567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4348" y="4354354"/>
            <a:ext cx="130016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用户表达理解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F7F191E-74AF-49BA-B393-44CA888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5667375"/>
            <a:ext cx="780907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C94A3D"/>
                </a:solidFill>
                <a:latin typeface="Arial"/>
                <a:ea typeface="Arial"/>
                <a:cs typeface="Arial"/>
              </a:rPr>
              <a:t>当前项目对这一原型进行了安全收敛：不在线确诊和开方，重点转为诊前资料整理。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10E48BD-528E-4D82-9DB8-02517B23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0196214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6E3E1A-D679-4D89-BA80-6E9C9A9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FBBDAF9-7A54-4F71-8BD1-811F3652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工具调用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BDFF243-1CAD-4DFC-8595-4421A52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993759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Function Calling 与 MCP：让 Agent 连接外部能力</a:t>
            </a:r>
          </a:p>
        </p:txBody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DB0DCF6A-F890-4F8B-BB02-D7EE425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6375" y="27336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70AD574-812F-4C4A-AE82-2B18529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6622" y="324564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用户问题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8289A10E-B574-474B-A47F-4DB0B38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4625" y="3352800"/>
            <a:ext cx="1952625" cy="9525"/>
          </a:xfrm>
          <a:custGeom xmlns:a="http://schemas.openxmlformats.org/drawingml/2006/main">
            <a:rect l="l" t="t" r="r" b="b"/>
            <a:pathLst>
              <a:path w="1952625" h="9525">
                <a:moveTo>
                  <a:pt x="0" y="0"/>
                </a:move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A9609BD2-CD4F-4193-9ED2-F47AA890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7250" y="27336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64864A4-93CE-4B51-A05F-0AF1BD1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1580" y="3245644"/>
            <a:ext cx="7695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58FE9CE2-0135-401C-A0C5-B05C7660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3352800"/>
            <a:ext cx="1952625" cy="9525"/>
          </a:xfrm>
          <a:custGeom xmlns:a="http://schemas.openxmlformats.org/drawingml/2006/main">
            <a:rect l="l" t="t" r="r" b="b"/>
            <a:pathLst>
              <a:path w="1952625" h="9525">
                <a:moveTo>
                  <a:pt x="0" y="0"/>
                </a:move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B983A9B0-B588-4528-9A95-DD6FA5DD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5" y="273367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2C9738-71EB-44F5-A976-7C24E69E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2" y="324564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外部工具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41862DFC-5B6A-4E5E-B0BD-0B34D3C2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6375" y="3352800"/>
            <a:ext cx="1323975" cy="9525"/>
          </a:xfrm>
          <a:custGeom xmlns:a="http://schemas.openxmlformats.org/drawingml/2006/main">
            <a:rect l="l" t="t" r="r" b="b"/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C8C7B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36EEC39-2866-40A9-8BCD-5D66A238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0842" y="3090386"/>
            <a:ext cx="52687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6D3E9EC-C29A-4894-8789-B291110F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5605" y="3445192"/>
            <a:ext cx="93440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再组织回答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0FAF12E-A168-431E-A648-311B15F6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000625"/>
            <a:ext cx="109728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6BB1A75-B7A3-42A4-B2B1-F702224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5260658"/>
            <a:ext cx="815102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实践：为助手增加“查天气”工具，理解模型何时决定调用、工具如何返回结果。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C490F5-589D-4DE9-99D0-8100E6B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416804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8AEBB65-4690-4374-B954-1472618A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9D99E12-95B4-4EC3-884C-CF6E50A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66028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框架深入：LangChain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4160CDD-C158-458E-AAC7-A441F89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36504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脱离平台，理解 RAG 全链路模块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74A867-A293-4DFB-A7F7-2CE8419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400300"/>
            <a:ext cx="23812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3C03A62-41EC-4356-B246-0B5D2E4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257" y="27855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文档切分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2F5299-01A1-492A-AF3B-B0B8035C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33750" y="2400300"/>
            <a:ext cx="23812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96A5D35-30EF-49D1-B5A1-B4C9B8E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0719" y="2785586"/>
            <a:ext cx="1227313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A0E1815-FF73-4722-BF65-D9B5FCC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7900" y="2400300"/>
            <a:ext cx="23812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10AAD1-E044-449C-B26F-648155DB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3557" y="27855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向量检索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2D8A85-F04B-4F7F-9A5E-DED7315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2050" y="2400300"/>
            <a:ext cx="280035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838F9B-6DEF-4ED2-85C6-50843237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97585" y="2785586"/>
            <a:ext cx="2169281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Prompt 与模型回答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7A9E777-DDD4-4CDC-A6B4-AA97C2D7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788" y="4188619"/>
            <a:ext cx="897374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学习重点：每一环都可以独立替换、调试与评估，而不是把知识库当成黑盒。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DEAA764-93AB-4B8C-995D-F66D6A5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724400"/>
            <a:ext cx="589883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实践内容：基于 LangChain 与通义千问 API 的检索增强问答系统。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4AB684E-B9B4-4441-AA65-8661B9C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3375647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A78C62-0660-4741-AF14-3516392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D6DFF71-BB42-4450-BE7E-3A0CA3D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702289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框架深入：LangGraph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3294E0F-031F-49E8-AFDF-7004CD1F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713689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用状态图和持久化记忆承接多轮对话</a:t>
            </a:r>
          </a:p>
        </p:txBody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8B1311F7-C656-4B2E-9031-4A3DB633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0" y="28575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D0A2125-091C-4C1C-8865-43288A98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6232" y="33570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身份确认</a:t>
            </a:r>
          </a:p>
        </p:txBody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20DD8774-EFC3-452C-83B9-3C77D22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1950" y="28575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CD26E33-3C23-4B1E-9070-BB8906C0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532" y="33570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查询历史</a:t>
            </a:r>
          </a:p>
        </p:txBody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5785D23A-ECB7-4DF2-98BF-868E91B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28575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B3309D2-95FB-4BF8-9A63-0B62A46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832" y="33570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本次对话</a:t>
            </a:r>
          </a:p>
        </p:txBody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A5481376-379F-4B8A-9CD5-8BDE095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4550" y="28575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FD5374-F790-43D9-8824-2F2397D2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20132" y="33570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保存记录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4831435F-A383-460D-8443-2B300B43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1750" y="3448050"/>
            <a:ext cx="1600200" cy="9525"/>
          </a:xfrm>
          <a:custGeom xmlns:a="http://schemas.openxmlformats.org/drawingml/2006/main"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D7CE"/>
            </a:solidFill>
          </a:ln>
        </p:spPr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A8AFC1C6-E961-4F48-93A1-F12E5F27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3050" y="3448050"/>
            <a:ext cx="1600200" cy="9525"/>
          </a:xfrm>
          <a:custGeom xmlns:a="http://schemas.openxmlformats.org/drawingml/2006/main"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D7CE"/>
            </a:solidFill>
          </a:ln>
        </p:spPr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A0A21DD9-6D05-4164-99F0-3656647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4350" y="3448050"/>
            <a:ext cx="1600200" cy="9525"/>
          </a:xfrm>
          <a:custGeom xmlns:a="http://schemas.openxmlformats.org/drawingml/2006/main">
            <a:rect l="l" t="t" r="r" b="b"/>
            <a:pathLst>
              <a:path w="1600200" h="9525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D7CE"/>
            </a:solidFill>
          </a:ln>
        </p:spPr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C6059F3-A3E6-469C-A734-EB82B03C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010150"/>
            <a:ext cx="109728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5BEB38F-F01A-49E8-8AF6-7A9E43BE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5270182"/>
            <a:ext cx="934082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实践：带永久记忆的中医复诊 Agent；核心收获是“流程状态”和“长期记录”应被分开管理。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ADAB19-729E-4904-BA74-6A4AAA9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595617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868539-FB15-4E9A-A679-5B3BDE61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E18DC58-7DCC-4505-BE9D-C8B4C01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79470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框架深入：DeepAgents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B11C7C1-4359-45F4-BE0C-483BA7F1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757794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将工具、记忆和流程编排为智能体原型</a:t>
            </a:r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292F093-DE4B-4BD3-9002-865F690C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286000"/>
            <a:ext cx="10972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5432C3C-0089-47D4-91BB-8ABFD49F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2469832"/>
            <a:ext cx="592159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对话流程：身份确认 → 历史查询 → 信息处理 → 结构化报告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900C62-4ECD-4326-9BA7-9D65C92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067050"/>
            <a:ext cx="10972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5E5B4AF-E6ED-42DA-8032-72A749F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3250882"/>
            <a:ext cx="443145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工具层：查询历史、保存会话、检索知识库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8E16787-36CD-499E-BB71-12E54BF4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848100"/>
            <a:ext cx="10972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A43AFC-35EC-4E93-BA66-CF5C1FE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445" y="4031932"/>
            <a:ext cx="6175727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数据层：PostgreSQL 优先，SQLite 回退，支持持久化记录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F68BE4E-53BB-4843-81A7-8B1BA44C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45" y="5022532"/>
            <a:ext cx="843981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学习价值：理解 Agent 不是单轮聊天，而是可组合、可保存、可审查的程序流程。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A117E9-4F8A-454C-8CFC-C939581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884266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FBE71F-E9B2-42C6-AB0E-9EDF74C8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8795A-1554-4224-A495-5651906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Agent 学习实践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E264A-2F39-4C9D-A0BF-65DF3EB3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基于 DeepAgents 构建中医复诊智能体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8BF33-D740-4784-90A9-F2F17AE2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B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ECFAE-9A3F-404B-AC87-F4680B6C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19062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CA2AF-F3B4-41FA-8D55-B4FC1983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工作链路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E5792-E522-4766-B86C-ADE532E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CB8FF-90DF-43E8-AD6B-70EE7A6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8FC7B-8E0D-4DED-81A0-ED5CD5C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患者输入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644B6-2E09-4FB4-8C98-1587F60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F91F6-3244-4435-BFB2-698DC5C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365F0-7839-40C2-8720-0D79D7D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66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4F96E-8548-473B-AAEB-C24E21D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查询历史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1EA7-3FE0-4454-8756-9F0FB376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431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6BB7F-BF9D-4FD5-83D0-01A827D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B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863E6-09A7-4D0E-B28E-C481C34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66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2E17D-7310-448C-A7F5-C2F601D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57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辨证分析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6526F-0BA2-4F16-A3C0-06574F4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52C63-E357-4B3E-82A8-4836032B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62DA5-FD07-408D-8F7B-1B951B9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66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3ADE3-E94B-466A-806B-E043E7D7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保存记录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39FF5-FE29-481F-9A5D-A62A31D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73E77-B3CC-444C-B764-7DEDF0F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6E8FF-1BB3-4576-9FDA-127D68E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66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499F2-3DB8-4F8D-BB93-9C62685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对比报告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48584-DFB2-4DDF-9A90-A2DFBBD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实现要点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E02A6-44BE-45AF-8757-6005413F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9FCB3-53A5-48CA-9A46-8A1E00F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框架编排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0BECF-35B6-44F2-B927-181A9F9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create_deep_agent 统一配置模型、工具、提示词与状态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05FB5-AF04-4CDA-9F00-AF22C2EC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8C2D3-8A19-4684-9460-E76BC3D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31542-7BC9-45CA-A955-80E3AFE3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查询历史、检索知识、保存记录并生成复诊对比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00A04-C82C-4576-AAFD-EDA25490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2A9E5D-807E-45EE-B4A5-E6D6CBF5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3D38"/>
                </a:solidFill>
                <a:latin typeface="Microsoft YaHei"/>
                <a:ea typeface="Microsoft YaHei"/>
                <a:cs typeface="Microsoft YaHei"/>
              </a:rPr>
              <a:t>状态持久化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4CDFA4-E9C1-4D8C-AFC3-DD798035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SqliteSaver 保存会话；PostgreSQL 不可用时回退 SQLite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4AF99A-4DF5-43B6-BD74-0673D3C5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04950"/>
            <a:ext cx="59626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B60D6A-17CA-47C1-AF22-4977594E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66B42"/>
                </a:solidFill>
                <a:latin typeface="Microsoft YaHei"/>
                <a:ea typeface="Microsoft YaHei"/>
                <a:cs typeface="Microsoft YaHei"/>
              </a:rPr>
              <a:t>DeepAgent 运行效果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326643-9BE4-4335-8B65-219A591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474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在此放置终端运行结果或复诊对比报告截图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1A6BFE-A740-45EE-891C-006AA16E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95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D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4E765-EE73-4241-B4A2-E35470B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673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截图说明：测试患者 / 输入场景 / 输出结果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B2F343-8237-4FA7-B329-9360EFB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920D7-FA6E-4D08-8965-C8D54C0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5348"/>
                </a:solidFill>
                <a:latin typeface="Microsoft YaHei"/>
                <a:ea typeface="Microsoft YaHei"/>
                <a:cs typeface="Microsoft YaHei"/>
              </a:rPr>
              <a:t>项目定位：用于学习 DeepAgents 的工具调用、状态记忆与任务编排，不替代医生诊断或临床决策。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63D5A8-DAF8-43D7-9B7A-E1A527DB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3800051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0B54A0-55A3-4030-9BA3-1A9D332A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C8358F6-9DB8-4E24-81B3-408F3A99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能力转化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6D89C9F-EB1E-4CC8-8088-23C1210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449056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从能力探索到安全收敛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F390A48-405F-410D-9F49-5F4A97F1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550819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学习原型验证了技术路径，当前项目则根据真实使用场景收敛了边界。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094C8C4-1D94-4516-BEB7-3F63BCFB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282" y="2686526"/>
            <a:ext cx="1752648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25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前期学习原型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2388A0C-4FDC-45CE-A2E7-CCAAB144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092" y="3242786"/>
            <a:ext cx="164251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模型调用与 RAG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01485C2-275F-438C-AC73-68BE4CE4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092" y="3642836"/>
            <a:ext cx="165401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多轮对话与工具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F9E46F-57B4-4D6F-BC20-B012C6EF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092" y="4042886"/>
            <a:ext cx="189554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Agent 记忆与报告</a:t>
            </a:r>
          </a:p>
        </p:txBody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9A6F3B66-6E34-4229-87F3-D36DB6E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1050" y="3619500"/>
            <a:ext cx="2743200" cy="9525"/>
          </a:xfrm>
          <a:custGeom xmlns:a="http://schemas.openxmlformats.org/drawingml/2006/main">
            <a:rect l="l" t="t" r="r" b="b"/>
            <a:pathLst>
              <a:path w="2743200" h="9525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4C8C7B"/>
            </a:solidFill>
          </a:ln>
        </p:spPr>
      </p:sp>
      <p:sp>
        <p:nvSpPr>
          <p:cNvPr id="13" name="Polygon 13">
            <a:extLst xmlns:a="http://schemas.openxmlformats.org/drawingml/2006/main">
              <a:ext uri="{FF2B5EF4-FFF2-40B4-BE49-F238E27FC236}">
                <a16:creationId xmlns:a16="http://schemas.microsoft.com/office/drawing/2014/main" id="{903EF648-39BA-4848-B160-E23210F2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24700" y="3486150"/>
            <a:ext cx="209550" cy="266700"/>
          </a:xfrm>
          <a:custGeom xmlns:a="http://schemas.openxmlformats.org/drawingml/2006/main">
            <a:rect l="l" t="t" r="r" b="b"/>
            <a:pathLst>
              <a:path w="209550" h="266700">
                <a:moveTo>
                  <a:pt x="20955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142A5AF-AC69-48F9-8622-AF1E8DAA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3495" y="3171825"/>
            <a:ext cx="17183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面向真实诊前流程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C940492-0ED9-4011-885F-8B536F6B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0532" y="2686526"/>
            <a:ext cx="1752648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当前项目实践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70AF76-0B5B-4BFA-97C2-63B44020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4342" y="3242786"/>
            <a:ext cx="165401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确定性规则计算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2F838AE-3FC9-45C7-A351-CDA43DE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4342" y="3642836"/>
            <a:ext cx="165401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结构化资料采集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AAAC99-B024-4061-99DB-309A57D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4342" y="4042886"/>
            <a:ext cx="2574131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>
                <a:solidFill>
                  <a:srgbClr val="15221C"/>
                </a:solidFill>
                <a:latin typeface="Arial"/>
                <a:ea typeface="Arial"/>
                <a:cs typeface="Arial"/>
              </a:rPr>
              <a:t>患者安全展示与医生核对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8B1198A-6873-4FA4-97DA-B1D60C5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429250"/>
            <a:ext cx="109728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DB6C48A-08F9-4AAB-8395-1A908FAA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4778" y="5615940"/>
            <a:ext cx="584244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下面进入第二部分：成人肥胖诊前问诊系统项目实践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C5969E-E191-43C3-B8B1-1CF4EBC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51545-F505-46E5-8143-81F81D3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C5037-20DA-491D-9C56-64F0B99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68562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D014FF-F5E5-4520-B5E6-95736EF2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73177A3-4151-4FBA-9A69-EB1D555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0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FDA6D23-A136-4604-B166-E8C05CF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765" y="677228"/>
            <a:ext cx="908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项目进展汇报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7F3ECA5-7CAD-4135-866A-57EC1E6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5112" y="659606"/>
            <a:ext cx="6061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E6D65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E32C25F3-D6EF-4DB4-B882-E2F263CB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1049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8154BD2-01F9-409E-92C4-D03E6A35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35" y="1789748"/>
            <a:ext cx="2898076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成人肥胖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F5309F5-EFED-4532-8676-C68E99CB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735" y="2561272"/>
            <a:ext cx="428425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诊前问诊系统</a:t>
            </a:r>
          </a:p>
        </p:txBody>
      </p:sp>
      <p:sp>
        <p:nvSpPr>
          <p:cNvPr id="10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C89BAE-705B-4803-9DAF-C128A78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3457575"/>
            <a:ext cx="781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74E7A1-6A29-46BA-AE29-0DB87FD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788" y="3788569"/>
            <a:ext cx="487322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>
                <a:solidFill>
                  <a:srgbClr val="5E6D65"/>
                </a:solidFill>
                <a:latin typeface="Arial"/>
                <a:ea typeface="Arial"/>
                <a:cs typeface="Arial"/>
              </a:rPr>
              <a:t>规则驱动的结构化采集 · AI 辅助理解与追问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56B7DA7-3AC1-4682-8B8B-072CC0F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42672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目标是为诊中辨证、风险识别和检查决策准备可靠资料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AB6CFA02-634E-4132-83D9-C11FDACA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4400" y="1847850"/>
            <a:ext cx="9525" cy="2924175"/>
          </a:xfrm>
          <a:custGeom xmlns:a="http://schemas.openxmlformats.org/drawingml/2006/main">
            <a:rect l="l" t="t" r="r" b="b"/>
            <a:pathLst>
              <a:path w="9525" h="2924175">
                <a:moveTo>
                  <a:pt x="0" y="0"/>
                </a:moveTo>
                <a:lnTo>
                  <a:pt x="0" y="29241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FFEF8DE7-D2CD-4969-BCB5-65319E7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0550" y="16287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6510721-76A1-4F6D-B200-88207B9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1727" y="1852136"/>
            <a:ext cx="28534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基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660097E-1E03-4A89-A257-A48CCB5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6842" y="17187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基础资料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6AA9BF-E760-4314-8B3D-48C8B5B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510" y="2051685"/>
            <a:ext cx="156667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BMI、腰围与主诉入口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EF4DF8A3-5E71-45C1-B7ED-12801A9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0550" y="25527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92A2B9B-9705-4DE4-8728-35AF4929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1727" y="2776061"/>
            <a:ext cx="28534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问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2F5C7027-AA55-443D-877A-E9061FF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6842" y="2642711"/>
            <a:ext cx="125146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病因与风险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CAB713C-6DCF-4927-AD12-FB4E1B5C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510" y="2975610"/>
            <a:ext cx="14706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分层追问与危险信号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993FDED3-866F-4392-89E8-9E535AB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0550" y="34766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0057BB-E496-49E1-ACB1-027E9135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1727" y="3699986"/>
            <a:ext cx="28534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辨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BE5E607-8DDB-43D6-95D9-A149AE9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6842" y="35666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中医资料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86B142F-81F1-4D43-A153-7EEEBA4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510" y="3899535"/>
            <a:ext cx="1630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症状、舌象与生活方式</a:t>
            </a:r>
          </a:p>
        </p:txBody>
      </p:sp>
      <p:sp>
        <p:nvSpPr>
          <p:cNvPr id="27" name="Ellipse 27">
            <a:extLst xmlns:a="http://schemas.openxmlformats.org/drawingml/2006/main">
              <a:ext uri="{FF2B5EF4-FFF2-40B4-BE49-F238E27FC236}">
                <a16:creationId xmlns:a16="http://schemas.microsoft.com/office/drawing/2014/main" id="{0002BCCA-0DC5-490B-AD84-B5825983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0550" y="44005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69219C-F69C-40D9-9C1E-32C2E25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91727" y="4623911"/>
            <a:ext cx="285345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档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0D2D068-22B2-4963-B328-D2046124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6842" y="4490561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诊前档案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CFAC645-0833-4A91-8F2F-8D98D3BC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510" y="4823460"/>
            <a:ext cx="17907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患者摘要与医生执行依据</a:t>
            </a:r>
          </a:p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1853D485-775B-4FB8-81DB-BEEDDE75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61150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7BD0E64-FC9A-42AA-83E5-00C3F048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328410"/>
            <a:ext cx="2454783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第二部分 · 成人肥胖诊前问诊系统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8342699-1C6E-4FDD-A4A6-0114C10C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2841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0C2127-6054-4969-8C80-13D6D8D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F73DEA-8B5D-4046-A073-1D61710C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307540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9C0E54-4E7B-486A-BC1C-C746DA78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F01A1BE-8310-479E-993B-6E5FC8B2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01 / 项目定位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EF93195-F60D-426C-B976-570E805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581372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为诊中服务，而不是在线确诊</a:t>
            </a:r>
          </a:p>
        </p:txBody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9B85282D-F928-4D05-9EDD-6BC5C237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383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A593D614-D27A-49F9-8FD1-AAC2353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275" y="26193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D3A652A-44B6-4522-85A6-8E9DDC1B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58" y="3003709"/>
            <a:ext cx="35978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患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D931A38-E61C-4714-8438-62379B5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3272" y="383619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患者表达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7B436F-715D-4168-B35C-F76EEC6C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915" y="4197668"/>
            <a:ext cx="147447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主诉、体重变化、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05CE9A-A0AB-4FA3-972A-0176206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4926" y="4445318"/>
            <a:ext cx="129444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症状与生活方式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293AED93-C4BB-4468-BCDF-7C06E6EB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7025" y="3143250"/>
            <a:ext cx="1552575" cy="9525"/>
          </a:xfrm>
          <a:custGeom xmlns:a="http://schemas.openxmlformats.org/drawingml/2006/main">
            <a:rect l="l" t="t" r="r" b="b"/>
            <a:pathLst>
              <a:path w="1552575" h="9525">
                <a:moveTo>
                  <a:pt x="0" y="0"/>
                </a:moveTo>
                <a:lnTo>
                  <a:pt x="15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C8C7B"/>
            </a:solidFill>
          </a:ln>
        </p:spPr>
      </p:sp>
      <p:sp>
        <p:nvSpPr>
          <p:cNvPr id="14" name="Polygon 14">
            <a:extLst xmlns:a="http://schemas.openxmlformats.org/drawingml/2006/main">
              <a:ext uri="{FF2B5EF4-FFF2-40B4-BE49-F238E27FC236}">
                <a16:creationId xmlns:a16="http://schemas.microsoft.com/office/drawing/2014/main" id="{FF315529-92A7-42BC-90F4-502EF4FE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7675" y="3048000"/>
            <a:ext cx="161925" cy="190500"/>
          </a:xfrm>
          <a:custGeom xmlns:a="http://schemas.openxmlformats.org/drawingml/2006/main">
            <a:rect l="l" t="t" r="r" b="b"/>
            <a:pathLst>
              <a:path w="161925" h="190500">
                <a:moveTo>
                  <a:pt x="16192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75C76D3F-1B79-4A32-B8C8-893E7519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57775" y="2476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731E104-C533-4FA4-AD59-6438A679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73504" y="2867501"/>
            <a:ext cx="90204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结构化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56DCF23-9BFE-480D-9912-D2F4269C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1737" y="3191351"/>
            <a:ext cx="118557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2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诊前资料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C13C509-49B6-4284-B45D-B7EBECB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0208" y="3988118"/>
            <a:ext cx="278863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规则校验 · 对话追问 · 完整度判断</a:t>
            </a:r>
          </a:p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F7E4A89D-F973-4B61-B2E2-25576E37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9375" y="3143250"/>
            <a:ext cx="1552575" cy="9525"/>
          </a:xfrm>
          <a:custGeom xmlns:a="http://schemas.openxmlformats.org/drawingml/2006/main">
            <a:rect l="l" t="t" r="r" b="b"/>
            <a:pathLst>
              <a:path w="1552575" h="9525">
                <a:moveTo>
                  <a:pt x="0" y="0"/>
                </a:moveTo>
                <a:lnTo>
                  <a:pt x="15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C8C7B"/>
            </a:solidFill>
          </a:ln>
        </p:spPr>
      </p:sp>
      <p:sp>
        <p:nvSpPr>
          <p:cNvPr id="21" name="Polygon 21">
            <a:extLst xmlns:a="http://schemas.openxmlformats.org/drawingml/2006/main">
              <a:ext uri="{FF2B5EF4-FFF2-40B4-BE49-F238E27FC236}">
                <a16:creationId xmlns:a16="http://schemas.microsoft.com/office/drawing/2014/main" id="{3D89F5A8-BCB7-42DD-B568-6C23D533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0025" y="3048000"/>
            <a:ext cx="161925" cy="190500"/>
          </a:xfrm>
          <a:custGeom xmlns:a="http://schemas.openxmlformats.org/drawingml/2006/main">
            <a:rect l="l" t="t" r="r" b="b"/>
            <a:pathLst>
              <a:path w="161925" h="190500">
                <a:moveTo>
                  <a:pt x="16192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39243B40-50FD-49F2-A23D-0B035E5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34425" y="26193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2C2A2A4-B911-44AF-97A1-7BBA761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408" y="3003709"/>
            <a:ext cx="35978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医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02495AC-45AA-40D8-8C9C-96CA9A3B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09422" y="383619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医生确认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0808B9B-02A7-4C76-BCE2-82AD7FF1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41042" y="4197668"/>
            <a:ext cx="183451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诊中辨证、风险判断、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FFC1C4F-1884-4410-9F7F-94BCF72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1076" y="4445318"/>
            <a:ext cx="129444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检查与治疗决策</a:t>
            </a:r>
          </a:p>
        </p:txBody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7F31659-FB73-4241-AC2E-0D2560DC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372100"/>
            <a:ext cx="109728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79C1321-C801-4191-8524-3A1F5751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3721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1F39BD9-E987-4CE2-8C73-CC46CB0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492" y="5633561"/>
            <a:ext cx="5115949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患者端只呈现安全结果，最终判断由医生确认。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417D865-D478-4D48-9AF0-54ADD459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BEE28-F6E9-4910-8017-EE707124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6EF249-A33F-4758-BC6F-B9699B9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192789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0F88A1-89C1-4C67-B6A3-0DB1E80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7908986-0D9C-4233-9B8F-CEC4E974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02 / 改造背景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DA91A5B-4F47-4763-B870-469A91A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360845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改造前的核心问题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266A87B-0551-42EB-833C-E3A0893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99187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问题不在于“能不能问”，而在于问诊过程是否稳定、可解释、可服务诊中。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D706CD9-E0AF-4CCF-9E17-431F327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705" y="2225992"/>
            <a:ext cx="780474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644C09A2-9B2D-4304-ABF0-7C7FB64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" y="2952750"/>
            <a:ext cx="2895600" cy="9525"/>
          </a:xfrm>
          <a:custGeom xmlns:a="http://schemas.openxmlformats.org/drawingml/2006/main">
            <a:rect l="l" t="t" r="r" b="b"/>
            <a:pathLst>
              <a:path w="2895600" h="9525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D7CE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1304AD3-0C5B-4459-8DE8-72505F4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280" y="3211830"/>
            <a:ext cx="122948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固定问答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DA340E-9212-446B-90AE-78523F07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6671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一次选择无法承接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F75496F-9B31-4612-9979-81A34F3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9528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患者的自由描述与澄清需求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D5E52F-E850-4344-81B8-0ECD2E6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2955" y="2225992"/>
            <a:ext cx="780474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C61BD8D3-637F-4AA6-9A02-D91F62BB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2952750"/>
            <a:ext cx="2895600" cy="9525"/>
          </a:xfrm>
          <a:custGeom xmlns:a="http://schemas.openxmlformats.org/drawingml/2006/main">
            <a:rect l="l" t="t" r="r" b="b"/>
            <a:pathLst>
              <a:path w="2895600" h="9525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D7CE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4674BEF-5868-45DB-9853-56E09232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1530" y="3211830"/>
            <a:ext cx="122948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状态不稳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C9A5AE1-5BE9-4002-B768-06B3594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9150" y="36671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页面刷新后，追问进度与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EE21F1-25F1-4056-AAF7-6ACC6750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29150" y="39528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历史信息容易出现断开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366F4B-5361-421B-8C6C-FC433D1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8205" y="2225992"/>
            <a:ext cx="780474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3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5A9C858C-F814-46D9-9607-9641F17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53450" y="2952750"/>
            <a:ext cx="2895600" cy="9525"/>
          </a:xfrm>
          <a:custGeom xmlns:a="http://schemas.openxmlformats.org/drawingml/2006/main">
            <a:rect l="l" t="t" r="r" b="b"/>
            <a:pathLst>
              <a:path w="2895600" h="9525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D7CE"/>
            </a:solidFill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51581528-D2FB-4430-A262-7518FAB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6780" y="3211830"/>
            <a:ext cx="122948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完成不准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73F7DA6-D506-4A0F-9A41-ED4AFD2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4400" y="36671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单一总分可能在关键资料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44E77A9-B3EF-4B5B-A194-E63C1202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4400" y="39528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E6D65"/>
                </a:solidFill>
                <a:latin typeface="Arial"/>
                <a:ea typeface="Arial"/>
                <a:cs typeface="Arial"/>
              </a:rPr>
              <a:t>未收集时过早生成档案</a:t>
            </a:r>
          </a:p>
        </p:txBody>
      </p:sp>
      <p:sp>
        <p:nvSpPr>
          <p:cNvPr id="25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81432CA-C227-47FA-BA94-DA207C4B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010150"/>
            <a:ext cx="109728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23D9ABD-B0F4-41E6-9B5A-3B380FA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0101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D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CD18DCAE-F3E5-43EE-800C-47169A9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" y="5273992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C94A3D"/>
                </a:solidFill>
                <a:latin typeface="Arial"/>
                <a:ea typeface="Arial"/>
                <a:cs typeface="Arial"/>
              </a:rPr>
              <a:t>改造方向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0167304-DB4C-4F7F-8E88-82F972E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" y="5558790"/>
            <a:ext cx="785869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将一次性答题改为可恢复的对话式采集，并以分层门槛控制结束时机。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F05A69-7C03-45B8-AB85-C9B5C2C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23556-A02D-4215-8F91-F2B4C289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DD5AD-8D65-4560-AAAB-AADB6245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572520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10B20F-5744-4C3C-A7A4-58D4BCF1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200B34D-82F9-47A2-93D0-2DCD9BC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03 / 改造原则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EA0423C-B5F4-4479-82E0-077E5F84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543883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规则负责判断，AI 负责理解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FCBB45E-E9CE-415F-BE6F-0116864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92104"/>
            <a:ext cx="382047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让停止条件可解释，让对话表达更自然。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3F688D-0302-437B-9B51-F9C558B6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286000"/>
            <a:ext cx="4686300" cy="3124200"/>
          </a:xfrm>
          <a:prstGeom xmlns:a="http://schemas.openxmlformats.org/drawingml/2006/main" prst="roundRect">
            <a:avLst>
              <a:gd name="adj" fmla="val 1829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70C0FE1-1AAA-4207-B0EF-1D54E2BF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3928" y="2641759"/>
            <a:ext cx="1577935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确定性规则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8A7026A0-E845-41D6-9D65-E90232A7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3105150"/>
            <a:ext cx="3771900" cy="9525"/>
          </a:xfrm>
          <a:custGeom xmlns:a="http://schemas.openxmlformats.org/drawingml/2006/main">
            <a:rect l="l" t="t" r="r" b="b"/>
            <a:pathLst>
              <a:path w="3771900" h="9525">
                <a:moveTo>
                  <a:pt x="0" y="0"/>
                </a:moveTo>
                <a:lnTo>
                  <a:pt x="377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1793ED9E-0068-4C1E-9C39-AEE2570E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67707B-106E-4161-99E2-A7AB04C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8745" y="3498532"/>
            <a:ext cx="2594229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BMI、腰围等客观字段计算</a:t>
            </a:r>
          </a:p>
        </p:txBody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6558CC05-CF90-4C58-B692-13DD950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D3BF71-C3CB-4AC2-96EB-1A5D21B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8745" y="4127182"/>
            <a:ext cx="246221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分层阈值与停止条件判断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3DB5D829-322B-4867-99D2-95849F98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762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386602A-1E5D-4444-8E98-BEBEBA7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8745" y="4755832"/>
            <a:ext cx="3122295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危险信号持续提示而不强制中断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B7BD2C6F-DDBA-499C-818F-CD32FFE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7900" y="2476500"/>
            <a:ext cx="9525" cy="2743200"/>
          </a:xfrm>
          <a:custGeom xmlns:a="http://schemas.openxmlformats.org/drawingml/2006/main">
            <a:rect l="l" t="t" r="r" b="b"/>
            <a:pathLst>
              <a:path w="9525"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D7CE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A8045351-AE1B-4C6C-BA30-B4F4839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3448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ECDA4C-F9A0-4E67-A31F-53A2260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1555" y="374094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协同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CC78EB2-276B-4B43-A5B5-21EA29C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9900" y="2286000"/>
            <a:ext cx="4762500" cy="3124200"/>
          </a:xfrm>
          <a:prstGeom xmlns:a="http://schemas.openxmlformats.org/drawingml/2006/main" prst="roundRect">
            <a:avLst>
              <a:gd name="adj" fmla="val 1829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0CC55CB-D75A-4DCF-B3F2-75D9EB0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4228" y="2641759"/>
            <a:ext cx="1623616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AI 辅助能力</a:t>
            </a:r>
          </a:p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B69690B9-2AFF-4160-B456-F873AFE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1850" y="3105150"/>
            <a:ext cx="3848100" cy="9525"/>
          </a:xfrm>
          <a:custGeom xmlns:a="http://schemas.openxmlformats.org/drawingml/2006/main">
            <a:rect l="l" t="t" r="r" b="b"/>
            <a:pathLst>
              <a:path w="3848100" h="9525">
                <a:moveTo>
                  <a:pt x="0" y="0"/>
                </a:moveTo>
                <a:lnTo>
                  <a:pt x="384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8284745F-70E9-45C6-BE96-5138A1C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A2E5127-85D8-4999-83A3-125356D3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9045" y="3498532"/>
            <a:ext cx="26822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从患者原话中提取字段证据</a:t>
            </a:r>
          </a:p>
        </p:txBody>
      </p:sp>
      <p:sp>
        <p:nvSpPr>
          <p:cNvPr id="26" name="Ellipse 26">
            <a:extLst xmlns:a="http://schemas.openxmlformats.org/drawingml/2006/main">
              <a:ext uri="{FF2B5EF4-FFF2-40B4-BE49-F238E27FC236}">
                <a16:creationId xmlns:a16="http://schemas.microsoft.com/office/drawing/2014/main" id="{E0D2E998-826F-45E1-9928-421FB22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0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F948E25-F212-4555-8340-804EDAB2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9045" y="4127182"/>
            <a:ext cx="26822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围绕缺失字段组织自然追问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60ED542C-6F1A-49EB-909F-B22331EB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0" y="4762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0A0CDC8-0C09-437F-91F7-86E5AD7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9045" y="4755832"/>
            <a:ext cx="26822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解释患者不理解的医学术语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ED55C2A-1842-4679-AC2E-4FD774C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0909" y="5915025"/>
            <a:ext cx="46901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C94A3D"/>
                </a:solidFill>
                <a:latin typeface="Arial"/>
                <a:ea typeface="Arial"/>
                <a:cs typeface="Arial"/>
              </a:rPr>
              <a:t>边界：AI 不直接诊断、开方或修改系统停止条件。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30F5071-599A-49B4-B1C4-52247C06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CF3B01-2F05-4B07-A089-18BA31A2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3968CA-079F-436A-BB0B-38C76371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804463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165A1E-39CE-451C-8AC2-71699AD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02B64D9-7A55-4544-A562-202C3C77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04 / 当前方案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2192E75-5949-4000-AA67-CDC1946F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272634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当前完整流程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010B4D4-9B1D-4900-9215-5D9F183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29066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从可量化的基础资料开始，以可解释的完整度门槛结束。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4AD3AAA6-2E44-4745-9584-C995CB95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" y="3362325"/>
            <a:ext cx="9601200" cy="9525"/>
          </a:xfrm>
          <a:custGeom xmlns:a="http://schemas.openxmlformats.org/drawingml/2006/main">
            <a:rect l="l" t="t" r="r" b="b"/>
            <a:pathLst>
              <a:path w="9601200" h="9525">
                <a:moveTo>
                  <a:pt x="0" y="0"/>
                </a:moveTo>
                <a:lnTo>
                  <a:pt x="960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C9D7CE"/>
            </a:solidFill>
          </a:ln>
        </p:spPr>
      </p:sp>
      <p:sp>
        <p:nvSpPr>
          <p:cNvPr id="8" name="Polygon 8">
            <a:extLst xmlns:a="http://schemas.openxmlformats.org/drawingml/2006/main">
              <a:ext uri="{FF2B5EF4-FFF2-40B4-BE49-F238E27FC236}">
                <a16:creationId xmlns:a16="http://schemas.microsoft.com/office/drawing/2014/main" id="{F7139C66-B937-4322-AE14-B61A62C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5150" y="3257550"/>
            <a:ext cx="171450" cy="209550"/>
          </a:xfrm>
          <a:custGeom xmlns:a="http://schemas.openxmlformats.org/drawingml/2006/main">
            <a:rect l="l" t="t" r="r" b="b"/>
            <a:pathLst>
              <a:path w="171450" h="209550">
                <a:moveTo>
                  <a:pt x="171450" y="104775"/>
                </a:moveTo>
                <a:lnTo>
                  <a:pt x="0" y="0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915E2159-571F-457C-A126-A0FC2354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" y="29622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0CB0395-3BBB-4565-9BA6-18FCA9C6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8481" y="3263265"/>
            <a:ext cx="1843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9F6E44-FDAC-4F4D-B9CE-C72C0FC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637" y="39747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基础资料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3DC56A-3843-4233-B6D7-B80EB8AF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330" y="4309110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年龄、身高、体重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E6D82D31-8FD6-43A1-A668-5B52CCDF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67075" y="29622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BA7058-AC0D-401B-AC5F-A6E81A9A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4956" y="3263265"/>
            <a:ext cx="1843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7BF5CC-8FC3-4427-8E93-19BE7E2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4112" y="39747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开放描述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5C30E1-E0D2-439D-AF2A-EAEE8376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91815" y="4309110"/>
            <a:ext cx="11506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当前诉求与变化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5FE79902-6235-42A8-866E-88B1482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3550" y="29622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F7E813-CE3D-43DE-884F-123DB30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1431" y="3263265"/>
            <a:ext cx="1843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612E5A-6A92-4E37-A026-DFF215C6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0587" y="39747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分层追问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685B99F-A06E-472D-AA3C-45C26BAE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8260" y="4309110"/>
            <a:ext cx="1630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病因、风险、中医资料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0E6865F7-5863-46A6-BA56-0F3DFBB1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0025" y="29622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8ED622D-091C-4EB2-88F7-0A544EB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7906" y="3263265"/>
            <a:ext cx="1843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62F7284-295F-4A8C-869C-6BAC694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062" y="39747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资料汇总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63F1797-63B2-4015-B3AD-A7D0376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4755" y="4309110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字段、证据与矛盾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63379D8E-A30A-4082-87DA-66C286E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29622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55BAE3A-DF28-4A01-BE14-5352791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4381" y="3263265"/>
            <a:ext cx="1843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EB85B4-5FD9-4BD5-A2B2-5163A75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3537" y="39747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输出档案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9DE1518-74FC-4D9E-9A0D-F1AAB5DA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21240" y="4309110"/>
            <a:ext cx="11506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E6D65"/>
                </a:solidFill>
                <a:latin typeface="Arial"/>
                <a:ea typeface="Arial"/>
                <a:cs typeface="Arial"/>
              </a:rPr>
              <a:t>检查候选与交接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443EF000-4245-4B53-8E27-BE996A0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314950"/>
            <a:ext cx="1097280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CDA7D63-51E1-45B1-8A7D-77942D5E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4398" y="5535454"/>
            <a:ext cx="78109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患者端隐藏内部执行度；医生端保留缺失项、证据来源和冲突信息，便于诊中核对。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5177F87-C99E-4310-B589-8654D44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5E4103-9756-407D-B32D-262A20D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577495-068F-4132-AB88-337FF836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3634199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3B865B-F82F-42FE-A375-8D6444F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A401900-CC0D-46C0-ADAA-78B9890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05 / 当前页面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D7D0C1D-9DB4-44FD-AC45-6341F9A1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25478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基础资料：先把客观起点问清楚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B6E0A3E-E2D9-4FA1-8591-59141FB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50068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将年龄、性别、身高和体重作为成人肥胖问诊的前置资料。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D71C43-5BC3-4359-A28D-C4BEC59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209800"/>
            <a:ext cx="6858000" cy="3009900"/>
          </a:xfrm>
          <a:prstGeom xmlns:a="http://schemas.openxmlformats.org/drawingml/2006/main" prst="roundRect">
            <a:avLst>
              <a:gd name="adj" fmla="val 1899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19050">
            <a:solidFill>
              <a:srgbClr val="C9D7CE"/>
            </a:solidFill>
          </a:ln>
        </p:spPr>
      </p:sp>
      <p:pic>
        <p:nvPicPr>
          <p:cNvPr id="3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53867ed21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09600" y="2209800"/>
            <a:ext cx="6858000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231B291-0F46-4C14-9AF7-7A3CCAA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4810125"/>
            <a:ext cx="14668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2E1CB0-32F4-4C41-A09A-87B30260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0085" y="4877752"/>
            <a:ext cx="908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真实系统页面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CA0CD3-AAA4-4167-9002-4808F8A2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48638" y="2407444"/>
            <a:ext cx="162282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前置采集规则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98DE2F66-A878-468C-981F-B3B0EC9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2838450"/>
            <a:ext cx="3048000" cy="9525"/>
          </a:xfrm>
          <a:custGeom xmlns:a="http://schemas.openxmlformats.org/drawingml/2006/main"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CE88C58-1196-450A-9FD4-BC6062E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3219450"/>
            <a:ext cx="26912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B7F19CC-A586-4A4F-8609-83ECA73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6795" y="3203258"/>
            <a:ext cx="2022158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仅进入成人肥胖流程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9EF18B-88C7-4095-B18F-6BE4320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1558" y="3529489"/>
            <a:ext cx="258270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年龄条件先校验，再进入后续问诊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6194D21-874B-4766-BCC4-044AC82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4076700"/>
            <a:ext cx="26912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FCD1FB-BFBC-4004-89AB-3D4B1CD0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6795" y="4060508"/>
            <a:ext cx="180213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四项基础资料必填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F8E3F86-DB0A-4907-9780-01B23FB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1558" y="4386739"/>
            <a:ext cx="258270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年龄、性别、身高、体重缺一不可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DEFDC1-0F29-4A9C-915D-151EDE9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53400" y="4933950"/>
            <a:ext cx="26912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2C8F161-B7CC-4CEB-98BA-434101A6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6795" y="4917758"/>
            <a:ext cx="244021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15221C"/>
                </a:solidFill>
                <a:latin typeface="Arial"/>
                <a:ea typeface="Arial"/>
                <a:cs typeface="Arial"/>
              </a:rPr>
              <a:t>BMI 和腰围由服务端计算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C9E500-DAB5-4AF4-875E-DE2A6C3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51558" y="5243989"/>
            <a:ext cx="2412682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避免由模型对数值做不确定推断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703B6A-B97A-497B-9838-DAB1A8D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408" y="5853589"/>
            <a:ext cx="4452938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页面支持自然语言主诉输入，为后续分层追问提供上下文。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C1411EA-F357-4748-972C-642A9D5C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D4BFF-79C4-4656-8A6A-F9E4631B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D47EA-90C2-4DE6-8FE1-0DA3FC88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125103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3331BA5-F73F-437F-896A-D7256D6F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D7C9F81-3DE4-4EBF-91AE-58CCE028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24863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08 / 对话式追问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C62B3A9-65F4-4D68-A6F9-9DE6B7C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846005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对话式追问：围绕缺失信息，而不是凑轮次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A5FF8C9-CB4A-4001-B48C-B80E9775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71071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每次只推进一个信息目标，历史对话持续保留并可滚动查看。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8F0138A-EB83-489D-96A1-96B353CD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5788" y="223599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追问约束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387BB5D9-99C2-4B9A-B023-ABF26D35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667000"/>
            <a:ext cx="3333750" cy="9525"/>
          </a:xfrm>
          <a:custGeom xmlns:a="http://schemas.openxmlformats.org/drawingml/2006/main"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025EF06B-4AB5-46E8-81DB-C20F5533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7ADFF3-2793-4B36-9B56-EEA2FA7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898" y="3087529"/>
            <a:ext cx="193024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澄清不作为医学证据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D1F9AB-C6B5-4C5F-82AC-F69D1F95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708" y="3396139"/>
            <a:ext cx="2922746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患者不理解时先解释，不消耗追问机会</a:t>
            </a:r>
          </a:p>
        </p:txBody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5369D33F-E745-47EC-8862-38A918E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4019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B91609-C0CD-4FE0-A1DD-A29684F5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898" y="4049554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同一字段最多委婉重问一次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040BDFE-DBED-453E-A024-D24DADA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708" y="4358164"/>
            <a:ext cx="2922746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避免机械重复，保留患者拒答或不确定</a:t>
            </a:r>
          </a:p>
        </p:txBody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BF865E3F-0E19-4688-88C4-B7793C07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49815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9A0CD1-3C52-4120-8035-59DC09A6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898" y="5011579"/>
            <a:ext cx="238179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15221C"/>
                </a:solidFill>
                <a:latin typeface="Arial"/>
                <a:ea typeface="Arial"/>
                <a:cs typeface="Arial"/>
              </a:rPr>
              <a:t>AI 不可用时仍可继续采集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8FBFC28-8138-46E1-A09F-A4E993F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708" y="5320189"/>
            <a:ext cx="343281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降级为固定问题，保证流程不被服务故障阻断</a:t>
            </a:r>
          </a:p>
        </p:txBody>
      </p:sp>
      <p:sp>
        <p:nvSpPr>
          <p:cNvPr id="19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E106753-13AD-4D93-9AA2-B66D75B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2266950"/>
            <a:ext cx="708660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19050">
            <a:solidFill>
              <a:srgbClr val="C9D7CE"/>
            </a:solidFill>
          </a:ln>
        </p:spPr>
      </p:sp>
      <p:pic>
        <p:nvPicPr>
          <p:cNvPr id="46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be9fc45134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499229" y="2266950"/>
            <a:ext cx="7079742" cy="3105150"/>
          </a:xfrm>
          <a:prstGeom xmlns:a="http://schemas.openxmlformats.org/drawingml/2006/main" prst="rect">
            <a:avLst/>
          </a:prstGeom>
        </p:spPr>
      </p:pic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95033F3-E1D0-4C9F-95B6-B417EAEA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6300" y="4972050"/>
            <a:ext cx="139065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E769A29-03BC-4466-8CD9-1146770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7235" y="5039678"/>
            <a:ext cx="9087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真实系统页面</a:t>
            </a:r>
          </a:p>
        </p:txBody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D29210C-6F57-467B-AEFE-D667CA7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CE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F6218C8-00A7-4F0E-90F4-2230491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502" y="6189821"/>
            <a:ext cx="4964461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停止条件由完整度模型决定，不再依赖固定 12 轮上限。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76E2BC4-8611-42E6-9797-FA5DAF0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4C2A9-F1A2-4CDE-AEEB-9C8436B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37DFF-0CF9-4C05-83F8-79DBF77F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72582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6062AAB-9AC8-4326-889E-7DBA912F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6C943E7-6929-4ECF-82C0-F0FE7C5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06 / 核心机制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3A46697-A843-4110-B282-02E574B2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801900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完整度模型：四层门槛共同决定何时问够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F584F26-C80A-4AAA-8276-30163F27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97087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系统不依赖固定轮次，而是依据资料层级、字段证据与安全条件持续判断。</a:t>
            </a:r>
          </a:p>
        </p:txBody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1DE002-E3D6-4F83-AD39-900CF1DC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266950"/>
            <a:ext cx="10972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D5B5A9C-2009-4478-AAE2-6598C21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2510790"/>
            <a:ext cx="126807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1 基础资料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64C88E-2BD3-4B80-B518-4F34B2E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5200" y="2543175"/>
            <a:ext cx="347853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F7F9F6"/>
                </a:solidFill>
                <a:latin typeface="Arial"/>
                <a:ea typeface="Arial"/>
                <a:cs typeface="Arial"/>
              </a:rPr>
              <a:t>年龄、性别、身高、体重与 BMI 已校验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2F7636C-09FE-4B8A-9099-BCCE3F2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8160" y="2559368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硬性前提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C58FC6-F576-4EFC-B3F7-0F24D13C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086100"/>
            <a:ext cx="10972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3000205-0FD5-4027-8FDA-AAB2C54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3329940"/>
            <a:ext cx="152010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2 病因与风险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944CAA-88F5-4000-8DA4-16EDDC2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5200" y="3362325"/>
            <a:ext cx="4638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体重变化、诱因、既往减重、代谢风险和继发性线索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C5B8427-851C-4E67-A4A0-1CE34FC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137" y="3378518"/>
            <a:ext cx="97940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按分层阈值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C1EA60-7424-4274-889E-C85E6F70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905250"/>
            <a:ext cx="10972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EC2B8D-1CB7-4315-9D9D-7F6DEC1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4149090"/>
            <a:ext cx="126807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3 中医资料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ADD23F-A13A-4F34-8939-A20526A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5200" y="418147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寒热汗出、二便、睡眠、情绪、乏力、浮肿与舌象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70ABB9-B702-4C7E-B342-B41D7F30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137" y="4197668"/>
            <a:ext cx="97940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 b="1">
                <a:solidFill>
                  <a:srgbClr val="4C8C7B"/>
                </a:solidFill>
                <a:latin typeface="Arial"/>
                <a:ea typeface="Arial"/>
                <a:cs typeface="Arial"/>
              </a:rPr>
              <a:t>按分层阈值</a:t>
            </a:r>
          </a:p>
        </p:txBody>
      </p:sp>
      <p:sp>
        <p:nvSpPr>
          <p:cNvPr id="22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B9D26FC-662E-4892-BB5A-A35E90E0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724400"/>
            <a:ext cx="10972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006311F-F554-4876-8253-F8AA536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1540" y="4968240"/>
            <a:ext cx="126807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4 安全信息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FBF31B5-C410-41B7-BA5F-454466D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5200" y="5000625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危险信号、当前用药、过敏史和妊娠生育相关情况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ACBFE44-5A41-4EC8-BAFF-B6D995F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8160" y="5016818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50" b="1">
                <a:solidFill>
                  <a:srgbClr val="C94A3D"/>
                </a:solidFill>
                <a:latin typeface="Arial"/>
                <a:ea typeface="Arial"/>
                <a:cs typeface="Arial"/>
              </a:rPr>
              <a:t>持续提示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A4E795B-6C8B-4766-ADF7-16DD2CB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60118" y="5794058"/>
            <a:ext cx="607176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只有四层均达到要求，系统才生成“正常完成”的诊前档案。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CDE041E5-AE06-4C6D-B408-5131A1E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1577E-2381-44A2-A20A-50EC4D11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68721-F52C-4D50-98E1-3251E3CF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1008918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388BF0-739C-4ABB-BD1D-B02D99D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1CBBF85-3DC5-4FFF-A4B5-12CEA8D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07 / 结束判断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DC7557D-52EE-4945-AF1E-D209935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6695837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什么时候问够了？由停止条件决定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FE0ED58-4702-4168-871A-39FBE06C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634079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不按固定轮次结束，而是判断当前资料是否已经可以交给医生核对。</a:t>
            </a:r>
          </a:p>
        </p:txBody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8D118701-FE63-478D-9E23-88EE34AD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725" y="301942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CFBA5E2-F7AB-40C5-9920-CA5DD71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3613" y="3248978"/>
            <a:ext cx="568373" cy="112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5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574B784-0F9E-476A-86EC-2E6F0D36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8698" y="4381500"/>
            <a:ext cx="87820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结束判断</a:t>
            </a:r>
          </a:p>
        </p:txBody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0DA34BE8-A996-45CE-A215-DF4DC66C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2714625"/>
            <a:ext cx="895350" cy="9525"/>
          </a:xfrm>
          <a:custGeom xmlns:a="http://schemas.openxmlformats.org/drawingml/2006/main"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0A7266AD-E5F5-461A-80C2-29911C1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9925" y="2495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D6266F8-11E6-4CF0-8C58-9EED29E9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9874" y="2645092"/>
            <a:ext cx="13825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5CA48DD-72D6-4E78-B14D-C4D963FB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7142" y="2461736"/>
            <a:ext cx="149299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必需字段齐全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A37A26-B8C5-40DC-B1C8-8D47FB9A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2858" y="2796064"/>
            <a:ext cx="3262789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年龄、性别、身高、体重等硬性前提已完成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2B436F0B-7C14-4DA9-A2A2-BD03A79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3571875"/>
            <a:ext cx="895350" cy="9525"/>
          </a:xfrm>
          <a:custGeom xmlns:a="http://schemas.openxmlformats.org/drawingml/2006/main"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A97A0231-260A-4137-A611-499932E4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9925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C7B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73E40D1-FC6D-4D7F-ADA3-61DCDA74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9874" y="3502342"/>
            <a:ext cx="13825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A7AF14-914B-4750-A7BF-739EF8AB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7142" y="3318986"/>
            <a:ext cx="3183707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当前场景的信息覆盖达到门槛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73F83A-157C-43A9-84F4-D9FE7DA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2858" y="3653314"/>
            <a:ext cx="3602831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病因风险、中医资料和安全信息已达到对应要求</a:t>
            </a:r>
          </a:p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81BD3EC7-056A-4BF6-A91A-5DDD193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4429125"/>
            <a:ext cx="895350" cy="9525"/>
          </a:xfrm>
          <a:custGeom xmlns:a="http://schemas.openxmlformats.org/drawingml/2006/main"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83DE7A6A-F9C5-4CA1-B1D6-938F3CE6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9925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A5F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E3DADF7-3606-496A-BD06-A42D771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9874" y="4359592"/>
            <a:ext cx="13825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2912615-47C8-417D-AA88-7C14658A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7142" y="4176236"/>
            <a:ext cx="3183707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没有未处理的关键风险或矛盾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83E2AD-27FE-4DFB-9F15-D3945B6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2858" y="4510564"/>
            <a:ext cx="343281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危险信号持续提示，关键冲突需要进一步核对</a:t>
            </a:r>
          </a:p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36234B7D-4A8A-4B7C-8871-8720731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5286375"/>
            <a:ext cx="895350" cy="9525"/>
          </a:xfrm>
          <a:custGeom xmlns:a="http://schemas.openxmlformats.org/drawingml/2006/main"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D7CE"/>
            </a:solidFill>
          </a:ln>
        </p:spPr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7CDEC2A0-E320-4CFD-96C9-931FF8C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9925" y="5067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2AA0E63-38B2-4D93-AA02-C8E28A77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9874" y="5216842"/>
            <a:ext cx="13825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C54C9D8-92FC-4718-9ABF-8E7A373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7142" y="5033486"/>
            <a:ext cx="3183707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不知道或拒答已完成一次澄清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598959-7864-4866-AA5B-292FB1B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2858" y="5367814"/>
            <a:ext cx="3602831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记录真实状态，不为了凑完整度而无限重复提问</a:t>
            </a:r>
          </a:p>
        </p:txBody>
      </p:sp>
      <p:sp>
        <p:nvSpPr>
          <p:cNvPr id="35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037199B-9AB1-42F1-9E7B-FFBC6E09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2447925"/>
            <a:ext cx="35052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B4837C77-8C10-41D3-BC33-FA8FF40C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2752725"/>
            <a:ext cx="129825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四项全部满足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93DC19A-27E7-4EDF-A123-C40FF405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7238" y="309324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结束追问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E3F8449-AE7B-4FDA-9C34-4E5733F0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4858" y="3424714"/>
            <a:ext cx="1902619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生成可供诊中核对的档案</a:t>
            </a:r>
          </a:p>
        </p:txBody>
      </p:sp>
      <p:sp>
        <p:nvSpPr>
          <p:cNvPr id="39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CC5CE84-CEAA-460A-9596-249414B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4057650"/>
            <a:ext cx="35052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73384EB-1E8F-48CD-BB46-4A6DD32F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4362450"/>
            <a:ext cx="17183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任一条件尚未满足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7F77E922-3D0E-49A3-8117-2441370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7238" y="4702969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继续追问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5C5C1AFE-7733-4699-88EF-F26014E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4858" y="5034439"/>
            <a:ext cx="2242661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优先补当前最关键的缺失字段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0A9B79A-4626-4A77-AAF5-D2015C8A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502" y="6189821"/>
            <a:ext cx="6041896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“问够”不是信息越多越好，而是足以让医生高效、安全地进入诊中。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17C199-497E-425A-9A3E-3B005C15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A3648-8AD1-4C82-A1E9-23C7C8CC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A26EF7-78DF-46E0-A721-509CB3DC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5722609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AA98B1-F298-4ED3-93B7-5E6B16F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E96EC85-9FED-41DB-89F7-D4B1182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08061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09 / 结果输出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8CE9868-C6E1-4E60-8E52-7FC6681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7136892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双端结果：患者可理解，医生可追溯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9CACDAE-5E27-4190-B50A-68F223F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08063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同一份问诊数据，按使用者的任务分成不同信息层次。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305924C-AE3A-4689-A95D-6AA657D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740" y="1977390"/>
            <a:ext cx="8018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患者端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F4584E8-8555-4F10-8D92-1ADA75CC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343150"/>
            <a:ext cx="5181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19050">
            <a:solidFill>
              <a:srgbClr val="C9D7CE"/>
            </a:solidFill>
          </a:ln>
        </p:spPr>
      </p:sp>
      <p:pic>
        <p:nvPicPr>
          <p:cNvPr id="32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d17c795f640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16077" y="2343150"/>
            <a:ext cx="5168646" cy="2266950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3E96AC-2874-43C6-A6A9-CF3933C6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4916329"/>
            <a:ext cx="42079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安全文案、BMI 提示、诊前档案与检查建议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549CC2-137C-43B6-859D-8F05E70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408" y="5243989"/>
            <a:ext cx="3602831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不展示内部完整度、字段优先级和医学判断过程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4E7F83-5B20-4C57-AB79-4CC008A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7940" y="1977390"/>
            <a:ext cx="8018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医生端</a:t>
            </a:r>
          </a:p>
        </p:txBody>
      </p:sp>
      <p:sp>
        <p:nvSpPr>
          <p:cNvPr id="1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2E9857-7A0A-4A7E-B898-D00C5D8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2343150"/>
            <a:ext cx="51816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 w="19050">
            <a:solidFill>
              <a:srgbClr val="C9D7CE"/>
            </a:solidFill>
          </a:ln>
        </p:spPr>
      </p:sp>
      <p:pic>
        <p:nvPicPr>
          <p:cNvPr id="37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0179748d5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407277" y="2343150"/>
            <a:ext cx="5168646" cy="2266950"/>
          </a:xfrm>
          <a:prstGeom xmlns:a="http://schemas.openxmlformats.org/drawingml/2006/main" prst="rect">
            <a:avLst/>
          </a:prstGeom>
        </p:spPr>
      </p:pic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2AA8E73-0F7F-40E5-BE3D-043AC399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0798" y="4916329"/>
            <a:ext cx="400950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分层执行度、字段证据、冲突和检查候选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662832-A8CA-410F-A21B-734A1D5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4608" y="5243989"/>
            <a:ext cx="3772852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E6D65"/>
                </a:solidFill>
                <a:latin typeface="Arial"/>
                <a:ea typeface="Arial"/>
                <a:cs typeface="Arial"/>
              </a:rPr>
              <a:t>帮助医生在诊中快速核对资料，而非替代医生判断</a:t>
            </a:r>
          </a:p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DF77C177-D728-4D31-8F27-66AEBB62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2455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92E840-03D6-4518-B1B6-A8584DBB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6191250"/>
            <a:ext cx="543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15221C"/>
                </a:solidFill>
                <a:latin typeface="Arial"/>
                <a:ea typeface="Arial"/>
                <a:cs typeface="Arial"/>
              </a:rPr>
              <a:t>核心结果：数据采集、完整度判断与医生核对形成一条闭环。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5EA0931-FD1B-4D84-A167-B380D5BD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BB84A-73B6-48C3-85EC-1195C09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5CA26E-251C-497C-A831-51EA950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8791992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4A001A-8362-426E-BA40-5888E07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6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EA51DE5-9203-4B82-BE2C-6F92816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4360" y="651510"/>
            <a:ext cx="1416653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10 / 总结与下一步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16F24BE-BC82-437F-8190-4605ABA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9595" y="1031558"/>
            <a:ext cx="3608451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当前成果与下一步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FA3A486-1946-40C5-A820-75D040D9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98" y="1582579"/>
            <a:ext cx="5290661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>
                <a:solidFill>
                  <a:srgbClr val="5E6D65"/>
                </a:solidFill>
                <a:latin typeface="Arial"/>
                <a:ea typeface="Arial"/>
                <a:cs typeface="Arial"/>
              </a:rPr>
              <a:t>从单次答题页面，迭代为面向诊中服务的诊前采集闭环。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7078463-0655-4A2B-9D21-5FCFD42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645" y="2279332"/>
            <a:ext cx="119705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55E47"/>
                </a:solidFill>
                <a:latin typeface="Arial"/>
                <a:ea typeface="Arial"/>
                <a:cs typeface="Arial"/>
              </a:rPr>
              <a:t>本周已完成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D431E6-610B-487C-92E9-D8289CE9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676525"/>
            <a:ext cx="485775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EAF2EB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1B3D58F-4B7E-4646-9E61-77B4AF0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" y="3015615"/>
            <a:ext cx="392700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01 流程从固定问答改为对话式追问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429BFE-9886-49A9-AFF3-B51C6AA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" y="3463290"/>
            <a:ext cx="342294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02 建立四层完整度与停止条件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2DAE9B-C463-4A74-9FE5-ADA97692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" y="3910965"/>
            <a:ext cx="3674974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03 完善患者端与医生端结果分层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8B6BC32-970E-466E-8D14-62F48A6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5355" y="4426268"/>
            <a:ext cx="417480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基础资料、追问、档案与检查建议已形成可演示链路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B3548C-6FE9-4828-BBFA-0E9CB34D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4595" y="2279332"/>
            <a:ext cx="119705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E07A5F"/>
                </a:solidFill>
                <a:latin typeface="Arial"/>
                <a:ea typeface="Arial"/>
                <a:cs typeface="Arial"/>
              </a:rPr>
              <a:t>下一步收口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CCAB03F8-7701-496E-B4BF-F9693D19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0" y="2676525"/>
            <a:ext cx="5276850" cy="9525"/>
          </a:xfrm>
          <a:custGeom xmlns:a="http://schemas.openxmlformats.org/drawingml/2006/main">
            <a:rect l="l" t="t" r="r" b="b"/>
            <a:pathLst>
              <a:path w="5276850" h="9525">
                <a:moveTo>
                  <a:pt x="0" y="0"/>
                </a:moveTo>
                <a:lnTo>
                  <a:pt x="5276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9D7CE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13C8C62-9544-490C-B5B0-8C57204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2690" y="3015615"/>
            <a:ext cx="392700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01 补充真实浏览器端到端流程测试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D22A24-7634-4525-B7EE-4B463526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2690" y="3463290"/>
            <a:ext cx="392700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02 继续打磨医生端访问控制与隐私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9884C8B-FC34-43D3-A255-18A9E7C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2690" y="3910965"/>
            <a:ext cx="4179037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5221C"/>
                </a:solidFill>
                <a:latin typeface="Arial"/>
                <a:ea typeface="Arial"/>
                <a:cs typeface="Arial"/>
              </a:rPr>
              <a:t>03 补足文档，收口旧接口与演示路径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057DB0-4524-4BB5-A1BF-C94C80B3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8405" y="4426268"/>
            <a:ext cx="385076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E6D65"/>
                </a:solidFill>
                <a:latin typeface="Arial"/>
                <a:ea typeface="Arial"/>
                <a:cs typeface="Arial"/>
              </a:rPr>
              <a:t>把“可演示”推进到“可稳定验证、可持续迭代”。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1E69B90-6716-41B6-B441-35A95FC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505450"/>
            <a:ext cx="10972800" cy="60007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5E47"/>
          </a:solidFill>
          <a:ln xmlns:a="http://schemas.openxmlformats.org/drawingml/2006/main">
            <a:noFill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8FC1580-4B4B-4310-96FD-71F61221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3060" y="5684044"/>
            <a:ext cx="6085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9F6"/>
                </a:solidFill>
                <a:latin typeface="Arial"/>
                <a:ea typeface="Arial"/>
                <a:cs typeface="Arial"/>
              </a:rPr>
              <a:t>采集更完整，交接更清楚，服务于医生的最终判断。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C9A69B4-5440-4371-9B7A-463C7F73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3488" y="6385560"/>
            <a:ext cx="206502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155E47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DBE49-449F-4DE9-8451-E2547D0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48400"/>
            <a:ext cx="72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57321-62BA-4A55-A65D-378DFFE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66762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131316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2026-09-18T09:17:40.3680000Z</dcterms:created>
  <dcterms:modified xsi:type="dcterms:W3CDTF">2026-09-18T09:17:40.3680000Z</dcterms:modified>
</coreProperties>
</file>