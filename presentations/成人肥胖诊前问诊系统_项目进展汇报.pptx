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本项目面向成人肥胖诊前问诊。核心不是线上直接确诊，而是把患者的基础资料、主诉、风险和中医症状整理成医生可用的诊前资料。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系统的定位是“为诊中服务”。患者完成采集后，医生仍然要在诊中完成辨证、风险判断和治疗决策，系统只负责减少重复问诊与遗漏。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改造前主要有三类问题：固定问答无法承接自然表达；刷新后追问状态可能断开；按单一分数结束会让资料未齐时过早生成档案。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本轮改造明确了分工。规则计算 BMI、判断门槛和安全条件；AI 负责理解原话、组织追问、解释术语。AI 不直接诊断、开方或修改停止条件。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当前流程是：先收集基础资料，再接收开放描述，随后按缺失信息分层追问，最后汇总为诊前档案和检查候选。患者端不展示内部执行度。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进入成人肥胖流程前，系统会先校验年龄，并要求年龄、性别、身高和体重这四项基础资料齐全。BMI 和腰围等数值由服务端计算，减少模型推断的不确定性。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完整度不是固定轮次，而是四层门槛：基础资料、病因与风险、中医资料、安全信息。只有满足对应要求后，系统才生成正常完成的诊前档案。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什么时候问够，不由固定轮次决定。只有硬性前提齐全、当前场景的信息覆盖达到要求、没有待核实的关键风险或矛盾，并且对“不知道”或“拒答”完成一次合理澄清后，系统才结束追问并生成诊前档案；否则继续补最关键的缺失字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追问页改为聊天形式。每一次提问对应一个待补全的信息目标；患者不理解时会先解释；同一字段最多委婉重问一次。即使 AI 服务不可用，也会降级到固定问题继续采集。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系统输出分为两端：患者端使用易理解且安全的表达，显示诊前摘要和检查建议；医生端保留字段来源、完成情况和矛盾信息，方便诊中核对。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本周已完成从固定问答到对话式采集、四层完整度模型和双端结果分层。下一步会继续补充端到端测试、访问控制和文档收口。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25f7e69729bcb1c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eb8b2448fe9f87a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bbd338c7360db08.png"/>
  <Relationship Id="rId3" Type="http://schemas.openxmlformats.org/officeDocument/2006/relationships/image" Target="../media/image_93faed3fa1882e25.pn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590550"/>
            <a:ext cx="10972800" cy="523875"/>
            <a:chOff x="609600" y="590550"/>
            <a:chExt cx="10972800" cy="523875"/>
          </a:xfrm>
        </p:grpSpPr>
        <p:sp>
          <p:nvSpPr>
            <p:cNvPr id="3" name="Rectangle 3"/>
            <p:cNvSpPr/>
            <p:nvPr/>
          </p:nvSpPr>
          <p:spPr>
            <a:xfrm>
              <a:off x="609600" y="5905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6765" y="6772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项目进展汇报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25112" y="659606"/>
              <a:ext cx="6061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" dirty="0">
                  <a:solidFill>
                    <a:srgbClr val="5E6D65"/>
                  </a:solidFill>
                  <a:latin typeface="Arial"/>
                  <a:ea typeface="Arial"/>
                  <a:cs typeface="Arial"/>
                </a:rPr>
                <a:t>2026.08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1104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46735" y="1789748"/>
            <a:ext cx="4912281" cy="2782252"/>
            <a:chOff x="546735" y="1789748"/>
            <a:chExt cx="4912281" cy="2782252"/>
          </a:xfrm>
        </p:grpSpPr>
        <p:sp>
          <p:nvSpPr>
            <p:cNvPr id="8" name="TextBox 8"/>
            <p:cNvSpPr txBox="1"/>
            <p:nvPr/>
          </p:nvSpPr>
          <p:spPr>
            <a:xfrm>
              <a:off x="546735" y="1789748"/>
              <a:ext cx="2898076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成人肥胖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6735" y="2561272"/>
              <a:ext cx="428425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诊前问诊系统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38175" y="3457575"/>
              <a:ext cx="781050" cy="66675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788" y="3788569"/>
              <a:ext cx="487322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规则驱动的结构化采集 · AI 辅助理解与追问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0550" y="4267200"/>
              <a:ext cx="48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目标是为诊中辨证、风险识别和检查决策准备可靠资料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10550" y="1628775"/>
            <a:ext cx="2613660" cy="3438525"/>
            <a:chOff x="8210550" y="1628775"/>
            <a:chExt cx="2613660" cy="3438525"/>
          </a:xfrm>
        </p:grpSpPr>
        <p:sp>
          <p:nvSpPr>
            <p:cNvPr id="14" name="Line 14"/>
            <p:cNvSpPr/>
            <p:nvPr/>
          </p:nvSpPr>
          <p:spPr>
            <a:xfrm>
              <a:off x="8534400" y="1847850"/>
              <a:ext cx="9525" cy="2924175"/>
            </a:xfrm>
            <a:custGeom>
              <a:avLst/>
              <a:gdLst/>
              <a:ahLst/>
              <a:cxnLst/>
              <a:rect l="l" t="t" r="r" b="b"/>
              <a:pathLst>
                <a:path w="9525" h="2924175">
                  <a:moveTo>
                    <a:pt x="0" y="0"/>
                  </a:moveTo>
                  <a:lnTo>
                    <a:pt x="0" y="2924175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210550" y="1628775"/>
              <a:ext cx="647700" cy="6477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91727" y="1852136"/>
              <a:ext cx="28534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26842" y="17187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基础资料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33510" y="2051685"/>
              <a:ext cx="15666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BMI、腰围与主诉入口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210550" y="2552700"/>
              <a:ext cx="647700" cy="6477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1727" y="2776061"/>
              <a:ext cx="28534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26842" y="2642711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病因与风险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33510" y="29756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分层追问与危险信号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210550" y="3476625"/>
              <a:ext cx="647700" cy="6477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91727" y="3699986"/>
              <a:ext cx="28534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26842" y="356663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中医资料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33510" y="3899535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症状、舌象与生活方式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210550" y="4400550"/>
              <a:ext cx="647700" cy="6477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91727" y="4623911"/>
              <a:ext cx="28534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26842" y="4490561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诊前档案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33510" y="48234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患者摘要与医生执行依据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4360" y="6115050"/>
            <a:ext cx="10988040" cy="457200"/>
            <a:chOff x="594360" y="6115050"/>
            <a:chExt cx="10988040" cy="457200"/>
          </a:xfrm>
        </p:grpSpPr>
        <p:sp>
          <p:nvSpPr>
            <p:cNvPr id="32" name="Line 32"/>
            <p:cNvSpPr/>
            <p:nvPr/>
          </p:nvSpPr>
          <p:spPr>
            <a:xfrm>
              <a:off x="609600" y="6115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4360" y="6328410"/>
              <a:ext cx="2454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中医智能助手 · 成人肥胖诊前采集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43488" y="632841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11012805" cy="1020128"/>
            <a:chOff x="569595" y="651510"/>
            <a:chExt cx="11012805" cy="1020128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01 / 项目定位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581372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为诊中服务，而不是在线确诊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638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24915" y="2619375"/>
            <a:ext cx="1474470" cy="2100263"/>
            <a:chOff x="1224915" y="2619375"/>
            <a:chExt cx="1474470" cy="2100263"/>
          </a:xfrm>
        </p:grpSpPr>
        <p:sp>
          <p:nvSpPr>
            <p:cNvPr id="7" name="Ellipse 7"/>
            <p:cNvSpPr/>
            <p:nvPr/>
          </p:nvSpPr>
          <p:spPr>
            <a:xfrm>
              <a:off x="1438275" y="2619375"/>
              <a:ext cx="1047750" cy="1047750"/>
            </a:xfrm>
            <a:prstGeom prst="ellipse">
              <a:avLst/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82258" y="3003709"/>
              <a:ext cx="35978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3272" y="383619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患者表达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4915" y="41976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主诉、体重变化、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4926" y="44453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症状与生活方式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867025" y="2476500"/>
            <a:ext cx="4251817" cy="1785938"/>
            <a:chOff x="2867025" y="2476500"/>
            <a:chExt cx="4251817" cy="1785938"/>
          </a:xfrm>
        </p:grpSpPr>
        <p:sp>
          <p:nvSpPr>
            <p:cNvPr id="13" name="Line 13"/>
            <p:cNvSpPr/>
            <p:nvPr/>
          </p:nvSpPr>
          <p:spPr>
            <a:xfrm>
              <a:off x="2867025" y="3143250"/>
              <a:ext cx="1552575" cy="9525"/>
            </a:xfrm>
            <a:custGeom>
              <a:avLst/>
              <a:gdLst/>
              <a:ahLst/>
              <a:cxnLst/>
              <a:rect l="l" t="t" r="r" b="b"/>
              <a:pathLst>
                <a:path w="1552575" h="952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noFill/>
            <a:ln w="28575">
              <a:solidFill>
                <a:srgbClr val="4C8C7B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257675" y="3048000"/>
              <a:ext cx="161925" cy="190500"/>
            </a:xfrm>
            <a:custGeom>
              <a:avLst/>
              <a:gdLst/>
              <a:ahLst/>
              <a:cxnLst/>
              <a:rect l="l" t="t" r="r" b="b"/>
              <a:pathLst>
                <a:path w="161925" h="190500">
                  <a:moveTo>
                    <a:pt x="161925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4C8C7B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057775" y="2476500"/>
              <a:ext cx="1333500" cy="13335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73504" y="2867501"/>
              <a:ext cx="90204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结构化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31737" y="319135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诊前资料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0208" y="3988118"/>
              <a:ext cx="27886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规则校验 · 对话追问 · 完整度判断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29375" y="2619375"/>
            <a:ext cx="3746182" cy="2100263"/>
            <a:chOff x="6429375" y="2619375"/>
            <a:chExt cx="3746182" cy="2100263"/>
          </a:xfrm>
        </p:grpSpPr>
        <p:sp>
          <p:nvSpPr>
            <p:cNvPr id="20" name="Line 20"/>
            <p:cNvSpPr/>
            <p:nvPr/>
          </p:nvSpPr>
          <p:spPr>
            <a:xfrm>
              <a:off x="6429375" y="3143250"/>
              <a:ext cx="1552575" cy="9525"/>
            </a:xfrm>
            <a:custGeom>
              <a:avLst/>
              <a:gdLst/>
              <a:ahLst/>
              <a:cxnLst/>
              <a:rect l="l" t="t" r="r" b="b"/>
              <a:pathLst>
                <a:path w="1552575" h="9525">
                  <a:moveTo>
                    <a:pt x="0" y="0"/>
                  </a:moveTo>
                  <a:lnTo>
                    <a:pt x="1552575" y="0"/>
                  </a:lnTo>
                </a:path>
              </a:pathLst>
            </a:custGeom>
            <a:noFill/>
            <a:ln w="28575">
              <a:solidFill>
                <a:srgbClr val="4C8C7B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7820025" y="3048000"/>
              <a:ext cx="161925" cy="190500"/>
            </a:xfrm>
            <a:custGeom>
              <a:avLst/>
              <a:gdLst/>
              <a:ahLst/>
              <a:cxnLst/>
              <a:rect l="l" t="t" r="r" b="b"/>
              <a:pathLst>
                <a:path w="161925" h="190500">
                  <a:moveTo>
                    <a:pt x="161925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4C8C7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34425" y="2619375"/>
              <a:ext cx="1047750" cy="1047750"/>
            </a:xfrm>
            <a:prstGeom prst="ellipse">
              <a:avLst/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78408" y="3003709"/>
              <a:ext cx="359783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9422" y="383619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医生确认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41042" y="41976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诊中辨证、风险判断、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11076" y="44453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检查与治疗决策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5372100"/>
            <a:ext cx="10972800" cy="1257300"/>
            <a:chOff x="609600" y="5372100"/>
            <a:chExt cx="10972800" cy="1257300"/>
          </a:xfrm>
        </p:grpSpPr>
        <p:sp>
          <p:nvSpPr>
            <p:cNvPr id="28" name="Rectangle 28"/>
            <p:cNvSpPr/>
            <p:nvPr/>
          </p:nvSpPr>
          <p:spPr>
            <a:xfrm>
              <a:off x="609600" y="5372100"/>
              <a:ext cx="10972800" cy="723900"/>
            </a:xfrm>
            <a:prstGeom prst="roundRect">
              <a:avLst>
                <a:gd name="adj" fmla="val 7895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5372100"/>
              <a:ext cx="66675" cy="723900"/>
            </a:xfrm>
            <a:prstGeom prst="rect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2492" y="5633561"/>
              <a:ext cx="511594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患者端只呈现安全结果，最终判断由医生确认。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7011877" cy="1251109"/>
            <a:chOff x="569595" y="651510"/>
            <a:chExt cx="7011877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02 / 改造背景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36084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改造前的核心问题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699187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问题不在于“能不能问”，而在于问诊过程是否稳定、可解释、可服务诊中。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7705" y="2225992"/>
            <a:ext cx="2950845" cy="2031683"/>
            <a:chOff x="687705" y="2225992"/>
            <a:chExt cx="2950845" cy="2031683"/>
          </a:xfrm>
        </p:grpSpPr>
        <p:sp>
          <p:nvSpPr>
            <p:cNvPr id="7" name="TextBox 7"/>
            <p:cNvSpPr txBox="1"/>
            <p:nvPr/>
          </p:nvSpPr>
          <p:spPr>
            <a:xfrm>
              <a:off x="687705" y="2225992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42950" y="2952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C9D7C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6280" y="32118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固定问答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3900" y="366712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一次选择无法承接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3900" y="3952875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患者的自由描述与澄清需求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92955" y="2225992"/>
            <a:ext cx="2950845" cy="2031683"/>
            <a:chOff x="4592955" y="2225992"/>
            <a:chExt cx="2950845" cy="2031683"/>
          </a:xfrm>
        </p:grpSpPr>
        <p:sp>
          <p:nvSpPr>
            <p:cNvPr id="13" name="TextBox 13"/>
            <p:cNvSpPr txBox="1"/>
            <p:nvPr/>
          </p:nvSpPr>
          <p:spPr>
            <a:xfrm>
              <a:off x="4592955" y="2225992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648200" y="2952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C9D7C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1530" y="32118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状态不稳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9150" y="3667125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页面刷新后，追问进度与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9150" y="3952875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历史信息容易出现断开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98205" y="2225992"/>
            <a:ext cx="2950845" cy="2031683"/>
            <a:chOff x="8498205" y="2225992"/>
            <a:chExt cx="2950845" cy="2031683"/>
          </a:xfrm>
        </p:grpSpPr>
        <p:sp>
          <p:nvSpPr>
            <p:cNvPr id="19" name="TextBox 19"/>
            <p:cNvSpPr txBox="1"/>
            <p:nvPr/>
          </p:nvSpPr>
          <p:spPr>
            <a:xfrm>
              <a:off x="8498205" y="2225992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553450" y="29527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C9D7C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26780" y="32118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完成不准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34400" y="3667125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单一总分可能在关键资料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34400" y="3952875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未收集时过早生成档案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010150"/>
            <a:ext cx="10972800" cy="1619250"/>
            <a:chOff x="609600" y="5010150"/>
            <a:chExt cx="10972800" cy="1619250"/>
          </a:xfrm>
        </p:grpSpPr>
        <p:sp>
          <p:nvSpPr>
            <p:cNvPr id="25" name="Rectangle 25"/>
            <p:cNvSpPr/>
            <p:nvPr/>
          </p:nvSpPr>
          <p:spPr>
            <a:xfrm>
              <a:off x="609600" y="5010150"/>
              <a:ext cx="10972800" cy="933450"/>
            </a:xfrm>
            <a:prstGeom prst="roundRect">
              <a:avLst>
                <a:gd name="adj" fmla="val 6122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9600" y="5010150"/>
              <a:ext cx="76200" cy="933450"/>
            </a:xfrm>
            <a:prstGeom prst="rect">
              <a:avLst/>
            </a:prstGeom>
            <a:solidFill>
              <a:srgbClr val="C94A3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5355" y="52739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94A3D"/>
                  </a:solidFill>
                  <a:latin typeface="Arial"/>
                  <a:ea typeface="Microsoft YaHei"/>
                  <a:cs typeface="Arial"/>
                </a:rPr>
                <a:t>改造方向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9640" y="5558790"/>
              <a:ext cx="785869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将一次性答题改为可恢复的对话式采集，并以分层门槛控制结束时机。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5438830" cy="1260634"/>
            <a:chOff x="569595" y="651510"/>
            <a:chExt cx="5438830" cy="1260634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03 / 改造原则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543883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规则负责判断，AI 负责理解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92104"/>
              <a:ext cx="382047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让停止条件可解释，让对话表达更自然。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2286000"/>
            <a:ext cx="4686300" cy="3124200"/>
            <a:chOff x="609600" y="2286000"/>
            <a:chExt cx="4686300" cy="3124200"/>
          </a:xfrm>
        </p:grpSpPr>
        <p:sp>
          <p:nvSpPr>
            <p:cNvPr id="7" name="Rectangle 7"/>
            <p:cNvSpPr/>
            <p:nvPr/>
          </p:nvSpPr>
          <p:spPr>
            <a:xfrm>
              <a:off x="609600" y="2286000"/>
              <a:ext cx="4686300" cy="3124200"/>
            </a:xfrm>
            <a:prstGeom prst="roundRect">
              <a:avLst>
                <a:gd name="adj" fmla="val 1829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928" y="2641759"/>
              <a:ext cx="157793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确定性规则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71550" y="3105150"/>
              <a:ext cx="3771900" cy="9525"/>
            </a:xfrm>
            <a:custGeom>
              <a:avLst/>
              <a:gdLst/>
              <a:ahLst/>
              <a:cxnLst/>
              <a:rect l="l" t="t" r="r" b="b"/>
              <a:pathLst>
                <a:path w="3771900" h="9525">
                  <a:moveTo>
                    <a:pt x="0" y="0"/>
                  </a:moveTo>
                  <a:lnTo>
                    <a:pt x="37719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028700" y="3505200"/>
              <a:ext cx="190500" cy="1905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88745" y="3498532"/>
              <a:ext cx="25942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BMI、腰围等客观字段计算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028700" y="4133850"/>
              <a:ext cx="190500" cy="1905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88745" y="4127182"/>
              <a:ext cx="2462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分层阈值与停止条件判断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028700" y="4762500"/>
              <a:ext cx="190500" cy="1905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88745" y="4755832"/>
              <a:ext cx="31222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危险信号持续提示而不强制中断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57850" y="2476500"/>
            <a:ext cx="800100" cy="2743200"/>
            <a:chOff x="5657850" y="2476500"/>
            <a:chExt cx="800100" cy="2743200"/>
          </a:xfrm>
        </p:grpSpPr>
        <p:sp>
          <p:nvSpPr>
            <p:cNvPr id="17" name="Line 17"/>
            <p:cNvSpPr/>
            <p:nvPr/>
          </p:nvSpPr>
          <p:spPr>
            <a:xfrm>
              <a:off x="6057900" y="2476500"/>
              <a:ext cx="9525" cy="2743200"/>
            </a:xfrm>
            <a:custGeom>
              <a:avLst/>
              <a:gdLst/>
              <a:ahLst/>
              <a:cxnLst/>
              <a:rect l="l" t="t" r="r" b="b"/>
              <a:pathLst>
                <a:path w="9525" h="2743200">
                  <a:moveTo>
                    <a:pt x="0" y="0"/>
                  </a:moveTo>
                  <a:lnTo>
                    <a:pt x="0" y="2743200"/>
                  </a:lnTo>
                </a:path>
              </a:pathLst>
            </a:custGeom>
            <a:noFill/>
            <a:ln w="19050">
              <a:solidFill>
                <a:srgbClr val="C9D7CE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657850" y="3448050"/>
              <a:ext cx="800100" cy="8001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71555" y="3740944"/>
              <a:ext cx="57269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协同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19900" y="2286000"/>
            <a:ext cx="4762500" cy="3124200"/>
            <a:chOff x="6819900" y="2286000"/>
            <a:chExt cx="4762500" cy="3124200"/>
          </a:xfrm>
        </p:grpSpPr>
        <p:sp>
          <p:nvSpPr>
            <p:cNvPr id="21" name="Rectangle 21"/>
            <p:cNvSpPr/>
            <p:nvPr/>
          </p:nvSpPr>
          <p:spPr>
            <a:xfrm>
              <a:off x="6819900" y="2286000"/>
              <a:ext cx="4762500" cy="3124200"/>
            </a:xfrm>
            <a:prstGeom prst="roundRect">
              <a:avLst>
                <a:gd name="adj" fmla="val 1829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54228" y="2641759"/>
              <a:ext cx="1623616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AI 辅助能力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181850" y="31051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239000" y="3505200"/>
              <a:ext cx="190500" cy="1905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99045" y="349853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从患者原话中提取字段证据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239000" y="4133850"/>
              <a:ext cx="190500" cy="1905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99045" y="41271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围绕缺失字段组织自然追问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239000" y="4762500"/>
              <a:ext cx="190500" cy="1905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99045" y="475583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解释患者不理解的医学术语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50909" y="5915025"/>
            <a:ext cx="7599081" cy="714375"/>
            <a:chOff x="3750909" y="5915025"/>
            <a:chExt cx="7599081" cy="714375"/>
          </a:xfrm>
        </p:grpSpPr>
        <p:sp>
          <p:nvSpPr>
            <p:cNvPr id="31" name="TextBox 31"/>
            <p:cNvSpPr txBox="1"/>
            <p:nvPr/>
          </p:nvSpPr>
          <p:spPr>
            <a:xfrm>
              <a:off x="3750909" y="5915025"/>
              <a:ext cx="46901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C94A3D"/>
                  </a:solidFill>
                  <a:latin typeface="Arial"/>
                  <a:ea typeface="Microsoft YaHei"/>
                  <a:cs typeface="Arial"/>
                </a:rPr>
                <a:t>边界：AI 不直接诊断、开方或修改系统停止条件。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5310664" cy="1251109"/>
            <a:chOff x="569595" y="651510"/>
            <a:chExt cx="5310664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04 / 当前方案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272634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当前完整流程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29066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从可量化的基础资料开始，以可解释的完整度门槛结束。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95400" y="3257550"/>
            <a:ext cx="9601200" cy="209550"/>
            <a:chOff x="1295400" y="3257550"/>
            <a:chExt cx="9601200" cy="209550"/>
          </a:xfrm>
        </p:grpSpPr>
        <p:sp>
          <p:nvSpPr>
            <p:cNvPr id="7" name="Line 7"/>
            <p:cNvSpPr/>
            <p:nvPr/>
          </p:nvSpPr>
          <p:spPr>
            <a:xfrm>
              <a:off x="1295400" y="3362325"/>
              <a:ext cx="9601200" cy="9525"/>
            </a:xfrm>
            <a:custGeom>
              <a:avLst/>
              <a:gdLst/>
              <a:ahLst/>
              <a:cxnLst/>
              <a:rect l="l" t="t" r="r" b="b"/>
              <a:pathLst>
                <a:path w="9601200" h="9525">
                  <a:moveTo>
                    <a:pt x="0" y="0"/>
                  </a:moveTo>
                  <a:lnTo>
                    <a:pt x="9601200" y="0"/>
                  </a:lnTo>
                </a:path>
              </a:pathLst>
            </a:custGeom>
            <a:noFill/>
            <a:ln w="47625">
              <a:solidFill>
                <a:srgbClr val="C9D7CE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10725150" y="3257550"/>
              <a:ext cx="171450" cy="209550"/>
            </a:xfrm>
            <a:custGeom>
              <a:avLst/>
              <a:gdLst/>
              <a:ahLst/>
              <a:cxnLst/>
              <a:rect l="l" t="t" r="r" b="b"/>
              <a:pathLst>
                <a:path w="171450" h="209550">
                  <a:moveTo>
                    <a:pt x="171450" y="104775"/>
                  </a:moveTo>
                  <a:lnTo>
                    <a:pt x="0" y="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4C8C7B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35330" y="2962275"/>
            <a:ext cx="1310640" cy="1590675"/>
            <a:chOff x="735330" y="2962275"/>
            <a:chExt cx="1310640" cy="1590675"/>
          </a:xfrm>
        </p:grpSpPr>
        <p:sp>
          <p:nvSpPr>
            <p:cNvPr id="10" name="Ellipse 10"/>
            <p:cNvSpPr/>
            <p:nvPr/>
          </p:nvSpPr>
          <p:spPr>
            <a:xfrm>
              <a:off x="990600" y="2962275"/>
              <a:ext cx="800100" cy="8001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98481" y="32632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637" y="3974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基础资料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43091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年龄、身高、体重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091815" y="2962275"/>
            <a:ext cx="1150620" cy="1590675"/>
            <a:chOff x="3091815" y="2962275"/>
            <a:chExt cx="1150620" cy="1590675"/>
          </a:xfrm>
        </p:grpSpPr>
        <p:sp>
          <p:nvSpPr>
            <p:cNvPr id="15" name="Ellipse 15"/>
            <p:cNvSpPr/>
            <p:nvPr/>
          </p:nvSpPr>
          <p:spPr>
            <a:xfrm>
              <a:off x="3267075" y="2962275"/>
              <a:ext cx="800100" cy="8001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74956" y="32632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84112" y="3974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开放描述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91815" y="43091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当前诉求与变化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128260" y="2962275"/>
            <a:ext cx="1630680" cy="1590675"/>
            <a:chOff x="5128260" y="2962275"/>
            <a:chExt cx="1630680" cy="1590675"/>
          </a:xfrm>
        </p:grpSpPr>
        <p:sp>
          <p:nvSpPr>
            <p:cNvPr id="20" name="Ellipse 20"/>
            <p:cNvSpPr/>
            <p:nvPr/>
          </p:nvSpPr>
          <p:spPr>
            <a:xfrm>
              <a:off x="5543550" y="2962275"/>
              <a:ext cx="800100" cy="80010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1431" y="32632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60587" y="3974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分层追问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28260" y="43091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病因、风险、中医资料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64755" y="2962275"/>
            <a:ext cx="1310640" cy="1590675"/>
            <a:chOff x="7564755" y="2962275"/>
            <a:chExt cx="1310640" cy="1590675"/>
          </a:xfrm>
        </p:grpSpPr>
        <p:sp>
          <p:nvSpPr>
            <p:cNvPr id="25" name="Ellipse 25"/>
            <p:cNvSpPr/>
            <p:nvPr/>
          </p:nvSpPr>
          <p:spPr>
            <a:xfrm>
              <a:off x="7820025" y="2962275"/>
              <a:ext cx="800100" cy="80010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27906" y="32632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7062" y="3974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资料汇总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4755" y="43091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字段、证据与矛盾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21240" y="2962275"/>
            <a:ext cx="1150620" cy="1590675"/>
            <a:chOff x="9921240" y="2962275"/>
            <a:chExt cx="1150620" cy="1590675"/>
          </a:xfrm>
        </p:grpSpPr>
        <p:sp>
          <p:nvSpPr>
            <p:cNvPr id="30" name="Ellipse 30"/>
            <p:cNvSpPr/>
            <p:nvPr/>
          </p:nvSpPr>
          <p:spPr>
            <a:xfrm>
              <a:off x="10096500" y="2962275"/>
              <a:ext cx="800100" cy="80010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404381" y="3263265"/>
              <a:ext cx="1843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13537" y="39747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输出档案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21240" y="43091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检查候选与交接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5314950"/>
            <a:ext cx="10972800" cy="1314450"/>
            <a:chOff x="609600" y="5314950"/>
            <a:chExt cx="10972800" cy="1314450"/>
          </a:xfrm>
        </p:grpSpPr>
        <p:sp>
          <p:nvSpPr>
            <p:cNvPr id="35" name="Rectangle 35"/>
            <p:cNvSpPr/>
            <p:nvPr/>
          </p:nvSpPr>
          <p:spPr>
            <a:xfrm>
              <a:off x="609600" y="5314950"/>
              <a:ext cx="10972800" cy="638175"/>
            </a:xfrm>
            <a:prstGeom prst="roundRect">
              <a:avLst>
                <a:gd name="adj" fmla="val 8955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4398" y="5535454"/>
              <a:ext cx="781097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患者端隐藏内部执行度；医生端保留缺失项、证据来源和冲突信息，便于诊中核对。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6254782" cy="1251109"/>
            <a:chOff x="569595" y="651510"/>
            <a:chExt cx="6254782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05 / 当前页面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25478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基础资料：先把客观起点问清楚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50068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将年龄、性别、身高和体重作为成人肥胖问诊的前置资料。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2209800"/>
            <a:ext cx="6858000" cy="3009900"/>
            <a:chOff x="609600" y="2209800"/>
            <a:chExt cx="6858000" cy="3009900"/>
          </a:xfrm>
        </p:grpSpPr>
        <p:sp>
          <p:nvSpPr>
            <p:cNvPr id="7" name="Rectangle 7"/>
            <p:cNvSpPr/>
            <p:nvPr/>
          </p:nvSpPr>
          <p:spPr>
            <a:xfrm>
              <a:off x="609600" y="2209800"/>
              <a:ext cx="6858000" cy="3009900"/>
            </a:xfrm>
            <a:prstGeom prst="roundRect">
              <a:avLst>
                <a:gd name="adj" fmla="val 1899"/>
              </a:avLst>
            </a:prstGeom>
            <a:solidFill>
              <a:srgbClr val="EAF2EB"/>
            </a:solidFill>
            <a:ln w="19050">
              <a:solidFill>
                <a:srgbClr val="C9D7CE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209800"/>
              <a:ext cx="6858000" cy="30099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81050" y="4810125"/>
              <a:ext cx="1466850" cy="257175"/>
            </a:xfrm>
            <a:prstGeom prst="roundRect">
              <a:avLst>
                <a:gd name="adj" fmla="val 50000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0085" y="48777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真实系统页面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48638" y="2407444"/>
            <a:ext cx="3085624" cy="3095625"/>
            <a:chOff x="8148638" y="2407444"/>
            <a:chExt cx="3085624" cy="3095625"/>
          </a:xfrm>
        </p:grpSpPr>
        <p:sp>
          <p:nvSpPr>
            <p:cNvPr id="12" name="TextBox 12"/>
            <p:cNvSpPr txBox="1"/>
            <p:nvPr/>
          </p:nvSpPr>
          <p:spPr>
            <a:xfrm>
              <a:off x="8148638" y="2407444"/>
              <a:ext cx="1622822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前置采集规则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172450" y="28384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53400" y="32194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6795" y="3203258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仅进入成人肥胖流程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51558" y="3529489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年龄条件先校验，再进入后续问诊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53400" y="407670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46795" y="4060508"/>
              <a:ext cx="18021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四项基础资料必填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1558" y="4386739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年龄、性别、身高、体重缺一不可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53400" y="4933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07A5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46795" y="4917758"/>
              <a:ext cx="24402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BMI 和腰围由服务端计算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51558" y="5243989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避免由模型对数值做不确定推断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3408" y="5853589"/>
            <a:ext cx="10756582" cy="775811"/>
            <a:chOff x="593408" y="5853589"/>
            <a:chExt cx="10756582" cy="775811"/>
          </a:xfrm>
        </p:grpSpPr>
        <p:sp>
          <p:nvSpPr>
            <p:cNvPr id="24" name="TextBox 24"/>
            <p:cNvSpPr txBox="1"/>
            <p:nvPr/>
          </p:nvSpPr>
          <p:spPr>
            <a:xfrm>
              <a:off x="593408" y="5853589"/>
              <a:ext cx="4452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页面支持自然语言主诉输入，为后续分层追问提供上下文。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8019002" cy="1251109"/>
            <a:chOff x="569595" y="651510"/>
            <a:chExt cx="8019002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06 / 核心机制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801900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完整度模型：四层门槛共同决定何时问够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697087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系统不依赖固定轮次，而是依据资料层级、字段证据与安全条件持续判断。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2266950"/>
            <a:ext cx="10972800" cy="685800"/>
            <a:chOff x="609600" y="2266950"/>
            <a:chExt cx="10972800" cy="685800"/>
          </a:xfrm>
        </p:grpSpPr>
        <p:sp>
          <p:nvSpPr>
            <p:cNvPr id="7" name="Rectangle 7"/>
            <p:cNvSpPr/>
            <p:nvPr/>
          </p:nvSpPr>
          <p:spPr>
            <a:xfrm>
              <a:off x="609600" y="2266950"/>
              <a:ext cx="10972800" cy="685800"/>
            </a:xfrm>
            <a:prstGeom prst="roundRect">
              <a:avLst>
                <a:gd name="adj" fmla="val 8333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540" y="2510790"/>
              <a:ext cx="12680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1 基础资料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05200" y="2543175"/>
              <a:ext cx="34785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年龄、性别、身高、体重与 BMI 已校验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28160" y="2559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硬性前提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3086100"/>
            <a:ext cx="10972800" cy="685800"/>
            <a:chOff x="609600" y="3086100"/>
            <a:chExt cx="10972800" cy="685800"/>
          </a:xfrm>
        </p:grpSpPr>
        <p:sp>
          <p:nvSpPr>
            <p:cNvPr id="12" name="Rectangle 12"/>
            <p:cNvSpPr/>
            <p:nvPr/>
          </p:nvSpPr>
          <p:spPr>
            <a:xfrm>
              <a:off x="609600" y="3086100"/>
              <a:ext cx="10972800" cy="685800"/>
            </a:xfrm>
            <a:prstGeom prst="roundRect">
              <a:avLst>
                <a:gd name="adj" fmla="val 8333"/>
              </a:avLst>
            </a:prstGeom>
            <a:solidFill>
              <a:srgbClr val="EAF2EB"/>
            </a:solidFill>
            <a:ln w="9525">
              <a:solidFill>
                <a:srgbClr val="C9D7C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1540" y="3329940"/>
              <a:ext cx="15201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2 病因与风险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05200" y="3362325"/>
              <a:ext cx="4638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体重变化、诱因、既往减重、代谢风险和继发性线索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39137" y="33785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4C8C7B"/>
                  </a:solidFill>
                  <a:latin typeface="Arial"/>
                  <a:ea typeface="Microsoft YaHei"/>
                  <a:cs typeface="Arial"/>
                </a:rPr>
                <a:t>按分层阈值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3905250"/>
            <a:ext cx="10972800" cy="685800"/>
            <a:chOff x="609600" y="3905250"/>
            <a:chExt cx="1097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609600" y="3905250"/>
              <a:ext cx="10972800" cy="685800"/>
            </a:xfrm>
            <a:prstGeom prst="roundRect">
              <a:avLst>
                <a:gd name="adj" fmla="val 8333"/>
              </a:avLst>
            </a:prstGeom>
            <a:solidFill>
              <a:srgbClr val="EAF2EB"/>
            </a:solidFill>
            <a:ln w="9525">
              <a:solidFill>
                <a:srgbClr val="C9D7C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1540" y="4149090"/>
              <a:ext cx="12680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3 中医资料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05200" y="4181475"/>
              <a:ext cx="44386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寒热汗出、二便、睡眠、情绪、乏力、浮肿与舌象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39137" y="41976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4C8C7B"/>
                  </a:solidFill>
                  <a:latin typeface="Arial"/>
                  <a:ea typeface="Microsoft YaHei"/>
                  <a:cs typeface="Arial"/>
                </a:rPr>
                <a:t>按分层阈值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4724400"/>
            <a:ext cx="10972800" cy="685800"/>
            <a:chOff x="609600" y="4724400"/>
            <a:chExt cx="10972800" cy="685800"/>
          </a:xfrm>
        </p:grpSpPr>
        <p:sp>
          <p:nvSpPr>
            <p:cNvPr id="22" name="Rectangle 22"/>
            <p:cNvSpPr/>
            <p:nvPr/>
          </p:nvSpPr>
          <p:spPr>
            <a:xfrm>
              <a:off x="609600" y="4724400"/>
              <a:ext cx="10972800" cy="685800"/>
            </a:xfrm>
            <a:prstGeom prst="roundRect">
              <a:avLst>
                <a:gd name="adj" fmla="val 8333"/>
              </a:avLst>
            </a:prstGeom>
            <a:solidFill>
              <a:srgbClr val="EAF2EB"/>
            </a:solidFill>
            <a:ln w="9525">
              <a:solidFill>
                <a:srgbClr val="C9D7C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1540" y="4968240"/>
              <a:ext cx="12680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4 安全信息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05200" y="5000625"/>
              <a:ext cx="44386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危险信号、当前用药、过敏史和妊娠生育相关情况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28160" y="5016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C94A3D"/>
                  </a:solidFill>
                  <a:latin typeface="Arial"/>
                  <a:ea typeface="Microsoft YaHei"/>
                  <a:cs typeface="Arial"/>
                </a:rPr>
                <a:t>持续提示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060118" y="5794058"/>
            <a:ext cx="8289872" cy="835342"/>
            <a:chOff x="3060118" y="5794058"/>
            <a:chExt cx="8289872" cy="835342"/>
          </a:xfrm>
        </p:grpSpPr>
        <p:sp>
          <p:nvSpPr>
            <p:cNvPr id="27" name="TextBox 27"/>
            <p:cNvSpPr txBox="1"/>
            <p:nvPr/>
          </p:nvSpPr>
          <p:spPr>
            <a:xfrm>
              <a:off x="3060118" y="5794058"/>
              <a:ext cx="60717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只有四层均达到要求，系统才生成“正常完成”的诊前档案。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6695837" cy="1251109"/>
            <a:chOff x="569595" y="651510"/>
            <a:chExt cx="6695837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07 / 结束判断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669583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什么时候问够了？由停止条件决定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634079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不按固定轮次结束，而是判断当前资料是否已经可以交给医生核对。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7725" y="3019425"/>
            <a:ext cx="1200150" cy="1666875"/>
            <a:chOff x="847725" y="3019425"/>
            <a:chExt cx="1200150" cy="1666875"/>
          </a:xfrm>
        </p:grpSpPr>
        <p:sp>
          <p:nvSpPr>
            <p:cNvPr id="7" name="Ellipse 7"/>
            <p:cNvSpPr/>
            <p:nvPr/>
          </p:nvSpPr>
          <p:spPr>
            <a:xfrm>
              <a:off x="847725" y="3019425"/>
              <a:ext cx="1200150" cy="120015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3613" y="3248978"/>
              <a:ext cx="568373" cy="1127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55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8698" y="43815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结束判断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66950" y="2461736"/>
            <a:ext cx="4808697" cy="593408"/>
            <a:chOff x="2266950" y="2461736"/>
            <a:chExt cx="4808697" cy="593408"/>
          </a:xfrm>
        </p:grpSpPr>
        <p:sp>
          <p:nvSpPr>
            <p:cNvPr id="11" name="Line 11"/>
            <p:cNvSpPr/>
            <p:nvPr/>
          </p:nvSpPr>
          <p:spPr>
            <a:xfrm>
              <a:off x="2266950" y="2714625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209925" y="2495550"/>
              <a:ext cx="438150" cy="43815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59874" y="264509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7142" y="24617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必需字段齐全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12858" y="2796064"/>
              <a:ext cx="32627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年龄、性别、身高、体重等硬性前提已完成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66950" y="3318986"/>
            <a:ext cx="5148739" cy="593408"/>
            <a:chOff x="2266950" y="3318986"/>
            <a:chExt cx="5148739" cy="593408"/>
          </a:xfrm>
        </p:grpSpPr>
        <p:sp>
          <p:nvSpPr>
            <p:cNvPr id="17" name="Line 17"/>
            <p:cNvSpPr/>
            <p:nvPr/>
          </p:nvSpPr>
          <p:spPr>
            <a:xfrm>
              <a:off x="2266950" y="3571875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209925" y="3352800"/>
              <a:ext cx="438150" cy="43815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59874" y="35023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07142" y="3318986"/>
              <a:ext cx="31837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当前场景的信息覆盖达到门槛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12858" y="3653314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病因风险、中医资料和安全信息已达到对应要求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266950" y="4176236"/>
            <a:ext cx="4978718" cy="593408"/>
            <a:chOff x="2266950" y="4176236"/>
            <a:chExt cx="4978718" cy="593408"/>
          </a:xfrm>
        </p:grpSpPr>
        <p:sp>
          <p:nvSpPr>
            <p:cNvPr id="23" name="Line 23"/>
            <p:cNvSpPr/>
            <p:nvPr/>
          </p:nvSpPr>
          <p:spPr>
            <a:xfrm>
              <a:off x="2266950" y="4429125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209925" y="4210050"/>
              <a:ext cx="438150" cy="43815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59874" y="435959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07142" y="4176236"/>
              <a:ext cx="31837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没有未处理的关键风险或矛盾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12858" y="4510564"/>
              <a:ext cx="34328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危险信号持续提示，关键冲突需要进一步核对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266950" y="5033486"/>
            <a:ext cx="5148739" cy="593408"/>
            <a:chOff x="2266950" y="5033486"/>
            <a:chExt cx="5148739" cy="593408"/>
          </a:xfrm>
        </p:grpSpPr>
        <p:sp>
          <p:nvSpPr>
            <p:cNvPr id="29" name="Line 29"/>
            <p:cNvSpPr/>
            <p:nvPr/>
          </p:nvSpPr>
          <p:spPr>
            <a:xfrm>
              <a:off x="2266950" y="5286375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28575">
              <a:solidFill>
                <a:srgbClr val="C9D7CE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209925" y="5067300"/>
              <a:ext cx="438150" cy="43815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59874" y="52168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7F9F6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07142" y="5033486"/>
              <a:ext cx="31837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不知道或拒答已完成一次澄清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12858" y="5367814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记录真实状态，不为了凑完整度而无限重复提问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77200" y="2447925"/>
            <a:ext cx="3505200" cy="2895600"/>
            <a:chOff x="8077200" y="2447925"/>
            <a:chExt cx="3505200" cy="2895600"/>
          </a:xfrm>
        </p:grpSpPr>
        <p:sp>
          <p:nvSpPr>
            <p:cNvPr id="35" name="Rectangle 35"/>
            <p:cNvSpPr/>
            <p:nvPr/>
          </p:nvSpPr>
          <p:spPr>
            <a:xfrm>
              <a:off x="8077200" y="2447925"/>
              <a:ext cx="3505200" cy="1285875"/>
            </a:xfrm>
            <a:prstGeom prst="roundRect">
              <a:avLst>
                <a:gd name="adj" fmla="val 4444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82000" y="27527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四项全部满足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7238" y="309324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结束追问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84858" y="34247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生成可供诊中核对的档案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077200" y="4057650"/>
              <a:ext cx="3505200" cy="1285875"/>
            </a:xfrm>
            <a:prstGeom prst="roundRect">
              <a:avLst>
                <a:gd name="adj" fmla="val 4444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82000" y="436245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任一条件尚未满足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7238" y="4702969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继续追问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84858" y="5034439"/>
              <a:ext cx="22426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优先补当前最关键的缺失字段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1502" y="6189821"/>
            <a:ext cx="10758488" cy="439579"/>
            <a:chOff x="591502" y="6189821"/>
            <a:chExt cx="10758488" cy="439579"/>
          </a:xfrm>
        </p:grpSpPr>
        <p:sp>
          <p:nvSpPr>
            <p:cNvPr id="44" name="TextBox 44"/>
            <p:cNvSpPr txBox="1"/>
            <p:nvPr/>
          </p:nvSpPr>
          <p:spPr>
            <a:xfrm>
              <a:off x="591502" y="6189821"/>
              <a:ext cx="604189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“问够”不是信息越多越好，而是足以让医生高效、安全地进入诊中。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8460057" cy="1251109"/>
            <a:chOff x="569595" y="651510"/>
            <a:chExt cx="8460057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2486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08 / 对话式追问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846005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对话式追问：围绕缺失信息，而不是凑轮次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71071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每次只推进一个信息目标，历史对话持续保留并可滚动查看。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788" y="2235994"/>
            <a:ext cx="3935730" cy="3343275"/>
            <a:chOff x="585788" y="2235994"/>
            <a:chExt cx="3935730" cy="3343275"/>
          </a:xfrm>
        </p:grpSpPr>
        <p:sp>
          <p:nvSpPr>
            <p:cNvPr id="7" name="TextBox 7"/>
            <p:cNvSpPr txBox="1"/>
            <p:nvPr/>
          </p:nvSpPr>
          <p:spPr>
            <a:xfrm>
              <a:off x="585788" y="2235994"/>
              <a:ext cx="1097756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追问约束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670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66750" y="3057525"/>
              <a:ext cx="247650" cy="247650"/>
            </a:xfrm>
            <a:prstGeom prst="ellipse">
              <a:avLst/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84898" y="3087529"/>
              <a:ext cx="193024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澄清不作为医学证据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8708" y="3396139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患者不理解时先解释，不消耗追问机会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66750" y="4019550"/>
              <a:ext cx="247650" cy="247650"/>
            </a:xfrm>
            <a:prstGeom prst="ellipse">
              <a:avLst/>
            </a:prstGeom>
            <a:solidFill>
              <a:srgbClr val="4C8C7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84898" y="4049554"/>
              <a:ext cx="25603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同一字段最多委婉重问一次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8708" y="4358164"/>
              <a:ext cx="2922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避免机械重复，保留患者拒答或不确定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66750" y="4981575"/>
              <a:ext cx="247650" cy="247650"/>
            </a:xfrm>
            <a:prstGeom prst="ellipse">
              <a:avLst/>
            </a:prstGeom>
            <a:solidFill>
              <a:srgbClr val="E07A5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84898" y="5011579"/>
              <a:ext cx="23817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AI 不可用时仍可继续采集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8708" y="5320189"/>
              <a:ext cx="34328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降级为固定问题，保证流程不被服务故障阻断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95800" y="2266950"/>
            <a:ext cx="7086600" cy="3105150"/>
            <a:chOff x="4495800" y="2266950"/>
            <a:chExt cx="7086600" cy="3105150"/>
          </a:xfrm>
        </p:grpSpPr>
        <p:sp>
          <p:nvSpPr>
            <p:cNvPr id="19" name="Rectangle 19"/>
            <p:cNvSpPr/>
            <p:nvPr/>
          </p:nvSpPr>
          <p:spPr>
            <a:xfrm>
              <a:off x="4495800" y="2266950"/>
              <a:ext cx="7086600" cy="3105150"/>
            </a:xfrm>
            <a:prstGeom prst="roundRect">
              <a:avLst>
                <a:gd name="adj" fmla="val 1840"/>
              </a:avLst>
            </a:prstGeom>
            <a:solidFill>
              <a:srgbClr val="EAF2EB"/>
            </a:solidFill>
            <a:ln w="19050">
              <a:solidFill>
                <a:srgbClr val="C9D7CE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99229" y="2266950"/>
              <a:ext cx="7079742" cy="3105150"/>
            </a:xfrm>
            <a:prstGeom prst="rect">
              <a:avLst/>
            </a:prstGeom>
          </p:spPr>
        </p:pic>
        <p:sp>
          <p:nvSpPr>
            <p:cNvPr id="21" name="Rectangle 21"/>
            <p:cNvSpPr/>
            <p:nvPr/>
          </p:nvSpPr>
          <p:spPr>
            <a:xfrm>
              <a:off x="4686300" y="4972050"/>
              <a:ext cx="1390650" cy="257175"/>
            </a:xfrm>
            <a:prstGeom prst="roundRect">
              <a:avLst>
                <a:gd name="adj" fmla="val 50000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27235" y="50396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真实系统页面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1502" y="5953125"/>
            <a:ext cx="10990898" cy="676275"/>
            <a:chOff x="591502" y="5953125"/>
            <a:chExt cx="10990898" cy="676275"/>
          </a:xfrm>
        </p:grpSpPr>
        <p:sp>
          <p:nvSpPr>
            <p:cNvPr id="24" name="Rectangle 24"/>
            <p:cNvSpPr/>
            <p:nvPr/>
          </p:nvSpPr>
          <p:spPr>
            <a:xfrm>
              <a:off x="609600" y="5953125"/>
              <a:ext cx="10972800" cy="9525"/>
            </a:xfrm>
            <a:prstGeom prst="rect">
              <a:avLst/>
            </a:prstGeom>
            <a:solidFill>
              <a:srgbClr val="C9D7C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1502" y="6189821"/>
              <a:ext cx="49644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停止条件由完整度模型决定，不再依赖固定 12 轮上限。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7136892" cy="1251109"/>
            <a:chOff x="569595" y="651510"/>
            <a:chExt cx="7136892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09 / 结果输出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713689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双端结果：患者可理解，医生可追溯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0806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同一份问诊数据，按使用者的任务分成不同信息层次。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6740" y="1977390"/>
            <a:ext cx="5204460" cy="3525679"/>
            <a:chOff x="586740" y="1977390"/>
            <a:chExt cx="5204460" cy="3525679"/>
          </a:xfrm>
        </p:grpSpPr>
        <p:sp>
          <p:nvSpPr>
            <p:cNvPr id="7" name="TextBox 7"/>
            <p:cNvSpPr txBox="1"/>
            <p:nvPr/>
          </p:nvSpPr>
          <p:spPr>
            <a:xfrm>
              <a:off x="586740" y="19773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患者端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343150"/>
              <a:ext cx="5181600" cy="2266950"/>
            </a:xfrm>
            <a:prstGeom prst="roundRect">
              <a:avLst>
                <a:gd name="adj" fmla="val 2521"/>
              </a:avLst>
            </a:prstGeom>
            <a:solidFill>
              <a:srgbClr val="EAF2EB"/>
            </a:solidFill>
            <a:ln w="19050">
              <a:solidFill>
                <a:srgbClr val="C9D7CE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077" y="2343150"/>
              <a:ext cx="5168646" cy="226695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589598" y="4916329"/>
              <a:ext cx="420797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安全文案、BMI 提示、诊前档案与检查建议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3408" y="524398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不展示内部完整度、字段优先级和医学判断过程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77940" y="1977390"/>
            <a:ext cx="5204460" cy="3525679"/>
            <a:chOff x="6377940" y="1977390"/>
            <a:chExt cx="5204460" cy="3525679"/>
          </a:xfrm>
        </p:grpSpPr>
        <p:sp>
          <p:nvSpPr>
            <p:cNvPr id="13" name="TextBox 13"/>
            <p:cNvSpPr txBox="1"/>
            <p:nvPr/>
          </p:nvSpPr>
          <p:spPr>
            <a:xfrm>
              <a:off x="6377940" y="19773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医生端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400800" y="2343150"/>
              <a:ext cx="5181600" cy="2266950"/>
            </a:xfrm>
            <a:prstGeom prst="roundRect">
              <a:avLst>
                <a:gd name="adj" fmla="val 2521"/>
              </a:avLst>
            </a:prstGeom>
            <a:solidFill>
              <a:srgbClr val="EAF2EB"/>
            </a:solidFill>
            <a:ln w="19050">
              <a:solidFill>
                <a:srgbClr val="C9D7CE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7277" y="2343150"/>
              <a:ext cx="5168646" cy="22669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6380798" y="4916329"/>
              <a:ext cx="400950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分层执行度、字段证据、冲突和检查候选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4608" y="5243989"/>
              <a:ext cx="37728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帮助医生在诊中快速核对资料，而非替代医生判断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5924550"/>
            <a:ext cx="10991850" cy="704850"/>
            <a:chOff x="590550" y="5924550"/>
            <a:chExt cx="10991850" cy="704850"/>
          </a:xfrm>
        </p:grpSpPr>
        <p:sp>
          <p:nvSpPr>
            <p:cNvPr id="19" name="Line 19"/>
            <p:cNvSpPr/>
            <p:nvPr/>
          </p:nvSpPr>
          <p:spPr>
            <a:xfrm>
              <a:off x="609600" y="5924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0550" y="6191250"/>
              <a:ext cx="5438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核心结果：数据采集、完整度判断与医生核对形成一条闭环。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6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9595" y="651510"/>
            <a:ext cx="5310664" cy="1251109"/>
            <a:chOff x="569595" y="651510"/>
            <a:chExt cx="5310664" cy="1251109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651510"/>
              <a:ext cx="14166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10 / 总结与下一步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9595" y="1031558"/>
              <a:ext cx="36084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当前成果与下一步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89598" y="1582579"/>
              <a:ext cx="529066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从单次答题页面，迭代为面向诊中服务的诊前采集闭环。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88645" y="2279332"/>
            <a:ext cx="4878705" cy="2664143"/>
            <a:chOff x="588645" y="2279332"/>
            <a:chExt cx="4878705" cy="2664143"/>
          </a:xfrm>
        </p:grpSpPr>
        <p:sp>
          <p:nvSpPr>
            <p:cNvPr id="7" name="TextBox 7"/>
            <p:cNvSpPr txBox="1"/>
            <p:nvPr/>
          </p:nvSpPr>
          <p:spPr>
            <a:xfrm>
              <a:off x="588645" y="22793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5E47"/>
                  </a:solidFill>
                  <a:latin typeface="Arial"/>
                  <a:ea typeface="Microsoft YaHei"/>
                  <a:cs typeface="Arial"/>
                </a:rPr>
                <a:t>本周已完成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676525"/>
              <a:ext cx="4857750" cy="2266950"/>
            </a:xfrm>
            <a:prstGeom prst="roundRect">
              <a:avLst>
                <a:gd name="adj" fmla="val 2521"/>
              </a:avLst>
            </a:prstGeom>
            <a:solidFill>
              <a:srgbClr val="EAF2E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9640" y="3015615"/>
              <a:ext cx="392700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01 流程从固定问答改为对话式追问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9640" y="3463290"/>
              <a:ext cx="34229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02 建立四层完整度与停止条件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9640" y="3910965"/>
              <a:ext cx="367497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03 完善患者端与医生端结果分层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5355" y="4426268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基础资料、追问、档案与检查建议已形成可演示链路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82690" y="2279332"/>
            <a:ext cx="5299710" cy="2421256"/>
            <a:chOff x="6282690" y="2279332"/>
            <a:chExt cx="5299710" cy="2421256"/>
          </a:xfrm>
        </p:grpSpPr>
        <p:sp>
          <p:nvSpPr>
            <p:cNvPr id="14" name="TextBox 14"/>
            <p:cNvSpPr txBox="1"/>
            <p:nvPr/>
          </p:nvSpPr>
          <p:spPr>
            <a:xfrm>
              <a:off x="6284595" y="22793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5F"/>
                  </a:solidFill>
                  <a:latin typeface="Arial"/>
                  <a:ea typeface="Microsoft YaHei"/>
                  <a:cs typeface="Arial"/>
                </a:rPr>
                <a:t>下一步收口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305550" y="2676525"/>
              <a:ext cx="5276850" cy="9525"/>
            </a:xfrm>
            <a:custGeom>
              <a:avLst/>
              <a:gdLst/>
              <a:ahLst/>
              <a:cxnLst/>
              <a:rect l="l" t="t" r="r" b="b"/>
              <a:pathLst>
                <a:path w="5276850" h="9525">
                  <a:moveTo>
                    <a:pt x="0" y="0"/>
                  </a:moveTo>
                  <a:lnTo>
                    <a:pt x="5276850" y="0"/>
                  </a:lnTo>
                </a:path>
              </a:pathLst>
            </a:custGeom>
            <a:noFill/>
            <a:ln w="9525">
              <a:solidFill>
                <a:srgbClr val="C9D7C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2690" y="3015615"/>
              <a:ext cx="392700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01 补充真实浏览器端到端流程测试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82690" y="3463290"/>
              <a:ext cx="392700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02 继续打磨医生端访问控制与隐私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82690" y="3910965"/>
              <a:ext cx="41790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221C"/>
                  </a:solidFill>
                  <a:latin typeface="Arial"/>
                  <a:ea typeface="Microsoft YaHei"/>
                  <a:cs typeface="Arial"/>
                </a:rPr>
                <a:t>03 补足文档，收口旧接口与演示路径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88405" y="4426268"/>
              <a:ext cx="38507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D65"/>
                  </a:solidFill>
                  <a:latin typeface="Arial"/>
                  <a:ea typeface="Microsoft YaHei"/>
                  <a:cs typeface="Arial"/>
                </a:rPr>
                <a:t>把“可演示”推进到“可稳定验证、可持续迭代”。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5505450"/>
            <a:ext cx="10972800" cy="1123950"/>
            <a:chOff x="609600" y="5505450"/>
            <a:chExt cx="10972800" cy="1123950"/>
          </a:xfrm>
        </p:grpSpPr>
        <p:sp>
          <p:nvSpPr>
            <p:cNvPr id="21" name="Rectangle 21"/>
            <p:cNvSpPr/>
            <p:nvPr/>
          </p:nvSpPr>
          <p:spPr>
            <a:xfrm>
              <a:off x="609600" y="5505450"/>
              <a:ext cx="10972800" cy="600075"/>
            </a:xfrm>
            <a:prstGeom prst="roundRect">
              <a:avLst>
                <a:gd name="adj" fmla="val 9524"/>
              </a:avLst>
            </a:prstGeom>
            <a:solidFill>
              <a:srgbClr val="155E4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53060" y="5684044"/>
              <a:ext cx="608588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75" b="1" dirty="0">
                  <a:solidFill>
                    <a:srgbClr val="F7F9F6"/>
                  </a:solidFill>
                  <a:latin typeface="Arial"/>
                  <a:ea typeface="Microsoft YaHei"/>
                  <a:cs typeface="Arial"/>
                </a:rPr>
                <a:t>采集更完整，交接更清楚，服务于医生的最终判断。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43488" y="6385560"/>
              <a:ext cx="2065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55E47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2026-08-20T09:25:47Z</dcterms:created>
  <dcterms:modified xsi:type="dcterms:W3CDTF">2026-08-20T09:25:47Z</dcterms:modified>
  <cp:category/>
  <cp:contentStatus/>
</cp:coreProperties>
</file>